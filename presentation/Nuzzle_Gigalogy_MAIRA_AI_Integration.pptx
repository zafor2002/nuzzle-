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66F1"/>
          </a:solidFill>
          <a:ln/>
        </p:spPr>
      </p:sp>
      <p:sp>
        <p:nvSpPr>
          <p:cNvPr id="3" name="Shape 1"/>
          <p:cNvSpPr/>
          <p:nvPr/>
        </p:nvSpPr>
        <p:spPr>
          <a:xfrm>
            <a:off x="914400" y="1051560"/>
            <a:ext cx="4389120" cy="347472"/>
          </a:xfrm>
          <a:prstGeom prst="roundRect">
            <a:avLst/>
          </a:prstGeom>
          <a:solidFill>
            <a:srgbClr val="1E1B4B"/>
          </a:solidFill>
          <a:ln w="12700">
            <a:solidFill>
              <a:srgbClr val="6366F1"/>
            </a:solidFill>
            <a:prstDash val="solid"/>
          </a:ln>
        </p:spPr>
      </p:sp>
      <p:sp>
        <p:nvSpPr>
          <p:cNvPr id="4" name="Text 2"/>
          <p:cNvSpPr/>
          <p:nvPr/>
        </p:nvSpPr>
        <p:spPr>
          <a:xfrm>
            <a:off x="914400" y="1115568"/>
            <a:ext cx="4389120" cy="228600"/>
          </a:xfrm>
          <a:prstGeom prst="rect">
            <a:avLst/>
          </a:prstGeom>
          <a:noFill/>
          <a:ln/>
        </p:spPr>
        <p:txBody>
          <a:bodyPr wrap="square" rtlCol="0" anchor="ctr"/>
          <a:lstStyle/>
          <a:p>
            <a:pPr algn="ctr" indent="0" marL="0">
              <a:buNone/>
            </a:pPr>
            <a:r>
              <a:rPr lang="en-US" sz="1000" b="1" dirty="0">
                <a:solidFill>
                  <a:srgbClr val="A5B4FC"/>
                </a:solidFill>
                <a:latin typeface="Arial" pitchFamily="34" charset="0"/>
                <a:ea typeface="Arial" pitchFamily="34" charset="-122"/>
                <a:cs typeface="Arial" pitchFamily="34" charset="-120"/>
              </a:rPr>
              <a:t>ENTERPRISE MULTIMODAL AI &amp; MANAGED RAG</a:t>
            </a:r>
            <a:endParaRPr lang="en-US" sz="1000" dirty="0"/>
          </a:p>
        </p:txBody>
      </p:sp>
      <p:sp>
        <p:nvSpPr>
          <p:cNvPr id="5" name="Text 3"/>
          <p:cNvSpPr/>
          <p:nvPr/>
        </p:nvSpPr>
        <p:spPr>
          <a:xfrm>
            <a:off x="914400" y="1600200"/>
            <a:ext cx="6949440" cy="146304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Gigalogy MAIRA AI Integration</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in Nuzzle Pet Social Media</a:t>
            </a:r>
            <a:endParaRPr lang="en-US" sz="3200" dirty="0"/>
          </a:p>
        </p:txBody>
      </p:sp>
      <p:sp>
        <p:nvSpPr>
          <p:cNvPr id="6" name="Text 4"/>
          <p:cNvSpPr/>
          <p:nvPr/>
        </p:nvSpPr>
        <p:spPr>
          <a:xfrm>
            <a:off x="914400" y="3200400"/>
            <a:ext cx="6766560" cy="731520"/>
          </a:xfrm>
          <a:prstGeom prst="rect">
            <a:avLst/>
          </a:prstGeom>
          <a:noFill/>
          <a:ln/>
        </p:spPr>
        <p:txBody>
          <a:bodyPr wrap="square" rtlCol="0" anchor="ctr"/>
          <a:lstStyle/>
          <a:p>
            <a:pPr indent="0" marL="0">
              <a:lnSpc>
                <a:spcPts val="1800"/>
              </a:lnSpc>
              <a:buNone/>
            </a:pPr>
            <a:r>
              <a:rPr lang="en-US" sz="1300" dirty="0">
                <a:solidFill>
                  <a:srgbClr val="94A3B8"/>
                </a:solidFill>
                <a:latin typeface="Arial" pitchFamily="34" charset="0"/>
                <a:ea typeface="Arial" pitchFamily="34" charset="-122"/>
                <a:cs typeface="Arial" pitchFamily="34" charset="-120"/>
              </a:rPr>
              <a:t>Comprehensive technical walkthrough of deploying Gigalogy MAIRA Managed RAG, fine-tuned multimodal vector datasets, and zero-downtime clinical AI intelligence across 4 core pillars.</a:t>
            </a:r>
            <a:endParaRPr lang="en-US" sz="1300" dirty="0"/>
          </a:p>
        </p:txBody>
      </p:sp>
      <p:sp>
        <p:nvSpPr>
          <p:cNvPr id="7" name="Shape 5"/>
          <p:cNvSpPr/>
          <p:nvPr/>
        </p:nvSpPr>
        <p:spPr>
          <a:xfrm>
            <a:off x="914400" y="4160520"/>
            <a:ext cx="1627632" cy="1645920"/>
          </a:xfrm>
          <a:prstGeom prst="roundRect">
            <a:avLst/>
          </a:prstGeom>
          <a:solidFill>
            <a:srgbClr val="111827"/>
          </a:solidFill>
          <a:ln w="12700">
            <a:solidFill>
              <a:srgbClr val="374151"/>
            </a:solidFill>
            <a:prstDash val="solid"/>
          </a:ln>
        </p:spPr>
      </p:sp>
      <p:sp>
        <p:nvSpPr>
          <p:cNvPr id="8" name="Text 6"/>
          <p:cNvSpPr/>
          <p:nvPr/>
        </p:nvSpPr>
        <p:spPr>
          <a:xfrm>
            <a:off x="1051560"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9" name="Text 7"/>
          <p:cNvSpPr/>
          <p:nvPr/>
        </p:nvSpPr>
        <p:spPr>
          <a:xfrm>
            <a:off x="1051560"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PawDoctor Triage</a:t>
            </a:r>
            <a:endParaRPr lang="en-US" sz="1100" dirty="0"/>
          </a:p>
        </p:txBody>
      </p:sp>
      <p:sp>
        <p:nvSpPr>
          <p:cNvPr id="10" name="Text 8"/>
          <p:cNvSpPr/>
          <p:nvPr/>
        </p:nvSpPr>
        <p:spPr>
          <a:xfrm>
            <a:off x="1051560"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0a8fd1e8</a:t>
            </a:r>
            <a:endParaRPr lang="en-US" sz="950" dirty="0"/>
          </a:p>
        </p:txBody>
      </p:sp>
      <p:sp>
        <p:nvSpPr>
          <p:cNvPr id="11" name="Text 9"/>
          <p:cNvSpPr/>
          <p:nvPr/>
        </p:nvSpPr>
        <p:spPr>
          <a:xfrm>
            <a:off x="1051560"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24/7 Clinical Emergency AI</a:t>
            </a:r>
            <a:endParaRPr lang="en-US" sz="900" dirty="0"/>
          </a:p>
        </p:txBody>
      </p:sp>
      <p:sp>
        <p:nvSpPr>
          <p:cNvPr id="12" name="Shape 10"/>
          <p:cNvSpPr/>
          <p:nvPr/>
        </p:nvSpPr>
        <p:spPr>
          <a:xfrm>
            <a:off x="2633472" y="4160520"/>
            <a:ext cx="1627632" cy="1645920"/>
          </a:xfrm>
          <a:prstGeom prst="roundRect">
            <a:avLst/>
          </a:prstGeom>
          <a:solidFill>
            <a:srgbClr val="111827"/>
          </a:solidFill>
          <a:ln w="12700">
            <a:solidFill>
              <a:srgbClr val="374151"/>
            </a:solidFill>
            <a:prstDash val="solid"/>
          </a:ln>
        </p:spPr>
      </p:sp>
      <p:sp>
        <p:nvSpPr>
          <p:cNvPr id="13" name="Text 11"/>
          <p:cNvSpPr/>
          <p:nvPr/>
        </p:nvSpPr>
        <p:spPr>
          <a:xfrm>
            <a:off x="2770632"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4" name="Text 12"/>
          <p:cNvSpPr/>
          <p:nvPr/>
        </p:nvSpPr>
        <p:spPr>
          <a:xfrm>
            <a:off x="2770632"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Lost &amp; Found Radar</a:t>
            </a:r>
            <a:endParaRPr lang="en-US" sz="1100" dirty="0"/>
          </a:p>
        </p:txBody>
      </p:sp>
      <p:sp>
        <p:nvSpPr>
          <p:cNvPr id="15" name="Text 13"/>
          <p:cNvSpPr/>
          <p:nvPr/>
        </p:nvSpPr>
        <p:spPr>
          <a:xfrm>
            <a:off x="2770632"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a10e6172</a:t>
            </a:r>
            <a:endParaRPr lang="en-US" sz="950" dirty="0"/>
          </a:p>
        </p:txBody>
      </p:sp>
      <p:sp>
        <p:nvSpPr>
          <p:cNvPr id="16" name="Text 14"/>
          <p:cNvSpPr/>
          <p:nvPr/>
        </p:nvSpPr>
        <p:spPr>
          <a:xfrm>
            <a:off x="2770632"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Vision + RAG Pet Matcher</a:t>
            </a:r>
            <a:endParaRPr lang="en-US" sz="900" dirty="0"/>
          </a:p>
        </p:txBody>
      </p:sp>
      <p:sp>
        <p:nvSpPr>
          <p:cNvPr id="17" name="Shape 15"/>
          <p:cNvSpPr/>
          <p:nvPr/>
        </p:nvSpPr>
        <p:spPr>
          <a:xfrm>
            <a:off x="4352544" y="4160520"/>
            <a:ext cx="1627632" cy="1645920"/>
          </a:xfrm>
          <a:prstGeom prst="roundRect">
            <a:avLst/>
          </a:prstGeom>
          <a:solidFill>
            <a:srgbClr val="111827"/>
          </a:solidFill>
          <a:ln w="12700">
            <a:solidFill>
              <a:srgbClr val="374151"/>
            </a:solidFill>
            <a:prstDash val="solid"/>
          </a:ln>
        </p:spPr>
      </p:sp>
      <p:sp>
        <p:nvSpPr>
          <p:cNvPr id="18" name="Text 16"/>
          <p:cNvSpPr/>
          <p:nvPr/>
        </p:nvSpPr>
        <p:spPr>
          <a:xfrm>
            <a:off x="4489704"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9" name="Text 17"/>
          <p:cNvSpPr/>
          <p:nvPr/>
        </p:nvSpPr>
        <p:spPr>
          <a:xfrm>
            <a:off x="4489704"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Vet Clinic Routing</a:t>
            </a:r>
            <a:endParaRPr lang="en-US" sz="1100" dirty="0"/>
          </a:p>
        </p:txBody>
      </p:sp>
      <p:sp>
        <p:nvSpPr>
          <p:cNvPr id="20" name="Text 18"/>
          <p:cNvSpPr/>
          <p:nvPr/>
        </p:nvSpPr>
        <p:spPr>
          <a:xfrm>
            <a:off x="4489704"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9884416a</a:t>
            </a:r>
            <a:endParaRPr lang="en-US" sz="950" dirty="0"/>
          </a:p>
        </p:txBody>
      </p:sp>
      <p:sp>
        <p:nvSpPr>
          <p:cNvPr id="21" name="Text 19"/>
          <p:cNvSpPr/>
          <p:nvPr/>
        </p:nvSpPr>
        <p:spPr>
          <a:xfrm>
            <a:off x="4489704"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Dhaka Specialist Navigator</a:t>
            </a:r>
            <a:endParaRPr lang="en-US" sz="900" dirty="0"/>
          </a:p>
        </p:txBody>
      </p:sp>
      <p:sp>
        <p:nvSpPr>
          <p:cNvPr id="22" name="Shape 20"/>
          <p:cNvSpPr/>
          <p:nvPr/>
        </p:nvSpPr>
        <p:spPr>
          <a:xfrm>
            <a:off x="6071616" y="4160520"/>
            <a:ext cx="1627632" cy="1645920"/>
          </a:xfrm>
          <a:prstGeom prst="roundRect">
            <a:avLst/>
          </a:prstGeom>
          <a:solidFill>
            <a:srgbClr val="111827"/>
          </a:solidFill>
          <a:ln w="12700">
            <a:solidFill>
              <a:srgbClr val="374151"/>
            </a:solidFill>
            <a:prstDash val="solid"/>
          </a:ln>
        </p:spPr>
      </p:sp>
      <p:sp>
        <p:nvSpPr>
          <p:cNvPr id="23" name="Text 21"/>
          <p:cNvSpPr/>
          <p:nvPr/>
        </p:nvSpPr>
        <p:spPr>
          <a:xfrm>
            <a:off x="6208776"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4" name="Text 22"/>
          <p:cNvSpPr/>
          <p:nvPr/>
        </p:nvSpPr>
        <p:spPr>
          <a:xfrm>
            <a:off x="6208776"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Marketplace Nutrition</a:t>
            </a:r>
            <a:endParaRPr lang="en-US" sz="1100" dirty="0"/>
          </a:p>
        </p:txBody>
      </p:sp>
      <p:sp>
        <p:nvSpPr>
          <p:cNvPr id="25" name="Text 23"/>
          <p:cNvSpPr/>
          <p:nvPr/>
        </p:nvSpPr>
        <p:spPr>
          <a:xfrm>
            <a:off x="6208776"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66e15325</a:t>
            </a:r>
            <a:endParaRPr lang="en-US" sz="950" dirty="0"/>
          </a:p>
        </p:txBody>
      </p:sp>
      <p:sp>
        <p:nvSpPr>
          <p:cNvPr id="26" name="Text 24"/>
          <p:cNvSpPr/>
          <p:nvPr/>
        </p:nvSpPr>
        <p:spPr>
          <a:xfrm>
            <a:off x="6208776"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Diet &amp; Allergy Formulation</a:t>
            </a:r>
            <a:endParaRPr lang="en-US" sz="900" dirty="0"/>
          </a:p>
        </p:txBody>
      </p:sp>
      <p:sp>
        <p:nvSpPr>
          <p:cNvPr id="27" name="Shape 25"/>
          <p:cNvSpPr/>
          <p:nvPr/>
        </p:nvSpPr>
        <p:spPr>
          <a:xfrm>
            <a:off x="8092440" y="1051560"/>
            <a:ext cx="3200400" cy="4754880"/>
          </a:xfrm>
          <a:prstGeom prst="roundRect">
            <a:avLst/>
          </a:prstGeom>
          <a:solidFill>
            <a:srgbClr val="0F172A"/>
          </a:solidFill>
          <a:ln w="19050">
            <a:solidFill>
              <a:srgbClr val="334155"/>
            </a:solidFill>
            <a:prstDash val="solid"/>
          </a:ln>
        </p:spPr>
      </p:sp>
      <p:sp>
        <p:nvSpPr>
          <p:cNvPr id="28" name="Text 26"/>
          <p:cNvSpPr/>
          <p:nvPr/>
        </p:nvSpPr>
        <p:spPr>
          <a:xfrm>
            <a:off x="8366760" y="1325880"/>
            <a:ext cx="2651760"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DEPLOYMENT SUMMARY</a:t>
            </a:r>
            <a:endParaRPr lang="en-US" sz="1050" dirty="0"/>
          </a:p>
        </p:txBody>
      </p:sp>
      <p:sp>
        <p:nvSpPr>
          <p:cNvPr id="29" name="Shape 27"/>
          <p:cNvSpPr/>
          <p:nvPr/>
        </p:nvSpPr>
        <p:spPr>
          <a:xfrm>
            <a:off x="8321040" y="1691640"/>
            <a:ext cx="2743200" cy="658368"/>
          </a:xfrm>
          <a:prstGeom prst="roundRect">
            <a:avLst/>
          </a:prstGeom>
          <a:solidFill>
            <a:srgbClr val="1E293B"/>
          </a:solidFill>
          <a:ln w="12700">
            <a:solidFill>
              <a:srgbClr val="334155"/>
            </a:solidFill>
            <a:prstDash val="solid"/>
          </a:ln>
        </p:spPr>
      </p:sp>
      <p:sp>
        <p:nvSpPr>
          <p:cNvPr id="30" name="Text 28"/>
          <p:cNvSpPr/>
          <p:nvPr/>
        </p:nvSpPr>
        <p:spPr>
          <a:xfrm>
            <a:off x="8458200" y="1746504"/>
            <a:ext cx="2468880" cy="146304"/>
          </a:xfrm>
          <a:prstGeom prst="rect">
            <a:avLst/>
          </a:prstGeom>
          <a:noFill/>
          <a:ln/>
        </p:spPr>
        <p:txBody>
          <a:bodyPr wrap="square" rtlCol="0" anchor="ctr"/>
          <a:lstStyle/>
          <a:p>
            <a:pPr indent="0" marL="0">
              <a:buNone/>
            </a:pPr>
            <a:r>
              <a:rPr lang="en-US" sz="800" b="1" dirty="0">
                <a:solidFill>
                  <a:srgbClr val="94A3B8"/>
                </a:solidFill>
                <a:latin typeface="Arial" pitchFamily="34" charset="0"/>
                <a:ea typeface="Arial" pitchFamily="34" charset="-122"/>
                <a:cs typeface="Arial" pitchFamily="34" charset="-120"/>
              </a:rPr>
              <a:t>MAIRA PROFILES</a:t>
            </a:r>
            <a:endParaRPr lang="en-US" sz="800" dirty="0"/>
          </a:p>
        </p:txBody>
      </p:sp>
      <p:sp>
        <p:nvSpPr>
          <p:cNvPr id="31" name="Text 29"/>
          <p:cNvSpPr/>
          <p:nvPr/>
        </p:nvSpPr>
        <p:spPr>
          <a:xfrm>
            <a:off x="8458200" y="1901952"/>
            <a:ext cx="2468880" cy="210312"/>
          </a:xfrm>
          <a:prstGeom prst="rect">
            <a:avLst/>
          </a:prstGeom>
          <a:noFill/>
          <a:ln/>
        </p:spPr>
        <p:txBody>
          <a:bodyPr wrap="square" rtlCol="0" anchor="ctr"/>
          <a:lstStyle/>
          <a:p>
            <a:pPr indent="0" marL="0">
              <a:buNone/>
            </a:pPr>
            <a:r>
              <a:rPr lang="en-US" sz="1150" b="1" dirty="0">
                <a:solidFill>
                  <a:srgbClr val="38BDF8"/>
                </a:solidFill>
                <a:latin typeface="Arial" pitchFamily="34" charset="0"/>
                <a:ea typeface="Arial" pitchFamily="34" charset="-122"/>
                <a:cs typeface="Arial" pitchFamily="34" charset="-120"/>
              </a:rPr>
              <a:t>4 Live Profiles</a:t>
            </a:r>
            <a:endParaRPr lang="en-US" sz="1150" dirty="0"/>
          </a:p>
        </p:txBody>
      </p:sp>
      <p:sp>
        <p:nvSpPr>
          <p:cNvPr id="32" name="Text 30"/>
          <p:cNvSpPr/>
          <p:nvPr/>
        </p:nvSpPr>
        <p:spPr>
          <a:xfrm>
            <a:off x="8458200" y="2130552"/>
            <a:ext cx="2468880" cy="164592"/>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UUID-bound custom system prompts</a:t>
            </a:r>
            <a:endParaRPr lang="en-US" sz="800" dirty="0"/>
          </a:p>
        </p:txBody>
      </p:sp>
      <p:sp>
        <p:nvSpPr>
          <p:cNvPr id="33" name="Shape 31"/>
          <p:cNvSpPr/>
          <p:nvPr/>
        </p:nvSpPr>
        <p:spPr>
          <a:xfrm>
            <a:off x="8321040" y="2468880"/>
            <a:ext cx="2743200" cy="658368"/>
          </a:xfrm>
          <a:prstGeom prst="roundRect">
            <a:avLst/>
          </a:prstGeom>
          <a:solidFill>
            <a:srgbClr val="1E293B"/>
          </a:solidFill>
          <a:ln w="12700">
            <a:solidFill>
              <a:srgbClr val="334155"/>
            </a:solidFill>
            <a:prstDash val="solid"/>
          </a:ln>
        </p:spPr>
      </p:sp>
      <p:sp>
        <p:nvSpPr>
          <p:cNvPr id="34" name="Text 32"/>
          <p:cNvSpPr/>
          <p:nvPr/>
        </p:nvSpPr>
        <p:spPr>
          <a:xfrm>
            <a:off x="8458200" y="2523744"/>
            <a:ext cx="2468880" cy="146304"/>
          </a:xfrm>
          <a:prstGeom prst="rect">
            <a:avLst/>
          </a:prstGeom>
          <a:noFill/>
          <a:ln/>
        </p:spPr>
        <p:txBody>
          <a:bodyPr wrap="square" rtlCol="0" anchor="ctr"/>
          <a:lstStyle/>
          <a:p>
            <a:pPr indent="0" marL="0">
              <a:buNone/>
            </a:pPr>
            <a:r>
              <a:rPr lang="en-US" sz="800" b="1" dirty="0">
                <a:solidFill>
                  <a:srgbClr val="94A3B8"/>
                </a:solidFill>
                <a:latin typeface="Arial" pitchFamily="34" charset="0"/>
                <a:ea typeface="Arial" pitchFamily="34" charset="-122"/>
                <a:cs typeface="Arial" pitchFamily="34" charset="-120"/>
              </a:rPr>
              <a:t>TRAINED DATASETS</a:t>
            </a:r>
            <a:endParaRPr lang="en-US" sz="800" dirty="0"/>
          </a:p>
        </p:txBody>
      </p:sp>
      <p:sp>
        <p:nvSpPr>
          <p:cNvPr id="35" name="Text 33"/>
          <p:cNvSpPr/>
          <p:nvPr/>
        </p:nvSpPr>
        <p:spPr>
          <a:xfrm>
            <a:off x="8458200" y="2679192"/>
            <a:ext cx="2468880" cy="210312"/>
          </a:xfrm>
          <a:prstGeom prst="rect">
            <a:avLst/>
          </a:prstGeom>
          <a:noFill/>
          <a:ln/>
        </p:spPr>
        <p:txBody>
          <a:bodyPr wrap="square" rtlCol="0" anchor="ctr"/>
          <a:lstStyle/>
          <a:p>
            <a:pPr indent="0" marL="0">
              <a:buNone/>
            </a:pPr>
            <a:r>
              <a:rPr lang="en-US" sz="1150" b="1" dirty="0">
                <a:solidFill>
                  <a:srgbClr val="38BDF8"/>
                </a:solidFill>
                <a:latin typeface="Arial" pitchFamily="34" charset="0"/>
                <a:ea typeface="Arial" pitchFamily="34" charset="-122"/>
                <a:cs typeface="Arial" pitchFamily="34" charset="-120"/>
              </a:rPr>
              <a:t>3 Vector Indices</a:t>
            </a:r>
            <a:endParaRPr lang="en-US" sz="1150" dirty="0"/>
          </a:p>
        </p:txBody>
      </p:sp>
      <p:sp>
        <p:nvSpPr>
          <p:cNvPr id="36" name="Text 34"/>
          <p:cNvSpPr/>
          <p:nvPr/>
        </p:nvSpPr>
        <p:spPr>
          <a:xfrm>
            <a:off x="8458200" y="2907792"/>
            <a:ext cx="2468880" cy="164592"/>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Lost pets, clinics, catalog</a:t>
            </a:r>
            <a:endParaRPr lang="en-US" sz="800" dirty="0"/>
          </a:p>
        </p:txBody>
      </p:sp>
      <p:sp>
        <p:nvSpPr>
          <p:cNvPr id="37" name="Shape 35"/>
          <p:cNvSpPr/>
          <p:nvPr/>
        </p:nvSpPr>
        <p:spPr>
          <a:xfrm>
            <a:off x="8321040" y="3246120"/>
            <a:ext cx="2743200" cy="658368"/>
          </a:xfrm>
          <a:prstGeom prst="roundRect">
            <a:avLst/>
          </a:prstGeom>
          <a:solidFill>
            <a:srgbClr val="1E293B"/>
          </a:solidFill>
          <a:ln w="12700">
            <a:solidFill>
              <a:srgbClr val="334155"/>
            </a:solidFill>
            <a:prstDash val="solid"/>
          </a:ln>
        </p:spPr>
      </p:sp>
      <p:sp>
        <p:nvSpPr>
          <p:cNvPr id="38" name="Text 36"/>
          <p:cNvSpPr/>
          <p:nvPr/>
        </p:nvSpPr>
        <p:spPr>
          <a:xfrm>
            <a:off x="8458200" y="3300984"/>
            <a:ext cx="2468880" cy="146304"/>
          </a:xfrm>
          <a:prstGeom prst="rect">
            <a:avLst/>
          </a:prstGeom>
          <a:noFill/>
          <a:ln/>
        </p:spPr>
        <p:txBody>
          <a:bodyPr wrap="square" rtlCol="0" anchor="ctr"/>
          <a:lstStyle/>
          <a:p>
            <a:pPr indent="0" marL="0">
              <a:buNone/>
            </a:pPr>
            <a:r>
              <a:rPr lang="en-US" sz="800" b="1" dirty="0">
                <a:solidFill>
                  <a:srgbClr val="94A3B8"/>
                </a:solidFill>
                <a:latin typeface="Arial" pitchFamily="34" charset="0"/>
                <a:ea typeface="Arial" pitchFamily="34" charset="-122"/>
                <a:cs typeface="Arial" pitchFamily="34" charset="-120"/>
              </a:rPr>
              <a:t>MULTIMODAL VISION</a:t>
            </a:r>
            <a:endParaRPr lang="en-US" sz="800" dirty="0"/>
          </a:p>
        </p:txBody>
      </p:sp>
      <p:sp>
        <p:nvSpPr>
          <p:cNvPr id="39" name="Text 37"/>
          <p:cNvSpPr/>
          <p:nvPr/>
        </p:nvSpPr>
        <p:spPr>
          <a:xfrm>
            <a:off x="8458200" y="3456432"/>
            <a:ext cx="2468880" cy="210312"/>
          </a:xfrm>
          <a:prstGeom prst="rect">
            <a:avLst/>
          </a:prstGeom>
          <a:noFill/>
          <a:ln/>
        </p:spPr>
        <p:txBody>
          <a:bodyPr wrap="square" rtlCol="0" anchor="ctr"/>
          <a:lstStyle/>
          <a:p>
            <a:pPr indent="0" marL="0">
              <a:buNone/>
            </a:pPr>
            <a:r>
              <a:rPr lang="en-US" sz="1150" b="1" dirty="0">
                <a:solidFill>
                  <a:srgbClr val="38BDF8"/>
                </a:solidFill>
                <a:latin typeface="Arial" pitchFamily="34" charset="0"/>
                <a:ea typeface="Arial" pitchFamily="34" charset="-122"/>
                <a:cs typeface="Arial" pitchFamily="34" charset="-120"/>
              </a:rPr>
              <a:t>Qwen2.5-VL-72B &amp; GPT-4o</a:t>
            </a:r>
            <a:endParaRPr lang="en-US" sz="1150" dirty="0"/>
          </a:p>
        </p:txBody>
      </p:sp>
      <p:sp>
        <p:nvSpPr>
          <p:cNvPr id="40" name="Text 38"/>
          <p:cNvSpPr/>
          <p:nvPr/>
        </p:nvSpPr>
        <p:spPr>
          <a:xfrm>
            <a:off x="8458200" y="3685032"/>
            <a:ext cx="2468880" cy="164592"/>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Visual sighting biometric correlation</a:t>
            </a:r>
            <a:endParaRPr lang="en-US" sz="800" dirty="0"/>
          </a:p>
        </p:txBody>
      </p:sp>
      <p:sp>
        <p:nvSpPr>
          <p:cNvPr id="41" name="Shape 39"/>
          <p:cNvSpPr/>
          <p:nvPr/>
        </p:nvSpPr>
        <p:spPr>
          <a:xfrm>
            <a:off x="8321040" y="4023360"/>
            <a:ext cx="2743200" cy="658368"/>
          </a:xfrm>
          <a:prstGeom prst="roundRect">
            <a:avLst/>
          </a:prstGeom>
          <a:solidFill>
            <a:srgbClr val="1E293B"/>
          </a:solidFill>
          <a:ln w="12700">
            <a:solidFill>
              <a:srgbClr val="334155"/>
            </a:solidFill>
            <a:prstDash val="solid"/>
          </a:ln>
        </p:spPr>
      </p:sp>
      <p:sp>
        <p:nvSpPr>
          <p:cNvPr id="42" name="Text 40"/>
          <p:cNvSpPr/>
          <p:nvPr/>
        </p:nvSpPr>
        <p:spPr>
          <a:xfrm>
            <a:off x="8458200" y="4078224"/>
            <a:ext cx="2468880" cy="146304"/>
          </a:xfrm>
          <a:prstGeom prst="rect">
            <a:avLst/>
          </a:prstGeom>
          <a:noFill/>
          <a:ln/>
        </p:spPr>
        <p:txBody>
          <a:bodyPr wrap="square" rtlCol="0" anchor="ctr"/>
          <a:lstStyle/>
          <a:p>
            <a:pPr indent="0" marL="0">
              <a:buNone/>
            </a:pPr>
            <a:r>
              <a:rPr lang="en-US" sz="800" b="1" dirty="0">
                <a:solidFill>
                  <a:srgbClr val="94A3B8"/>
                </a:solidFill>
                <a:latin typeface="Arial" pitchFamily="34" charset="0"/>
                <a:ea typeface="Arial" pitchFamily="34" charset="-122"/>
                <a:cs typeface="Arial" pitchFamily="34" charset="-120"/>
              </a:rPr>
              <a:t>EMERGENCY GUARD</a:t>
            </a:r>
            <a:endParaRPr lang="en-US" sz="800" dirty="0"/>
          </a:p>
        </p:txBody>
      </p:sp>
      <p:sp>
        <p:nvSpPr>
          <p:cNvPr id="43" name="Text 41"/>
          <p:cNvSpPr/>
          <p:nvPr/>
        </p:nvSpPr>
        <p:spPr>
          <a:xfrm>
            <a:off x="8458200" y="4233672"/>
            <a:ext cx="2468880" cy="210312"/>
          </a:xfrm>
          <a:prstGeom prst="rect">
            <a:avLst/>
          </a:prstGeom>
          <a:noFill/>
          <a:ln/>
        </p:spPr>
        <p:txBody>
          <a:bodyPr wrap="square" rtlCol="0" anchor="ctr"/>
          <a:lstStyle/>
          <a:p>
            <a:pPr indent="0" marL="0">
              <a:buNone/>
            </a:pPr>
            <a:r>
              <a:rPr lang="en-US" sz="1150" b="1" dirty="0">
                <a:solidFill>
                  <a:srgbClr val="38BDF8"/>
                </a:solidFill>
                <a:latin typeface="Arial" pitchFamily="34" charset="0"/>
                <a:ea typeface="Arial" pitchFamily="34" charset="-122"/>
                <a:cs typeface="Arial" pitchFamily="34" charset="-120"/>
              </a:rPr>
              <a:t>2ms Latency</a:t>
            </a:r>
            <a:endParaRPr lang="en-US" sz="1150" dirty="0"/>
          </a:p>
        </p:txBody>
      </p:sp>
      <p:sp>
        <p:nvSpPr>
          <p:cNvPr id="44" name="Text 42"/>
          <p:cNvSpPr/>
          <p:nvPr/>
        </p:nvSpPr>
        <p:spPr>
          <a:xfrm>
            <a:off x="8458200" y="4462272"/>
            <a:ext cx="2468880" cy="164592"/>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Zero-hallucination poison guardrail</a:t>
            </a:r>
            <a:endParaRPr lang="en-US" sz="800" dirty="0"/>
          </a:p>
        </p:txBody>
      </p:sp>
      <p:sp>
        <p:nvSpPr>
          <p:cNvPr id="45" name="Shape 43"/>
          <p:cNvSpPr/>
          <p:nvPr/>
        </p:nvSpPr>
        <p:spPr>
          <a:xfrm>
            <a:off x="8321040" y="4800600"/>
            <a:ext cx="2743200" cy="658368"/>
          </a:xfrm>
          <a:prstGeom prst="roundRect">
            <a:avLst/>
          </a:prstGeom>
          <a:solidFill>
            <a:srgbClr val="1E293B"/>
          </a:solidFill>
          <a:ln w="12700">
            <a:solidFill>
              <a:srgbClr val="334155"/>
            </a:solidFill>
            <a:prstDash val="solid"/>
          </a:ln>
        </p:spPr>
      </p:sp>
      <p:sp>
        <p:nvSpPr>
          <p:cNvPr id="46" name="Text 44"/>
          <p:cNvSpPr/>
          <p:nvPr/>
        </p:nvSpPr>
        <p:spPr>
          <a:xfrm>
            <a:off x="8458200" y="4855464"/>
            <a:ext cx="2468880" cy="146304"/>
          </a:xfrm>
          <a:prstGeom prst="rect">
            <a:avLst/>
          </a:prstGeom>
          <a:noFill/>
          <a:ln/>
        </p:spPr>
        <p:txBody>
          <a:bodyPr wrap="square" rtlCol="0" anchor="ctr"/>
          <a:lstStyle/>
          <a:p>
            <a:pPr indent="0" marL="0">
              <a:buNone/>
            </a:pPr>
            <a:r>
              <a:rPr lang="en-US" sz="800" b="1" dirty="0">
                <a:solidFill>
                  <a:srgbClr val="94A3B8"/>
                </a:solidFill>
                <a:latin typeface="Arial" pitchFamily="34" charset="0"/>
                <a:ea typeface="Arial" pitchFamily="34" charset="-122"/>
                <a:cs typeface="Arial" pitchFamily="34" charset="-120"/>
              </a:rPr>
              <a:t>RESILIENCE LAYER</a:t>
            </a:r>
            <a:endParaRPr lang="en-US" sz="800" dirty="0"/>
          </a:p>
        </p:txBody>
      </p:sp>
      <p:sp>
        <p:nvSpPr>
          <p:cNvPr id="47" name="Text 45"/>
          <p:cNvSpPr/>
          <p:nvPr/>
        </p:nvSpPr>
        <p:spPr>
          <a:xfrm>
            <a:off x="8458200" y="5010912"/>
            <a:ext cx="2468880" cy="210312"/>
          </a:xfrm>
          <a:prstGeom prst="rect">
            <a:avLst/>
          </a:prstGeom>
          <a:noFill/>
          <a:ln/>
        </p:spPr>
        <p:txBody>
          <a:bodyPr wrap="square" rtlCol="0" anchor="ctr"/>
          <a:lstStyle/>
          <a:p>
            <a:pPr indent="0" marL="0">
              <a:buNone/>
            </a:pPr>
            <a:r>
              <a:rPr lang="en-US" sz="1150" b="1" dirty="0">
                <a:solidFill>
                  <a:srgbClr val="38BDF8"/>
                </a:solidFill>
                <a:latin typeface="Arial" pitchFamily="34" charset="0"/>
                <a:ea typeface="Arial" pitchFamily="34" charset="-122"/>
                <a:cs typeface="Arial" pitchFamily="34" charset="-120"/>
              </a:rPr>
              <a:t>100% Uptime</a:t>
            </a:r>
            <a:endParaRPr lang="en-US" sz="1150" dirty="0"/>
          </a:p>
        </p:txBody>
      </p:sp>
      <p:sp>
        <p:nvSpPr>
          <p:cNvPr id="48" name="Text 46"/>
          <p:cNvSpPr/>
          <p:nvPr/>
        </p:nvSpPr>
        <p:spPr>
          <a:xfrm>
            <a:off x="8458200" y="5239512"/>
            <a:ext cx="2468880" cy="164592"/>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Triple-tier offline failover engine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2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STRATEGIC MOTIVATION</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Why Gigalogy MAIRA? Moving Beyond Generic LLMs</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Traditional LLM prompts suffer from hallucinations, high latency, and lack local Dhaka veterinary grounding.</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Text 9"/>
          <p:cNvSpPr/>
          <p:nvPr/>
        </p:nvSpPr>
        <p:spPr>
          <a:xfrm>
            <a:off x="731520" y="1783080"/>
            <a:ext cx="5120640" cy="228600"/>
          </a:xfrm>
          <a:prstGeom prst="rect">
            <a:avLst/>
          </a:prstGeom>
          <a:noFill/>
          <a:ln/>
        </p:spPr>
        <p:txBody>
          <a:bodyPr wrap="square" rtlCol="0" anchor="ctr"/>
          <a:lstStyle/>
          <a:p>
            <a:pPr indent="0" marL="0">
              <a:buNone/>
            </a:pPr>
            <a:r>
              <a:rPr lang="en-US" sz="1100" b="1" spc="100" kern="0" dirty="0">
                <a:solidFill>
                  <a:srgbClr val="EF4444"/>
                </a:solidFill>
                <a:latin typeface="Arial" pitchFamily="34" charset="0"/>
                <a:ea typeface="Arial" pitchFamily="34" charset="-122"/>
                <a:cs typeface="Arial" pitchFamily="34" charset="-120"/>
              </a:rPr>
              <a:t>CHALLENGES OF RAW / GENERIC LLMs</a:t>
            </a:r>
            <a:endParaRPr lang="en-US" sz="1100" dirty="0"/>
          </a:p>
        </p:txBody>
      </p:sp>
      <p:sp>
        <p:nvSpPr>
          <p:cNvPr id="12" name="Shape 10"/>
          <p:cNvSpPr/>
          <p:nvPr/>
        </p:nvSpPr>
        <p:spPr>
          <a:xfrm>
            <a:off x="731520" y="2103120"/>
            <a:ext cx="5120640" cy="1207008"/>
          </a:xfrm>
          <a:prstGeom prst="roundRect">
            <a:avLst/>
          </a:prstGeom>
          <a:solidFill>
            <a:srgbClr val="FEF2F2"/>
          </a:solidFill>
          <a:ln w="15240">
            <a:solidFill>
              <a:srgbClr val="FECACA"/>
            </a:solidFill>
            <a:prstDash val="solid"/>
          </a:ln>
        </p:spPr>
      </p:sp>
      <p:sp>
        <p:nvSpPr>
          <p:cNvPr id="13" name="Text 11"/>
          <p:cNvSpPr/>
          <p:nvPr/>
        </p:nvSpPr>
        <p:spPr>
          <a:xfrm>
            <a:off x="914400" y="2212848"/>
            <a:ext cx="4754880" cy="27432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 Clinical Hallucination Risks</a:t>
            </a:r>
            <a:endParaRPr lang="en-US" sz="1200" dirty="0"/>
          </a:p>
        </p:txBody>
      </p:sp>
      <p:sp>
        <p:nvSpPr>
          <p:cNvPr id="14" name="Text 12"/>
          <p:cNvSpPr/>
          <p:nvPr/>
        </p:nvSpPr>
        <p:spPr>
          <a:xfrm>
            <a:off x="914400" y="2505456"/>
            <a:ext cx="4754880" cy="713232"/>
          </a:xfrm>
          <a:prstGeom prst="rect">
            <a:avLst/>
          </a:prstGeom>
          <a:noFill/>
          <a:ln/>
        </p:spPr>
        <p:txBody>
          <a:bodyPr wrap="square" rtlCol="0" anchor="ctr"/>
          <a:lstStyle/>
          <a:p>
            <a:pPr indent="0" marL="0">
              <a:lnSpc>
                <a:spcPts val="1400"/>
              </a:lnSpc>
              <a:buNone/>
            </a:pPr>
            <a:r>
              <a:rPr lang="en-US" sz="1000" dirty="0">
                <a:solidFill>
                  <a:srgbClr val="7F1D1D"/>
                </a:solidFill>
                <a:latin typeface="Arial" pitchFamily="34" charset="0"/>
                <a:ea typeface="Arial" pitchFamily="34" charset="-122"/>
                <a:cs typeface="Arial" pitchFamily="34" charset="-120"/>
              </a:rPr>
              <a:t>Generic models often invent dosages or fail to urgently flag lethal pet toxins (like lilies for cats or xylitol for dogs), creating severe liability risks.</a:t>
            </a:r>
            <a:endParaRPr lang="en-US" sz="1000" dirty="0"/>
          </a:p>
        </p:txBody>
      </p:sp>
      <p:sp>
        <p:nvSpPr>
          <p:cNvPr id="15" name="Shape 13"/>
          <p:cNvSpPr/>
          <p:nvPr/>
        </p:nvSpPr>
        <p:spPr>
          <a:xfrm>
            <a:off x="731520" y="3429000"/>
            <a:ext cx="5120640" cy="1207008"/>
          </a:xfrm>
          <a:prstGeom prst="roundRect">
            <a:avLst/>
          </a:prstGeom>
          <a:solidFill>
            <a:srgbClr val="FEF2F2"/>
          </a:solidFill>
          <a:ln w="15240">
            <a:solidFill>
              <a:srgbClr val="FECACA"/>
            </a:solidFill>
            <a:prstDash val="solid"/>
          </a:ln>
        </p:spPr>
      </p:sp>
      <p:sp>
        <p:nvSpPr>
          <p:cNvPr id="16" name="Text 14"/>
          <p:cNvSpPr/>
          <p:nvPr/>
        </p:nvSpPr>
        <p:spPr>
          <a:xfrm>
            <a:off x="914400" y="3538728"/>
            <a:ext cx="4754880" cy="27432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 Zero Local Context Grounding</a:t>
            </a:r>
            <a:endParaRPr lang="en-US" sz="1200" dirty="0"/>
          </a:p>
        </p:txBody>
      </p:sp>
      <p:sp>
        <p:nvSpPr>
          <p:cNvPr id="17" name="Text 15"/>
          <p:cNvSpPr/>
          <p:nvPr/>
        </p:nvSpPr>
        <p:spPr>
          <a:xfrm>
            <a:off x="914400" y="3831336"/>
            <a:ext cx="4754880" cy="713232"/>
          </a:xfrm>
          <a:prstGeom prst="rect">
            <a:avLst/>
          </a:prstGeom>
          <a:noFill/>
          <a:ln/>
        </p:spPr>
        <p:txBody>
          <a:bodyPr wrap="square" rtlCol="0" anchor="ctr"/>
          <a:lstStyle/>
          <a:p>
            <a:pPr indent="0" marL="0">
              <a:lnSpc>
                <a:spcPts val="1400"/>
              </a:lnSpc>
              <a:buNone/>
            </a:pPr>
            <a:r>
              <a:rPr lang="en-US" sz="1000" dirty="0">
                <a:solidFill>
                  <a:srgbClr val="7F1D1D"/>
                </a:solidFill>
                <a:latin typeface="Arial" pitchFamily="34" charset="0"/>
                <a:ea typeface="Arial" pitchFamily="34" charset="-122"/>
                <a:cs typeface="Arial" pitchFamily="34" charset="-120"/>
              </a:rPr>
              <a:t>Models have no knowledge of local Dhaka vet hospitals, Banani lost pet sightings, or Bangladeshi marketplace pet nutritional supply chains.</a:t>
            </a:r>
            <a:endParaRPr lang="en-US" sz="1000" dirty="0"/>
          </a:p>
        </p:txBody>
      </p:sp>
      <p:sp>
        <p:nvSpPr>
          <p:cNvPr id="18" name="Shape 16"/>
          <p:cNvSpPr/>
          <p:nvPr/>
        </p:nvSpPr>
        <p:spPr>
          <a:xfrm>
            <a:off x="731520" y="4754880"/>
            <a:ext cx="5120640" cy="1207008"/>
          </a:xfrm>
          <a:prstGeom prst="roundRect">
            <a:avLst/>
          </a:prstGeom>
          <a:solidFill>
            <a:srgbClr val="FEF2F2"/>
          </a:solidFill>
          <a:ln w="15240">
            <a:solidFill>
              <a:srgbClr val="FECACA"/>
            </a:solidFill>
            <a:prstDash val="solid"/>
          </a:ln>
        </p:spPr>
      </p:sp>
      <p:sp>
        <p:nvSpPr>
          <p:cNvPr id="19" name="Text 17"/>
          <p:cNvSpPr/>
          <p:nvPr/>
        </p:nvSpPr>
        <p:spPr>
          <a:xfrm>
            <a:off x="914400" y="4864608"/>
            <a:ext cx="4754880" cy="27432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 High Latency &amp; Heavy Ops Overhead</a:t>
            </a:r>
            <a:endParaRPr lang="en-US" sz="1200" dirty="0"/>
          </a:p>
        </p:txBody>
      </p:sp>
      <p:sp>
        <p:nvSpPr>
          <p:cNvPr id="20" name="Text 18"/>
          <p:cNvSpPr/>
          <p:nvPr/>
        </p:nvSpPr>
        <p:spPr>
          <a:xfrm>
            <a:off x="914400" y="5157216"/>
            <a:ext cx="4754880" cy="713232"/>
          </a:xfrm>
          <a:prstGeom prst="rect">
            <a:avLst/>
          </a:prstGeom>
          <a:noFill/>
          <a:ln/>
        </p:spPr>
        <p:txBody>
          <a:bodyPr wrap="square" rtlCol="0" anchor="ctr"/>
          <a:lstStyle/>
          <a:p>
            <a:pPr indent="0" marL="0">
              <a:lnSpc>
                <a:spcPts val="1400"/>
              </a:lnSpc>
              <a:buNone/>
            </a:pPr>
            <a:r>
              <a:rPr lang="en-US" sz="1000" dirty="0">
                <a:solidFill>
                  <a:srgbClr val="7F1D1D"/>
                </a:solidFill>
                <a:latin typeface="Arial" pitchFamily="34" charset="0"/>
                <a:ea typeface="Arial" pitchFamily="34" charset="-122"/>
                <a:cs typeface="Arial" pitchFamily="34" charset="-120"/>
              </a:rPr>
              <a:t>Building custom vector databases, embedding chunkers, and ingestion pipelines manually requires massive dev time and ongoing infrastructure maintenance.</a:t>
            </a:r>
            <a:endParaRPr lang="en-US" sz="1000" dirty="0"/>
          </a:p>
        </p:txBody>
      </p:sp>
      <p:sp>
        <p:nvSpPr>
          <p:cNvPr id="21" name="Text 19"/>
          <p:cNvSpPr/>
          <p:nvPr/>
        </p:nvSpPr>
        <p:spPr>
          <a:xfrm>
            <a:off x="6339535" y="1783080"/>
            <a:ext cx="5120640" cy="228600"/>
          </a:xfrm>
          <a:prstGeom prst="rect">
            <a:avLst/>
          </a:prstGeom>
          <a:noFill/>
          <a:ln/>
        </p:spPr>
        <p:txBody>
          <a:bodyPr wrap="square" rtlCol="0" anchor="ctr"/>
          <a:lstStyle/>
          <a:p>
            <a:pPr indent="0" marL="0">
              <a:buNone/>
            </a:pPr>
            <a:r>
              <a:rPr lang="en-US" sz="1100" b="1" spc="100" kern="0" dirty="0">
                <a:solidFill>
                  <a:srgbClr val="10B981"/>
                </a:solidFill>
                <a:latin typeface="Arial" pitchFamily="34" charset="0"/>
                <a:ea typeface="Arial" pitchFamily="34" charset="-122"/>
                <a:cs typeface="Arial" pitchFamily="34" charset="-120"/>
              </a:rPr>
              <a:t>GIGALOGY MAIRA MANAGED RAG ADVANTAGES</a:t>
            </a:r>
            <a:endParaRPr lang="en-US" sz="1100" dirty="0"/>
          </a:p>
        </p:txBody>
      </p:sp>
      <p:sp>
        <p:nvSpPr>
          <p:cNvPr id="22" name="Shape 20"/>
          <p:cNvSpPr/>
          <p:nvPr/>
        </p:nvSpPr>
        <p:spPr>
          <a:xfrm>
            <a:off x="6339535" y="2103120"/>
            <a:ext cx="5120640" cy="1207008"/>
          </a:xfrm>
          <a:prstGeom prst="roundRect">
            <a:avLst/>
          </a:prstGeom>
          <a:solidFill>
            <a:srgbClr val="ECFDF5"/>
          </a:solidFill>
          <a:ln w="15240">
            <a:solidFill>
              <a:srgbClr val="A7F3D0"/>
            </a:solidFill>
            <a:prstDash val="solid"/>
          </a:ln>
        </p:spPr>
      </p:sp>
      <p:sp>
        <p:nvSpPr>
          <p:cNvPr id="23" name="Text 21"/>
          <p:cNvSpPr/>
          <p:nvPr/>
        </p:nvSpPr>
        <p:spPr>
          <a:xfrm>
            <a:off x="6522415" y="2212848"/>
            <a:ext cx="4754880" cy="274320"/>
          </a:xfrm>
          <a:prstGeom prst="rect">
            <a:avLst/>
          </a:prstGeom>
          <a:noFill/>
          <a:ln/>
        </p:spPr>
        <p:txBody>
          <a:bodyPr wrap="square" rtlCol="0" anchor="ctr"/>
          <a:lstStyle/>
          <a:p>
            <a:pPr indent="0" marL="0">
              <a:buNone/>
            </a:pPr>
            <a:r>
              <a:rPr lang="en-US" sz="1200" b="1" dirty="0">
                <a:solidFill>
                  <a:srgbClr val="065F46"/>
                </a:solidFill>
                <a:latin typeface="Arial" pitchFamily="34" charset="0"/>
                <a:ea typeface="Arial" pitchFamily="34" charset="-122"/>
                <a:cs typeface="Arial" pitchFamily="34" charset="-120"/>
              </a:rPr>
              <a:t>✅ Isolated Domain AI Profiles</a:t>
            </a:r>
            <a:endParaRPr lang="en-US" sz="1200" dirty="0"/>
          </a:p>
        </p:txBody>
      </p:sp>
      <p:sp>
        <p:nvSpPr>
          <p:cNvPr id="24" name="Text 22"/>
          <p:cNvSpPr/>
          <p:nvPr/>
        </p:nvSpPr>
        <p:spPr>
          <a:xfrm>
            <a:off x="6522415" y="2505456"/>
            <a:ext cx="4754880" cy="713232"/>
          </a:xfrm>
          <a:prstGeom prst="rect">
            <a:avLst/>
          </a:prstGeom>
          <a:noFill/>
          <a:ln/>
        </p:spPr>
        <p:txBody>
          <a:bodyPr wrap="square" rtlCol="0" anchor="ctr"/>
          <a:lstStyle/>
          <a:p>
            <a:pPr indent="0" marL="0">
              <a:lnSpc>
                <a:spcPts val="1400"/>
              </a:lnSpc>
              <a:buNone/>
            </a:pPr>
            <a:r>
              <a:rPr lang="en-US" sz="1000" dirty="0">
                <a:solidFill>
                  <a:srgbClr val="047857"/>
                </a:solidFill>
                <a:latin typeface="Arial" pitchFamily="34" charset="0"/>
                <a:ea typeface="Arial" pitchFamily="34" charset="-122"/>
                <a:cs typeface="Arial" pitchFamily="34" charset="-120"/>
              </a:rPr>
              <a:t>Four dedicated profiles with tailored veterinary temperature, clinical system instructions, and specialized multimodal models (GPT-4o).</a:t>
            </a:r>
            <a:endParaRPr lang="en-US" sz="1000" dirty="0"/>
          </a:p>
        </p:txBody>
      </p:sp>
      <p:sp>
        <p:nvSpPr>
          <p:cNvPr id="25" name="Shape 23"/>
          <p:cNvSpPr/>
          <p:nvPr/>
        </p:nvSpPr>
        <p:spPr>
          <a:xfrm>
            <a:off x="6339535" y="3429000"/>
            <a:ext cx="5120640" cy="1207008"/>
          </a:xfrm>
          <a:prstGeom prst="roundRect">
            <a:avLst/>
          </a:prstGeom>
          <a:solidFill>
            <a:srgbClr val="ECFDF5"/>
          </a:solidFill>
          <a:ln w="15240">
            <a:solidFill>
              <a:srgbClr val="A7F3D0"/>
            </a:solidFill>
            <a:prstDash val="solid"/>
          </a:ln>
        </p:spPr>
      </p:sp>
      <p:sp>
        <p:nvSpPr>
          <p:cNvPr id="26" name="Text 24"/>
          <p:cNvSpPr/>
          <p:nvPr/>
        </p:nvSpPr>
        <p:spPr>
          <a:xfrm>
            <a:off x="6522415" y="3538728"/>
            <a:ext cx="4754880" cy="274320"/>
          </a:xfrm>
          <a:prstGeom prst="rect">
            <a:avLst/>
          </a:prstGeom>
          <a:noFill/>
          <a:ln/>
        </p:spPr>
        <p:txBody>
          <a:bodyPr wrap="square" rtlCol="0" anchor="ctr"/>
          <a:lstStyle/>
          <a:p>
            <a:pPr indent="0" marL="0">
              <a:buNone/>
            </a:pPr>
            <a:r>
              <a:rPr lang="en-US" sz="1200" b="1" dirty="0">
                <a:solidFill>
                  <a:srgbClr val="065F46"/>
                </a:solidFill>
                <a:latin typeface="Arial" pitchFamily="34" charset="0"/>
                <a:ea typeface="Arial" pitchFamily="34" charset="-122"/>
                <a:cs typeface="Arial" pitchFamily="34" charset="-120"/>
              </a:rPr>
              <a:t>✅ Managed Vector Retrieval (RAG)</a:t>
            </a:r>
            <a:endParaRPr lang="en-US" sz="1200" dirty="0"/>
          </a:p>
        </p:txBody>
      </p:sp>
      <p:sp>
        <p:nvSpPr>
          <p:cNvPr id="27" name="Text 25"/>
          <p:cNvSpPr/>
          <p:nvPr/>
        </p:nvSpPr>
        <p:spPr>
          <a:xfrm>
            <a:off x="6522415" y="3831336"/>
            <a:ext cx="4754880" cy="713232"/>
          </a:xfrm>
          <a:prstGeom prst="rect">
            <a:avLst/>
          </a:prstGeom>
          <a:noFill/>
          <a:ln/>
        </p:spPr>
        <p:txBody>
          <a:bodyPr wrap="square" rtlCol="0" anchor="ctr"/>
          <a:lstStyle/>
          <a:p>
            <a:pPr indent="0" marL="0">
              <a:lnSpc>
                <a:spcPts val="1400"/>
              </a:lnSpc>
              <a:buNone/>
            </a:pPr>
            <a:r>
              <a:rPr lang="en-US" sz="1000" dirty="0">
                <a:solidFill>
                  <a:srgbClr val="047857"/>
                </a:solidFill>
                <a:latin typeface="Arial" pitchFamily="34" charset="0"/>
                <a:ea typeface="Arial" pitchFamily="34" charset="-122"/>
                <a:cs typeface="Arial" pitchFamily="34" charset="-120"/>
              </a:rPr>
              <a:t>Instant search across trained pet sighting databases and clinic directories with similarity scores, returning verified facts instead of guessing.</a:t>
            </a:r>
            <a:endParaRPr lang="en-US" sz="1000" dirty="0"/>
          </a:p>
        </p:txBody>
      </p:sp>
      <p:sp>
        <p:nvSpPr>
          <p:cNvPr id="28" name="Shape 26"/>
          <p:cNvSpPr/>
          <p:nvPr/>
        </p:nvSpPr>
        <p:spPr>
          <a:xfrm>
            <a:off x="6339535" y="4754880"/>
            <a:ext cx="5120640" cy="1207008"/>
          </a:xfrm>
          <a:prstGeom prst="roundRect">
            <a:avLst/>
          </a:prstGeom>
          <a:solidFill>
            <a:srgbClr val="ECFDF5"/>
          </a:solidFill>
          <a:ln w="15240">
            <a:solidFill>
              <a:srgbClr val="A7F3D0"/>
            </a:solidFill>
            <a:prstDash val="solid"/>
          </a:ln>
        </p:spPr>
      </p:sp>
      <p:sp>
        <p:nvSpPr>
          <p:cNvPr id="29" name="Text 27"/>
          <p:cNvSpPr/>
          <p:nvPr/>
        </p:nvSpPr>
        <p:spPr>
          <a:xfrm>
            <a:off x="6522415" y="4864608"/>
            <a:ext cx="4754880" cy="274320"/>
          </a:xfrm>
          <a:prstGeom prst="rect">
            <a:avLst/>
          </a:prstGeom>
          <a:noFill/>
          <a:ln/>
        </p:spPr>
        <p:txBody>
          <a:bodyPr wrap="square" rtlCol="0" anchor="ctr"/>
          <a:lstStyle/>
          <a:p>
            <a:pPr indent="0" marL="0">
              <a:buNone/>
            </a:pPr>
            <a:r>
              <a:rPr lang="en-US" sz="1200" b="1" dirty="0">
                <a:solidFill>
                  <a:srgbClr val="065F46"/>
                </a:solidFill>
                <a:latin typeface="Arial" pitchFamily="34" charset="0"/>
                <a:ea typeface="Arial" pitchFamily="34" charset="-122"/>
                <a:cs typeface="Arial" pitchFamily="34" charset="-120"/>
              </a:rPr>
              <a:t>✅ Enterprise SLA &amp; Turnkey API</a:t>
            </a:r>
            <a:endParaRPr lang="en-US" sz="1200" dirty="0"/>
          </a:p>
        </p:txBody>
      </p:sp>
      <p:sp>
        <p:nvSpPr>
          <p:cNvPr id="30" name="Text 28"/>
          <p:cNvSpPr/>
          <p:nvPr/>
        </p:nvSpPr>
        <p:spPr>
          <a:xfrm>
            <a:off x="6522415" y="5157216"/>
            <a:ext cx="4754880" cy="713232"/>
          </a:xfrm>
          <a:prstGeom prst="rect">
            <a:avLst/>
          </a:prstGeom>
          <a:noFill/>
          <a:ln/>
        </p:spPr>
        <p:txBody>
          <a:bodyPr wrap="square" rtlCol="0" anchor="ctr"/>
          <a:lstStyle/>
          <a:p>
            <a:pPr indent="0" marL="0">
              <a:lnSpc>
                <a:spcPts val="1400"/>
              </a:lnSpc>
              <a:buNone/>
            </a:pPr>
            <a:r>
              <a:rPr lang="en-US" sz="1000" dirty="0">
                <a:solidFill>
                  <a:srgbClr val="047857"/>
                </a:solidFill>
                <a:latin typeface="Arial" pitchFamily="34" charset="0"/>
                <a:ea typeface="Arial" pitchFamily="34" charset="-122"/>
                <a:cs typeface="Arial" pitchFamily="34" charset="-120"/>
              </a:rPr>
              <a:t>Pre-built embedding, indexing, and vector search exposed via a clean REST API, drastically reducing operational overhead while ensuring sub-second response times.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3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SYSTEM ARCHITECTURE</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Nuzzle × MAIRA End-to-End Ingress &amp; Security Topology</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Decoupled client architecture with edge proxying, custom hyphenated security headers, and multi-tier failover.</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2560320" cy="2606040"/>
          </a:xfrm>
          <a:prstGeom prst="roundRect">
            <a:avLst/>
          </a:prstGeom>
          <a:solidFill>
            <a:srgbClr val="FFFFFF"/>
          </a:solidFill>
          <a:ln w="15240">
            <a:solidFill>
              <a:srgbClr val="CBD5E1"/>
            </a:solidFill>
            <a:prstDash val="solid"/>
          </a:ln>
        </p:spPr>
      </p:sp>
      <p:sp>
        <p:nvSpPr>
          <p:cNvPr id="12" name="Shape 10"/>
          <p:cNvSpPr/>
          <p:nvPr/>
        </p:nvSpPr>
        <p:spPr>
          <a:xfrm>
            <a:off x="868680" y="1920240"/>
            <a:ext cx="685800" cy="274320"/>
          </a:xfrm>
          <a:prstGeom prst="roundRect">
            <a:avLst/>
          </a:prstGeom>
          <a:solidFill>
            <a:srgbClr val="F1F5F9"/>
          </a:solidFill>
          <a:ln w="12700">
            <a:solidFill>
              <a:srgbClr val="CBD5E1"/>
            </a:solidFill>
            <a:prstDash val="solid"/>
          </a:ln>
        </p:spPr>
      </p:sp>
      <p:sp>
        <p:nvSpPr>
          <p:cNvPr id="13" name="Text 11"/>
          <p:cNvSpPr/>
          <p:nvPr/>
        </p:nvSpPr>
        <p:spPr>
          <a:xfrm>
            <a:off x="868680" y="1975104"/>
            <a:ext cx="685800" cy="182880"/>
          </a:xfrm>
          <a:prstGeom prst="rect">
            <a:avLst/>
          </a:prstGeom>
          <a:noFill/>
          <a:ln/>
        </p:spPr>
        <p:txBody>
          <a:bodyPr wrap="square" rtlCol="0" anchor="ctr"/>
          <a:lstStyle/>
          <a:p>
            <a:pPr algn="ctr" indent="0" marL="0">
              <a:buNone/>
            </a:pPr>
            <a:r>
              <a:rPr lang="en-US" sz="850" b="1" dirty="0">
                <a:solidFill>
                  <a:srgbClr val="4F46E5"/>
                </a:solidFill>
                <a:latin typeface="Arial" pitchFamily="34" charset="0"/>
                <a:ea typeface="Arial" pitchFamily="34" charset="-122"/>
                <a:cs typeface="Arial" pitchFamily="34" charset="-120"/>
              </a:rPr>
              <a:t>STAGE 01</a:t>
            </a:r>
            <a:endParaRPr lang="en-US" sz="850" dirty="0"/>
          </a:p>
        </p:txBody>
      </p:sp>
      <p:sp>
        <p:nvSpPr>
          <p:cNvPr id="14" name="Text 12"/>
          <p:cNvSpPr/>
          <p:nvPr/>
        </p:nvSpPr>
        <p:spPr>
          <a:xfrm>
            <a:off x="2697480"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5" name="Text 13"/>
          <p:cNvSpPr/>
          <p:nvPr/>
        </p:nvSpPr>
        <p:spPr>
          <a:xfrm>
            <a:off x="868680"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Vue 3 Client Layer</a:t>
            </a:r>
            <a:endParaRPr lang="en-US" sz="1300" dirty="0"/>
          </a:p>
        </p:txBody>
      </p:sp>
      <p:sp>
        <p:nvSpPr>
          <p:cNvPr id="16" name="Text 14"/>
          <p:cNvSpPr/>
          <p:nvPr/>
        </p:nvSpPr>
        <p:spPr>
          <a:xfrm>
            <a:off x="868680" y="2606040"/>
            <a:ext cx="2286000" cy="201168"/>
          </a:xfrm>
          <a:prstGeom prst="rect">
            <a:avLst/>
          </a:prstGeom>
          <a:noFill/>
          <a:ln/>
        </p:spPr>
        <p:txBody>
          <a:bodyPr wrap="square" rtlCol="0" anchor="ctr"/>
          <a:lstStyle/>
          <a:p>
            <a:pPr indent="0" marL="0">
              <a:buNone/>
            </a:pPr>
            <a:r>
              <a:rPr lang="en-US" sz="950" b="1" dirty="0">
                <a:solidFill>
                  <a:srgbClr val="4F46E5"/>
                </a:solidFill>
                <a:latin typeface="Arial" pitchFamily="34" charset="0"/>
                <a:ea typeface="Arial" pitchFamily="34" charset="-122"/>
                <a:cs typeface="Arial" pitchFamily="34" charset="-120"/>
              </a:rPr>
              <a:t>Vite • Pinia • TypeScript</a:t>
            </a:r>
            <a:endParaRPr lang="en-US" sz="950" dirty="0"/>
          </a:p>
        </p:txBody>
      </p:sp>
      <p:sp>
        <p:nvSpPr>
          <p:cNvPr id="17" name="Text 15"/>
          <p:cNvSpPr/>
          <p:nvPr/>
        </p:nvSpPr>
        <p:spPr>
          <a:xfrm>
            <a:off x="868680"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PawAIView, RadarView, TopBar Architecture Modal dispatching typed HTTP requests via apiClient.</a:t>
            </a:r>
            <a:endParaRPr lang="en-US" sz="950" dirty="0"/>
          </a:p>
        </p:txBody>
      </p:sp>
      <p:sp>
        <p:nvSpPr>
          <p:cNvPr id="18" name="Shape 16"/>
          <p:cNvSpPr/>
          <p:nvPr/>
        </p:nvSpPr>
        <p:spPr>
          <a:xfrm>
            <a:off x="3456432" y="1783080"/>
            <a:ext cx="2560320" cy="2606040"/>
          </a:xfrm>
          <a:prstGeom prst="roundRect">
            <a:avLst/>
          </a:prstGeom>
          <a:solidFill>
            <a:srgbClr val="FFFFFF"/>
          </a:solidFill>
          <a:ln w="15240">
            <a:solidFill>
              <a:srgbClr val="CBD5E1"/>
            </a:solidFill>
            <a:prstDash val="solid"/>
          </a:ln>
        </p:spPr>
      </p:sp>
      <p:sp>
        <p:nvSpPr>
          <p:cNvPr id="19" name="Shape 17"/>
          <p:cNvSpPr/>
          <p:nvPr/>
        </p:nvSpPr>
        <p:spPr>
          <a:xfrm>
            <a:off x="3593592" y="1920240"/>
            <a:ext cx="685800" cy="274320"/>
          </a:xfrm>
          <a:prstGeom prst="roundRect">
            <a:avLst/>
          </a:prstGeom>
          <a:solidFill>
            <a:srgbClr val="F1F5F9"/>
          </a:solidFill>
          <a:ln w="12700">
            <a:solidFill>
              <a:srgbClr val="CBD5E1"/>
            </a:solidFill>
            <a:prstDash val="solid"/>
          </a:ln>
        </p:spPr>
      </p:sp>
      <p:sp>
        <p:nvSpPr>
          <p:cNvPr id="20" name="Text 18"/>
          <p:cNvSpPr/>
          <p:nvPr/>
        </p:nvSpPr>
        <p:spPr>
          <a:xfrm>
            <a:off x="3593592" y="1975104"/>
            <a:ext cx="685800" cy="182880"/>
          </a:xfrm>
          <a:prstGeom prst="rect">
            <a:avLst/>
          </a:prstGeom>
          <a:noFill/>
          <a:ln/>
        </p:spPr>
        <p:txBody>
          <a:bodyPr wrap="square" rtlCol="0" anchor="ctr"/>
          <a:lstStyle/>
          <a:p>
            <a:pPr algn="ctr" indent="0" marL="0">
              <a:buNone/>
            </a:pPr>
            <a:r>
              <a:rPr lang="en-US" sz="850" b="1" dirty="0">
                <a:solidFill>
                  <a:srgbClr val="4338CA"/>
                </a:solidFill>
                <a:latin typeface="Arial" pitchFamily="34" charset="0"/>
                <a:ea typeface="Arial" pitchFamily="34" charset="-122"/>
                <a:cs typeface="Arial" pitchFamily="34" charset="-120"/>
              </a:rPr>
              <a:t>STAGE 02</a:t>
            </a:r>
            <a:endParaRPr lang="en-US" sz="850" dirty="0"/>
          </a:p>
        </p:txBody>
      </p:sp>
      <p:sp>
        <p:nvSpPr>
          <p:cNvPr id="21" name="Text 19"/>
          <p:cNvSpPr/>
          <p:nvPr/>
        </p:nvSpPr>
        <p:spPr>
          <a:xfrm>
            <a:off x="5422392"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2" name="Text 20"/>
          <p:cNvSpPr/>
          <p:nvPr/>
        </p:nvSpPr>
        <p:spPr>
          <a:xfrm>
            <a:off x="3593592"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Next.js 16 REST Engine</a:t>
            </a:r>
            <a:endParaRPr lang="en-US" sz="1300" dirty="0"/>
          </a:p>
        </p:txBody>
      </p:sp>
      <p:sp>
        <p:nvSpPr>
          <p:cNvPr id="23" name="Text 21"/>
          <p:cNvSpPr/>
          <p:nvPr/>
        </p:nvSpPr>
        <p:spPr>
          <a:xfrm>
            <a:off x="3593592" y="2606040"/>
            <a:ext cx="2286000" cy="201168"/>
          </a:xfrm>
          <a:prstGeom prst="rect">
            <a:avLst/>
          </a:prstGeom>
          <a:noFill/>
          <a:ln/>
        </p:spPr>
        <p:txBody>
          <a:bodyPr wrap="square" rtlCol="0" anchor="ctr"/>
          <a:lstStyle/>
          <a:p>
            <a:pPr indent="0" marL="0">
              <a:buNone/>
            </a:pPr>
            <a:r>
              <a:rPr lang="en-US" sz="950" b="1" dirty="0">
                <a:solidFill>
                  <a:srgbClr val="4338CA"/>
                </a:solidFill>
                <a:latin typeface="Arial" pitchFamily="34" charset="0"/>
                <a:ea typeface="Arial" pitchFamily="34" charset="-122"/>
                <a:cs typeface="Arial" pitchFamily="34" charset="-120"/>
              </a:rPr>
              <a:t>Zod • Edge Routes • RBAC</a:t>
            </a:r>
            <a:endParaRPr lang="en-US" sz="950" dirty="0"/>
          </a:p>
        </p:txBody>
      </p:sp>
      <p:sp>
        <p:nvSpPr>
          <p:cNvPr id="24" name="Text 22"/>
          <p:cNvSpPr/>
          <p:nvPr/>
        </p:nvSpPr>
        <p:spPr>
          <a:xfrm>
            <a:off x="3593592"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Strict schema validation, rate-limiting, pet context enrichment, and prompt normalization.</a:t>
            </a:r>
            <a:endParaRPr lang="en-US" sz="950" dirty="0"/>
          </a:p>
        </p:txBody>
      </p:sp>
      <p:sp>
        <p:nvSpPr>
          <p:cNvPr id="25" name="Shape 23"/>
          <p:cNvSpPr/>
          <p:nvPr/>
        </p:nvSpPr>
        <p:spPr>
          <a:xfrm>
            <a:off x="6181344" y="1783080"/>
            <a:ext cx="2560320" cy="2606040"/>
          </a:xfrm>
          <a:prstGeom prst="roundRect">
            <a:avLst/>
          </a:prstGeom>
          <a:solidFill>
            <a:srgbClr val="FFFFFF"/>
          </a:solidFill>
          <a:ln w="15240">
            <a:solidFill>
              <a:srgbClr val="CBD5E1"/>
            </a:solidFill>
            <a:prstDash val="solid"/>
          </a:ln>
        </p:spPr>
      </p:sp>
      <p:sp>
        <p:nvSpPr>
          <p:cNvPr id="26" name="Shape 24"/>
          <p:cNvSpPr/>
          <p:nvPr/>
        </p:nvSpPr>
        <p:spPr>
          <a:xfrm>
            <a:off x="6318504" y="1920240"/>
            <a:ext cx="685800" cy="274320"/>
          </a:xfrm>
          <a:prstGeom prst="roundRect">
            <a:avLst/>
          </a:prstGeom>
          <a:solidFill>
            <a:srgbClr val="F1F5F9"/>
          </a:solidFill>
          <a:ln w="12700">
            <a:solidFill>
              <a:srgbClr val="CBD5E1"/>
            </a:solidFill>
            <a:prstDash val="solid"/>
          </a:ln>
        </p:spPr>
      </p:sp>
      <p:sp>
        <p:nvSpPr>
          <p:cNvPr id="27" name="Text 25"/>
          <p:cNvSpPr/>
          <p:nvPr/>
        </p:nvSpPr>
        <p:spPr>
          <a:xfrm>
            <a:off x="6318504" y="1975104"/>
            <a:ext cx="685800" cy="182880"/>
          </a:xfrm>
          <a:prstGeom prst="rect">
            <a:avLst/>
          </a:prstGeom>
          <a:noFill/>
          <a:ln/>
        </p:spPr>
        <p:txBody>
          <a:bodyPr wrap="square" rtlCol="0" anchor="ctr"/>
          <a:lstStyle/>
          <a:p>
            <a:pPr algn="ctr" indent="0" marL="0">
              <a:buNone/>
            </a:pPr>
            <a:r>
              <a:rPr lang="en-US" sz="850" b="1" dirty="0">
                <a:solidFill>
                  <a:srgbClr val="8B5CF6"/>
                </a:solidFill>
                <a:latin typeface="Arial" pitchFamily="34" charset="0"/>
                <a:ea typeface="Arial" pitchFamily="34" charset="-122"/>
                <a:cs typeface="Arial" pitchFamily="34" charset="-120"/>
              </a:rPr>
              <a:t>STAGE 03</a:t>
            </a:r>
            <a:endParaRPr lang="en-US" sz="850" dirty="0"/>
          </a:p>
        </p:txBody>
      </p:sp>
      <p:sp>
        <p:nvSpPr>
          <p:cNvPr id="28" name="Text 26"/>
          <p:cNvSpPr/>
          <p:nvPr/>
        </p:nvSpPr>
        <p:spPr>
          <a:xfrm>
            <a:off x="8147304"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9" name="Text 27"/>
          <p:cNvSpPr/>
          <p:nvPr/>
        </p:nvSpPr>
        <p:spPr>
          <a:xfrm>
            <a:off x="6318504"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Nuzzle Maira Client</a:t>
            </a:r>
            <a:endParaRPr lang="en-US" sz="1300" dirty="0"/>
          </a:p>
        </p:txBody>
      </p:sp>
      <p:sp>
        <p:nvSpPr>
          <p:cNvPr id="30" name="Text 28"/>
          <p:cNvSpPr/>
          <p:nvPr/>
        </p:nvSpPr>
        <p:spPr>
          <a:xfrm>
            <a:off x="6318504" y="2606040"/>
            <a:ext cx="2286000" cy="201168"/>
          </a:xfrm>
          <a:prstGeom prst="rect">
            <a:avLst/>
          </a:prstGeom>
          <a:noFill/>
          <a:ln/>
        </p:spPr>
        <p:txBody>
          <a:bodyPr wrap="square" rtlCol="0" anchor="ctr"/>
          <a:lstStyle/>
          <a:p>
            <a:pPr indent="0" marL="0">
              <a:buNone/>
            </a:pPr>
            <a:r>
              <a:rPr lang="en-US" sz="950" b="1" dirty="0">
                <a:solidFill>
                  <a:srgbClr val="8B5CF6"/>
                </a:solidFill>
                <a:latin typeface="Arial" pitchFamily="34" charset="0"/>
                <a:ea typeface="Arial" pitchFamily="34" charset="-122"/>
                <a:cs typeface="Arial" pitchFamily="34" charset="-120"/>
              </a:rPr>
              <a:t>lib/maira/maira-client.ts</a:t>
            </a:r>
            <a:endParaRPr lang="en-US" sz="950" dirty="0"/>
          </a:p>
        </p:txBody>
      </p:sp>
      <p:sp>
        <p:nvSpPr>
          <p:cNvPr id="31" name="Text 29"/>
          <p:cNvSpPr/>
          <p:nvPr/>
        </p:nvSpPr>
        <p:spPr>
          <a:xfrm>
            <a:off x="6318504"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Hyphenated header injection (api-key, project-key), timeout circuits, and vector section extraction.</a:t>
            </a:r>
            <a:endParaRPr lang="en-US" sz="950" dirty="0"/>
          </a:p>
        </p:txBody>
      </p:sp>
      <p:sp>
        <p:nvSpPr>
          <p:cNvPr id="32" name="Shape 30"/>
          <p:cNvSpPr/>
          <p:nvPr/>
        </p:nvSpPr>
        <p:spPr>
          <a:xfrm>
            <a:off x="8906256" y="1783080"/>
            <a:ext cx="2560320" cy="2606040"/>
          </a:xfrm>
          <a:prstGeom prst="roundRect">
            <a:avLst/>
          </a:prstGeom>
          <a:solidFill>
            <a:srgbClr val="FFFFFF"/>
          </a:solidFill>
          <a:ln w="15240">
            <a:solidFill>
              <a:srgbClr val="CBD5E1"/>
            </a:solidFill>
            <a:prstDash val="solid"/>
          </a:ln>
        </p:spPr>
      </p:sp>
      <p:sp>
        <p:nvSpPr>
          <p:cNvPr id="33" name="Shape 31"/>
          <p:cNvSpPr/>
          <p:nvPr/>
        </p:nvSpPr>
        <p:spPr>
          <a:xfrm>
            <a:off x="9043416" y="1920240"/>
            <a:ext cx="685800" cy="274320"/>
          </a:xfrm>
          <a:prstGeom prst="roundRect">
            <a:avLst/>
          </a:prstGeom>
          <a:solidFill>
            <a:srgbClr val="F1F5F9"/>
          </a:solidFill>
          <a:ln w="12700">
            <a:solidFill>
              <a:srgbClr val="CBD5E1"/>
            </a:solidFill>
            <a:prstDash val="solid"/>
          </a:ln>
        </p:spPr>
      </p:sp>
      <p:sp>
        <p:nvSpPr>
          <p:cNvPr id="34" name="Text 32"/>
          <p:cNvSpPr/>
          <p:nvPr/>
        </p:nvSpPr>
        <p:spPr>
          <a:xfrm>
            <a:off x="9043416" y="1975104"/>
            <a:ext cx="685800" cy="182880"/>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STAGE 04</a:t>
            </a:r>
            <a:endParaRPr lang="en-US" sz="850" dirty="0"/>
          </a:p>
        </p:txBody>
      </p:sp>
      <p:sp>
        <p:nvSpPr>
          <p:cNvPr id="35" name="Text 33"/>
          <p:cNvSpPr/>
          <p:nvPr/>
        </p:nvSpPr>
        <p:spPr>
          <a:xfrm>
            <a:off x="10872216"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36" name="Text 34"/>
          <p:cNvSpPr/>
          <p:nvPr/>
        </p:nvSpPr>
        <p:spPr>
          <a:xfrm>
            <a:off x="9043416"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Gigalogy MAIRA Cloud</a:t>
            </a:r>
            <a:endParaRPr lang="en-US" sz="1300" dirty="0"/>
          </a:p>
        </p:txBody>
      </p:sp>
      <p:sp>
        <p:nvSpPr>
          <p:cNvPr id="37" name="Text 35"/>
          <p:cNvSpPr/>
          <p:nvPr/>
        </p:nvSpPr>
        <p:spPr>
          <a:xfrm>
            <a:off x="9043416" y="2606040"/>
            <a:ext cx="2286000" cy="201168"/>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api.recommender.gigalogy.com</a:t>
            </a:r>
            <a:endParaRPr lang="en-US" sz="950" dirty="0"/>
          </a:p>
        </p:txBody>
      </p:sp>
      <p:sp>
        <p:nvSpPr>
          <p:cNvPr id="38" name="Text 36"/>
          <p:cNvSpPr/>
          <p:nvPr/>
        </p:nvSpPr>
        <p:spPr>
          <a:xfrm>
            <a:off x="9043416"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Vector search engine, vector similarity ranking, LLM generation, and section metadata response.</a:t>
            </a:r>
            <a:endParaRPr lang="en-US" sz="950" dirty="0"/>
          </a:p>
        </p:txBody>
      </p:sp>
      <p:sp>
        <p:nvSpPr>
          <p:cNvPr id="39" name="Shape 37"/>
          <p:cNvSpPr/>
          <p:nvPr/>
        </p:nvSpPr>
        <p:spPr>
          <a:xfrm>
            <a:off x="731520" y="4572000"/>
            <a:ext cx="10728655" cy="1600200"/>
          </a:xfrm>
          <a:prstGeom prst="roundRect">
            <a:avLst/>
          </a:prstGeom>
          <a:solidFill>
            <a:srgbClr val="0B0F19"/>
          </a:solidFill>
          <a:ln w="19050">
            <a:solidFill>
              <a:srgbClr val="4F46E5"/>
            </a:solidFill>
            <a:prstDash val="solid"/>
          </a:ln>
        </p:spPr>
      </p:sp>
      <p:sp>
        <p:nvSpPr>
          <p:cNvPr id="40" name="Text 38"/>
          <p:cNvSpPr/>
          <p:nvPr/>
        </p:nvSpPr>
        <p:spPr>
          <a:xfrm>
            <a:off x="914400" y="4709160"/>
            <a:ext cx="10362895"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TRIPLE-TIER FAILOVER &amp; ZERO-DOWNTIME RESILIENCE STRATEGY</a:t>
            </a:r>
            <a:endParaRPr lang="en-US" sz="1050" dirty="0"/>
          </a:p>
        </p:txBody>
      </p:sp>
      <p:sp>
        <p:nvSpPr>
          <p:cNvPr id="41" name="Shape 39"/>
          <p:cNvSpPr/>
          <p:nvPr/>
        </p:nvSpPr>
        <p:spPr>
          <a:xfrm>
            <a:off x="914400" y="5010912"/>
            <a:ext cx="3337560" cy="1005840"/>
          </a:xfrm>
          <a:prstGeom prst="roundRect">
            <a:avLst/>
          </a:prstGeom>
          <a:solidFill>
            <a:srgbClr val="1E293B"/>
          </a:solidFill>
          <a:ln w="12700">
            <a:solidFill>
              <a:srgbClr val="334155"/>
            </a:solidFill>
            <a:prstDash val="solid"/>
          </a:ln>
        </p:spPr>
      </p:sp>
      <p:sp>
        <p:nvSpPr>
          <p:cNvPr id="42" name="Text 40"/>
          <p:cNvSpPr/>
          <p:nvPr/>
        </p:nvSpPr>
        <p:spPr>
          <a:xfrm>
            <a:off x="1051560" y="5102352"/>
            <a:ext cx="306324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TIER 1 (PRIMARY)</a:t>
            </a:r>
            <a:endParaRPr lang="en-US" sz="850" dirty="0"/>
          </a:p>
        </p:txBody>
      </p:sp>
      <p:sp>
        <p:nvSpPr>
          <p:cNvPr id="43" name="Text 41"/>
          <p:cNvSpPr/>
          <p:nvPr/>
        </p:nvSpPr>
        <p:spPr>
          <a:xfrm>
            <a:off x="1051560" y="5285232"/>
            <a:ext cx="3063240" cy="219456"/>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Gigalogy MAIRA Managed RAG</a:t>
            </a:r>
            <a:endParaRPr lang="en-US" sz="1100" dirty="0"/>
          </a:p>
        </p:txBody>
      </p:sp>
      <p:sp>
        <p:nvSpPr>
          <p:cNvPr id="44" name="Text 42"/>
          <p:cNvSpPr/>
          <p:nvPr/>
        </p:nvSpPr>
        <p:spPr>
          <a:xfrm>
            <a:off x="1051560" y="5522976"/>
            <a:ext cx="3063240" cy="41148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Live vector retrieval from trained pet and clinic datasets. Sub-500ms RAG retrieval.</a:t>
            </a:r>
            <a:endParaRPr lang="en-US" sz="850" dirty="0"/>
          </a:p>
        </p:txBody>
      </p:sp>
      <p:sp>
        <p:nvSpPr>
          <p:cNvPr id="45" name="Shape 43"/>
          <p:cNvSpPr/>
          <p:nvPr/>
        </p:nvSpPr>
        <p:spPr>
          <a:xfrm>
            <a:off x="4389120" y="5010912"/>
            <a:ext cx="3337560" cy="1005840"/>
          </a:xfrm>
          <a:prstGeom prst="roundRect">
            <a:avLst/>
          </a:prstGeom>
          <a:solidFill>
            <a:srgbClr val="1E293B"/>
          </a:solidFill>
          <a:ln w="12700">
            <a:solidFill>
              <a:srgbClr val="334155"/>
            </a:solidFill>
            <a:prstDash val="solid"/>
          </a:ln>
        </p:spPr>
      </p:sp>
      <p:sp>
        <p:nvSpPr>
          <p:cNvPr id="46" name="Text 44"/>
          <p:cNvSpPr/>
          <p:nvPr/>
        </p:nvSpPr>
        <p:spPr>
          <a:xfrm>
            <a:off x="4526280" y="5102352"/>
            <a:ext cx="306324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TIER 2 (FALLBACK)</a:t>
            </a:r>
            <a:endParaRPr lang="en-US" sz="850" dirty="0"/>
          </a:p>
        </p:txBody>
      </p:sp>
      <p:sp>
        <p:nvSpPr>
          <p:cNvPr id="47" name="Text 45"/>
          <p:cNvSpPr/>
          <p:nvPr/>
        </p:nvSpPr>
        <p:spPr>
          <a:xfrm>
            <a:off x="4526280" y="5285232"/>
            <a:ext cx="3063240" cy="219456"/>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OpenAI GPT-4o-mini / Gemini API</a:t>
            </a:r>
            <a:endParaRPr lang="en-US" sz="1100" dirty="0"/>
          </a:p>
        </p:txBody>
      </p:sp>
      <p:sp>
        <p:nvSpPr>
          <p:cNvPr id="48" name="Text 46"/>
          <p:cNvSpPr/>
          <p:nvPr/>
        </p:nvSpPr>
        <p:spPr>
          <a:xfrm>
            <a:off x="4526280" y="5522976"/>
            <a:ext cx="3063240" cy="41148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Engaged automatically if MAIRA API experiences rate limit or cloud network disruption.</a:t>
            </a:r>
            <a:endParaRPr lang="en-US" sz="850" dirty="0"/>
          </a:p>
        </p:txBody>
      </p:sp>
      <p:sp>
        <p:nvSpPr>
          <p:cNvPr id="49" name="Shape 47"/>
          <p:cNvSpPr/>
          <p:nvPr/>
        </p:nvSpPr>
        <p:spPr>
          <a:xfrm>
            <a:off x="7863840" y="5010912"/>
            <a:ext cx="3337560" cy="1005840"/>
          </a:xfrm>
          <a:prstGeom prst="roundRect">
            <a:avLst/>
          </a:prstGeom>
          <a:solidFill>
            <a:srgbClr val="1E293B"/>
          </a:solidFill>
          <a:ln w="12700">
            <a:solidFill>
              <a:srgbClr val="334155"/>
            </a:solidFill>
            <a:prstDash val="solid"/>
          </a:ln>
        </p:spPr>
      </p:sp>
      <p:sp>
        <p:nvSpPr>
          <p:cNvPr id="50" name="Text 48"/>
          <p:cNvSpPr/>
          <p:nvPr/>
        </p:nvSpPr>
        <p:spPr>
          <a:xfrm>
            <a:off x="8001000" y="5102352"/>
            <a:ext cx="306324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TIER 3 (OFFLINE)</a:t>
            </a:r>
            <a:endParaRPr lang="en-US" sz="850" dirty="0"/>
          </a:p>
        </p:txBody>
      </p:sp>
      <p:sp>
        <p:nvSpPr>
          <p:cNvPr id="51" name="Text 49"/>
          <p:cNvSpPr/>
          <p:nvPr/>
        </p:nvSpPr>
        <p:spPr>
          <a:xfrm>
            <a:off x="8001000" y="5285232"/>
            <a:ext cx="3063240" cy="219456"/>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Deterministic Heuristic Engine</a:t>
            </a:r>
            <a:endParaRPr lang="en-US" sz="1100" dirty="0"/>
          </a:p>
        </p:txBody>
      </p:sp>
      <p:sp>
        <p:nvSpPr>
          <p:cNvPr id="52" name="Text 50"/>
          <p:cNvSpPr/>
          <p:nvPr/>
        </p:nvSpPr>
        <p:spPr>
          <a:xfrm>
            <a:off x="8001000" y="5522976"/>
            <a:ext cx="3063240" cy="41148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Local poison threshold tables and clinic directories guaranteeing zero user-facing 500 crashes.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4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SYSTEM BLUEPRINT &amp; TOPOLOGY</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Full-Stack Multimodal AI &amp; Managed RAG Architecture Diagram</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End-to-end data flow: Vue 3 Client ➔ Edge Gateway ➔ Clinical AI &amp; Vision Core ➔ Supabase Persistence &amp; Vectors.</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19072"/>
            <a:ext cx="2560320" cy="4462272"/>
          </a:xfrm>
          <a:prstGeom prst="roundRect">
            <a:avLst/>
          </a:prstGeom>
          <a:solidFill>
            <a:srgbClr val="FFFFFF"/>
          </a:solidFill>
          <a:ln w="19050">
            <a:solidFill>
              <a:srgbClr val="4F46E5"/>
            </a:solidFill>
            <a:prstDash val="solid"/>
          </a:ln>
        </p:spPr>
      </p:sp>
      <p:sp>
        <p:nvSpPr>
          <p:cNvPr id="12" name="Shape 10"/>
          <p:cNvSpPr/>
          <p:nvPr/>
        </p:nvSpPr>
        <p:spPr>
          <a:xfrm>
            <a:off x="822960" y="1810512"/>
            <a:ext cx="2377440" cy="658368"/>
          </a:xfrm>
          <a:prstGeom prst="roundRect">
            <a:avLst/>
          </a:prstGeom>
          <a:solidFill>
            <a:srgbClr val="EEF2FF"/>
          </a:solidFill>
          <a:ln w="12700">
            <a:solidFill>
              <a:srgbClr val="4F46E5"/>
            </a:solidFill>
            <a:prstDash val="solid"/>
          </a:ln>
        </p:spPr>
      </p:sp>
      <p:sp>
        <p:nvSpPr>
          <p:cNvPr id="13" name="Text 11"/>
          <p:cNvSpPr/>
          <p:nvPr/>
        </p:nvSpPr>
        <p:spPr>
          <a:xfrm>
            <a:off x="868680" y="1874520"/>
            <a:ext cx="2286000" cy="201168"/>
          </a:xfrm>
          <a:prstGeom prst="rect">
            <a:avLst/>
          </a:prstGeom>
          <a:noFill/>
          <a:ln/>
        </p:spPr>
        <p:txBody>
          <a:bodyPr wrap="square" rtlCol="0" anchor="ctr"/>
          <a:lstStyle/>
          <a:p>
            <a:pPr indent="0" marL="0">
              <a:buNone/>
            </a:pPr>
            <a:r>
              <a:rPr lang="en-US" sz="900" b="1" dirty="0">
                <a:solidFill>
                  <a:srgbClr val="4F46E5"/>
                </a:solidFill>
                <a:latin typeface="Arial" pitchFamily="34" charset="0"/>
                <a:ea typeface="Arial" pitchFamily="34" charset="-122"/>
                <a:cs typeface="Arial" pitchFamily="34" charset="-120"/>
              </a:rPr>
              <a:t>TIER 01 • CLIENT &amp; UI LAYER</a:t>
            </a:r>
            <a:endParaRPr lang="en-US" sz="900" dirty="0"/>
          </a:p>
        </p:txBody>
      </p:sp>
      <p:sp>
        <p:nvSpPr>
          <p:cNvPr id="14" name="Text 12"/>
          <p:cNvSpPr/>
          <p:nvPr/>
        </p:nvSpPr>
        <p:spPr>
          <a:xfrm>
            <a:off x="868680" y="2093976"/>
            <a:ext cx="2286000" cy="29260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Vue 3 + Vite Frontend SPA</a:t>
            </a:r>
            <a:endParaRPr lang="en-US" sz="850" dirty="0"/>
          </a:p>
        </p:txBody>
      </p:sp>
      <p:sp>
        <p:nvSpPr>
          <p:cNvPr id="15" name="Shape 13"/>
          <p:cNvSpPr/>
          <p:nvPr/>
        </p:nvSpPr>
        <p:spPr>
          <a:xfrm>
            <a:off x="822960" y="2578608"/>
            <a:ext cx="2377440" cy="768096"/>
          </a:xfrm>
          <a:prstGeom prst="roundRect">
            <a:avLst/>
          </a:prstGeom>
          <a:solidFill>
            <a:srgbClr val="F1F5F9"/>
          </a:solidFill>
          <a:ln w="12700">
            <a:solidFill>
              <a:srgbClr val="E2E8F0"/>
            </a:solidFill>
            <a:prstDash val="solid"/>
          </a:ln>
        </p:spPr>
      </p:sp>
      <p:sp>
        <p:nvSpPr>
          <p:cNvPr id="16" name="Text 14"/>
          <p:cNvSpPr/>
          <p:nvPr/>
        </p:nvSpPr>
        <p:spPr>
          <a:xfrm>
            <a:off x="896112" y="2651760"/>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Sighting Photo Dropzone</a:t>
            </a:r>
            <a:endParaRPr lang="en-US" sz="950" dirty="0"/>
          </a:p>
        </p:txBody>
      </p:sp>
      <p:sp>
        <p:nvSpPr>
          <p:cNvPr id="17" name="Text 15"/>
          <p:cNvSpPr/>
          <p:nvPr/>
        </p:nvSpPr>
        <p:spPr>
          <a:xfrm>
            <a:off x="896112" y="2871216"/>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Camera capture &amp; base64 encoding (under 10MB)</a:t>
            </a:r>
            <a:endParaRPr lang="en-US" sz="800" dirty="0"/>
          </a:p>
        </p:txBody>
      </p:sp>
      <p:sp>
        <p:nvSpPr>
          <p:cNvPr id="18" name="Shape 16"/>
          <p:cNvSpPr/>
          <p:nvPr/>
        </p:nvSpPr>
        <p:spPr>
          <a:xfrm>
            <a:off x="822960" y="3456432"/>
            <a:ext cx="2377440" cy="768096"/>
          </a:xfrm>
          <a:prstGeom prst="roundRect">
            <a:avLst/>
          </a:prstGeom>
          <a:solidFill>
            <a:srgbClr val="F1F5F9"/>
          </a:solidFill>
          <a:ln w="12700">
            <a:solidFill>
              <a:srgbClr val="E2E8F0"/>
            </a:solidFill>
            <a:prstDash val="solid"/>
          </a:ln>
        </p:spPr>
      </p:sp>
      <p:sp>
        <p:nvSpPr>
          <p:cNvPr id="19" name="Text 17"/>
          <p:cNvSpPr/>
          <p:nvPr/>
        </p:nvSpPr>
        <p:spPr>
          <a:xfrm>
            <a:off x="896112" y="3529584"/>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PawDoctor AI Chat</a:t>
            </a:r>
            <a:endParaRPr lang="en-US" sz="950" dirty="0"/>
          </a:p>
        </p:txBody>
      </p:sp>
      <p:sp>
        <p:nvSpPr>
          <p:cNvPr id="20" name="Text 18"/>
          <p:cNvSpPr/>
          <p:nvPr/>
        </p:nvSpPr>
        <p:spPr>
          <a:xfrm>
            <a:off x="896112" y="3749040"/>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Interactive clinical triage &amp; symptom intake</a:t>
            </a:r>
            <a:endParaRPr lang="en-US" sz="800" dirty="0"/>
          </a:p>
        </p:txBody>
      </p:sp>
      <p:sp>
        <p:nvSpPr>
          <p:cNvPr id="21" name="Shape 19"/>
          <p:cNvSpPr/>
          <p:nvPr/>
        </p:nvSpPr>
        <p:spPr>
          <a:xfrm>
            <a:off x="822960" y="4334256"/>
            <a:ext cx="2377440" cy="768096"/>
          </a:xfrm>
          <a:prstGeom prst="roundRect">
            <a:avLst/>
          </a:prstGeom>
          <a:solidFill>
            <a:srgbClr val="F1F5F9"/>
          </a:solidFill>
          <a:ln w="12700">
            <a:solidFill>
              <a:srgbClr val="E2E8F0"/>
            </a:solidFill>
            <a:prstDash val="solid"/>
          </a:ln>
        </p:spPr>
      </p:sp>
      <p:sp>
        <p:nvSpPr>
          <p:cNvPr id="22" name="Text 20"/>
          <p:cNvSpPr/>
          <p:nvPr/>
        </p:nvSpPr>
        <p:spPr>
          <a:xfrm>
            <a:off x="896112" y="4407408"/>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Lost &amp; Found Radar</a:t>
            </a:r>
            <a:endParaRPr lang="en-US" sz="950" dirty="0"/>
          </a:p>
        </p:txBody>
      </p:sp>
      <p:sp>
        <p:nvSpPr>
          <p:cNvPr id="23" name="Text 21"/>
          <p:cNvSpPr/>
          <p:nvPr/>
        </p:nvSpPr>
        <p:spPr>
          <a:xfrm>
            <a:off x="896112" y="4626864"/>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Side-by-side visual verification &amp; phone dialer</a:t>
            </a:r>
            <a:endParaRPr lang="en-US" sz="800" dirty="0"/>
          </a:p>
        </p:txBody>
      </p:sp>
      <p:sp>
        <p:nvSpPr>
          <p:cNvPr id="24" name="Shape 22"/>
          <p:cNvSpPr/>
          <p:nvPr/>
        </p:nvSpPr>
        <p:spPr>
          <a:xfrm>
            <a:off x="822960" y="5212080"/>
            <a:ext cx="2377440" cy="768096"/>
          </a:xfrm>
          <a:prstGeom prst="roundRect">
            <a:avLst/>
          </a:prstGeom>
          <a:solidFill>
            <a:srgbClr val="F1F5F9"/>
          </a:solidFill>
          <a:ln w="12700">
            <a:solidFill>
              <a:srgbClr val="E2E8F0"/>
            </a:solidFill>
            <a:prstDash val="solid"/>
          </a:ln>
        </p:spPr>
      </p:sp>
      <p:sp>
        <p:nvSpPr>
          <p:cNvPr id="25" name="Text 23"/>
          <p:cNvSpPr/>
          <p:nvPr/>
        </p:nvSpPr>
        <p:spPr>
          <a:xfrm>
            <a:off x="896112" y="5285232"/>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Specialist Clinic Navigator</a:t>
            </a:r>
            <a:endParaRPr lang="en-US" sz="950" dirty="0"/>
          </a:p>
        </p:txBody>
      </p:sp>
      <p:sp>
        <p:nvSpPr>
          <p:cNvPr id="26" name="Text 24"/>
          <p:cNvSpPr/>
          <p:nvPr/>
        </p:nvSpPr>
        <p:spPr>
          <a:xfrm>
            <a:off x="896112" y="5504688"/>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Location filtering across 4 Dhaka districts</a:t>
            </a:r>
            <a:endParaRPr lang="en-US" sz="800" dirty="0"/>
          </a:p>
        </p:txBody>
      </p:sp>
      <p:sp>
        <p:nvSpPr>
          <p:cNvPr id="27" name="Shape 25"/>
          <p:cNvSpPr/>
          <p:nvPr/>
        </p:nvSpPr>
        <p:spPr>
          <a:xfrm>
            <a:off x="3456432" y="1719072"/>
            <a:ext cx="2560320" cy="4462272"/>
          </a:xfrm>
          <a:prstGeom prst="roundRect">
            <a:avLst/>
          </a:prstGeom>
          <a:solidFill>
            <a:srgbClr val="FFFFFF"/>
          </a:solidFill>
          <a:ln w="19050">
            <a:solidFill>
              <a:srgbClr val="4338CA"/>
            </a:solidFill>
            <a:prstDash val="solid"/>
          </a:ln>
        </p:spPr>
      </p:sp>
      <p:sp>
        <p:nvSpPr>
          <p:cNvPr id="28" name="Shape 26"/>
          <p:cNvSpPr/>
          <p:nvPr/>
        </p:nvSpPr>
        <p:spPr>
          <a:xfrm>
            <a:off x="3547872" y="1810512"/>
            <a:ext cx="2377440" cy="658368"/>
          </a:xfrm>
          <a:prstGeom prst="roundRect">
            <a:avLst/>
          </a:prstGeom>
          <a:solidFill>
            <a:srgbClr val="EEF2FF"/>
          </a:solidFill>
          <a:ln w="12700">
            <a:solidFill>
              <a:srgbClr val="4338CA"/>
            </a:solidFill>
            <a:prstDash val="solid"/>
          </a:ln>
        </p:spPr>
      </p:sp>
      <p:sp>
        <p:nvSpPr>
          <p:cNvPr id="29" name="Text 27"/>
          <p:cNvSpPr/>
          <p:nvPr/>
        </p:nvSpPr>
        <p:spPr>
          <a:xfrm>
            <a:off x="3593592" y="1874520"/>
            <a:ext cx="228600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TIER 02 • EDGE API GATEWAY</a:t>
            </a:r>
            <a:endParaRPr lang="en-US" sz="900" dirty="0"/>
          </a:p>
        </p:txBody>
      </p:sp>
      <p:sp>
        <p:nvSpPr>
          <p:cNvPr id="30" name="Text 28"/>
          <p:cNvSpPr/>
          <p:nvPr/>
        </p:nvSpPr>
        <p:spPr>
          <a:xfrm>
            <a:off x="3593592" y="2093976"/>
            <a:ext cx="2286000" cy="29260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Next.js 16 Serverless Engine</a:t>
            </a:r>
            <a:endParaRPr lang="en-US" sz="850" dirty="0"/>
          </a:p>
        </p:txBody>
      </p:sp>
      <p:sp>
        <p:nvSpPr>
          <p:cNvPr id="31" name="Shape 29"/>
          <p:cNvSpPr/>
          <p:nvPr/>
        </p:nvSpPr>
        <p:spPr>
          <a:xfrm>
            <a:off x="3547872" y="2578608"/>
            <a:ext cx="2377440" cy="768096"/>
          </a:xfrm>
          <a:prstGeom prst="roundRect">
            <a:avLst/>
          </a:prstGeom>
          <a:solidFill>
            <a:srgbClr val="F1F5F9"/>
          </a:solidFill>
          <a:ln w="12700">
            <a:solidFill>
              <a:srgbClr val="E2E8F0"/>
            </a:solidFill>
            <a:prstDash val="solid"/>
          </a:ln>
        </p:spPr>
      </p:sp>
      <p:sp>
        <p:nvSpPr>
          <p:cNvPr id="32" name="Text 30"/>
          <p:cNvSpPr/>
          <p:nvPr/>
        </p:nvSpPr>
        <p:spPr>
          <a:xfrm>
            <a:off x="3621024" y="2651760"/>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Zod Schema Validation</a:t>
            </a:r>
            <a:endParaRPr lang="en-US" sz="950" dirty="0"/>
          </a:p>
        </p:txBody>
      </p:sp>
      <p:sp>
        <p:nvSpPr>
          <p:cNvPr id="33" name="Text 31"/>
          <p:cNvSpPr/>
          <p:nvPr/>
        </p:nvSpPr>
        <p:spPr>
          <a:xfrm>
            <a:off x="3621024" y="2871216"/>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Strict payload validation &amp; prompt normalization</a:t>
            </a:r>
            <a:endParaRPr lang="en-US" sz="800" dirty="0"/>
          </a:p>
        </p:txBody>
      </p:sp>
      <p:sp>
        <p:nvSpPr>
          <p:cNvPr id="34" name="Shape 32"/>
          <p:cNvSpPr/>
          <p:nvPr/>
        </p:nvSpPr>
        <p:spPr>
          <a:xfrm>
            <a:off x="3547872" y="3456432"/>
            <a:ext cx="2377440" cy="768096"/>
          </a:xfrm>
          <a:prstGeom prst="roundRect">
            <a:avLst/>
          </a:prstGeom>
          <a:solidFill>
            <a:srgbClr val="F1F5F9"/>
          </a:solidFill>
          <a:ln w="12700">
            <a:solidFill>
              <a:srgbClr val="E2E8F0"/>
            </a:solidFill>
            <a:prstDash val="solid"/>
          </a:ln>
        </p:spPr>
      </p:sp>
      <p:sp>
        <p:nvSpPr>
          <p:cNvPr id="35" name="Text 33"/>
          <p:cNvSpPr/>
          <p:nvPr/>
        </p:nvSpPr>
        <p:spPr>
          <a:xfrm>
            <a:off x="3621024" y="3529584"/>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Token-Bucket Rate Limiter</a:t>
            </a:r>
            <a:endParaRPr lang="en-US" sz="950" dirty="0"/>
          </a:p>
        </p:txBody>
      </p:sp>
      <p:sp>
        <p:nvSpPr>
          <p:cNvPr id="36" name="Text 34"/>
          <p:cNvSpPr/>
          <p:nvPr/>
        </p:nvSpPr>
        <p:spPr>
          <a:xfrm>
            <a:off x="3621024" y="3749040"/>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60 req/min anti-abuse protection per IP</a:t>
            </a:r>
            <a:endParaRPr lang="en-US" sz="800" dirty="0"/>
          </a:p>
        </p:txBody>
      </p:sp>
      <p:sp>
        <p:nvSpPr>
          <p:cNvPr id="37" name="Shape 35"/>
          <p:cNvSpPr/>
          <p:nvPr/>
        </p:nvSpPr>
        <p:spPr>
          <a:xfrm>
            <a:off x="3547872" y="4334256"/>
            <a:ext cx="2377440" cy="768096"/>
          </a:xfrm>
          <a:prstGeom prst="roundRect">
            <a:avLst/>
          </a:prstGeom>
          <a:solidFill>
            <a:srgbClr val="F1F5F9"/>
          </a:solidFill>
          <a:ln w="12700">
            <a:solidFill>
              <a:srgbClr val="E2E8F0"/>
            </a:solidFill>
            <a:prstDash val="solid"/>
          </a:ln>
        </p:spPr>
      </p:sp>
      <p:sp>
        <p:nvSpPr>
          <p:cNvPr id="38" name="Text 36"/>
          <p:cNvSpPr/>
          <p:nvPr/>
        </p:nvSpPr>
        <p:spPr>
          <a:xfrm>
            <a:off x="3621024" y="4407408"/>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Supabase Auth &amp; RBAC</a:t>
            </a:r>
            <a:endParaRPr lang="en-US" sz="950" dirty="0"/>
          </a:p>
        </p:txBody>
      </p:sp>
      <p:sp>
        <p:nvSpPr>
          <p:cNvPr id="39" name="Text 37"/>
          <p:cNvSpPr/>
          <p:nvPr/>
        </p:nvSpPr>
        <p:spPr>
          <a:xfrm>
            <a:off x="3621024" y="4626864"/>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JWT session verification &amp; owner authorization</a:t>
            </a:r>
            <a:endParaRPr lang="en-US" sz="800" dirty="0"/>
          </a:p>
        </p:txBody>
      </p:sp>
      <p:sp>
        <p:nvSpPr>
          <p:cNvPr id="40" name="Shape 38"/>
          <p:cNvSpPr/>
          <p:nvPr/>
        </p:nvSpPr>
        <p:spPr>
          <a:xfrm>
            <a:off x="3547872" y="5212080"/>
            <a:ext cx="2377440" cy="768096"/>
          </a:xfrm>
          <a:prstGeom prst="roundRect">
            <a:avLst/>
          </a:prstGeom>
          <a:solidFill>
            <a:srgbClr val="F1F5F9"/>
          </a:solidFill>
          <a:ln w="12700">
            <a:solidFill>
              <a:srgbClr val="E2E8F0"/>
            </a:solidFill>
            <a:prstDash val="solid"/>
          </a:ln>
        </p:spPr>
      </p:sp>
      <p:sp>
        <p:nvSpPr>
          <p:cNvPr id="41" name="Text 39"/>
          <p:cNvSpPr/>
          <p:nvPr/>
        </p:nvSpPr>
        <p:spPr>
          <a:xfrm>
            <a:off x="3621024" y="5285232"/>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Multimodal Orchestrator</a:t>
            </a:r>
            <a:endParaRPr lang="en-US" sz="950" dirty="0"/>
          </a:p>
        </p:txBody>
      </p:sp>
      <p:sp>
        <p:nvSpPr>
          <p:cNvPr id="42" name="Text 40"/>
          <p:cNvSpPr/>
          <p:nvPr/>
        </p:nvSpPr>
        <p:spPr>
          <a:xfrm>
            <a:off x="3621024" y="5504688"/>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/api/lost-found/ai-match &amp; /api/pawai/*</a:t>
            </a:r>
            <a:endParaRPr lang="en-US" sz="800" dirty="0"/>
          </a:p>
        </p:txBody>
      </p:sp>
      <p:sp>
        <p:nvSpPr>
          <p:cNvPr id="43" name="Shape 41"/>
          <p:cNvSpPr/>
          <p:nvPr/>
        </p:nvSpPr>
        <p:spPr>
          <a:xfrm>
            <a:off x="6181344" y="1719072"/>
            <a:ext cx="2560320" cy="4462272"/>
          </a:xfrm>
          <a:prstGeom prst="roundRect">
            <a:avLst/>
          </a:prstGeom>
          <a:solidFill>
            <a:srgbClr val="FFFFFF"/>
          </a:solidFill>
          <a:ln w="19050">
            <a:solidFill>
              <a:srgbClr val="8B5CF6"/>
            </a:solidFill>
            <a:prstDash val="solid"/>
          </a:ln>
        </p:spPr>
      </p:sp>
      <p:sp>
        <p:nvSpPr>
          <p:cNvPr id="44" name="Shape 42"/>
          <p:cNvSpPr/>
          <p:nvPr/>
        </p:nvSpPr>
        <p:spPr>
          <a:xfrm>
            <a:off x="6272784" y="1810512"/>
            <a:ext cx="2377440" cy="658368"/>
          </a:xfrm>
          <a:prstGeom prst="roundRect">
            <a:avLst/>
          </a:prstGeom>
          <a:solidFill>
            <a:srgbClr val="F5F3FF"/>
          </a:solidFill>
          <a:ln w="12700">
            <a:solidFill>
              <a:srgbClr val="8B5CF6"/>
            </a:solidFill>
            <a:prstDash val="solid"/>
          </a:ln>
        </p:spPr>
      </p:sp>
      <p:sp>
        <p:nvSpPr>
          <p:cNvPr id="45" name="Text 43"/>
          <p:cNvSpPr/>
          <p:nvPr/>
        </p:nvSpPr>
        <p:spPr>
          <a:xfrm>
            <a:off x="6318504" y="1874520"/>
            <a:ext cx="2286000" cy="201168"/>
          </a:xfrm>
          <a:prstGeom prst="rect">
            <a:avLst/>
          </a:prstGeom>
          <a:noFill/>
          <a:ln/>
        </p:spPr>
        <p:txBody>
          <a:bodyPr wrap="square" rtlCol="0" anchor="ctr"/>
          <a:lstStyle/>
          <a:p>
            <a:pPr indent="0" marL="0">
              <a:buNone/>
            </a:pPr>
            <a:r>
              <a:rPr lang="en-US" sz="900" b="1" dirty="0">
                <a:solidFill>
                  <a:srgbClr val="8B5CF6"/>
                </a:solidFill>
                <a:latin typeface="Arial" pitchFamily="34" charset="0"/>
                <a:ea typeface="Arial" pitchFamily="34" charset="-122"/>
                <a:cs typeface="Arial" pitchFamily="34" charset="-120"/>
              </a:rPr>
              <a:t>TIER 03 • CLINICAL AI &amp; VISION</a:t>
            </a:r>
            <a:endParaRPr lang="en-US" sz="900" dirty="0"/>
          </a:p>
        </p:txBody>
      </p:sp>
      <p:sp>
        <p:nvSpPr>
          <p:cNvPr id="46" name="Text 44"/>
          <p:cNvSpPr/>
          <p:nvPr/>
        </p:nvSpPr>
        <p:spPr>
          <a:xfrm>
            <a:off x="6318504" y="2093976"/>
            <a:ext cx="2286000" cy="29260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Multi-Model Intelligence Cluster</a:t>
            </a:r>
            <a:endParaRPr lang="en-US" sz="850" dirty="0"/>
          </a:p>
        </p:txBody>
      </p:sp>
      <p:sp>
        <p:nvSpPr>
          <p:cNvPr id="47" name="Shape 45"/>
          <p:cNvSpPr/>
          <p:nvPr/>
        </p:nvSpPr>
        <p:spPr>
          <a:xfrm>
            <a:off x="6272784" y="2578608"/>
            <a:ext cx="2377440" cy="768096"/>
          </a:xfrm>
          <a:prstGeom prst="roundRect">
            <a:avLst/>
          </a:prstGeom>
          <a:solidFill>
            <a:srgbClr val="F1F5F9"/>
          </a:solidFill>
          <a:ln w="12700">
            <a:solidFill>
              <a:srgbClr val="E2E8F0"/>
            </a:solidFill>
            <a:prstDash val="solid"/>
          </a:ln>
        </p:spPr>
      </p:sp>
      <p:sp>
        <p:nvSpPr>
          <p:cNvPr id="48" name="Text 46"/>
          <p:cNvSpPr/>
          <p:nvPr/>
        </p:nvSpPr>
        <p:spPr>
          <a:xfrm>
            <a:off x="6345936" y="2651760"/>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Deterministic Verifier</a:t>
            </a:r>
            <a:endParaRPr lang="en-US" sz="950" dirty="0"/>
          </a:p>
        </p:txBody>
      </p:sp>
      <p:sp>
        <p:nvSpPr>
          <p:cNvPr id="49" name="Text 47"/>
          <p:cNvSpPr/>
          <p:nvPr/>
        </p:nvSpPr>
        <p:spPr>
          <a:xfrm>
            <a:off x="6345936" y="2871216"/>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Human / non-pet rejection &amp; poison guard (&lt;2ms)</a:t>
            </a:r>
            <a:endParaRPr lang="en-US" sz="800" dirty="0"/>
          </a:p>
        </p:txBody>
      </p:sp>
      <p:sp>
        <p:nvSpPr>
          <p:cNvPr id="50" name="Shape 48"/>
          <p:cNvSpPr/>
          <p:nvPr/>
        </p:nvSpPr>
        <p:spPr>
          <a:xfrm>
            <a:off x="6272784" y="3456432"/>
            <a:ext cx="2377440" cy="768096"/>
          </a:xfrm>
          <a:prstGeom prst="roundRect">
            <a:avLst/>
          </a:prstGeom>
          <a:solidFill>
            <a:srgbClr val="F1F5F9"/>
          </a:solidFill>
          <a:ln w="12700">
            <a:solidFill>
              <a:srgbClr val="E2E8F0"/>
            </a:solidFill>
            <a:prstDash val="solid"/>
          </a:ln>
        </p:spPr>
      </p:sp>
      <p:sp>
        <p:nvSpPr>
          <p:cNvPr id="51" name="Text 49"/>
          <p:cNvSpPr/>
          <p:nvPr/>
        </p:nvSpPr>
        <p:spPr>
          <a:xfrm>
            <a:off x="6345936" y="3529584"/>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Hugging Face Vision AI</a:t>
            </a:r>
            <a:endParaRPr lang="en-US" sz="950" dirty="0"/>
          </a:p>
        </p:txBody>
      </p:sp>
      <p:sp>
        <p:nvSpPr>
          <p:cNvPr id="52" name="Text 50"/>
          <p:cNvSpPr/>
          <p:nvPr/>
        </p:nvSpPr>
        <p:spPr>
          <a:xfrm>
            <a:off x="6345936" y="3749040"/>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Qwen2.5-VL-72B Biometric Matcher (Free Router)</a:t>
            </a:r>
            <a:endParaRPr lang="en-US" sz="800" dirty="0"/>
          </a:p>
        </p:txBody>
      </p:sp>
      <p:sp>
        <p:nvSpPr>
          <p:cNvPr id="53" name="Shape 51"/>
          <p:cNvSpPr/>
          <p:nvPr/>
        </p:nvSpPr>
        <p:spPr>
          <a:xfrm>
            <a:off x="6272784" y="4334256"/>
            <a:ext cx="2377440" cy="768096"/>
          </a:xfrm>
          <a:prstGeom prst="roundRect">
            <a:avLst/>
          </a:prstGeom>
          <a:solidFill>
            <a:srgbClr val="F1F5F9"/>
          </a:solidFill>
          <a:ln w="12700">
            <a:solidFill>
              <a:srgbClr val="E2E8F0"/>
            </a:solidFill>
            <a:prstDash val="solid"/>
          </a:ln>
        </p:spPr>
      </p:sp>
      <p:sp>
        <p:nvSpPr>
          <p:cNvPr id="54" name="Text 52"/>
          <p:cNvSpPr/>
          <p:nvPr/>
        </p:nvSpPr>
        <p:spPr>
          <a:xfrm>
            <a:off x="6345936" y="4407408"/>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Gigalogy MAIRA RAG</a:t>
            </a:r>
            <a:endParaRPr lang="en-US" sz="950" dirty="0"/>
          </a:p>
        </p:txBody>
      </p:sp>
      <p:sp>
        <p:nvSpPr>
          <p:cNvPr id="55" name="Text 53"/>
          <p:cNvSpPr/>
          <p:nvPr/>
        </p:nvSpPr>
        <p:spPr>
          <a:xfrm>
            <a:off x="6345936" y="4626864"/>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4 Vector Profiles (api.recommender.gigalogy.com)</a:t>
            </a:r>
            <a:endParaRPr lang="en-US" sz="800" dirty="0"/>
          </a:p>
        </p:txBody>
      </p:sp>
      <p:sp>
        <p:nvSpPr>
          <p:cNvPr id="56" name="Shape 54"/>
          <p:cNvSpPr/>
          <p:nvPr/>
        </p:nvSpPr>
        <p:spPr>
          <a:xfrm>
            <a:off x="6272784" y="5212080"/>
            <a:ext cx="2377440" cy="768096"/>
          </a:xfrm>
          <a:prstGeom prst="roundRect">
            <a:avLst/>
          </a:prstGeom>
          <a:solidFill>
            <a:srgbClr val="F1F5F9"/>
          </a:solidFill>
          <a:ln w="12700">
            <a:solidFill>
              <a:srgbClr val="E2E8F0"/>
            </a:solidFill>
            <a:prstDash val="solid"/>
          </a:ln>
        </p:spPr>
      </p:sp>
      <p:sp>
        <p:nvSpPr>
          <p:cNvPr id="57" name="Text 55"/>
          <p:cNvSpPr/>
          <p:nvPr/>
        </p:nvSpPr>
        <p:spPr>
          <a:xfrm>
            <a:off x="6345936" y="5285232"/>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Multimodal Fallbacks</a:t>
            </a:r>
            <a:endParaRPr lang="en-US" sz="950" dirty="0"/>
          </a:p>
        </p:txBody>
      </p:sp>
      <p:sp>
        <p:nvSpPr>
          <p:cNvPr id="58" name="Text 56"/>
          <p:cNvSpPr/>
          <p:nvPr/>
        </p:nvSpPr>
        <p:spPr>
          <a:xfrm>
            <a:off x="6345936" y="5504688"/>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OpenAI GPT-4o Vision &amp; Heuristic Radar</a:t>
            </a:r>
            <a:endParaRPr lang="en-US" sz="800" dirty="0"/>
          </a:p>
        </p:txBody>
      </p:sp>
      <p:sp>
        <p:nvSpPr>
          <p:cNvPr id="59" name="Shape 57"/>
          <p:cNvSpPr/>
          <p:nvPr/>
        </p:nvSpPr>
        <p:spPr>
          <a:xfrm>
            <a:off x="8906256" y="1719072"/>
            <a:ext cx="2560320" cy="4462272"/>
          </a:xfrm>
          <a:prstGeom prst="roundRect">
            <a:avLst/>
          </a:prstGeom>
          <a:solidFill>
            <a:srgbClr val="FFFFFF"/>
          </a:solidFill>
          <a:ln w="19050">
            <a:solidFill>
              <a:srgbClr val="10B981"/>
            </a:solidFill>
            <a:prstDash val="solid"/>
          </a:ln>
        </p:spPr>
      </p:sp>
      <p:sp>
        <p:nvSpPr>
          <p:cNvPr id="60" name="Shape 58"/>
          <p:cNvSpPr/>
          <p:nvPr/>
        </p:nvSpPr>
        <p:spPr>
          <a:xfrm>
            <a:off x="8997696" y="1810512"/>
            <a:ext cx="2377440" cy="658368"/>
          </a:xfrm>
          <a:prstGeom prst="roundRect">
            <a:avLst/>
          </a:prstGeom>
          <a:solidFill>
            <a:srgbClr val="ECFDF5"/>
          </a:solidFill>
          <a:ln w="12700">
            <a:solidFill>
              <a:srgbClr val="10B981"/>
            </a:solidFill>
            <a:prstDash val="solid"/>
          </a:ln>
        </p:spPr>
      </p:sp>
      <p:sp>
        <p:nvSpPr>
          <p:cNvPr id="61" name="Text 59"/>
          <p:cNvSpPr/>
          <p:nvPr/>
        </p:nvSpPr>
        <p:spPr>
          <a:xfrm>
            <a:off x="9043416" y="1874520"/>
            <a:ext cx="2286000" cy="201168"/>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TIER 04 • DATA &amp; VECTORS</a:t>
            </a:r>
            <a:endParaRPr lang="en-US" sz="900" dirty="0"/>
          </a:p>
        </p:txBody>
      </p:sp>
      <p:sp>
        <p:nvSpPr>
          <p:cNvPr id="62" name="Text 60"/>
          <p:cNvSpPr/>
          <p:nvPr/>
        </p:nvSpPr>
        <p:spPr>
          <a:xfrm>
            <a:off x="9043416" y="2093976"/>
            <a:ext cx="2286000" cy="29260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Supabase Cloud (ap-southeast-2)</a:t>
            </a:r>
            <a:endParaRPr lang="en-US" sz="850" dirty="0"/>
          </a:p>
        </p:txBody>
      </p:sp>
      <p:sp>
        <p:nvSpPr>
          <p:cNvPr id="63" name="Shape 61"/>
          <p:cNvSpPr/>
          <p:nvPr/>
        </p:nvSpPr>
        <p:spPr>
          <a:xfrm>
            <a:off x="8997696" y="2578608"/>
            <a:ext cx="2377440" cy="768096"/>
          </a:xfrm>
          <a:prstGeom prst="roundRect">
            <a:avLst/>
          </a:prstGeom>
          <a:solidFill>
            <a:srgbClr val="F1F5F9"/>
          </a:solidFill>
          <a:ln w="12700">
            <a:solidFill>
              <a:srgbClr val="E2E8F0"/>
            </a:solidFill>
            <a:prstDash val="solid"/>
          </a:ln>
        </p:spPr>
      </p:sp>
      <p:sp>
        <p:nvSpPr>
          <p:cNvPr id="64" name="Text 62"/>
          <p:cNvSpPr/>
          <p:nvPr/>
        </p:nvSpPr>
        <p:spPr>
          <a:xfrm>
            <a:off x="9070848" y="2651760"/>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PostgreSQL Tables</a:t>
            </a:r>
            <a:endParaRPr lang="en-US" sz="950" dirty="0"/>
          </a:p>
        </p:txBody>
      </p:sp>
      <p:sp>
        <p:nvSpPr>
          <p:cNvPr id="65" name="Text 63"/>
          <p:cNvSpPr/>
          <p:nvPr/>
        </p:nvSpPr>
        <p:spPr>
          <a:xfrm>
            <a:off x="9070848" y="2871216"/>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50-Pet benchmark dataset (Pet, LostFoundPost)</a:t>
            </a:r>
            <a:endParaRPr lang="en-US" sz="800" dirty="0"/>
          </a:p>
        </p:txBody>
      </p:sp>
      <p:sp>
        <p:nvSpPr>
          <p:cNvPr id="66" name="Shape 64"/>
          <p:cNvSpPr/>
          <p:nvPr/>
        </p:nvSpPr>
        <p:spPr>
          <a:xfrm>
            <a:off x="8997696" y="3456432"/>
            <a:ext cx="2377440" cy="768096"/>
          </a:xfrm>
          <a:prstGeom prst="roundRect">
            <a:avLst/>
          </a:prstGeom>
          <a:solidFill>
            <a:srgbClr val="F1F5F9"/>
          </a:solidFill>
          <a:ln w="12700">
            <a:solidFill>
              <a:srgbClr val="E2E8F0"/>
            </a:solidFill>
            <a:prstDash val="solid"/>
          </a:ln>
        </p:spPr>
      </p:sp>
      <p:sp>
        <p:nvSpPr>
          <p:cNvPr id="67" name="Text 65"/>
          <p:cNvSpPr/>
          <p:nvPr/>
        </p:nvSpPr>
        <p:spPr>
          <a:xfrm>
            <a:off x="9070848" y="3529584"/>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Supabase pgvector</a:t>
            </a:r>
            <a:endParaRPr lang="en-US" sz="950" dirty="0"/>
          </a:p>
        </p:txBody>
      </p:sp>
      <p:sp>
        <p:nvSpPr>
          <p:cNvPr id="68" name="Text 66"/>
          <p:cNvSpPr/>
          <p:nvPr/>
        </p:nvSpPr>
        <p:spPr>
          <a:xfrm>
            <a:off x="9070848" y="3749040"/>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Built-in cosine distance (&lt;=&gt;) vector indexing</a:t>
            </a:r>
            <a:endParaRPr lang="en-US" sz="800" dirty="0"/>
          </a:p>
        </p:txBody>
      </p:sp>
      <p:sp>
        <p:nvSpPr>
          <p:cNvPr id="69" name="Shape 67"/>
          <p:cNvSpPr/>
          <p:nvPr/>
        </p:nvSpPr>
        <p:spPr>
          <a:xfrm>
            <a:off x="8997696" y="4334256"/>
            <a:ext cx="2377440" cy="768096"/>
          </a:xfrm>
          <a:prstGeom prst="roundRect">
            <a:avLst/>
          </a:prstGeom>
          <a:solidFill>
            <a:srgbClr val="F1F5F9"/>
          </a:solidFill>
          <a:ln w="12700">
            <a:solidFill>
              <a:srgbClr val="E2E8F0"/>
            </a:solidFill>
            <a:prstDash val="solid"/>
          </a:ln>
        </p:spPr>
      </p:sp>
      <p:sp>
        <p:nvSpPr>
          <p:cNvPr id="70" name="Text 68"/>
          <p:cNvSpPr/>
          <p:nvPr/>
        </p:nvSpPr>
        <p:spPr>
          <a:xfrm>
            <a:off x="9070848" y="4407408"/>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Supabase Storage</a:t>
            </a:r>
            <a:endParaRPr lang="en-US" sz="950" dirty="0"/>
          </a:p>
        </p:txBody>
      </p:sp>
      <p:sp>
        <p:nvSpPr>
          <p:cNvPr id="71" name="Text 69"/>
          <p:cNvSpPr/>
          <p:nvPr/>
        </p:nvSpPr>
        <p:spPr>
          <a:xfrm>
            <a:off x="9070848" y="4626864"/>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High-res sighting photos &amp; avatar CDN buckets</a:t>
            </a:r>
            <a:endParaRPr lang="en-US" sz="800" dirty="0"/>
          </a:p>
        </p:txBody>
      </p:sp>
      <p:sp>
        <p:nvSpPr>
          <p:cNvPr id="72" name="Shape 70"/>
          <p:cNvSpPr/>
          <p:nvPr/>
        </p:nvSpPr>
        <p:spPr>
          <a:xfrm>
            <a:off x="8997696" y="5212080"/>
            <a:ext cx="2377440" cy="768096"/>
          </a:xfrm>
          <a:prstGeom prst="roundRect">
            <a:avLst/>
          </a:prstGeom>
          <a:solidFill>
            <a:srgbClr val="F1F5F9"/>
          </a:solidFill>
          <a:ln w="12700">
            <a:solidFill>
              <a:srgbClr val="E2E8F0"/>
            </a:solidFill>
            <a:prstDash val="solid"/>
          </a:ln>
        </p:spPr>
      </p:sp>
      <p:sp>
        <p:nvSpPr>
          <p:cNvPr id="73" name="Text 71"/>
          <p:cNvSpPr/>
          <p:nvPr/>
        </p:nvSpPr>
        <p:spPr>
          <a:xfrm>
            <a:off x="9070848" y="5285232"/>
            <a:ext cx="2231136"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 Supabase Realtime</a:t>
            </a:r>
            <a:endParaRPr lang="en-US" sz="950" dirty="0"/>
          </a:p>
        </p:txBody>
      </p:sp>
      <p:sp>
        <p:nvSpPr>
          <p:cNvPr id="74" name="Text 72"/>
          <p:cNvSpPr/>
          <p:nvPr/>
        </p:nvSpPr>
        <p:spPr>
          <a:xfrm>
            <a:off x="9070848" y="5504688"/>
            <a:ext cx="2231136" cy="402336"/>
          </a:xfrm>
          <a:prstGeom prst="rect">
            <a:avLst/>
          </a:prstGeom>
          <a:noFill/>
          <a:ln/>
        </p:spPr>
        <p:txBody>
          <a:bodyPr wrap="square" rtlCol="0" anchor="ctr"/>
          <a:lstStyle/>
          <a:p>
            <a:pPr indent="0" marL="0">
              <a:lnSpc>
                <a:spcPts val="1100"/>
              </a:lnSpc>
              <a:buNone/>
            </a:pPr>
            <a:r>
              <a:rPr lang="en-US" sz="800" dirty="0">
                <a:solidFill>
                  <a:srgbClr val="64748B"/>
                </a:solidFill>
                <a:latin typeface="Arial" pitchFamily="34" charset="0"/>
                <a:ea typeface="Arial" pitchFamily="34" charset="-122"/>
                <a:cs typeface="Arial" pitchFamily="34" charset="-120"/>
              </a:rPr>
              <a:t>WebSocket broadcast to rescuers &amp; owners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6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ENTERPRISE AI ARCHITECTURE</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Multi-Model Intelligence Pipeline &amp; Managed RAG Flow</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Pre-Inference Guardrails (&lt;2ms) ➔ Hugging Face Vision Biometrics (~800ms) ➔ Gigalogy MAIRA Managed RAG (~450ms).</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7680960" cy="4434840"/>
          </a:xfrm>
          <a:prstGeom prst="roundRect">
            <a:avLst/>
          </a:prstGeom>
          <a:solidFill>
            <a:srgbClr val="FFFFFF"/>
          </a:solidFill>
          <a:ln w="19050">
            <a:solidFill>
              <a:srgbClr val="4338CA"/>
            </a:solidFill>
            <a:prstDash val="solid"/>
          </a:ln>
        </p:spPr>
      </p:sp>
      <p:pic>
        <p:nvPicPr>
          <p:cNvPr id="12" name="Image 0" descr="E:\nuzzle project\forntenduse vue js\presentation\nuzzle_ai_integration_architecture.jpg">    </p:cNvPr>
          <p:cNvPicPr>
            <a:picLocks noChangeAspect="1"/>
          </p:cNvPicPr>
          <p:nvPr/>
        </p:nvPicPr>
        <p:blipFill>
          <a:blip r:embed="rId1"/>
          <a:stretch>
            <a:fillRect/>
          </a:stretch>
        </p:blipFill>
        <p:spPr>
          <a:xfrm>
            <a:off x="804672" y="1856232"/>
            <a:ext cx="7534656" cy="4288536"/>
          </a:xfrm>
          <a:prstGeom prst="rect">
            <a:avLst/>
          </a:prstGeom>
        </p:spPr>
      </p:pic>
      <p:sp>
        <p:nvSpPr>
          <p:cNvPr id="13" name="Shape 10"/>
          <p:cNvSpPr/>
          <p:nvPr/>
        </p:nvSpPr>
        <p:spPr>
          <a:xfrm>
            <a:off x="8549640" y="1783080"/>
            <a:ext cx="2907792" cy="1417320"/>
          </a:xfrm>
          <a:prstGeom prst="roundRect">
            <a:avLst/>
          </a:prstGeom>
          <a:solidFill>
            <a:srgbClr val="FFFFFF"/>
          </a:solidFill>
          <a:ln w="12700">
            <a:solidFill>
              <a:srgbClr val="CBD5E1"/>
            </a:solidFill>
            <a:prstDash val="solid"/>
          </a:ln>
        </p:spPr>
      </p:sp>
      <p:sp>
        <p:nvSpPr>
          <p:cNvPr id="14" name="Shape 11"/>
          <p:cNvSpPr/>
          <p:nvPr/>
        </p:nvSpPr>
        <p:spPr>
          <a:xfrm>
            <a:off x="8659368" y="1892808"/>
            <a:ext cx="2688336" cy="237744"/>
          </a:xfrm>
          <a:prstGeom prst="roundRect">
            <a:avLst/>
          </a:prstGeom>
          <a:solidFill>
            <a:srgbClr val="FEF2F2"/>
          </a:solidFill>
          <a:ln w="10160">
            <a:solidFill>
              <a:srgbClr val="EF4444"/>
            </a:solidFill>
            <a:prstDash val="solid"/>
          </a:ln>
        </p:spPr>
      </p:sp>
      <p:sp>
        <p:nvSpPr>
          <p:cNvPr id="15" name="Text 12"/>
          <p:cNvSpPr/>
          <p:nvPr/>
        </p:nvSpPr>
        <p:spPr>
          <a:xfrm>
            <a:off x="8695944" y="1911096"/>
            <a:ext cx="2615184" cy="201168"/>
          </a:xfrm>
          <a:prstGeom prst="rect">
            <a:avLst/>
          </a:prstGeom>
          <a:noFill/>
          <a:ln/>
        </p:spPr>
        <p:txBody>
          <a:bodyPr wrap="square" rtlCol="0" anchor="ctr"/>
          <a:lstStyle/>
          <a:p>
            <a:pPr indent="0" marL="0">
              <a:buNone/>
            </a:pPr>
            <a:r>
              <a:rPr lang="en-US" sz="750" b="1" dirty="0">
                <a:solidFill>
                  <a:srgbClr val="EF4444"/>
                </a:solidFill>
                <a:latin typeface="Arial" pitchFamily="34" charset="0"/>
                <a:ea typeface="Arial" pitchFamily="34" charset="-122"/>
                <a:cs typeface="Arial" pitchFamily="34" charset="-120"/>
              </a:rPr>
              <a:t>🚨 PRE-INFERENCE GUARDRAIL (&lt;2ms)</a:t>
            </a:r>
            <a:endParaRPr lang="en-US" sz="750" dirty="0"/>
          </a:p>
        </p:txBody>
      </p:sp>
      <p:sp>
        <p:nvSpPr>
          <p:cNvPr id="16" name="Text 13"/>
          <p:cNvSpPr/>
          <p:nvPr/>
        </p:nvSpPr>
        <p:spPr>
          <a:xfrm>
            <a:off x="8686800" y="2185416"/>
            <a:ext cx="2633472"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Deterministic Toxin Guard</a:t>
            </a:r>
            <a:endParaRPr lang="en-US" sz="1050" dirty="0"/>
          </a:p>
        </p:txBody>
      </p:sp>
      <p:sp>
        <p:nvSpPr>
          <p:cNvPr id="17" name="Text 14"/>
          <p:cNvSpPr/>
          <p:nvPr/>
        </p:nvSpPr>
        <p:spPr>
          <a:xfrm>
            <a:off x="8686800" y="2441448"/>
            <a:ext cx="2633472" cy="658368"/>
          </a:xfrm>
          <a:prstGeom prst="rect">
            <a:avLst/>
          </a:prstGeom>
          <a:noFill/>
          <a:ln/>
        </p:spPr>
        <p:txBody>
          <a:bodyPr wrap="square" rtlCol="0" anchor="ctr"/>
          <a:lstStyle/>
          <a:p>
            <a:pPr indent="0" marL="0">
              <a:lnSpc>
                <a:spcPts val="1100"/>
              </a:lnSpc>
              <a:buNone/>
            </a:pPr>
            <a:r>
              <a:rPr lang="en-US" sz="850" dirty="0">
                <a:solidFill>
                  <a:srgbClr val="64748B"/>
                </a:solidFill>
                <a:latin typeface="Arial" pitchFamily="34" charset="0"/>
                <a:ea typeface="Arial" pitchFamily="34" charset="-122"/>
                <a:cs typeface="Arial" pitchFamily="34" charset="-120"/>
              </a:rPr>
              <a:t>Sub-2ms regex &amp; heuristic calculator for theobromine, lilies, and acetaminophen with immediate emergency intercept.</a:t>
            </a:r>
            <a:endParaRPr lang="en-US" sz="850" dirty="0"/>
          </a:p>
        </p:txBody>
      </p:sp>
      <p:sp>
        <p:nvSpPr>
          <p:cNvPr id="18" name="Shape 15"/>
          <p:cNvSpPr/>
          <p:nvPr/>
        </p:nvSpPr>
        <p:spPr>
          <a:xfrm>
            <a:off x="8549640" y="3291840"/>
            <a:ext cx="2907792" cy="1417320"/>
          </a:xfrm>
          <a:prstGeom prst="roundRect">
            <a:avLst/>
          </a:prstGeom>
          <a:solidFill>
            <a:srgbClr val="FFFFFF"/>
          </a:solidFill>
          <a:ln w="12700">
            <a:solidFill>
              <a:srgbClr val="CBD5E1"/>
            </a:solidFill>
            <a:prstDash val="solid"/>
          </a:ln>
        </p:spPr>
      </p:sp>
      <p:sp>
        <p:nvSpPr>
          <p:cNvPr id="19" name="Shape 16"/>
          <p:cNvSpPr/>
          <p:nvPr/>
        </p:nvSpPr>
        <p:spPr>
          <a:xfrm>
            <a:off x="8659368" y="3401568"/>
            <a:ext cx="2688336" cy="237744"/>
          </a:xfrm>
          <a:prstGeom prst="roundRect">
            <a:avLst/>
          </a:prstGeom>
          <a:solidFill>
            <a:srgbClr val="EEF2FF"/>
          </a:solidFill>
          <a:ln w="10160">
            <a:solidFill>
              <a:srgbClr val="4F46E5"/>
            </a:solidFill>
            <a:prstDash val="solid"/>
          </a:ln>
        </p:spPr>
      </p:sp>
      <p:sp>
        <p:nvSpPr>
          <p:cNvPr id="20" name="Text 17"/>
          <p:cNvSpPr/>
          <p:nvPr/>
        </p:nvSpPr>
        <p:spPr>
          <a:xfrm>
            <a:off x="8695944" y="3419856"/>
            <a:ext cx="2615184" cy="201168"/>
          </a:xfrm>
          <a:prstGeom prst="rect">
            <a:avLst/>
          </a:prstGeom>
          <a:noFill/>
          <a:ln/>
        </p:spPr>
        <p:txBody>
          <a:bodyPr wrap="square" rtlCol="0" anchor="ctr"/>
          <a:lstStyle/>
          <a:p>
            <a:pPr indent="0" marL="0">
              <a:buNone/>
            </a:pPr>
            <a:r>
              <a:rPr lang="en-US" sz="750" b="1" dirty="0">
                <a:solidFill>
                  <a:srgbClr val="4F46E5"/>
                </a:solidFill>
                <a:latin typeface="Arial" pitchFamily="34" charset="0"/>
                <a:ea typeface="Arial" pitchFamily="34" charset="-122"/>
                <a:cs typeface="Arial" pitchFamily="34" charset="-120"/>
              </a:rPr>
              <a:t>👁️ VISION BIOMETRICS (~800ms)</a:t>
            </a:r>
            <a:endParaRPr lang="en-US" sz="750" dirty="0"/>
          </a:p>
        </p:txBody>
      </p:sp>
      <p:sp>
        <p:nvSpPr>
          <p:cNvPr id="21" name="Text 18"/>
          <p:cNvSpPr/>
          <p:nvPr/>
        </p:nvSpPr>
        <p:spPr>
          <a:xfrm>
            <a:off x="8686800" y="3694176"/>
            <a:ext cx="2633472"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Qwen2.5-VL-72B Router</a:t>
            </a:r>
            <a:endParaRPr lang="en-US" sz="1050" dirty="0"/>
          </a:p>
        </p:txBody>
      </p:sp>
      <p:sp>
        <p:nvSpPr>
          <p:cNvPr id="22" name="Text 19"/>
          <p:cNvSpPr/>
          <p:nvPr/>
        </p:nvSpPr>
        <p:spPr>
          <a:xfrm>
            <a:off x="8686800" y="3950208"/>
            <a:ext cx="2633472" cy="658368"/>
          </a:xfrm>
          <a:prstGeom prst="rect">
            <a:avLst/>
          </a:prstGeom>
          <a:noFill/>
          <a:ln/>
        </p:spPr>
        <p:txBody>
          <a:bodyPr wrap="square" rtlCol="0" anchor="ctr"/>
          <a:lstStyle/>
          <a:p>
            <a:pPr indent="0" marL="0">
              <a:lnSpc>
                <a:spcPts val="1100"/>
              </a:lnSpc>
              <a:buNone/>
            </a:pPr>
            <a:r>
              <a:rPr lang="en-US" sz="850" dirty="0">
                <a:solidFill>
                  <a:srgbClr val="64748B"/>
                </a:solidFill>
                <a:latin typeface="Arial" pitchFamily="34" charset="0"/>
                <a:ea typeface="Arial" pitchFamily="34" charset="-122"/>
                <a:cs typeface="Arial" pitchFamily="34" charset="-120"/>
              </a:rPr>
              <a:t>Hugging Face serverless vision router extracting anatomical facial masks, coat patterns, and ear geometry with 0–100% confidence.</a:t>
            </a:r>
            <a:endParaRPr lang="en-US" sz="850" dirty="0"/>
          </a:p>
        </p:txBody>
      </p:sp>
      <p:sp>
        <p:nvSpPr>
          <p:cNvPr id="23" name="Shape 20"/>
          <p:cNvSpPr/>
          <p:nvPr/>
        </p:nvSpPr>
        <p:spPr>
          <a:xfrm>
            <a:off x="8549640" y="4800600"/>
            <a:ext cx="2907792" cy="1417320"/>
          </a:xfrm>
          <a:prstGeom prst="roundRect">
            <a:avLst/>
          </a:prstGeom>
          <a:solidFill>
            <a:srgbClr val="FFFFFF"/>
          </a:solidFill>
          <a:ln w="12700">
            <a:solidFill>
              <a:srgbClr val="CBD5E1"/>
            </a:solidFill>
            <a:prstDash val="solid"/>
          </a:ln>
        </p:spPr>
      </p:sp>
      <p:sp>
        <p:nvSpPr>
          <p:cNvPr id="24" name="Shape 21"/>
          <p:cNvSpPr/>
          <p:nvPr/>
        </p:nvSpPr>
        <p:spPr>
          <a:xfrm>
            <a:off x="8659368" y="4910328"/>
            <a:ext cx="2688336" cy="237744"/>
          </a:xfrm>
          <a:prstGeom prst="roundRect">
            <a:avLst/>
          </a:prstGeom>
          <a:solidFill>
            <a:srgbClr val="ECFDF5"/>
          </a:solidFill>
          <a:ln w="10160">
            <a:solidFill>
              <a:srgbClr val="10B981"/>
            </a:solidFill>
            <a:prstDash val="solid"/>
          </a:ln>
        </p:spPr>
      </p:sp>
      <p:sp>
        <p:nvSpPr>
          <p:cNvPr id="25" name="Text 22"/>
          <p:cNvSpPr/>
          <p:nvPr/>
        </p:nvSpPr>
        <p:spPr>
          <a:xfrm>
            <a:off x="8695944" y="4928616"/>
            <a:ext cx="2615184" cy="201168"/>
          </a:xfrm>
          <a:prstGeom prst="rect">
            <a:avLst/>
          </a:prstGeom>
          <a:noFill/>
          <a:ln/>
        </p:spPr>
        <p:txBody>
          <a:bodyPr wrap="square" rtlCol="0" anchor="ctr"/>
          <a:lstStyle/>
          <a:p>
            <a:pPr indent="0" marL="0">
              <a:buNone/>
            </a:pPr>
            <a:r>
              <a:rPr lang="en-US" sz="750" b="1" dirty="0">
                <a:solidFill>
                  <a:srgbClr val="10B981"/>
                </a:solidFill>
                <a:latin typeface="Arial" pitchFamily="34" charset="0"/>
                <a:ea typeface="Arial" pitchFamily="34" charset="-122"/>
                <a:cs typeface="Arial" pitchFamily="34" charset="-120"/>
              </a:rPr>
              <a:t>☁️ MANAGED VECTOR RAG (~450ms)</a:t>
            </a:r>
            <a:endParaRPr lang="en-US" sz="750" dirty="0"/>
          </a:p>
        </p:txBody>
      </p:sp>
      <p:sp>
        <p:nvSpPr>
          <p:cNvPr id="26" name="Text 23"/>
          <p:cNvSpPr/>
          <p:nvPr/>
        </p:nvSpPr>
        <p:spPr>
          <a:xfrm>
            <a:off x="8686800" y="5202936"/>
            <a:ext cx="2633472"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Gigalogy MAIRA Profiles</a:t>
            </a:r>
            <a:endParaRPr lang="en-US" sz="1050" dirty="0"/>
          </a:p>
        </p:txBody>
      </p:sp>
      <p:sp>
        <p:nvSpPr>
          <p:cNvPr id="27" name="Text 24"/>
          <p:cNvSpPr/>
          <p:nvPr/>
        </p:nvSpPr>
        <p:spPr>
          <a:xfrm>
            <a:off x="8686800" y="5458968"/>
            <a:ext cx="2633472" cy="658368"/>
          </a:xfrm>
          <a:prstGeom prst="rect">
            <a:avLst/>
          </a:prstGeom>
          <a:noFill/>
          <a:ln/>
        </p:spPr>
        <p:txBody>
          <a:bodyPr wrap="square" rtlCol="0" anchor="ctr"/>
          <a:lstStyle/>
          <a:p>
            <a:pPr indent="0" marL="0">
              <a:lnSpc>
                <a:spcPts val="1100"/>
              </a:lnSpc>
              <a:buNone/>
            </a:pPr>
            <a:r>
              <a:rPr lang="en-US" sz="850" dirty="0">
                <a:solidFill>
                  <a:srgbClr val="64748B"/>
                </a:solidFill>
                <a:latin typeface="Arial" pitchFamily="34" charset="0"/>
                <a:ea typeface="Arial" pitchFamily="34" charset="-122"/>
                <a:cs typeface="Arial" pitchFamily="34" charset="-120"/>
              </a:rPr>
              <a:t>4 UUID-bound high-dimensional vector profiles with sub-500ms retrieval and triple-tier failover (GPT-4o &amp; deterministic cache).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6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PILLAR 1: VETERINARY MEDICINE</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PawDoctor AI: 24/7 Clinical Triage &amp; Poison Fast-Path</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Profile ID: 0a8fd1e8-45ac-4870-8f5f-cfbc7ccf58a6 • Endpoints: /api/pawai/triage &amp; /api/pawai/chat</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FFFFFF"/>
          </a:solidFill>
          <a:ln w="15240">
            <a:solidFill>
              <a:srgbClr val="CBD5E1"/>
            </a:solidFill>
            <a:prstDash val="solid"/>
          </a:ln>
        </p:spPr>
      </p:sp>
      <p:sp>
        <p:nvSpPr>
          <p:cNvPr id="12" name="Shape 10"/>
          <p:cNvSpPr/>
          <p:nvPr/>
        </p:nvSpPr>
        <p:spPr>
          <a:xfrm>
            <a:off x="914400" y="1965960"/>
            <a:ext cx="4800600" cy="411480"/>
          </a:xfrm>
          <a:prstGeom prst="roundRect">
            <a:avLst/>
          </a:prstGeom>
          <a:solidFill>
            <a:srgbClr val="FEF2F2"/>
          </a:solidFill>
          <a:ln w="12700">
            <a:solidFill>
              <a:srgbClr val="EF4444"/>
            </a:solidFill>
            <a:prstDash val="solid"/>
          </a:ln>
        </p:spPr>
      </p:sp>
      <p:sp>
        <p:nvSpPr>
          <p:cNvPr id="13" name="Text 11"/>
          <p:cNvSpPr/>
          <p:nvPr/>
        </p:nvSpPr>
        <p:spPr>
          <a:xfrm>
            <a:off x="1005840" y="2075688"/>
            <a:ext cx="4617720" cy="228600"/>
          </a:xfrm>
          <a:prstGeom prst="rect">
            <a:avLst/>
          </a:prstGeom>
          <a:noFill/>
          <a:ln/>
        </p:spPr>
        <p:txBody>
          <a:bodyPr wrap="square" rtlCol="0" anchor="ctr"/>
          <a:lstStyle/>
          <a:p>
            <a:pPr indent="0" marL="0">
              <a:buNone/>
            </a:pPr>
            <a:r>
              <a:rPr lang="en-US" sz="950" b="1" dirty="0">
                <a:solidFill>
                  <a:srgbClr val="EF4444"/>
                </a:solidFill>
                <a:latin typeface="Arial" pitchFamily="34" charset="0"/>
                <a:ea typeface="Arial" pitchFamily="34" charset="-122"/>
                <a:cs typeface="Arial" pitchFamily="34" charset="-120"/>
              </a:rPr>
              <a:t>🚨 SUB-MILLISECOND DETERMINISTIC EMERGENCY GUARDRAIL</a:t>
            </a:r>
            <a:endParaRPr lang="en-US" sz="950" dirty="0"/>
          </a:p>
        </p:txBody>
      </p:sp>
      <p:sp>
        <p:nvSpPr>
          <p:cNvPr id="14" name="Text 12"/>
          <p:cNvSpPr/>
          <p:nvPr/>
        </p:nvSpPr>
        <p:spPr>
          <a:xfrm>
            <a:off x="914400" y="2487168"/>
            <a:ext cx="4800600" cy="685800"/>
          </a:xfrm>
          <a:prstGeom prst="rect">
            <a:avLst/>
          </a:prstGeom>
          <a:noFill/>
          <a:ln/>
        </p:spPr>
        <p:txBody>
          <a:bodyPr wrap="square" rtlCol="0" anchor="ctr"/>
          <a:lstStyle/>
          <a:p>
            <a:pPr indent="0" marL="0">
              <a:lnSpc>
                <a:spcPts val="1500"/>
              </a:lnSpc>
              <a:buNone/>
            </a:pPr>
            <a:r>
              <a:rPr lang="en-US" sz="1000" dirty="0">
                <a:solidFill>
                  <a:srgbClr val="475569"/>
                </a:solidFill>
                <a:latin typeface="Arial" pitchFamily="34" charset="0"/>
                <a:ea typeface="Arial" pitchFamily="34" charset="-122"/>
                <a:cs typeface="Arial" pitchFamily="34" charset="-120"/>
              </a:rPr>
              <a:t>Veterinary emergencies cannot tolerate model latency or hallucinated assurances. Before any LLM call, Nuzzle runs a zero-latency toxic ingestion screening filter (lib/llm/emergency-guard.ts):</a:t>
            </a:r>
            <a:endParaRPr lang="en-US" sz="1000" dirty="0"/>
          </a:p>
        </p:txBody>
      </p:sp>
      <p:sp>
        <p:nvSpPr>
          <p:cNvPr id="15" name="Shape 13"/>
          <p:cNvSpPr/>
          <p:nvPr/>
        </p:nvSpPr>
        <p:spPr>
          <a:xfrm>
            <a:off x="914400" y="3246120"/>
            <a:ext cx="4800600" cy="585216"/>
          </a:xfrm>
          <a:prstGeom prst="roundRect">
            <a:avLst/>
          </a:prstGeom>
          <a:solidFill>
            <a:srgbClr val="F1F5F9"/>
          </a:solidFill>
          <a:ln w="12700">
            <a:solidFill>
              <a:srgbClr val="E2E8F0"/>
            </a:solidFill>
            <a:prstDash val="solid"/>
          </a:ln>
        </p:spPr>
      </p:sp>
      <p:sp>
        <p:nvSpPr>
          <p:cNvPr id="16" name="Text 14"/>
          <p:cNvSpPr/>
          <p:nvPr/>
        </p:nvSpPr>
        <p:spPr>
          <a:xfrm>
            <a:off x="1051560" y="3319272"/>
            <a:ext cx="237744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Dark Chocolate / Theobromine</a:t>
            </a:r>
            <a:endParaRPr lang="en-US" sz="1000" dirty="0"/>
          </a:p>
        </p:txBody>
      </p:sp>
      <p:sp>
        <p:nvSpPr>
          <p:cNvPr id="17" name="Text 15"/>
          <p:cNvSpPr/>
          <p:nvPr/>
        </p:nvSpPr>
        <p:spPr>
          <a:xfrm>
            <a:off x="3520440" y="3319272"/>
            <a:ext cx="205740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&gt; 20mg/kg lethal</a:t>
            </a:r>
            <a:endParaRPr lang="en-US" sz="850" dirty="0"/>
          </a:p>
        </p:txBody>
      </p:sp>
      <p:sp>
        <p:nvSpPr>
          <p:cNvPr id="18" name="Text 16"/>
          <p:cNvSpPr/>
          <p:nvPr/>
        </p:nvSpPr>
        <p:spPr>
          <a:xfrm>
            <a:off x="1051560" y="3538728"/>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Tachycardia, seizures, arrhythmia</a:t>
            </a:r>
            <a:endParaRPr lang="en-US" sz="850" dirty="0"/>
          </a:p>
        </p:txBody>
      </p:sp>
      <p:sp>
        <p:nvSpPr>
          <p:cNvPr id="19" name="Shape 17"/>
          <p:cNvSpPr/>
          <p:nvPr/>
        </p:nvSpPr>
        <p:spPr>
          <a:xfrm>
            <a:off x="914400" y="3904488"/>
            <a:ext cx="4800600" cy="585216"/>
          </a:xfrm>
          <a:prstGeom prst="roundRect">
            <a:avLst/>
          </a:prstGeom>
          <a:solidFill>
            <a:srgbClr val="F1F5F9"/>
          </a:solidFill>
          <a:ln w="12700">
            <a:solidFill>
              <a:srgbClr val="E2E8F0"/>
            </a:solidFill>
            <a:prstDash val="solid"/>
          </a:ln>
        </p:spPr>
      </p:sp>
      <p:sp>
        <p:nvSpPr>
          <p:cNvPr id="20" name="Text 18"/>
          <p:cNvSpPr/>
          <p:nvPr/>
        </p:nvSpPr>
        <p:spPr>
          <a:xfrm>
            <a:off x="1051560" y="3977640"/>
            <a:ext cx="237744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Lilies (Feline Toxicity)</a:t>
            </a:r>
            <a:endParaRPr lang="en-US" sz="1000" dirty="0"/>
          </a:p>
        </p:txBody>
      </p:sp>
      <p:sp>
        <p:nvSpPr>
          <p:cNvPr id="21" name="Text 19"/>
          <p:cNvSpPr/>
          <p:nvPr/>
        </p:nvSpPr>
        <p:spPr>
          <a:xfrm>
            <a:off x="3520440" y="3977640"/>
            <a:ext cx="205740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Any pollen or petal ingestion</a:t>
            </a:r>
            <a:endParaRPr lang="en-US" sz="850" dirty="0"/>
          </a:p>
        </p:txBody>
      </p:sp>
      <p:sp>
        <p:nvSpPr>
          <p:cNvPr id="22" name="Text 20"/>
          <p:cNvSpPr/>
          <p:nvPr/>
        </p:nvSpPr>
        <p:spPr>
          <a:xfrm>
            <a:off x="1051560" y="4197096"/>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Acute oliguric kidney failure in 12h</a:t>
            </a:r>
            <a:endParaRPr lang="en-US" sz="850" dirty="0"/>
          </a:p>
        </p:txBody>
      </p:sp>
      <p:sp>
        <p:nvSpPr>
          <p:cNvPr id="23" name="Shape 21"/>
          <p:cNvSpPr/>
          <p:nvPr/>
        </p:nvSpPr>
        <p:spPr>
          <a:xfrm>
            <a:off x="914400" y="4562856"/>
            <a:ext cx="4800600" cy="585216"/>
          </a:xfrm>
          <a:prstGeom prst="roundRect">
            <a:avLst/>
          </a:prstGeom>
          <a:solidFill>
            <a:srgbClr val="F1F5F9"/>
          </a:solidFill>
          <a:ln w="12700">
            <a:solidFill>
              <a:srgbClr val="E2E8F0"/>
            </a:solidFill>
            <a:prstDash val="solid"/>
          </a:ln>
        </p:spPr>
      </p:sp>
      <p:sp>
        <p:nvSpPr>
          <p:cNvPr id="24" name="Text 22"/>
          <p:cNvSpPr/>
          <p:nvPr/>
        </p:nvSpPr>
        <p:spPr>
          <a:xfrm>
            <a:off x="1051560" y="4636008"/>
            <a:ext cx="237744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Grapes &amp; Raisins (Canine)</a:t>
            </a:r>
            <a:endParaRPr lang="en-US" sz="1000" dirty="0"/>
          </a:p>
        </p:txBody>
      </p:sp>
      <p:sp>
        <p:nvSpPr>
          <p:cNvPr id="25" name="Text 23"/>
          <p:cNvSpPr/>
          <p:nvPr/>
        </p:nvSpPr>
        <p:spPr>
          <a:xfrm>
            <a:off x="3520440" y="4636008"/>
            <a:ext cx="205740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Unpredictable idiosyncratic toxicity</a:t>
            </a:r>
            <a:endParaRPr lang="en-US" sz="850" dirty="0"/>
          </a:p>
        </p:txBody>
      </p:sp>
      <p:sp>
        <p:nvSpPr>
          <p:cNvPr id="26" name="Text 24"/>
          <p:cNvSpPr/>
          <p:nvPr/>
        </p:nvSpPr>
        <p:spPr>
          <a:xfrm>
            <a:off x="1051560" y="4855464"/>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Severe acute renal tubule necrosis</a:t>
            </a:r>
            <a:endParaRPr lang="en-US" sz="850" dirty="0"/>
          </a:p>
        </p:txBody>
      </p:sp>
      <p:sp>
        <p:nvSpPr>
          <p:cNvPr id="27" name="Shape 25"/>
          <p:cNvSpPr/>
          <p:nvPr/>
        </p:nvSpPr>
        <p:spPr>
          <a:xfrm>
            <a:off x="914400" y="5221224"/>
            <a:ext cx="4800600" cy="585216"/>
          </a:xfrm>
          <a:prstGeom prst="roundRect">
            <a:avLst/>
          </a:prstGeom>
          <a:solidFill>
            <a:srgbClr val="F1F5F9"/>
          </a:solidFill>
          <a:ln w="12700">
            <a:solidFill>
              <a:srgbClr val="E2E8F0"/>
            </a:solidFill>
            <a:prstDash val="solid"/>
          </a:ln>
        </p:spPr>
      </p:sp>
      <p:sp>
        <p:nvSpPr>
          <p:cNvPr id="28" name="Text 26"/>
          <p:cNvSpPr/>
          <p:nvPr/>
        </p:nvSpPr>
        <p:spPr>
          <a:xfrm>
            <a:off x="1051560" y="5294376"/>
            <a:ext cx="237744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Paracetamol / Acetaminophen</a:t>
            </a:r>
            <a:endParaRPr lang="en-US" sz="1000" dirty="0"/>
          </a:p>
        </p:txBody>
      </p:sp>
      <p:sp>
        <p:nvSpPr>
          <p:cNvPr id="29" name="Text 27"/>
          <p:cNvSpPr/>
          <p:nvPr/>
        </p:nvSpPr>
        <p:spPr>
          <a:xfrm>
            <a:off x="3520440" y="5294376"/>
            <a:ext cx="205740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&gt; 10mg/kg in cats</a:t>
            </a:r>
            <a:endParaRPr lang="en-US" sz="850" dirty="0"/>
          </a:p>
        </p:txBody>
      </p:sp>
      <p:sp>
        <p:nvSpPr>
          <p:cNvPr id="30" name="Text 28"/>
          <p:cNvSpPr/>
          <p:nvPr/>
        </p:nvSpPr>
        <p:spPr>
          <a:xfrm>
            <a:off x="1051560" y="5513832"/>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Methemoglobinemia, cyanosis, asphyxia</a:t>
            </a:r>
            <a:endParaRPr lang="en-US" sz="850" dirty="0"/>
          </a:p>
        </p:txBody>
      </p:sp>
      <p:sp>
        <p:nvSpPr>
          <p:cNvPr id="31" name="Shape 29"/>
          <p:cNvSpPr/>
          <p:nvPr/>
        </p:nvSpPr>
        <p:spPr>
          <a:xfrm>
            <a:off x="6263640" y="1783080"/>
            <a:ext cx="5193792" cy="4389120"/>
          </a:xfrm>
          <a:prstGeom prst="roundRect">
            <a:avLst/>
          </a:prstGeom>
          <a:solidFill>
            <a:srgbClr val="FFFFFF"/>
          </a:solidFill>
          <a:ln w="15240">
            <a:solidFill>
              <a:srgbClr val="CBD5E1"/>
            </a:solidFill>
            <a:prstDash val="solid"/>
          </a:ln>
        </p:spPr>
      </p:sp>
      <p:sp>
        <p:nvSpPr>
          <p:cNvPr id="32" name="Text 30"/>
          <p:cNvSpPr/>
          <p:nvPr/>
        </p:nvSpPr>
        <p:spPr>
          <a:xfrm>
            <a:off x="6492240" y="1965960"/>
            <a:ext cx="4736592"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CLINICAL TRIAGE HIERARCHY &amp; CONVERSATION</a:t>
            </a:r>
            <a:endParaRPr lang="en-US" sz="1100" dirty="0"/>
          </a:p>
        </p:txBody>
      </p:sp>
      <p:sp>
        <p:nvSpPr>
          <p:cNvPr id="33" name="Shape 31"/>
          <p:cNvSpPr/>
          <p:nvPr/>
        </p:nvSpPr>
        <p:spPr>
          <a:xfrm>
            <a:off x="6492240" y="2286000"/>
            <a:ext cx="4736592" cy="868680"/>
          </a:xfrm>
          <a:prstGeom prst="roundRect">
            <a:avLst/>
          </a:prstGeom>
          <a:solidFill>
            <a:srgbClr val="FEF2F2"/>
          </a:solidFill>
          <a:ln w="12700">
            <a:solidFill>
              <a:srgbClr val="EF4444"/>
            </a:solidFill>
            <a:prstDash val="solid"/>
          </a:ln>
        </p:spPr>
      </p:sp>
      <p:sp>
        <p:nvSpPr>
          <p:cNvPr id="34" name="Text 32"/>
          <p:cNvSpPr/>
          <p:nvPr/>
        </p:nvSpPr>
        <p:spPr>
          <a:xfrm>
            <a:off x="6629400" y="2377440"/>
            <a:ext cx="4389120" cy="201168"/>
          </a:xfrm>
          <a:prstGeom prst="rect">
            <a:avLst/>
          </a:prstGeom>
          <a:noFill/>
          <a:ln/>
        </p:spPr>
        <p:txBody>
          <a:bodyPr wrap="square" rtlCol="0" anchor="ctr"/>
          <a:lstStyle/>
          <a:p>
            <a:pPr indent="0" marL="0">
              <a:buNone/>
            </a:pPr>
            <a:r>
              <a:rPr lang="en-US" sz="1000" b="1" dirty="0">
                <a:solidFill>
                  <a:srgbClr val="EF4444"/>
                </a:solidFill>
                <a:latin typeface="Arial" pitchFamily="34" charset="0"/>
                <a:ea typeface="Arial" pitchFamily="34" charset="-122"/>
                <a:cs typeface="Arial" pitchFamily="34" charset="-120"/>
              </a:rPr>
              <a:t>LEVEL 1: EMERGENCY</a:t>
            </a:r>
            <a:endParaRPr lang="en-US" sz="1000" dirty="0"/>
          </a:p>
        </p:txBody>
      </p:sp>
      <p:sp>
        <p:nvSpPr>
          <p:cNvPr id="35" name="Text 33"/>
          <p:cNvSpPr/>
          <p:nvPr/>
        </p:nvSpPr>
        <p:spPr>
          <a:xfrm>
            <a:off x="6629400" y="2596896"/>
            <a:ext cx="4389120" cy="50292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Immediate physical transport to Cascade 24/7 or closest ICU. Direct phone call button enabled in UI.</a:t>
            </a:r>
            <a:endParaRPr lang="en-US" sz="950" dirty="0"/>
          </a:p>
        </p:txBody>
      </p:sp>
      <p:sp>
        <p:nvSpPr>
          <p:cNvPr id="36" name="Shape 34"/>
          <p:cNvSpPr/>
          <p:nvPr/>
        </p:nvSpPr>
        <p:spPr>
          <a:xfrm>
            <a:off x="6492240" y="3246120"/>
            <a:ext cx="4736592" cy="868680"/>
          </a:xfrm>
          <a:prstGeom prst="roundRect">
            <a:avLst/>
          </a:prstGeom>
          <a:solidFill>
            <a:srgbClr val="FFFBEB"/>
          </a:solidFill>
          <a:ln w="12700">
            <a:solidFill>
              <a:srgbClr val="F59E0B"/>
            </a:solidFill>
            <a:prstDash val="solid"/>
          </a:ln>
        </p:spPr>
      </p:sp>
      <p:sp>
        <p:nvSpPr>
          <p:cNvPr id="37" name="Text 35"/>
          <p:cNvSpPr/>
          <p:nvPr/>
        </p:nvSpPr>
        <p:spPr>
          <a:xfrm>
            <a:off x="6629400" y="3337560"/>
            <a:ext cx="4389120" cy="201168"/>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LEVEL 2: SCHEDULE VET VISIT</a:t>
            </a:r>
            <a:endParaRPr lang="en-US" sz="1000" dirty="0"/>
          </a:p>
        </p:txBody>
      </p:sp>
      <p:sp>
        <p:nvSpPr>
          <p:cNvPr id="38" name="Text 36"/>
          <p:cNvSpPr/>
          <p:nvPr/>
        </p:nvSpPr>
        <p:spPr>
          <a:xfrm>
            <a:off x="6629400" y="3557016"/>
            <a:ext cx="4389120" cy="50292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Condition requires clinical diagnosis within 24–48 hours (e.g., limping, ear infection, mild lethargy).</a:t>
            </a:r>
            <a:endParaRPr lang="en-US" sz="950" dirty="0"/>
          </a:p>
        </p:txBody>
      </p:sp>
      <p:sp>
        <p:nvSpPr>
          <p:cNvPr id="39" name="Shape 37"/>
          <p:cNvSpPr/>
          <p:nvPr/>
        </p:nvSpPr>
        <p:spPr>
          <a:xfrm>
            <a:off x="6492240" y="4206240"/>
            <a:ext cx="4736592" cy="868680"/>
          </a:xfrm>
          <a:prstGeom prst="roundRect">
            <a:avLst/>
          </a:prstGeom>
          <a:solidFill>
            <a:srgbClr val="ECFDF5"/>
          </a:solidFill>
          <a:ln w="12700">
            <a:solidFill>
              <a:srgbClr val="10B981"/>
            </a:solidFill>
            <a:prstDash val="solid"/>
          </a:ln>
        </p:spPr>
      </p:sp>
      <p:sp>
        <p:nvSpPr>
          <p:cNvPr id="40" name="Text 38"/>
          <p:cNvSpPr/>
          <p:nvPr/>
        </p:nvSpPr>
        <p:spPr>
          <a:xfrm>
            <a:off x="6629400" y="4297680"/>
            <a:ext cx="43891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LEVEL 3: MONITOR AT HOME</a:t>
            </a:r>
            <a:endParaRPr lang="en-US" sz="1000" dirty="0"/>
          </a:p>
        </p:txBody>
      </p:sp>
      <p:sp>
        <p:nvSpPr>
          <p:cNvPr id="41" name="Text 39"/>
          <p:cNvSpPr/>
          <p:nvPr/>
        </p:nvSpPr>
        <p:spPr>
          <a:xfrm>
            <a:off x="6629400" y="4517136"/>
            <a:ext cx="4389120" cy="50292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Mild self-limiting issue. Delivers hydration guidance, bland diet advice, and recovery milestones.</a:t>
            </a:r>
            <a:endParaRPr lang="en-US" sz="950" dirty="0"/>
          </a:p>
        </p:txBody>
      </p:sp>
      <p:sp>
        <p:nvSpPr>
          <p:cNvPr id="42" name="Shape 40"/>
          <p:cNvSpPr/>
          <p:nvPr/>
        </p:nvSpPr>
        <p:spPr>
          <a:xfrm>
            <a:off x="6492240" y="5303520"/>
            <a:ext cx="4736592" cy="731520"/>
          </a:xfrm>
          <a:prstGeom prst="roundRect">
            <a:avLst/>
          </a:prstGeom>
          <a:solidFill>
            <a:srgbClr val="EEF2FF"/>
          </a:solidFill>
          <a:ln w="12700">
            <a:solidFill>
              <a:srgbClr val="4F46E5"/>
            </a:solidFill>
            <a:prstDash val="solid"/>
          </a:ln>
        </p:spPr>
      </p:sp>
      <p:sp>
        <p:nvSpPr>
          <p:cNvPr id="43" name="Text 41"/>
          <p:cNvSpPr/>
          <p:nvPr/>
        </p:nvSpPr>
        <p:spPr>
          <a:xfrm>
            <a:off x="6629400" y="5376672"/>
            <a:ext cx="4389120" cy="182880"/>
          </a:xfrm>
          <a:prstGeom prst="rect">
            <a:avLst/>
          </a:prstGeom>
          <a:noFill/>
          <a:ln/>
        </p:spPr>
        <p:txBody>
          <a:bodyPr wrap="square" rtlCol="0" anchor="ctr"/>
          <a:lstStyle/>
          <a:p>
            <a:pPr indent="0" marL="0">
              <a:buNone/>
            </a:pPr>
            <a:r>
              <a:rPr lang="en-US" sz="900" b="1" dirty="0">
                <a:solidFill>
                  <a:srgbClr val="4F46E5"/>
                </a:solidFill>
                <a:latin typeface="Arial" pitchFamily="34" charset="0"/>
                <a:ea typeface="Arial" pitchFamily="34" charset="-122"/>
                <a:cs typeface="Arial" pitchFamily="34" charset="-120"/>
              </a:rPr>
              <a:t>🌐 NATIVE BILINGUAL BANGLA / EN SUPPORT</a:t>
            </a:r>
            <a:endParaRPr lang="en-US" sz="900" dirty="0"/>
          </a:p>
        </p:txBody>
      </p:sp>
      <p:sp>
        <p:nvSpPr>
          <p:cNvPr id="44" name="Text 42"/>
          <p:cNvSpPr/>
          <p:nvPr/>
        </p:nvSpPr>
        <p:spPr>
          <a:xfrm>
            <a:off x="6629400" y="5559552"/>
            <a:ext cx="4389120" cy="41148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Recognizes symptom queries in colloquial Bangla ("আমার কুকুর বমি করছে", "প্যারাসিটামল খেয়েছে") and responds with culturally contextualized Dhaka first-aid steps.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7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PILLAR 2: MULTIMODAL PET SAFETY RADAR</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Lost &amp; Found Radar: Multimodal Vision &amp; Semantic Biometric Matching</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Profile ID: a10e6172-abe5-4fed-965f-dcdf22148524 • Dataset: 50-Pet Radar Benchmark + Supabase pgvector</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2560320" cy="868680"/>
          </a:xfrm>
          <a:prstGeom prst="roundRect">
            <a:avLst/>
          </a:prstGeom>
          <a:solidFill>
            <a:srgbClr val="FFFFFF"/>
          </a:solidFill>
          <a:ln w="12700">
            <a:solidFill>
              <a:srgbClr val="CBD5E1"/>
            </a:solidFill>
            <a:prstDash val="solid"/>
          </a:ln>
        </p:spPr>
      </p:sp>
      <p:sp>
        <p:nvSpPr>
          <p:cNvPr id="12" name="Text 10"/>
          <p:cNvSpPr/>
          <p:nvPr/>
        </p:nvSpPr>
        <p:spPr>
          <a:xfrm>
            <a:off x="868680"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RADAR BENCHMARK</a:t>
            </a:r>
            <a:endParaRPr lang="en-US" sz="850" dirty="0"/>
          </a:p>
        </p:txBody>
      </p:sp>
      <p:sp>
        <p:nvSpPr>
          <p:cNvPr id="13" name="Text 11"/>
          <p:cNvSpPr/>
          <p:nvPr/>
        </p:nvSpPr>
        <p:spPr>
          <a:xfrm>
            <a:off x="868680"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50 Curated Pets</a:t>
            </a:r>
            <a:endParaRPr lang="en-US" sz="1300" dirty="0"/>
          </a:p>
        </p:txBody>
      </p:sp>
      <p:sp>
        <p:nvSpPr>
          <p:cNvPr id="14" name="Text 12"/>
          <p:cNvSpPr/>
          <p:nvPr/>
        </p:nvSpPr>
        <p:spPr>
          <a:xfrm>
            <a:off x="868680"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Dhaka zones: Banani, Gulshan, Uttara</a:t>
            </a:r>
            <a:endParaRPr lang="en-US" sz="850" dirty="0"/>
          </a:p>
        </p:txBody>
      </p:sp>
      <p:sp>
        <p:nvSpPr>
          <p:cNvPr id="15" name="Shape 13"/>
          <p:cNvSpPr/>
          <p:nvPr/>
        </p:nvSpPr>
        <p:spPr>
          <a:xfrm>
            <a:off x="3456432" y="1783080"/>
            <a:ext cx="2560320" cy="868680"/>
          </a:xfrm>
          <a:prstGeom prst="roundRect">
            <a:avLst/>
          </a:prstGeom>
          <a:solidFill>
            <a:srgbClr val="FFFFFF"/>
          </a:solidFill>
          <a:ln w="12700">
            <a:solidFill>
              <a:srgbClr val="CBD5E1"/>
            </a:solidFill>
            <a:prstDash val="solid"/>
          </a:ln>
        </p:spPr>
      </p:sp>
      <p:sp>
        <p:nvSpPr>
          <p:cNvPr id="16" name="Text 14"/>
          <p:cNvSpPr/>
          <p:nvPr/>
        </p:nvSpPr>
        <p:spPr>
          <a:xfrm>
            <a:off x="3593592"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VISION MODEL</a:t>
            </a:r>
            <a:endParaRPr lang="en-US" sz="850" dirty="0"/>
          </a:p>
        </p:txBody>
      </p:sp>
      <p:sp>
        <p:nvSpPr>
          <p:cNvPr id="17" name="Text 15"/>
          <p:cNvSpPr/>
          <p:nvPr/>
        </p:nvSpPr>
        <p:spPr>
          <a:xfrm>
            <a:off x="3593592"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Qwen2.5-VL-72B</a:t>
            </a:r>
            <a:endParaRPr lang="en-US" sz="1300" dirty="0"/>
          </a:p>
        </p:txBody>
      </p:sp>
      <p:sp>
        <p:nvSpPr>
          <p:cNvPr id="18" name="Text 16"/>
          <p:cNvSpPr/>
          <p:nvPr/>
        </p:nvSpPr>
        <p:spPr>
          <a:xfrm>
            <a:off x="3593592"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Hugging Face free open-source router</a:t>
            </a:r>
            <a:endParaRPr lang="en-US" sz="850" dirty="0"/>
          </a:p>
        </p:txBody>
      </p:sp>
      <p:sp>
        <p:nvSpPr>
          <p:cNvPr id="19" name="Shape 17"/>
          <p:cNvSpPr/>
          <p:nvPr/>
        </p:nvSpPr>
        <p:spPr>
          <a:xfrm>
            <a:off x="6181344" y="1783080"/>
            <a:ext cx="2560320" cy="868680"/>
          </a:xfrm>
          <a:prstGeom prst="roundRect">
            <a:avLst/>
          </a:prstGeom>
          <a:solidFill>
            <a:srgbClr val="FFFFFF"/>
          </a:solidFill>
          <a:ln w="12700">
            <a:solidFill>
              <a:srgbClr val="CBD5E1"/>
            </a:solidFill>
            <a:prstDash val="solid"/>
          </a:ln>
        </p:spPr>
      </p:sp>
      <p:sp>
        <p:nvSpPr>
          <p:cNvPr id="20" name="Text 18"/>
          <p:cNvSpPr/>
          <p:nvPr/>
        </p:nvSpPr>
        <p:spPr>
          <a:xfrm>
            <a:off x="6318504"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MATCH CONFIDENCE</a:t>
            </a:r>
            <a:endParaRPr lang="en-US" sz="850" dirty="0"/>
          </a:p>
        </p:txBody>
      </p:sp>
      <p:sp>
        <p:nvSpPr>
          <p:cNvPr id="21" name="Text 19"/>
          <p:cNvSpPr/>
          <p:nvPr/>
        </p:nvSpPr>
        <p:spPr>
          <a:xfrm>
            <a:off x="6318504"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95.2% Clinical Score</a:t>
            </a:r>
            <a:endParaRPr lang="en-US" sz="1300" dirty="0"/>
          </a:p>
        </p:txBody>
      </p:sp>
      <p:sp>
        <p:nvSpPr>
          <p:cNvPr id="22" name="Text 20"/>
          <p:cNvSpPr/>
          <p:nvPr/>
        </p:nvSpPr>
        <p:spPr>
          <a:xfrm>
            <a:off x="6318504"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Biometric coat, ear &amp; collar extraction</a:t>
            </a:r>
            <a:endParaRPr lang="en-US" sz="850" dirty="0"/>
          </a:p>
        </p:txBody>
      </p:sp>
      <p:sp>
        <p:nvSpPr>
          <p:cNvPr id="23" name="Shape 21"/>
          <p:cNvSpPr/>
          <p:nvPr/>
        </p:nvSpPr>
        <p:spPr>
          <a:xfrm>
            <a:off x="8906256" y="1783080"/>
            <a:ext cx="2560320" cy="868680"/>
          </a:xfrm>
          <a:prstGeom prst="roundRect">
            <a:avLst/>
          </a:prstGeom>
          <a:solidFill>
            <a:srgbClr val="FFFFFF"/>
          </a:solidFill>
          <a:ln w="12700">
            <a:solidFill>
              <a:srgbClr val="CBD5E1"/>
            </a:solidFill>
            <a:prstDash val="solid"/>
          </a:ln>
        </p:spPr>
      </p:sp>
      <p:sp>
        <p:nvSpPr>
          <p:cNvPr id="24" name="Text 22"/>
          <p:cNvSpPr/>
          <p:nvPr/>
        </p:nvSpPr>
        <p:spPr>
          <a:xfrm>
            <a:off x="9043416"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ZERO HALLUCINATION</a:t>
            </a:r>
            <a:endParaRPr lang="en-US" sz="850" dirty="0"/>
          </a:p>
        </p:txBody>
      </p:sp>
      <p:sp>
        <p:nvSpPr>
          <p:cNvPr id="25" name="Text 23"/>
          <p:cNvSpPr/>
          <p:nvPr/>
        </p:nvSpPr>
        <p:spPr>
          <a:xfrm>
            <a:off x="9043416"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Strict Pet Filter</a:t>
            </a:r>
            <a:endParaRPr lang="en-US" sz="1300" dirty="0"/>
          </a:p>
        </p:txBody>
      </p:sp>
      <p:sp>
        <p:nvSpPr>
          <p:cNvPr id="26" name="Text 24"/>
          <p:cNvSpPr/>
          <p:nvPr/>
        </p:nvSpPr>
        <p:spPr>
          <a:xfrm>
            <a:off x="9043416"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Non-pet/human rejection &amp; verification</a:t>
            </a:r>
            <a:endParaRPr lang="en-US" sz="850" dirty="0"/>
          </a:p>
        </p:txBody>
      </p:sp>
      <p:sp>
        <p:nvSpPr>
          <p:cNvPr id="27" name="Shape 25"/>
          <p:cNvSpPr/>
          <p:nvPr/>
        </p:nvSpPr>
        <p:spPr>
          <a:xfrm>
            <a:off x="731520" y="2834640"/>
            <a:ext cx="5212080" cy="3337560"/>
          </a:xfrm>
          <a:prstGeom prst="roundRect">
            <a:avLst/>
          </a:prstGeom>
          <a:solidFill>
            <a:srgbClr val="FFFFFF"/>
          </a:solidFill>
          <a:ln w="19050">
            <a:solidFill>
              <a:srgbClr val="10B981"/>
            </a:solidFill>
            <a:prstDash val="solid"/>
          </a:ln>
        </p:spPr>
      </p:sp>
      <p:sp>
        <p:nvSpPr>
          <p:cNvPr id="28" name="Shape 26"/>
          <p:cNvSpPr/>
          <p:nvPr/>
        </p:nvSpPr>
        <p:spPr>
          <a:xfrm>
            <a:off x="914400" y="2971800"/>
            <a:ext cx="4846320" cy="320040"/>
          </a:xfrm>
          <a:prstGeom prst="roundRect">
            <a:avLst/>
          </a:prstGeom>
          <a:solidFill>
            <a:srgbClr val="ECFDF5"/>
          </a:solidFill>
          <a:ln w="12700">
            <a:solidFill>
              <a:srgbClr val="10B981"/>
            </a:solidFill>
            <a:prstDash val="solid"/>
          </a:ln>
        </p:spPr>
      </p:sp>
      <p:sp>
        <p:nvSpPr>
          <p:cNvPr id="29" name="Text 27"/>
          <p:cNvSpPr/>
          <p:nvPr/>
        </p:nvSpPr>
        <p:spPr>
          <a:xfrm>
            <a:off x="1005840" y="3035808"/>
            <a:ext cx="4663440" cy="201168"/>
          </a:xfrm>
          <a:prstGeom prst="rect">
            <a:avLst/>
          </a:prstGeom>
          <a:noFill/>
          <a:ln/>
        </p:spPr>
        <p:txBody>
          <a:bodyPr wrap="square" rtlCol="0" anchor="ctr"/>
          <a:lstStyle/>
          <a:p>
            <a:pPr indent="0" marL="0">
              <a:buNone/>
            </a:pPr>
            <a:r>
              <a:rPr lang="en-US" sz="950" b="1" dirty="0">
                <a:solidFill>
                  <a:srgbClr val="065F46"/>
                </a:solidFill>
                <a:latin typeface="Arial" pitchFamily="34" charset="0"/>
                <a:ea typeface="Arial" pitchFamily="34" charset="-122"/>
                <a:cs typeface="Arial" pitchFamily="34" charset="-120"/>
              </a:rPr>
              <a:t>🐕 VERIFIED CASE 1: ROCKY (GERMAN SHEPHERD)</a:t>
            </a:r>
            <a:endParaRPr lang="en-US" sz="950" dirty="0"/>
          </a:p>
        </p:txBody>
      </p:sp>
      <p:sp>
        <p:nvSpPr>
          <p:cNvPr id="30" name="Text 28"/>
          <p:cNvSpPr/>
          <p:nvPr/>
        </p:nvSpPr>
        <p:spPr>
          <a:xfrm>
            <a:off x="914400" y="3383280"/>
            <a:ext cx="4846320" cy="182880"/>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SIGHTING INPUT (POST /api/lost-found/ai-match):</a:t>
            </a:r>
            <a:endParaRPr lang="en-US" sz="850" dirty="0"/>
          </a:p>
        </p:txBody>
      </p:sp>
      <p:sp>
        <p:nvSpPr>
          <p:cNvPr id="31" name="Text 29"/>
          <p:cNvSpPr/>
          <p:nvPr/>
        </p:nvSpPr>
        <p:spPr>
          <a:xfrm>
            <a:off x="914400" y="3566160"/>
            <a:ext cx="4846320" cy="502920"/>
          </a:xfrm>
          <a:prstGeom prst="rect">
            <a:avLst/>
          </a:prstGeom>
          <a:noFill/>
          <a:ln/>
        </p:spPr>
        <p:txBody>
          <a:bodyPr wrap="square" rtlCol="0" anchor="ctr"/>
          <a:lstStyle/>
          <a:p>
            <a:pPr indent="0" marL="0">
              <a:buNone/>
            </a:pPr>
            <a:r>
              <a:rPr lang="en-US" sz="950" i="1" dirty="0">
                <a:solidFill>
                  <a:srgbClr val="0F172A"/>
                </a:solidFill>
                <a:latin typeface="Arial" pitchFamily="34" charset="0"/>
                <a:ea typeface="Arial" pitchFamily="34" charset="-122"/>
                <a:cs typeface="Arial" pitchFamily="34" charset="-120"/>
              </a:rPr>
              <a:t>"📸 Sighting Photo Attached + Notes: Spotted black &amp; tan dog near Banani Rd 11. Wearing red nylon collar with silver Nuzzle QR tag."</a:t>
            </a:r>
            <a:endParaRPr lang="en-US" sz="950" dirty="0"/>
          </a:p>
        </p:txBody>
      </p:sp>
      <p:sp>
        <p:nvSpPr>
          <p:cNvPr id="32" name="Text 30"/>
          <p:cNvSpPr/>
          <p:nvPr/>
        </p:nvSpPr>
        <p:spPr>
          <a:xfrm>
            <a:off x="914400" y="4114800"/>
            <a:ext cx="484632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MULTIMODAL AI VISION BIOMETRIC RESULT:</a:t>
            </a:r>
            <a:endParaRPr lang="en-US" sz="850" dirty="0"/>
          </a:p>
        </p:txBody>
      </p:sp>
      <p:sp>
        <p:nvSpPr>
          <p:cNvPr id="33" name="Text 31"/>
          <p:cNvSpPr/>
          <p:nvPr/>
        </p:nvSpPr>
        <p:spPr>
          <a:xfrm>
            <a:off x="914400" y="4343400"/>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Matched Pet Name:</a:t>
            </a:r>
            <a:endParaRPr lang="en-US" sz="900" dirty="0"/>
          </a:p>
        </p:txBody>
      </p:sp>
      <p:sp>
        <p:nvSpPr>
          <p:cNvPr id="34" name="Text 32"/>
          <p:cNvSpPr/>
          <p:nvPr/>
        </p:nvSpPr>
        <p:spPr>
          <a:xfrm>
            <a:off x="2834640" y="4343400"/>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Rocky (Post ID: LF-101 • German Shepherd)</a:t>
            </a:r>
            <a:endParaRPr lang="en-US" sz="900" dirty="0"/>
          </a:p>
        </p:txBody>
      </p:sp>
      <p:sp>
        <p:nvSpPr>
          <p:cNvPr id="35" name="Text 33"/>
          <p:cNvSpPr/>
          <p:nvPr/>
        </p:nvSpPr>
        <p:spPr>
          <a:xfrm>
            <a:off x="914400" y="4672584"/>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Biometric Features:</a:t>
            </a:r>
            <a:endParaRPr lang="en-US" sz="900" dirty="0"/>
          </a:p>
        </p:txBody>
      </p:sp>
      <p:sp>
        <p:nvSpPr>
          <p:cNvPr id="36" name="Text 34"/>
          <p:cNvSpPr/>
          <p:nvPr/>
        </p:nvSpPr>
        <p:spPr>
          <a:xfrm>
            <a:off x="2834640" y="4672584"/>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 Black &amp; Tan Saddle • 🐾 Pointed Ears • 🏷️ Red Tag</a:t>
            </a:r>
            <a:endParaRPr lang="en-US" sz="900" dirty="0"/>
          </a:p>
        </p:txBody>
      </p:sp>
      <p:sp>
        <p:nvSpPr>
          <p:cNvPr id="37" name="Text 35"/>
          <p:cNvSpPr/>
          <p:nvPr/>
        </p:nvSpPr>
        <p:spPr>
          <a:xfrm>
            <a:off x="914400" y="5001768"/>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Owner &amp; Contact:</a:t>
            </a:r>
            <a:endParaRPr lang="en-US" sz="900" dirty="0"/>
          </a:p>
        </p:txBody>
      </p:sp>
      <p:sp>
        <p:nvSpPr>
          <p:cNvPr id="38" name="Text 36"/>
          <p:cNvSpPr/>
          <p:nvPr/>
        </p:nvSpPr>
        <p:spPr>
          <a:xfrm>
            <a:off x="2834640" y="5001768"/>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Kazi Tanvir (+880 1711-998877)</a:t>
            </a:r>
            <a:endParaRPr lang="en-US" sz="900" dirty="0"/>
          </a:p>
        </p:txBody>
      </p:sp>
      <p:sp>
        <p:nvSpPr>
          <p:cNvPr id="39" name="Text 37"/>
          <p:cNvSpPr/>
          <p:nvPr/>
        </p:nvSpPr>
        <p:spPr>
          <a:xfrm>
            <a:off x="914400" y="5330952"/>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Cash Reward Offered:</a:t>
            </a:r>
            <a:endParaRPr lang="en-US" sz="900" dirty="0"/>
          </a:p>
        </p:txBody>
      </p:sp>
      <p:sp>
        <p:nvSpPr>
          <p:cNvPr id="40" name="Text 38"/>
          <p:cNvSpPr/>
          <p:nvPr/>
        </p:nvSpPr>
        <p:spPr>
          <a:xfrm>
            <a:off x="2834640" y="5330952"/>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৳15,000 BDT (Verified Escrow)</a:t>
            </a:r>
            <a:endParaRPr lang="en-US" sz="900" dirty="0"/>
          </a:p>
        </p:txBody>
      </p:sp>
      <p:sp>
        <p:nvSpPr>
          <p:cNvPr id="41" name="Text 39"/>
          <p:cNvSpPr/>
          <p:nvPr/>
        </p:nvSpPr>
        <p:spPr>
          <a:xfrm>
            <a:off x="914400" y="5660136"/>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 Confidence Score:</a:t>
            </a:r>
            <a:endParaRPr lang="en-US" sz="900" dirty="0"/>
          </a:p>
        </p:txBody>
      </p:sp>
      <p:sp>
        <p:nvSpPr>
          <p:cNvPr id="42" name="Text 40"/>
          <p:cNvSpPr/>
          <p:nvPr/>
        </p:nvSpPr>
        <p:spPr>
          <a:xfrm>
            <a:off x="2834640" y="5660136"/>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0.95 (Hugging Face Vision Qwen2.5-VL-72B)</a:t>
            </a:r>
            <a:endParaRPr lang="en-US" sz="900" dirty="0"/>
          </a:p>
        </p:txBody>
      </p:sp>
      <p:sp>
        <p:nvSpPr>
          <p:cNvPr id="43" name="Shape 41"/>
          <p:cNvSpPr/>
          <p:nvPr/>
        </p:nvSpPr>
        <p:spPr>
          <a:xfrm>
            <a:off x="6248095" y="2834640"/>
            <a:ext cx="5212080" cy="3337560"/>
          </a:xfrm>
          <a:prstGeom prst="roundRect">
            <a:avLst/>
          </a:prstGeom>
          <a:solidFill>
            <a:srgbClr val="FFFFFF"/>
          </a:solidFill>
          <a:ln w="19050">
            <a:solidFill>
              <a:srgbClr val="6366F1"/>
            </a:solidFill>
            <a:prstDash val="solid"/>
          </a:ln>
        </p:spPr>
      </p:sp>
      <p:sp>
        <p:nvSpPr>
          <p:cNvPr id="44" name="Shape 42"/>
          <p:cNvSpPr/>
          <p:nvPr/>
        </p:nvSpPr>
        <p:spPr>
          <a:xfrm>
            <a:off x="6430975" y="2971800"/>
            <a:ext cx="4846320" cy="320040"/>
          </a:xfrm>
          <a:prstGeom prst="roundRect">
            <a:avLst/>
          </a:prstGeom>
          <a:solidFill>
            <a:srgbClr val="EEF2FF"/>
          </a:solidFill>
          <a:ln w="12700">
            <a:solidFill>
              <a:srgbClr val="6366F1"/>
            </a:solidFill>
            <a:prstDash val="solid"/>
          </a:ln>
        </p:spPr>
      </p:sp>
      <p:sp>
        <p:nvSpPr>
          <p:cNvPr id="45" name="Text 43"/>
          <p:cNvSpPr/>
          <p:nvPr/>
        </p:nvSpPr>
        <p:spPr>
          <a:xfrm>
            <a:off x="6522415" y="3035808"/>
            <a:ext cx="4663440" cy="201168"/>
          </a:xfrm>
          <a:prstGeom prst="rect">
            <a:avLst/>
          </a:prstGeom>
          <a:noFill/>
          <a:ln/>
        </p:spPr>
        <p:txBody>
          <a:bodyPr wrap="square" rtlCol="0" anchor="ctr"/>
          <a:lstStyle/>
          <a:p>
            <a:pPr indent="0" marL="0">
              <a:buNone/>
            </a:pPr>
            <a:r>
              <a:rPr lang="en-US" sz="950" b="1" dirty="0">
                <a:solidFill>
                  <a:srgbClr val="4338CA"/>
                </a:solidFill>
                <a:latin typeface="Arial" pitchFamily="34" charset="0"/>
                <a:ea typeface="Arial" pitchFamily="34" charset="-122"/>
                <a:cs typeface="Arial" pitchFamily="34" charset="-120"/>
              </a:rPr>
              <a:t>🐈 VERIFIED CASE 2: MILO (PERSIAN CAT)</a:t>
            </a:r>
            <a:endParaRPr lang="en-US" sz="950" dirty="0"/>
          </a:p>
        </p:txBody>
      </p:sp>
      <p:sp>
        <p:nvSpPr>
          <p:cNvPr id="46" name="Text 44"/>
          <p:cNvSpPr/>
          <p:nvPr/>
        </p:nvSpPr>
        <p:spPr>
          <a:xfrm>
            <a:off x="6430975" y="3383280"/>
            <a:ext cx="4846320" cy="182880"/>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SIGHTING INPUT (POST /api/lost-found/ai-match):</a:t>
            </a:r>
            <a:endParaRPr lang="en-US" sz="850" dirty="0"/>
          </a:p>
        </p:txBody>
      </p:sp>
      <p:sp>
        <p:nvSpPr>
          <p:cNvPr id="47" name="Text 45"/>
          <p:cNvSpPr/>
          <p:nvPr/>
        </p:nvSpPr>
        <p:spPr>
          <a:xfrm>
            <a:off x="6430975" y="3566160"/>
            <a:ext cx="4846320" cy="502920"/>
          </a:xfrm>
          <a:prstGeom prst="rect">
            <a:avLst/>
          </a:prstGeom>
          <a:noFill/>
          <a:ln/>
        </p:spPr>
        <p:txBody>
          <a:bodyPr wrap="square" rtlCol="0" anchor="ctr"/>
          <a:lstStyle/>
          <a:p>
            <a:pPr indent="0" marL="0">
              <a:buNone/>
            </a:pPr>
            <a:r>
              <a:rPr lang="en-US" sz="950" i="1" dirty="0">
                <a:solidFill>
                  <a:srgbClr val="0F172A"/>
                </a:solidFill>
                <a:latin typeface="Arial" pitchFamily="34" charset="0"/>
                <a:ea typeface="Arial" pitchFamily="34" charset="-122"/>
                <a:cs typeface="Arial" pitchFamily="34" charset="-120"/>
              </a:rPr>
              <a:t>"📸 Sighting Photo Attached: Found white fluffy Persian cat sitting near Gulshan Lake Park gate 2. Has one blue eye and one amber eye, pink velvet collar."</a:t>
            </a:r>
            <a:endParaRPr lang="en-US" sz="950" dirty="0"/>
          </a:p>
        </p:txBody>
      </p:sp>
      <p:sp>
        <p:nvSpPr>
          <p:cNvPr id="48" name="Text 46"/>
          <p:cNvSpPr/>
          <p:nvPr/>
        </p:nvSpPr>
        <p:spPr>
          <a:xfrm>
            <a:off x="6430975" y="4114800"/>
            <a:ext cx="4846320" cy="182880"/>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MULTIMODAL AI VISION BIOMETRIC RESULT:</a:t>
            </a:r>
            <a:endParaRPr lang="en-US" sz="850" dirty="0"/>
          </a:p>
        </p:txBody>
      </p:sp>
      <p:sp>
        <p:nvSpPr>
          <p:cNvPr id="49" name="Text 47"/>
          <p:cNvSpPr/>
          <p:nvPr/>
        </p:nvSpPr>
        <p:spPr>
          <a:xfrm>
            <a:off x="6430975" y="4343400"/>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Matched Pet Name:</a:t>
            </a:r>
            <a:endParaRPr lang="en-US" sz="900" dirty="0"/>
          </a:p>
        </p:txBody>
      </p:sp>
      <p:sp>
        <p:nvSpPr>
          <p:cNvPr id="50" name="Text 48"/>
          <p:cNvSpPr/>
          <p:nvPr/>
        </p:nvSpPr>
        <p:spPr>
          <a:xfrm>
            <a:off x="8351215" y="4343400"/>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Milo (Post ID: LF-102 • Persian Cat)</a:t>
            </a:r>
            <a:endParaRPr lang="en-US" sz="900" dirty="0"/>
          </a:p>
        </p:txBody>
      </p:sp>
      <p:sp>
        <p:nvSpPr>
          <p:cNvPr id="51" name="Text 49"/>
          <p:cNvSpPr/>
          <p:nvPr/>
        </p:nvSpPr>
        <p:spPr>
          <a:xfrm>
            <a:off x="6430975" y="4672584"/>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Biometric Features:</a:t>
            </a:r>
            <a:endParaRPr lang="en-US" sz="900" dirty="0"/>
          </a:p>
        </p:txBody>
      </p:sp>
      <p:sp>
        <p:nvSpPr>
          <p:cNvPr id="52" name="Text 50"/>
          <p:cNvSpPr/>
          <p:nvPr/>
        </p:nvSpPr>
        <p:spPr>
          <a:xfrm>
            <a:off x="8351215" y="4672584"/>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 Pure White • 🐾 Heterochromia (Odd-Eyed) • 🏷️ Bell</a:t>
            </a:r>
            <a:endParaRPr lang="en-US" sz="900" dirty="0"/>
          </a:p>
        </p:txBody>
      </p:sp>
      <p:sp>
        <p:nvSpPr>
          <p:cNvPr id="53" name="Text 51"/>
          <p:cNvSpPr/>
          <p:nvPr/>
        </p:nvSpPr>
        <p:spPr>
          <a:xfrm>
            <a:off x="6430975" y="5001768"/>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Owner &amp; Contact:</a:t>
            </a:r>
            <a:endParaRPr lang="en-US" sz="900" dirty="0"/>
          </a:p>
        </p:txBody>
      </p:sp>
      <p:sp>
        <p:nvSpPr>
          <p:cNvPr id="54" name="Text 52"/>
          <p:cNvSpPr/>
          <p:nvPr/>
        </p:nvSpPr>
        <p:spPr>
          <a:xfrm>
            <a:off x="8351215" y="5001768"/>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Nabila Rahman (+880 1819-223344)</a:t>
            </a:r>
            <a:endParaRPr lang="en-US" sz="900" dirty="0"/>
          </a:p>
        </p:txBody>
      </p:sp>
      <p:sp>
        <p:nvSpPr>
          <p:cNvPr id="55" name="Text 53"/>
          <p:cNvSpPr/>
          <p:nvPr/>
        </p:nvSpPr>
        <p:spPr>
          <a:xfrm>
            <a:off x="6430975" y="5330952"/>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Cash Reward Offered:</a:t>
            </a:r>
            <a:endParaRPr lang="en-US" sz="900" dirty="0"/>
          </a:p>
        </p:txBody>
      </p:sp>
      <p:sp>
        <p:nvSpPr>
          <p:cNvPr id="56" name="Text 54"/>
          <p:cNvSpPr/>
          <p:nvPr/>
        </p:nvSpPr>
        <p:spPr>
          <a:xfrm>
            <a:off x="8351215" y="5330952"/>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৳10,000 BDT (Verified Escrow)</a:t>
            </a:r>
            <a:endParaRPr lang="en-US" sz="900" dirty="0"/>
          </a:p>
        </p:txBody>
      </p:sp>
      <p:sp>
        <p:nvSpPr>
          <p:cNvPr id="57" name="Text 55"/>
          <p:cNvSpPr/>
          <p:nvPr/>
        </p:nvSpPr>
        <p:spPr>
          <a:xfrm>
            <a:off x="6430975" y="5660136"/>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 Confidence Score:</a:t>
            </a:r>
            <a:endParaRPr lang="en-US" sz="900" dirty="0"/>
          </a:p>
        </p:txBody>
      </p:sp>
      <p:sp>
        <p:nvSpPr>
          <p:cNvPr id="58" name="Text 56"/>
          <p:cNvSpPr/>
          <p:nvPr/>
        </p:nvSpPr>
        <p:spPr>
          <a:xfrm>
            <a:off x="8351215" y="5660136"/>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0.92 (Visual Biometric Correlation)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8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PILLAR 2 • LIVE APPLICATION DEMO</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Multimodal Visual Biometric Sighting Scanner</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Live UI Workflow: Instant Photo Upload, Side-by-Side Biometric Comparison &amp; Real-Time Rescue Dispatch</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676656" y="1728216"/>
            <a:ext cx="4041648" cy="4498848"/>
          </a:xfrm>
          <a:prstGeom prst="roundRect">
            <a:avLst/>
          </a:prstGeom>
          <a:solidFill>
            <a:srgbClr val="FFFFFF"/>
          </a:solidFill>
          <a:ln w="19050">
            <a:solidFill>
              <a:srgbClr val="8B5CF6"/>
            </a:solidFill>
            <a:prstDash val="solid"/>
          </a:ln>
        </p:spPr>
      </p:sp>
      <p:pic>
        <p:nvPicPr>
          <p:cNvPr id="12" name="Image 0" descr="E:\nuzzle project\forntenduse vue js\presentation_screenshots\ai_visual_radar_match_demo.png">    </p:cNvPr>
          <p:cNvPicPr>
            <a:picLocks noChangeAspect="1"/>
          </p:cNvPicPr>
          <p:nvPr/>
        </p:nvPicPr>
        <p:blipFill>
          <a:blip r:embed="rId1"/>
          <a:stretch>
            <a:fillRect/>
          </a:stretch>
        </p:blipFill>
        <p:spPr>
          <a:xfrm>
            <a:off x="731520" y="1783080"/>
            <a:ext cx="3931920" cy="4389120"/>
          </a:xfrm>
          <a:prstGeom prst="rect">
            <a:avLst/>
          </a:prstGeom>
        </p:spPr>
      </p:pic>
      <p:sp>
        <p:nvSpPr>
          <p:cNvPr id="13" name="Shape 10"/>
          <p:cNvSpPr/>
          <p:nvPr/>
        </p:nvSpPr>
        <p:spPr>
          <a:xfrm>
            <a:off x="4892040" y="1783080"/>
            <a:ext cx="6568135" cy="1371600"/>
          </a:xfrm>
          <a:prstGeom prst="roundRect">
            <a:avLst/>
          </a:prstGeom>
          <a:solidFill>
            <a:srgbClr val="FFFFFF"/>
          </a:solidFill>
          <a:ln w="12700">
            <a:solidFill>
              <a:srgbClr val="CBD5E1"/>
            </a:solidFill>
            <a:prstDash val="solid"/>
          </a:ln>
        </p:spPr>
      </p:sp>
      <p:sp>
        <p:nvSpPr>
          <p:cNvPr id="14" name="Text 11"/>
          <p:cNvSpPr/>
          <p:nvPr/>
        </p:nvSpPr>
        <p:spPr>
          <a:xfrm>
            <a:off x="5056632" y="1856232"/>
            <a:ext cx="6238951" cy="201168"/>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  Client-Side Photo Dropzone &amp; Ingestion</a:t>
            </a:r>
            <a:endParaRPr lang="en-US" sz="1150" dirty="0"/>
          </a:p>
        </p:txBody>
      </p:sp>
      <p:sp>
        <p:nvSpPr>
          <p:cNvPr id="15" name="Text 12"/>
          <p:cNvSpPr/>
          <p:nvPr/>
        </p:nvSpPr>
        <p:spPr>
          <a:xfrm>
            <a:off x="5056632" y="2057400"/>
            <a:ext cx="6238951" cy="164592"/>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Vue 3 Reactive Camera &amp; File Input (Under 10MB)</a:t>
            </a:r>
            <a:endParaRPr lang="en-US" sz="900" dirty="0"/>
          </a:p>
        </p:txBody>
      </p:sp>
      <p:sp>
        <p:nvSpPr>
          <p:cNvPr id="16" name="Text 13"/>
          <p:cNvSpPr/>
          <p:nvPr/>
        </p:nvSpPr>
        <p:spPr>
          <a:xfrm>
            <a:off x="5056632" y="2240280"/>
            <a:ext cx="6238951" cy="594360"/>
          </a:xfrm>
          <a:prstGeom prst="rect">
            <a:avLst/>
          </a:prstGeom>
          <a:noFill/>
          <a:ln/>
        </p:spPr>
        <p:txBody>
          <a:bodyPr wrap="square" rtlCol="0" anchor="ctr"/>
          <a:lstStyle/>
          <a:p>
            <a:pPr indent="0" marL="0">
              <a:lnSpc>
                <a:spcPts val="1100"/>
              </a:lnSpc>
              <a:buNone/>
            </a:pPr>
            <a:r>
              <a:rPr lang="en-US" sz="850" dirty="0">
                <a:solidFill>
                  <a:srgbClr val="475569"/>
                </a:solidFill>
                <a:latin typeface="Arial" pitchFamily="34" charset="0"/>
                <a:ea typeface="Arial" pitchFamily="34" charset="-122"/>
                <a:cs typeface="Arial" pitchFamily="34" charset="-120"/>
              </a:rPr>
              <a:t>• Users click "Tap to Upload Sighting Photo" to trigger camera or file picker.</a:t>
            </a:r>
            <a:endParaRPr lang="en-US" sz="850" dirty="0"/>
          </a:p>
          <a:p>
            <a:pPr indent="0" marL="0">
              <a:lnSpc>
                <a:spcPts val="1100"/>
              </a:lnSpc>
              <a:buNone/>
            </a:pPr>
            <a:r>
              <a:rPr lang="en-US" sz="850" dirty="0">
                <a:solidFill>
                  <a:srgbClr val="475569"/>
                </a:solidFill>
                <a:latin typeface="Arial" pitchFamily="34" charset="0"/>
                <a:ea typeface="Arial" pitchFamily="34" charset="-122"/>
                <a:cs typeface="Arial" pitchFamily="34" charset="-120"/>
              </a:rPr>
              <a:t>• Converts image into reactive base64 data URI with instant thumbnail preview.</a:t>
            </a:r>
            <a:endParaRPr lang="en-US" sz="850" dirty="0"/>
          </a:p>
          <a:p>
            <a:pPr indent="0" marL="0">
              <a:lnSpc>
                <a:spcPts val="1100"/>
              </a:lnSpc>
              <a:buNone/>
            </a:pPr>
            <a:r>
              <a:rPr lang="en-US" sz="850" dirty="0">
                <a:solidFill>
                  <a:srgbClr val="475569"/>
                </a:solidFill>
                <a:latin typeface="Arial" pitchFamily="34" charset="0"/>
                <a:ea typeface="Arial" pitchFamily="34" charset="-122"/>
                <a:cs typeface="Arial" pitchFamily="34" charset="-120"/>
              </a:rPr>
              <a:t>• Strict validation: Rejects non-pet images and prompts rescuer for clear animal photos.</a:t>
            </a:r>
            <a:endParaRPr lang="en-US" sz="850" dirty="0"/>
          </a:p>
        </p:txBody>
      </p:sp>
      <p:sp>
        <p:nvSpPr>
          <p:cNvPr id="17" name="Text 14"/>
          <p:cNvSpPr/>
          <p:nvPr/>
        </p:nvSpPr>
        <p:spPr>
          <a:xfrm>
            <a:off x="5056632" y="2862072"/>
            <a:ext cx="6238951" cy="201168"/>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POST /api/lost-found/ai-match (200 OK • ~1.8s)</a:t>
            </a:r>
            <a:endParaRPr lang="en-US" sz="850" dirty="0"/>
          </a:p>
        </p:txBody>
      </p:sp>
      <p:sp>
        <p:nvSpPr>
          <p:cNvPr id="18" name="Shape 15"/>
          <p:cNvSpPr/>
          <p:nvPr/>
        </p:nvSpPr>
        <p:spPr>
          <a:xfrm>
            <a:off x="4892040" y="3264408"/>
            <a:ext cx="6568135" cy="1371600"/>
          </a:xfrm>
          <a:prstGeom prst="roundRect">
            <a:avLst/>
          </a:prstGeom>
          <a:solidFill>
            <a:srgbClr val="FFFFFF"/>
          </a:solidFill>
          <a:ln w="12700">
            <a:solidFill>
              <a:srgbClr val="CBD5E1"/>
            </a:solidFill>
            <a:prstDash val="solid"/>
          </a:ln>
        </p:spPr>
      </p:sp>
      <p:sp>
        <p:nvSpPr>
          <p:cNvPr id="19" name="Text 16"/>
          <p:cNvSpPr/>
          <p:nvPr/>
        </p:nvSpPr>
        <p:spPr>
          <a:xfrm>
            <a:off x="5056632" y="3337560"/>
            <a:ext cx="6238951" cy="201168"/>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  Hugging Face Vision Biometric Comparator</a:t>
            </a:r>
            <a:endParaRPr lang="en-US" sz="1150" dirty="0"/>
          </a:p>
        </p:txBody>
      </p:sp>
      <p:sp>
        <p:nvSpPr>
          <p:cNvPr id="20" name="Text 17"/>
          <p:cNvSpPr/>
          <p:nvPr/>
        </p:nvSpPr>
        <p:spPr>
          <a:xfrm>
            <a:off x="5056632" y="3538728"/>
            <a:ext cx="6238951" cy="164592"/>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Qwen2.5-VL-72B-Instruct on Free Inference Router</a:t>
            </a:r>
            <a:endParaRPr lang="en-US" sz="900" dirty="0"/>
          </a:p>
        </p:txBody>
      </p:sp>
      <p:sp>
        <p:nvSpPr>
          <p:cNvPr id="21" name="Text 18"/>
          <p:cNvSpPr/>
          <p:nvPr/>
        </p:nvSpPr>
        <p:spPr>
          <a:xfrm>
            <a:off x="5056632" y="3721608"/>
            <a:ext cx="6238951" cy="594360"/>
          </a:xfrm>
          <a:prstGeom prst="rect">
            <a:avLst/>
          </a:prstGeom>
          <a:noFill/>
          <a:ln/>
        </p:spPr>
        <p:txBody>
          <a:bodyPr wrap="square" rtlCol="0" anchor="ctr"/>
          <a:lstStyle/>
          <a:p>
            <a:pPr indent="0" marL="0">
              <a:lnSpc>
                <a:spcPts val="1100"/>
              </a:lnSpc>
              <a:buNone/>
            </a:pPr>
            <a:r>
              <a:rPr lang="en-US" sz="850" dirty="0">
                <a:solidFill>
                  <a:srgbClr val="475569"/>
                </a:solidFill>
                <a:latin typeface="Arial" pitchFamily="34" charset="0"/>
                <a:ea typeface="Arial" pitchFamily="34" charset="-122"/>
                <a:cs typeface="Arial" pitchFamily="34" charset="-120"/>
              </a:rPr>
              <a:t>• Multimodal Vision AI compares sighting photo against registered lost pet records.</a:t>
            </a:r>
            <a:endParaRPr lang="en-US" sz="850" dirty="0"/>
          </a:p>
          <a:p>
            <a:pPr indent="0" marL="0">
              <a:lnSpc>
                <a:spcPts val="1100"/>
              </a:lnSpc>
              <a:buNone/>
            </a:pPr>
            <a:r>
              <a:rPr lang="en-US" sz="850" dirty="0">
                <a:solidFill>
                  <a:srgbClr val="475569"/>
                </a:solidFill>
                <a:latin typeface="Arial" pitchFamily="34" charset="0"/>
                <a:ea typeface="Arial" pitchFamily="34" charset="-122"/>
                <a:cs typeface="Arial" pitchFamily="34" charset="-120"/>
              </a:rPr>
              <a:t>• Extracts clinical criteria: 🎨 Coat pattern, 🐾 Ear/facial structure, 🏷️ Collar/tag.</a:t>
            </a:r>
            <a:endParaRPr lang="en-US" sz="850" dirty="0"/>
          </a:p>
          <a:p>
            <a:pPr indent="0" marL="0">
              <a:lnSpc>
                <a:spcPts val="1100"/>
              </a:lnSpc>
              <a:buNone/>
            </a:pPr>
            <a:r>
              <a:rPr lang="en-US" sz="850" dirty="0">
                <a:solidFill>
                  <a:srgbClr val="475569"/>
                </a:solidFill>
                <a:latin typeface="Arial" pitchFamily="34" charset="0"/>
                <a:ea typeface="Arial" pitchFamily="34" charset="-122"/>
                <a:cs typeface="Arial" pitchFamily="34" charset="-120"/>
              </a:rPr>
              <a:t>• Calculates 92%–95% similarity score with structured clinical reasoning.</a:t>
            </a:r>
            <a:endParaRPr lang="en-US" sz="850" dirty="0"/>
          </a:p>
        </p:txBody>
      </p:sp>
      <p:sp>
        <p:nvSpPr>
          <p:cNvPr id="22" name="Text 19"/>
          <p:cNvSpPr/>
          <p:nvPr/>
        </p:nvSpPr>
        <p:spPr>
          <a:xfrm>
            <a:off x="5056632" y="4343400"/>
            <a:ext cx="6238951" cy="201168"/>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Free Open-Source Router + OpenAI Multimodal Fallback</a:t>
            </a:r>
            <a:endParaRPr lang="en-US" sz="850" dirty="0"/>
          </a:p>
        </p:txBody>
      </p:sp>
      <p:sp>
        <p:nvSpPr>
          <p:cNvPr id="23" name="Shape 20"/>
          <p:cNvSpPr/>
          <p:nvPr/>
        </p:nvSpPr>
        <p:spPr>
          <a:xfrm>
            <a:off x="4892040" y="4745736"/>
            <a:ext cx="6568135" cy="1371600"/>
          </a:xfrm>
          <a:prstGeom prst="roundRect">
            <a:avLst/>
          </a:prstGeom>
          <a:solidFill>
            <a:srgbClr val="FFFFFF"/>
          </a:solidFill>
          <a:ln w="12700">
            <a:solidFill>
              <a:srgbClr val="CBD5E1"/>
            </a:solidFill>
            <a:prstDash val="solid"/>
          </a:ln>
        </p:spPr>
      </p:sp>
      <p:sp>
        <p:nvSpPr>
          <p:cNvPr id="24" name="Text 21"/>
          <p:cNvSpPr/>
          <p:nvPr/>
        </p:nvSpPr>
        <p:spPr>
          <a:xfrm>
            <a:off x="5056632" y="4818888"/>
            <a:ext cx="6238951" cy="201168"/>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  Side-by-Side Visual Verification &amp; Instant Dispatch</a:t>
            </a:r>
            <a:endParaRPr lang="en-US" sz="1150" dirty="0"/>
          </a:p>
        </p:txBody>
      </p:sp>
      <p:sp>
        <p:nvSpPr>
          <p:cNvPr id="25" name="Text 22"/>
          <p:cNvSpPr/>
          <p:nvPr/>
        </p:nvSpPr>
        <p:spPr>
          <a:xfrm>
            <a:off x="5056632" y="5020056"/>
            <a:ext cx="6238951" cy="164592"/>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Eliminates False Positives &amp; Automates Community Reunion</a:t>
            </a:r>
            <a:endParaRPr lang="en-US" sz="900" dirty="0"/>
          </a:p>
        </p:txBody>
      </p:sp>
      <p:sp>
        <p:nvSpPr>
          <p:cNvPr id="26" name="Text 23"/>
          <p:cNvSpPr/>
          <p:nvPr/>
        </p:nvSpPr>
        <p:spPr>
          <a:xfrm>
            <a:off x="5056632" y="5202936"/>
            <a:ext cx="6238951" cy="594360"/>
          </a:xfrm>
          <a:prstGeom prst="rect">
            <a:avLst/>
          </a:prstGeom>
          <a:noFill/>
          <a:ln/>
        </p:spPr>
        <p:txBody>
          <a:bodyPr wrap="square" rtlCol="0" anchor="ctr"/>
          <a:lstStyle/>
          <a:p>
            <a:pPr indent="0" marL="0">
              <a:lnSpc>
                <a:spcPts val="1100"/>
              </a:lnSpc>
              <a:buNone/>
            </a:pPr>
            <a:r>
              <a:rPr lang="en-US" sz="850" dirty="0">
                <a:solidFill>
                  <a:srgbClr val="475569"/>
                </a:solidFill>
                <a:latin typeface="Arial" pitchFamily="34" charset="0"/>
                <a:ea typeface="Arial" pitchFamily="34" charset="-122"/>
                <a:cs typeface="Arial" pitchFamily="34" charset="-120"/>
              </a:rPr>
              <a:t>• Displays "Your Sighting (Observed)" vs. "Registered Report" side-by-side with VS badge.</a:t>
            </a:r>
            <a:endParaRPr lang="en-US" sz="850" dirty="0"/>
          </a:p>
          <a:p>
            <a:pPr indent="0" marL="0">
              <a:lnSpc>
                <a:spcPts val="1100"/>
              </a:lnSpc>
              <a:buNone/>
            </a:pPr>
            <a:r>
              <a:rPr lang="en-US" sz="850" dirty="0">
                <a:solidFill>
                  <a:srgbClr val="475569"/>
                </a:solidFill>
                <a:latin typeface="Arial" pitchFamily="34" charset="0"/>
                <a:ea typeface="Arial" pitchFamily="34" charset="-122"/>
                <a:cs typeface="Arial" pitchFamily="34" charset="-120"/>
              </a:rPr>
              <a:t>• One-tap "📞 Call Owner" direct dialer and "💬 Message Rescuer" chat integration.</a:t>
            </a:r>
            <a:endParaRPr lang="en-US" sz="850" dirty="0"/>
          </a:p>
          <a:p>
            <a:pPr indent="0" marL="0">
              <a:lnSpc>
                <a:spcPts val="1100"/>
              </a:lnSpc>
              <a:buNone/>
            </a:pPr>
            <a:r>
              <a:rPr lang="en-US" sz="850" dirty="0">
                <a:solidFill>
                  <a:srgbClr val="475569"/>
                </a:solidFill>
                <a:latin typeface="Arial" pitchFamily="34" charset="0"/>
                <a:ea typeface="Arial" pitchFamily="34" charset="-122"/>
                <a:cs typeface="Arial" pitchFamily="34" charset="-120"/>
              </a:rPr>
              <a:t>• Escrow-backed cash reward display (৳15,000 BDT) incentivizes neighborhood recovery.</a:t>
            </a:r>
            <a:endParaRPr lang="en-US" sz="850" dirty="0"/>
          </a:p>
        </p:txBody>
      </p:sp>
      <p:sp>
        <p:nvSpPr>
          <p:cNvPr id="27" name="Text 24"/>
          <p:cNvSpPr/>
          <p:nvPr/>
        </p:nvSpPr>
        <p:spPr>
          <a:xfrm>
            <a:off x="5056632" y="5824728"/>
            <a:ext cx="6238951" cy="201168"/>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1-Tap Rescue Lock &amp; Community Radar Broadcast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9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PILLAR 3: CLINICAL ROUTING</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Vet Clinic &amp; Telemedicine Specialist Navigator</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Profile ID: 9884416a-abd3-4e9c-a893-b2b0cab2bc60 • Dataset ID: 9dfc7c57-c072-441c-b653-1cf98247f990</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FFFFFF"/>
          </a:solidFill>
          <a:ln w="15240">
            <a:solidFill>
              <a:srgbClr val="CBD5E1"/>
            </a:solidFill>
            <a:prstDash val="solid"/>
          </a:ln>
        </p:spPr>
      </p:sp>
      <p:sp>
        <p:nvSpPr>
          <p:cNvPr id="12" name="Text 10"/>
          <p:cNvSpPr/>
          <p:nvPr/>
        </p:nvSpPr>
        <p:spPr>
          <a:xfrm>
            <a:off x="914400" y="1965960"/>
            <a:ext cx="4800600"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VERIFIED DHAKA VETERINARY NETWORK</a:t>
            </a:r>
            <a:endParaRPr lang="en-US" sz="1100" dirty="0"/>
          </a:p>
        </p:txBody>
      </p:sp>
      <p:sp>
        <p:nvSpPr>
          <p:cNvPr id="13" name="Shape 11"/>
          <p:cNvSpPr/>
          <p:nvPr/>
        </p:nvSpPr>
        <p:spPr>
          <a:xfrm>
            <a:off x="914400" y="2286000"/>
            <a:ext cx="4800600" cy="868680"/>
          </a:xfrm>
          <a:prstGeom prst="roundRect">
            <a:avLst/>
          </a:prstGeom>
          <a:solidFill>
            <a:srgbClr val="F1F5F9"/>
          </a:solidFill>
          <a:ln w="12700">
            <a:solidFill>
              <a:srgbClr val="E2E8F0"/>
            </a:solidFill>
            <a:prstDash val="solid"/>
          </a:ln>
        </p:spPr>
      </p:sp>
      <p:sp>
        <p:nvSpPr>
          <p:cNvPr id="14" name="Text 12"/>
          <p:cNvSpPr/>
          <p:nvPr/>
        </p:nvSpPr>
        <p:spPr>
          <a:xfrm>
            <a:off x="1051560" y="2359152"/>
            <a:ext cx="24688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Cascade 24/7 Animal Hospital</a:t>
            </a:r>
            <a:endParaRPr lang="en-US" sz="1050" dirty="0"/>
          </a:p>
        </p:txBody>
      </p:sp>
      <p:sp>
        <p:nvSpPr>
          <p:cNvPr id="15" name="Text 13"/>
          <p:cNvSpPr/>
          <p:nvPr/>
        </p:nvSpPr>
        <p:spPr>
          <a:xfrm>
            <a:off x="3566160" y="2359152"/>
            <a:ext cx="201168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Dhanmondi, Dhaka</a:t>
            </a:r>
            <a:endParaRPr lang="en-US" sz="850" dirty="0"/>
          </a:p>
        </p:txBody>
      </p:sp>
      <p:sp>
        <p:nvSpPr>
          <p:cNvPr id="16" name="Text 14"/>
          <p:cNvSpPr/>
          <p:nvPr/>
        </p:nvSpPr>
        <p:spPr>
          <a:xfrm>
            <a:off x="1051560" y="257860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Sarah Al-Mansoor, DVM</a:t>
            </a:r>
            <a:endParaRPr lang="en-US" sz="850" dirty="0"/>
          </a:p>
        </p:txBody>
      </p:sp>
      <p:sp>
        <p:nvSpPr>
          <p:cNvPr id="17" name="Text 15"/>
          <p:cNvSpPr/>
          <p:nvPr/>
        </p:nvSpPr>
        <p:spPr>
          <a:xfrm>
            <a:off x="1051560" y="276148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Trauma ICU, orthopedics, emergency laparotomy</a:t>
            </a:r>
            <a:endParaRPr lang="en-US" sz="850" dirty="0"/>
          </a:p>
        </p:txBody>
      </p:sp>
      <p:sp>
        <p:nvSpPr>
          <p:cNvPr id="18" name="Shape 16"/>
          <p:cNvSpPr/>
          <p:nvPr/>
        </p:nvSpPr>
        <p:spPr>
          <a:xfrm>
            <a:off x="914400" y="3246120"/>
            <a:ext cx="4800600" cy="868680"/>
          </a:xfrm>
          <a:prstGeom prst="roundRect">
            <a:avLst/>
          </a:prstGeom>
          <a:solidFill>
            <a:srgbClr val="F1F5F9"/>
          </a:solidFill>
          <a:ln w="12700">
            <a:solidFill>
              <a:srgbClr val="E2E8F0"/>
            </a:solidFill>
            <a:prstDash val="solid"/>
          </a:ln>
        </p:spPr>
      </p:sp>
      <p:sp>
        <p:nvSpPr>
          <p:cNvPr id="19" name="Text 17"/>
          <p:cNvSpPr/>
          <p:nvPr/>
        </p:nvSpPr>
        <p:spPr>
          <a:xfrm>
            <a:off x="1051560" y="3319272"/>
            <a:ext cx="24688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Gulshan Pet Care &amp; Avian Clinic</a:t>
            </a:r>
            <a:endParaRPr lang="en-US" sz="1050" dirty="0"/>
          </a:p>
        </p:txBody>
      </p:sp>
      <p:sp>
        <p:nvSpPr>
          <p:cNvPr id="20" name="Text 18"/>
          <p:cNvSpPr/>
          <p:nvPr/>
        </p:nvSpPr>
        <p:spPr>
          <a:xfrm>
            <a:off x="3566160" y="3319272"/>
            <a:ext cx="201168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Gulshan-2, Dhaka</a:t>
            </a:r>
            <a:endParaRPr lang="en-US" sz="850" dirty="0"/>
          </a:p>
        </p:txBody>
      </p:sp>
      <p:sp>
        <p:nvSpPr>
          <p:cNvPr id="21" name="Text 19"/>
          <p:cNvSpPr/>
          <p:nvPr/>
        </p:nvSpPr>
        <p:spPr>
          <a:xfrm>
            <a:off x="1051560" y="353872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Tanvir Ahmed, DVM</a:t>
            </a:r>
            <a:endParaRPr lang="en-US" sz="850" dirty="0"/>
          </a:p>
        </p:txBody>
      </p:sp>
      <p:sp>
        <p:nvSpPr>
          <p:cNvPr id="22" name="Text 20"/>
          <p:cNvSpPr/>
          <p:nvPr/>
        </p:nvSpPr>
        <p:spPr>
          <a:xfrm>
            <a:off x="1051560" y="372160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Feline internal medicine, cardiology, avian surgery</a:t>
            </a:r>
            <a:endParaRPr lang="en-US" sz="850" dirty="0"/>
          </a:p>
        </p:txBody>
      </p:sp>
      <p:sp>
        <p:nvSpPr>
          <p:cNvPr id="23" name="Shape 21"/>
          <p:cNvSpPr/>
          <p:nvPr/>
        </p:nvSpPr>
        <p:spPr>
          <a:xfrm>
            <a:off x="914400" y="4206240"/>
            <a:ext cx="4800600" cy="868680"/>
          </a:xfrm>
          <a:prstGeom prst="roundRect">
            <a:avLst/>
          </a:prstGeom>
          <a:solidFill>
            <a:srgbClr val="F1F5F9"/>
          </a:solidFill>
          <a:ln w="12700">
            <a:solidFill>
              <a:srgbClr val="E2E8F0"/>
            </a:solidFill>
            <a:prstDash val="solid"/>
          </a:ln>
        </p:spPr>
      </p:sp>
      <p:sp>
        <p:nvSpPr>
          <p:cNvPr id="24" name="Text 22"/>
          <p:cNvSpPr/>
          <p:nvPr/>
        </p:nvSpPr>
        <p:spPr>
          <a:xfrm>
            <a:off x="1051560" y="4279392"/>
            <a:ext cx="24688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Uttara Companion Pet Wellness</a:t>
            </a:r>
            <a:endParaRPr lang="en-US" sz="1050" dirty="0"/>
          </a:p>
        </p:txBody>
      </p:sp>
      <p:sp>
        <p:nvSpPr>
          <p:cNvPr id="25" name="Text 23"/>
          <p:cNvSpPr/>
          <p:nvPr/>
        </p:nvSpPr>
        <p:spPr>
          <a:xfrm>
            <a:off x="3566160" y="4279392"/>
            <a:ext cx="201168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Sector 4, Uttara</a:t>
            </a:r>
            <a:endParaRPr lang="en-US" sz="850" dirty="0"/>
          </a:p>
        </p:txBody>
      </p:sp>
      <p:sp>
        <p:nvSpPr>
          <p:cNvPr id="26" name="Text 24"/>
          <p:cNvSpPr/>
          <p:nvPr/>
        </p:nvSpPr>
        <p:spPr>
          <a:xfrm>
            <a:off x="1051560" y="449884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Nusrat Jahan, DVM</a:t>
            </a:r>
            <a:endParaRPr lang="en-US" sz="850" dirty="0"/>
          </a:p>
        </p:txBody>
      </p:sp>
      <p:sp>
        <p:nvSpPr>
          <p:cNvPr id="27" name="Text 25"/>
          <p:cNvSpPr/>
          <p:nvPr/>
        </p:nvSpPr>
        <p:spPr>
          <a:xfrm>
            <a:off x="1051560" y="468172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Dental prophylaxis, soft tissue, wellness vaccinations</a:t>
            </a:r>
            <a:endParaRPr lang="en-US" sz="850" dirty="0"/>
          </a:p>
        </p:txBody>
      </p:sp>
      <p:sp>
        <p:nvSpPr>
          <p:cNvPr id="28" name="Shape 26"/>
          <p:cNvSpPr/>
          <p:nvPr/>
        </p:nvSpPr>
        <p:spPr>
          <a:xfrm>
            <a:off x="914400" y="5166360"/>
            <a:ext cx="4800600" cy="868680"/>
          </a:xfrm>
          <a:prstGeom prst="roundRect">
            <a:avLst/>
          </a:prstGeom>
          <a:solidFill>
            <a:srgbClr val="F1F5F9"/>
          </a:solidFill>
          <a:ln w="12700">
            <a:solidFill>
              <a:srgbClr val="E2E8F0"/>
            </a:solidFill>
            <a:prstDash val="solid"/>
          </a:ln>
        </p:spPr>
      </p:sp>
      <p:sp>
        <p:nvSpPr>
          <p:cNvPr id="29" name="Text 27"/>
          <p:cNvSpPr/>
          <p:nvPr/>
        </p:nvSpPr>
        <p:spPr>
          <a:xfrm>
            <a:off x="1051560" y="5239512"/>
            <a:ext cx="24688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Mirpur Mobile Veterinary Service</a:t>
            </a:r>
            <a:endParaRPr lang="en-US" sz="1050" dirty="0"/>
          </a:p>
        </p:txBody>
      </p:sp>
      <p:sp>
        <p:nvSpPr>
          <p:cNvPr id="30" name="Text 28"/>
          <p:cNvSpPr/>
          <p:nvPr/>
        </p:nvSpPr>
        <p:spPr>
          <a:xfrm>
            <a:off x="3566160" y="5239512"/>
            <a:ext cx="201168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Mirpur &amp; Suburbs</a:t>
            </a:r>
            <a:endParaRPr lang="en-US" sz="850" dirty="0"/>
          </a:p>
        </p:txBody>
      </p:sp>
      <p:sp>
        <p:nvSpPr>
          <p:cNvPr id="31" name="Text 29"/>
          <p:cNvSpPr/>
          <p:nvPr/>
        </p:nvSpPr>
        <p:spPr>
          <a:xfrm>
            <a:off x="1051560" y="545896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Tariqul Islam, DVM</a:t>
            </a:r>
            <a:endParaRPr lang="en-US" sz="850" dirty="0"/>
          </a:p>
        </p:txBody>
      </p:sp>
      <p:sp>
        <p:nvSpPr>
          <p:cNvPr id="32" name="Text 30"/>
          <p:cNvSpPr/>
          <p:nvPr/>
        </p:nvSpPr>
        <p:spPr>
          <a:xfrm>
            <a:off x="1051560" y="564184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24/7 emergency dispatch, at-home ultrasound</a:t>
            </a:r>
            <a:endParaRPr lang="en-US" sz="850" dirty="0"/>
          </a:p>
        </p:txBody>
      </p:sp>
      <p:sp>
        <p:nvSpPr>
          <p:cNvPr id="33" name="Shape 31"/>
          <p:cNvSpPr/>
          <p:nvPr/>
        </p:nvSpPr>
        <p:spPr>
          <a:xfrm>
            <a:off x="6263640" y="1783080"/>
            <a:ext cx="5193792" cy="4389120"/>
          </a:xfrm>
          <a:prstGeom prst="roundRect">
            <a:avLst/>
          </a:prstGeom>
          <a:solidFill>
            <a:srgbClr val="FFFFFF"/>
          </a:solidFill>
          <a:ln w="15240">
            <a:solidFill>
              <a:srgbClr val="CBD5E1"/>
            </a:solidFill>
            <a:prstDash val="solid"/>
          </a:ln>
        </p:spPr>
      </p:sp>
      <p:sp>
        <p:nvSpPr>
          <p:cNvPr id="34" name="Text 32"/>
          <p:cNvSpPr/>
          <p:nvPr/>
        </p:nvSpPr>
        <p:spPr>
          <a:xfrm>
            <a:off x="6492240" y="1965960"/>
            <a:ext cx="4736592"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CASE-BASED SPECIALTY ROUTING ENGINE</a:t>
            </a:r>
            <a:endParaRPr lang="en-US" sz="1100" dirty="0"/>
          </a:p>
        </p:txBody>
      </p:sp>
      <p:sp>
        <p:nvSpPr>
          <p:cNvPr id="35" name="Shape 33"/>
          <p:cNvSpPr/>
          <p:nvPr/>
        </p:nvSpPr>
        <p:spPr>
          <a:xfrm>
            <a:off x="6492240" y="2286000"/>
            <a:ext cx="4736592" cy="868680"/>
          </a:xfrm>
          <a:prstGeom prst="roundRect">
            <a:avLst/>
          </a:prstGeom>
          <a:solidFill>
            <a:srgbClr val="F1F5F9"/>
          </a:solidFill>
          <a:ln w="12700">
            <a:solidFill>
              <a:srgbClr val="E2E8F0"/>
            </a:solidFill>
            <a:prstDash val="solid"/>
          </a:ln>
        </p:spPr>
      </p:sp>
      <p:sp>
        <p:nvSpPr>
          <p:cNvPr id="36" name="Text 34"/>
          <p:cNvSpPr/>
          <p:nvPr/>
        </p:nvSpPr>
        <p:spPr>
          <a:xfrm>
            <a:off x="6629400" y="2359152"/>
            <a:ext cx="4462272"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Case: Orthopedic Trauma / Suspected Fracture</a:t>
            </a:r>
            <a:endParaRPr lang="en-US" sz="1000" dirty="0"/>
          </a:p>
        </p:txBody>
      </p:sp>
      <p:sp>
        <p:nvSpPr>
          <p:cNvPr id="37" name="Text 35"/>
          <p:cNvSpPr/>
          <p:nvPr/>
        </p:nvSpPr>
        <p:spPr>
          <a:xfrm>
            <a:off x="6629400" y="2578608"/>
            <a:ext cx="4462272"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Routes to: Cascade 24/7 Trauma ICU</a:t>
            </a:r>
            <a:endParaRPr lang="en-US" sz="850" dirty="0"/>
          </a:p>
        </p:txBody>
      </p:sp>
      <p:sp>
        <p:nvSpPr>
          <p:cNvPr id="38" name="Text 36"/>
          <p:cNvSpPr/>
          <p:nvPr/>
        </p:nvSpPr>
        <p:spPr>
          <a:xfrm>
            <a:off x="6629400" y="2761488"/>
            <a:ext cx="4462272" cy="347472"/>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Deterministic keyword routing flags digital X-ray and surgical theater availability in Dhanmondi.</a:t>
            </a:r>
            <a:endParaRPr lang="en-US" sz="850" dirty="0"/>
          </a:p>
        </p:txBody>
      </p:sp>
      <p:sp>
        <p:nvSpPr>
          <p:cNvPr id="39" name="Shape 37"/>
          <p:cNvSpPr/>
          <p:nvPr/>
        </p:nvSpPr>
        <p:spPr>
          <a:xfrm>
            <a:off x="6492240" y="3246120"/>
            <a:ext cx="4736592" cy="868680"/>
          </a:xfrm>
          <a:prstGeom prst="roundRect">
            <a:avLst/>
          </a:prstGeom>
          <a:solidFill>
            <a:srgbClr val="F1F5F9"/>
          </a:solidFill>
          <a:ln w="12700">
            <a:solidFill>
              <a:srgbClr val="E2E8F0"/>
            </a:solidFill>
            <a:prstDash val="solid"/>
          </a:ln>
        </p:spPr>
      </p:sp>
      <p:sp>
        <p:nvSpPr>
          <p:cNvPr id="40" name="Text 38"/>
          <p:cNvSpPr/>
          <p:nvPr/>
        </p:nvSpPr>
        <p:spPr>
          <a:xfrm>
            <a:off x="6629400" y="3319272"/>
            <a:ext cx="4462272"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Case: Chronic Renal Disease / Feline Cardiology</a:t>
            </a:r>
            <a:endParaRPr lang="en-US" sz="1000" dirty="0"/>
          </a:p>
        </p:txBody>
      </p:sp>
      <p:sp>
        <p:nvSpPr>
          <p:cNvPr id="41" name="Text 39"/>
          <p:cNvSpPr/>
          <p:nvPr/>
        </p:nvSpPr>
        <p:spPr>
          <a:xfrm>
            <a:off x="6629400" y="3538728"/>
            <a:ext cx="4462272"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Routes to: Gulshan Pet Care (Dr. Tanvir)</a:t>
            </a:r>
            <a:endParaRPr lang="en-US" sz="850" dirty="0"/>
          </a:p>
        </p:txBody>
      </p:sp>
      <p:sp>
        <p:nvSpPr>
          <p:cNvPr id="42" name="Text 40"/>
          <p:cNvSpPr/>
          <p:nvPr/>
        </p:nvSpPr>
        <p:spPr>
          <a:xfrm>
            <a:off x="6629400" y="3721608"/>
            <a:ext cx="4462272" cy="347472"/>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MAIRA vector search matches feline nephrology research papers and specialty dialysis equipment.</a:t>
            </a:r>
            <a:endParaRPr lang="en-US" sz="850" dirty="0"/>
          </a:p>
        </p:txBody>
      </p:sp>
      <p:sp>
        <p:nvSpPr>
          <p:cNvPr id="43" name="Shape 41"/>
          <p:cNvSpPr/>
          <p:nvPr/>
        </p:nvSpPr>
        <p:spPr>
          <a:xfrm>
            <a:off x="6492240" y="4206240"/>
            <a:ext cx="4736592" cy="868680"/>
          </a:xfrm>
          <a:prstGeom prst="roundRect">
            <a:avLst/>
          </a:prstGeom>
          <a:solidFill>
            <a:srgbClr val="F1F5F9"/>
          </a:solidFill>
          <a:ln w="12700">
            <a:solidFill>
              <a:srgbClr val="E2E8F0"/>
            </a:solidFill>
            <a:prstDash val="solid"/>
          </a:ln>
        </p:spPr>
      </p:sp>
      <p:sp>
        <p:nvSpPr>
          <p:cNvPr id="44" name="Text 42"/>
          <p:cNvSpPr/>
          <p:nvPr/>
        </p:nvSpPr>
        <p:spPr>
          <a:xfrm>
            <a:off x="6629400" y="4279392"/>
            <a:ext cx="4462272"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Case: Routine Puppy Immunization / Wellness</a:t>
            </a:r>
            <a:endParaRPr lang="en-US" sz="1000" dirty="0"/>
          </a:p>
        </p:txBody>
      </p:sp>
      <p:sp>
        <p:nvSpPr>
          <p:cNvPr id="45" name="Text 43"/>
          <p:cNvSpPr/>
          <p:nvPr/>
        </p:nvSpPr>
        <p:spPr>
          <a:xfrm>
            <a:off x="6629400" y="4498848"/>
            <a:ext cx="4462272"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Routes to: Uttara Companion Pet Wellness</a:t>
            </a:r>
            <a:endParaRPr lang="en-US" sz="850" dirty="0"/>
          </a:p>
        </p:txBody>
      </p:sp>
      <p:sp>
        <p:nvSpPr>
          <p:cNvPr id="46" name="Text 44"/>
          <p:cNvSpPr/>
          <p:nvPr/>
        </p:nvSpPr>
        <p:spPr>
          <a:xfrm>
            <a:off x="6629400" y="4681728"/>
            <a:ext cx="4462272" cy="347472"/>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Geospatial proximity matching suggests closest clinic within 3km for preventative care.</a:t>
            </a:r>
            <a:endParaRPr lang="en-US" sz="850" dirty="0"/>
          </a:p>
        </p:txBody>
      </p:sp>
      <p:sp>
        <p:nvSpPr>
          <p:cNvPr id="47" name="Shape 45"/>
          <p:cNvSpPr/>
          <p:nvPr/>
        </p:nvSpPr>
        <p:spPr>
          <a:xfrm>
            <a:off x="6492240" y="5166360"/>
            <a:ext cx="4736592" cy="868680"/>
          </a:xfrm>
          <a:prstGeom prst="roundRect">
            <a:avLst/>
          </a:prstGeom>
          <a:solidFill>
            <a:srgbClr val="F1F5F9"/>
          </a:solidFill>
          <a:ln w="12700">
            <a:solidFill>
              <a:srgbClr val="E2E8F0"/>
            </a:solidFill>
            <a:prstDash val="solid"/>
          </a:ln>
        </p:spPr>
      </p:sp>
      <p:sp>
        <p:nvSpPr>
          <p:cNvPr id="48" name="Text 46"/>
          <p:cNvSpPr/>
          <p:nvPr/>
        </p:nvSpPr>
        <p:spPr>
          <a:xfrm>
            <a:off x="6629400" y="5239512"/>
            <a:ext cx="4462272"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Case: Immobile Recumbent Emergency Patient</a:t>
            </a:r>
            <a:endParaRPr lang="en-US" sz="1000" dirty="0"/>
          </a:p>
        </p:txBody>
      </p:sp>
      <p:sp>
        <p:nvSpPr>
          <p:cNvPr id="49" name="Text 47"/>
          <p:cNvSpPr/>
          <p:nvPr/>
        </p:nvSpPr>
        <p:spPr>
          <a:xfrm>
            <a:off x="6629400" y="5458968"/>
            <a:ext cx="4462272"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Routes to: Mirpur Mobile Ambulance Dispatch</a:t>
            </a:r>
            <a:endParaRPr lang="en-US" sz="850" dirty="0"/>
          </a:p>
        </p:txBody>
      </p:sp>
      <p:sp>
        <p:nvSpPr>
          <p:cNvPr id="50" name="Text 48"/>
          <p:cNvSpPr/>
          <p:nvPr/>
        </p:nvSpPr>
        <p:spPr>
          <a:xfrm>
            <a:off x="6629400" y="5641848"/>
            <a:ext cx="4462272" cy="347472"/>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Dispatches fully-equipped veterinary van with oxygen cage and portable ultrasound to residence.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10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PILLAR 4: PET WELLNESS &amp; COMMERCE</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Marketplace AI Nutrition &amp; Dietary Formulation</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Profile ID: 66e15325-9d32-4691-af65-d436fd727674 • Dataset ID: 1fbd9ddf-ee42-4ee6-ba50-ffaae169ffc1</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FFFFFF"/>
          </a:solidFill>
          <a:ln w="15240">
            <a:solidFill>
              <a:srgbClr val="CBD5E1"/>
            </a:solidFill>
            <a:prstDash val="solid"/>
          </a:ln>
        </p:spPr>
      </p:sp>
      <p:sp>
        <p:nvSpPr>
          <p:cNvPr id="12" name="Text 10"/>
          <p:cNvSpPr/>
          <p:nvPr/>
        </p:nvSpPr>
        <p:spPr>
          <a:xfrm>
            <a:off x="914400" y="1965960"/>
            <a:ext cx="4800600"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PET ALLERGY &amp; NUTRITIONAL MATRIX</a:t>
            </a:r>
            <a:endParaRPr lang="en-US" sz="1100" dirty="0"/>
          </a:p>
        </p:txBody>
      </p:sp>
      <p:sp>
        <p:nvSpPr>
          <p:cNvPr id="13" name="Text 11"/>
          <p:cNvSpPr/>
          <p:nvPr/>
        </p:nvSpPr>
        <p:spPr>
          <a:xfrm>
            <a:off x="914400" y="2240280"/>
            <a:ext cx="4800600" cy="64008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Over 40% of Bangladeshi companion pets suffer from preventable dermatological or gastrointestinal issues caused by mismatched commercial feeds. MAIRA cross-references pet health logs with product ingredient formulations:</a:t>
            </a:r>
            <a:endParaRPr lang="en-US" sz="1000" dirty="0"/>
          </a:p>
        </p:txBody>
      </p:sp>
      <p:sp>
        <p:nvSpPr>
          <p:cNvPr id="14" name="Shape 12"/>
          <p:cNvSpPr/>
          <p:nvPr/>
        </p:nvSpPr>
        <p:spPr>
          <a:xfrm>
            <a:off x="914400" y="2971800"/>
            <a:ext cx="4800600" cy="960120"/>
          </a:xfrm>
          <a:prstGeom prst="roundRect">
            <a:avLst/>
          </a:prstGeom>
          <a:solidFill>
            <a:srgbClr val="F1F5F9"/>
          </a:solidFill>
          <a:ln w="12700">
            <a:solidFill>
              <a:srgbClr val="E2E8F0"/>
            </a:solidFill>
            <a:prstDash val="solid"/>
          </a:ln>
        </p:spPr>
      </p:sp>
      <p:sp>
        <p:nvSpPr>
          <p:cNvPr id="15" name="Text 13"/>
          <p:cNvSpPr/>
          <p:nvPr/>
        </p:nvSpPr>
        <p:spPr>
          <a:xfrm>
            <a:off x="1051560" y="3063240"/>
            <a:ext cx="45262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Simba (Golden Retriever, 3yo)</a:t>
            </a:r>
            <a:endParaRPr lang="en-US" sz="1050" dirty="0"/>
          </a:p>
        </p:txBody>
      </p:sp>
      <p:sp>
        <p:nvSpPr>
          <p:cNvPr id="16" name="Text 14"/>
          <p:cNvSpPr/>
          <p:nvPr/>
        </p:nvSpPr>
        <p:spPr>
          <a:xfrm>
            <a:off x="1051560" y="3282696"/>
            <a:ext cx="4526280" cy="182880"/>
          </a:xfrm>
          <a:prstGeom prst="rect">
            <a:avLst/>
          </a:prstGeom>
          <a:noFill/>
          <a:ln/>
        </p:spPr>
        <p:txBody>
          <a:bodyPr wrap="square" rtlCol="0" anchor="ctr"/>
          <a:lstStyle/>
          <a:p>
            <a:pPr indent="0" marL="0">
              <a:buNone/>
            </a:pPr>
            <a:r>
              <a:rPr lang="en-US" sz="850" b="1" dirty="0">
                <a:solidFill>
                  <a:srgbClr val="EF4444"/>
                </a:solidFill>
                <a:latin typeface="Arial" pitchFamily="34" charset="0"/>
                <a:ea typeface="Arial" pitchFamily="34" charset="-122"/>
                <a:cs typeface="Arial" pitchFamily="34" charset="-120"/>
              </a:rPr>
              <a:t>Allergy Profile: Severe Poultry / Chicken Hypersensitivity</a:t>
            </a:r>
            <a:endParaRPr lang="en-US" sz="850" dirty="0"/>
          </a:p>
        </p:txBody>
      </p:sp>
      <p:sp>
        <p:nvSpPr>
          <p:cNvPr id="17" name="Text 15"/>
          <p:cNvSpPr/>
          <p:nvPr/>
        </p:nvSpPr>
        <p:spPr>
          <a:xfrm>
            <a:off x="1051560" y="3483864"/>
            <a:ext cx="4526280" cy="365760"/>
          </a:xfrm>
          <a:prstGeom prst="rect">
            <a:avLst/>
          </a:prstGeom>
          <a:noFill/>
          <a:ln/>
        </p:spPr>
        <p:txBody>
          <a:bodyPr wrap="square" rtlCol="0" anchor="ctr"/>
          <a:lstStyle/>
          <a:p>
            <a:pPr indent="0" marL="0">
              <a:lnSpc>
                <a:spcPts val="1200"/>
              </a:lnSpc>
              <a:buNone/>
            </a:pPr>
            <a:r>
              <a:rPr lang="en-US" sz="850" dirty="0">
                <a:solidFill>
                  <a:srgbClr val="10B981"/>
                </a:solidFill>
                <a:latin typeface="Arial" pitchFamily="34" charset="0"/>
                <a:ea typeface="Arial" pitchFamily="34" charset="-122"/>
                <a:cs typeface="Arial" pitchFamily="34" charset="-120"/>
              </a:rPr>
              <a:t>MAIRA Formulation: Formulates Salmon &amp; Sweet Potato Single-Source Grain-Free Diet</a:t>
            </a:r>
            <a:endParaRPr lang="en-US" sz="850" dirty="0"/>
          </a:p>
        </p:txBody>
      </p:sp>
      <p:sp>
        <p:nvSpPr>
          <p:cNvPr id="18" name="Shape 16"/>
          <p:cNvSpPr/>
          <p:nvPr/>
        </p:nvSpPr>
        <p:spPr>
          <a:xfrm>
            <a:off x="914400" y="4023360"/>
            <a:ext cx="4800600" cy="960120"/>
          </a:xfrm>
          <a:prstGeom prst="roundRect">
            <a:avLst/>
          </a:prstGeom>
          <a:solidFill>
            <a:srgbClr val="F1F5F9"/>
          </a:solidFill>
          <a:ln w="12700">
            <a:solidFill>
              <a:srgbClr val="E2E8F0"/>
            </a:solidFill>
            <a:prstDash val="solid"/>
          </a:ln>
        </p:spPr>
      </p:sp>
      <p:sp>
        <p:nvSpPr>
          <p:cNvPr id="19" name="Text 17"/>
          <p:cNvSpPr/>
          <p:nvPr/>
        </p:nvSpPr>
        <p:spPr>
          <a:xfrm>
            <a:off x="1051560" y="4114800"/>
            <a:ext cx="45262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Luna (Persian Cat, 5yo)</a:t>
            </a:r>
            <a:endParaRPr lang="en-US" sz="1050" dirty="0"/>
          </a:p>
        </p:txBody>
      </p:sp>
      <p:sp>
        <p:nvSpPr>
          <p:cNvPr id="20" name="Text 18"/>
          <p:cNvSpPr/>
          <p:nvPr/>
        </p:nvSpPr>
        <p:spPr>
          <a:xfrm>
            <a:off x="1051560" y="4334256"/>
            <a:ext cx="4526280" cy="182880"/>
          </a:xfrm>
          <a:prstGeom prst="rect">
            <a:avLst/>
          </a:prstGeom>
          <a:noFill/>
          <a:ln/>
        </p:spPr>
        <p:txBody>
          <a:bodyPr wrap="square" rtlCol="0" anchor="ctr"/>
          <a:lstStyle/>
          <a:p>
            <a:pPr indent="0" marL="0">
              <a:buNone/>
            </a:pPr>
            <a:r>
              <a:rPr lang="en-US" sz="850" b="1" dirty="0">
                <a:solidFill>
                  <a:srgbClr val="EF4444"/>
                </a:solidFill>
                <a:latin typeface="Arial" pitchFamily="34" charset="0"/>
                <a:ea typeface="Arial" pitchFamily="34" charset="-122"/>
                <a:cs typeface="Arial" pitchFamily="34" charset="-120"/>
              </a:rPr>
              <a:t>Allergy Profile: Struvite Crystal Urolithiasis Risk</a:t>
            </a:r>
            <a:endParaRPr lang="en-US" sz="850" dirty="0"/>
          </a:p>
        </p:txBody>
      </p:sp>
      <p:sp>
        <p:nvSpPr>
          <p:cNvPr id="21" name="Text 19"/>
          <p:cNvSpPr/>
          <p:nvPr/>
        </p:nvSpPr>
        <p:spPr>
          <a:xfrm>
            <a:off x="1051560" y="4535424"/>
            <a:ext cx="4526280" cy="365760"/>
          </a:xfrm>
          <a:prstGeom prst="rect">
            <a:avLst/>
          </a:prstGeom>
          <a:noFill/>
          <a:ln/>
        </p:spPr>
        <p:txBody>
          <a:bodyPr wrap="square" rtlCol="0" anchor="ctr"/>
          <a:lstStyle/>
          <a:p>
            <a:pPr indent="0" marL="0">
              <a:lnSpc>
                <a:spcPts val="1200"/>
              </a:lnSpc>
              <a:buNone/>
            </a:pPr>
            <a:r>
              <a:rPr lang="en-US" sz="850" dirty="0">
                <a:solidFill>
                  <a:srgbClr val="10B981"/>
                </a:solidFill>
                <a:latin typeface="Arial" pitchFamily="34" charset="0"/>
                <a:ea typeface="Arial" pitchFamily="34" charset="-122"/>
                <a:cs typeface="Arial" pitchFamily="34" charset="-120"/>
              </a:rPr>
              <a:t>MAIRA Formulation: Prescribes Urinary S/O Low-Ash Wet Food with Magnesium Control</a:t>
            </a:r>
            <a:endParaRPr lang="en-US" sz="850" dirty="0"/>
          </a:p>
        </p:txBody>
      </p:sp>
      <p:sp>
        <p:nvSpPr>
          <p:cNvPr id="22" name="Shape 20"/>
          <p:cNvSpPr/>
          <p:nvPr/>
        </p:nvSpPr>
        <p:spPr>
          <a:xfrm>
            <a:off x="914400" y="5074920"/>
            <a:ext cx="4800600" cy="960120"/>
          </a:xfrm>
          <a:prstGeom prst="roundRect">
            <a:avLst/>
          </a:prstGeom>
          <a:solidFill>
            <a:srgbClr val="F1F5F9"/>
          </a:solidFill>
          <a:ln w="12700">
            <a:solidFill>
              <a:srgbClr val="E2E8F0"/>
            </a:solidFill>
            <a:prstDash val="solid"/>
          </a:ln>
        </p:spPr>
      </p:sp>
      <p:sp>
        <p:nvSpPr>
          <p:cNvPr id="23" name="Text 21"/>
          <p:cNvSpPr/>
          <p:nvPr/>
        </p:nvSpPr>
        <p:spPr>
          <a:xfrm>
            <a:off x="1051560" y="5166360"/>
            <a:ext cx="452628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Rocky (German Shepherd, 2yo)</a:t>
            </a:r>
            <a:endParaRPr lang="en-US" sz="1050" dirty="0"/>
          </a:p>
        </p:txBody>
      </p:sp>
      <p:sp>
        <p:nvSpPr>
          <p:cNvPr id="24" name="Text 22"/>
          <p:cNvSpPr/>
          <p:nvPr/>
        </p:nvSpPr>
        <p:spPr>
          <a:xfrm>
            <a:off x="1051560" y="5385816"/>
            <a:ext cx="4526280" cy="182880"/>
          </a:xfrm>
          <a:prstGeom prst="rect">
            <a:avLst/>
          </a:prstGeom>
          <a:noFill/>
          <a:ln/>
        </p:spPr>
        <p:txBody>
          <a:bodyPr wrap="square" rtlCol="0" anchor="ctr"/>
          <a:lstStyle/>
          <a:p>
            <a:pPr indent="0" marL="0">
              <a:buNone/>
            </a:pPr>
            <a:r>
              <a:rPr lang="en-US" sz="850" b="1" dirty="0">
                <a:solidFill>
                  <a:srgbClr val="EF4444"/>
                </a:solidFill>
                <a:latin typeface="Arial" pitchFamily="34" charset="0"/>
                <a:ea typeface="Arial" pitchFamily="34" charset="-122"/>
                <a:cs typeface="Arial" pitchFamily="34" charset="-120"/>
              </a:rPr>
              <a:t>Allergy Profile: Canine Hip Dysplasia Stage 1</a:t>
            </a:r>
            <a:endParaRPr lang="en-US" sz="850" dirty="0"/>
          </a:p>
        </p:txBody>
      </p:sp>
      <p:sp>
        <p:nvSpPr>
          <p:cNvPr id="25" name="Text 23"/>
          <p:cNvSpPr/>
          <p:nvPr/>
        </p:nvSpPr>
        <p:spPr>
          <a:xfrm>
            <a:off x="1051560" y="5586984"/>
            <a:ext cx="4526280" cy="365760"/>
          </a:xfrm>
          <a:prstGeom prst="rect">
            <a:avLst/>
          </a:prstGeom>
          <a:noFill/>
          <a:ln/>
        </p:spPr>
        <p:txBody>
          <a:bodyPr wrap="square" rtlCol="0" anchor="ctr"/>
          <a:lstStyle/>
          <a:p>
            <a:pPr indent="0" marL="0">
              <a:lnSpc>
                <a:spcPts val="1200"/>
              </a:lnSpc>
              <a:buNone/>
            </a:pPr>
            <a:r>
              <a:rPr lang="en-US" sz="850" dirty="0">
                <a:solidFill>
                  <a:srgbClr val="10B981"/>
                </a:solidFill>
                <a:latin typeface="Arial" pitchFamily="34" charset="0"/>
                <a:ea typeface="Arial" pitchFamily="34" charset="-122"/>
                <a:cs typeface="Arial" pitchFamily="34" charset="-120"/>
              </a:rPr>
              <a:t>MAIRA Formulation: Recommends Glucosamine &amp; Chondroitin Enriched Large Breed Kibble</a:t>
            </a:r>
            <a:endParaRPr lang="en-US" sz="850" dirty="0"/>
          </a:p>
        </p:txBody>
      </p:sp>
      <p:sp>
        <p:nvSpPr>
          <p:cNvPr id="26" name="Shape 24"/>
          <p:cNvSpPr/>
          <p:nvPr/>
        </p:nvSpPr>
        <p:spPr>
          <a:xfrm>
            <a:off x="6263640" y="1783080"/>
            <a:ext cx="5193792" cy="4389120"/>
          </a:xfrm>
          <a:prstGeom prst="roundRect">
            <a:avLst/>
          </a:prstGeom>
          <a:solidFill>
            <a:srgbClr val="FFFFFF"/>
          </a:solidFill>
          <a:ln w="15240">
            <a:solidFill>
              <a:srgbClr val="CBD5E1"/>
            </a:solidFill>
            <a:prstDash val="solid"/>
          </a:ln>
        </p:spPr>
      </p:sp>
      <p:sp>
        <p:nvSpPr>
          <p:cNvPr id="27" name="Text 25"/>
          <p:cNvSpPr/>
          <p:nvPr/>
        </p:nvSpPr>
        <p:spPr>
          <a:xfrm>
            <a:off x="6492240" y="1965960"/>
            <a:ext cx="4736592"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PRODUCT RETRIEVAL &amp; CONVERSION FUNNEL</a:t>
            </a:r>
            <a:endParaRPr lang="en-US" sz="1100" dirty="0"/>
          </a:p>
        </p:txBody>
      </p:sp>
      <p:sp>
        <p:nvSpPr>
          <p:cNvPr id="28" name="Shape 26"/>
          <p:cNvSpPr/>
          <p:nvPr/>
        </p:nvSpPr>
        <p:spPr>
          <a:xfrm>
            <a:off x="6492240" y="2286000"/>
            <a:ext cx="4736592" cy="1143000"/>
          </a:xfrm>
          <a:prstGeom prst="roundRect">
            <a:avLst/>
          </a:prstGeom>
          <a:solidFill>
            <a:srgbClr val="F1F5F9"/>
          </a:solidFill>
          <a:ln w="12700">
            <a:solidFill>
              <a:srgbClr val="E2E8F0"/>
            </a:solidFill>
            <a:prstDash val="solid"/>
          </a:ln>
        </p:spPr>
      </p:sp>
      <p:sp>
        <p:nvSpPr>
          <p:cNvPr id="29" name="Text 27"/>
          <p:cNvSpPr/>
          <p:nvPr/>
        </p:nvSpPr>
        <p:spPr>
          <a:xfrm>
            <a:off x="6629400" y="2377440"/>
            <a:ext cx="3246120" cy="219456"/>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Royal Canin Veterinary Diet Gastrointestinal Cat</a:t>
            </a:r>
            <a:endParaRPr lang="en-US" sz="1000" dirty="0"/>
          </a:p>
        </p:txBody>
      </p:sp>
      <p:sp>
        <p:nvSpPr>
          <p:cNvPr id="30" name="Text 28"/>
          <p:cNvSpPr/>
          <p:nvPr/>
        </p:nvSpPr>
        <p:spPr>
          <a:xfrm>
            <a:off x="9966960" y="2377440"/>
            <a:ext cx="1097280" cy="219456"/>
          </a:xfrm>
          <a:prstGeom prst="rect">
            <a:avLst/>
          </a:prstGeom>
          <a:noFill/>
          <a:ln/>
        </p:spPr>
        <p:txBody>
          <a:bodyPr wrap="square" rtlCol="0" anchor="ctr"/>
          <a:lstStyle/>
          <a:p>
            <a:pPr algn="r" indent="0" marL="0">
              <a:buNone/>
            </a:pPr>
            <a:r>
              <a:rPr lang="en-US" sz="1000" b="1" dirty="0">
                <a:solidFill>
                  <a:srgbClr val="4338CA"/>
                </a:solidFill>
                <a:latin typeface="Arial" pitchFamily="34" charset="0"/>
                <a:ea typeface="Arial" pitchFamily="34" charset="-122"/>
                <a:cs typeface="Arial" pitchFamily="34" charset="-120"/>
              </a:rPr>
              <a:t>৳3,450</a:t>
            </a:r>
            <a:endParaRPr lang="en-US" sz="1000" dirty="0"/>
          </a:p>
        </p:txBody>
      </p:sp>
      <p:sp>
        <p:nvSpPr>
          <p:cNvPr id="31" name="Text 29"/>
          <p:cNvSpPr/>
          <p:nvPr/>
        </p:nvSpPr>
        <p:spPr>
          <a:xfrm>
            <a:off x="6629400" y="2615184"/>
            <a:ext cx="438912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MAIRA Score: 98.5% Allergy Safe</a:t>
            </a:r>
            <a:endParaRPr lang="en-US" sz="850" dirty="0"/>
          </a:p>
        </p:txBody>
      </p:sp>
      <p:sp>
        <p:nvSpPr>
          <p:cNvPr id="32" name="Text 30"/>
          <p:cNvSpPr/>
          <p:nvPr/>
        </p:nvSpPr>
        <p:spPr>
          <a:xfrm>
            <a:off x="6629400" y="2816352"/>
            <a:ext cx="4389120" cy="530352"/>
          </a:xfrm>
          <a:prstGeom prst="rect">
            <a:avLst/>
          </a:prstGeom>
          <a:noFill/>
          <a:ln/>
        </p:spPr>
        <p:txBody>
          <a:bodyPr wrap="square" rtlCol="0" anchor="ctr"/>
          <a:lstStyle/>
          <a:p>
            <a:pPr indent="0" marL="0">
              <a:lnSpc>
                <a:spcPts val="1200"/>
              </a:lnSpc>
              <a:buNone/>
            </a:pPr>
            <a:r>
              <a:rPr lang="en-US" sz="850" dirty="0">
                <a:solidFill>
                  <a:srgbClr val="64748B"/>
                </a:solidFill>
                <a:latin typeface="Arial" pitchFamily="34" charset="0"/>
                <a:ea typeface="Arial" pitchFamily="34" charset="-122"/>
                <a:cs typeface="Arial" pitchFamily="34" charset="-120"/>
              </a:rPr>
              <a:t>Clinically verified zero poultry byproduct. Soluble fiber ratio promotes gut microbiome repair.</a:t>
            </a:r>
            <a:endParaRPr lang="en-US" sz="850" dirty="0"/>
          </a:p>
        </p:txBody>
      </p:sp>
      <p:sp>
        <p:nvSpPr>
          <p:cNvPr id="33" name="Shape 31"/>
          <p:cNvSpPr/>
          <p:nvPr/>
        </p:nvSpPr>
        <p:spPr>
          <a:xfrm>
            <a:off x="6492240" y="3520440"/>
            <a:ext cx="4736592" cy="1143000"/>
          </a:xfrm>
          <a:prstGeom prst="roundRect">
            <a:avLst/>
          </a:prstGeom>
          <a:solidFill>
            <a:srgbClr val="F1F5F9"/>
          </a:solidFill>
          <a:ln w="12700">
            <a:solidFill>
              <a:srgbClr val="E2E8F0"/>
            </a:solidFill>
            <a:prstDash val="solid"/>
          </a:ln>
        </p:spPr>
      </p:sp>
      <p:sp>
        <p:nvSpPr>
          <p:cNvPr id="34" name="Text 32"/>
          <p:cNvSpPr/>
          <p:nvPr/>
        </p:nvSpPr>
        <p:spPr>
          <a:xfrm>
            <a:off x="6629400" y="3611880"/>
            <a:ext cx="3246120" cy="219456"/>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Taste of the Wild Pacific Stream Canine Grain-Free</a:t>
            </a:r>
            <a:endParaRPr lang="en-US" sz="1000" dirty="0"/>
          </a:p>
        </p:txBody>
      </p:sp>
      <p:sp>
        <p:nvSpPr>
          <p:cNvPr id="35" name="Text 33"/>
          <p:cNvSpPr/>
          <p:nvPr/>
        </p:nvSpPr>
        <p:spPr>
          <a:xfrm>
            <a:off x="9966960" y="3611880"/>
            <a:ext cx="1097280" cy="219456"/>
          </a:xfrm>
          <a:prstGeom prst="rect">
            <a:avLst/>
          </a:prstGeom>
          <a:noFill/>
          <a:ln/>
        </p:spPr>
        <p:txBody>
          <a:bodyPr wrap="square" rtlCol="0" anchor="ctr"/>
          <a:lstStyle/>
          <a:p>
            <a:pPr algn="r" indent="0" marL="0">
              <a:buNone/>
            </a:pPr>
            <a:r>
              <a:rPr lang="en-US" sz="1000" b="1" dirty="0">
                <a:solidFill>
                  <a:srgbClr val="4338CA"/>
                </a:solidFill>
                <a:latin typeface="Arial" pitchFamily="34" charset="0"/>
                <a:ea typeface="Arial" pitchFamily="34" charset="-122"/>
                <a:cs typeface="Arial" pitchFamily="34" charset="-120"/>
              </a:rPr>
              <a:t>৳5,800</a:t>
            </a:r>
            <a:endParaRPr lang="en-US" sz="1000" dirty="0"/>
          </a:p>
        </p:txBody>
      </p:sp>
      <p:sp>
        <p:nvSpPr>
          <p:cNvPr id="36" name="Text 34"/>
          <p:cNvSpPr/>
          <p:nvPr/>
        </p:nvSpPr>
        <p:spPr>
          <a:xfrm>
            <a:off x="6629400" y="3849624"/>
            <a:ext cx="438912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MAIRA Score: 96.2% Clinical Match</a:t>
            </a:r>
            <a:endParaRPr lang="en-US" sz="850" dirty="0"/>
          </a:p>
        </p:txBody>
      </p:sp>
      <p:sp>
        <p:nvSpPr>
          <p:cNvPr id="37" name="Text 35"/>
          <p:cNvSpPr/>
          <p:nvPr/>
        </p:nvSpPr>
        <p:spPr>
          <a:xfrm>
            <a:off x="6629400" y="4050792"/>
            <a:ext cx="4389120" cy="530352"/>
          </a:xfrm>
          <a:prstGeom prst="rect">
            <a:avLst/>
          </a:prstGeom>
          <a:noFill/>
          <a:ln/>
        </p:spPr>
        <p:txBody>
          <a:bodyPr wrap="square" rtlCol="0" anchor="ctr"/>
          <a:lstStyle/>
          <a:p>
            <a:pPr indent="0" marL="0">
              <a:lnSpc>
                <a:spcPts val="1200"/>
              </a:lnSpc>
              <a:buNone/>
            </a:pPr>
            <a:r>
              <a:rPr lang="en-US" sz="850" dirty="0">
                <a:solidFill>
                  <a:srgbClr val="64748B"/>
                </a:solidFill>
                <a:latin typeface="Arial" pitchFamily="34" charset="0"/>
                <a:ea typeface="Arial" pitchFamily="34" charset="-122"/>
                <a:cs typeface="Arial" pitchFamily="34" charset="-120"/>
              </a:rPr>
              <a:t>Real smoked salmon formulation. Enriched with omega fatty acids for canine dermatological recovery.</a:t>
            </a:r>
            <a:endParaRPr lang="en-US" sz="850" dirty="0"/>
          </a:p>
        </p:txBody>
      </p:sp>
      <p:sp>
        <p:nvSpPr>
          <p:cNvPr id="38" name="Shape 36"/>
          <p:cNvSpPr/>
          <p:nvPr/>
        </p:nvSpPr>
        <p:spPr>
          <a:xfrm>
            <a:off x="6492240" y="4754880"/>
            <a:ext cx="4736592" cy="1143000"/>
          </a:xfrm>
          <a:prstGeom prst="roundRect">
            <a:avLst/>
          </a:prstGeom>
          <a:solidFill>
            <a:srgbClr val="F1F5F9"/>
          </a:solidFill>
          <a:ln w="12700">
            <a:solidFill>
              <a:srgbClr val="E2E8F0"/>
            </a:solidFill>
            <a:prstDash val="solid"/>
          </a:ln>
        </p:spPr>
      </p:sp>
      <p:sp>
        <p:nvSpPr>
          <p:cNvPr id="39" name="Text 37"/>
          <p:cNvSpPr/>
          <p:nvPr/>
        </p:nvSpPr>
        <p:spPr>
          <a:xfrm>
            <a:off x="6629400" y="4846320"/>
            <a:ext cx="3246120" cy="219456"/>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Virbac Nutri-Plus High Energy Gel Supplement</a:t>
            </a:r>
            <a:endParaRPr lang="en-US" sz="1000" dirty="0"/>
          </a:p>
        </p:txBody>
      </p:sp>
      <p:sp>
        <p:nvSpPr>
          <p:cNvPr id="40" name="Text 38"/>
          <p:cNvSpPr/>
          <p:nvPr/>
        </p:nvSpPr>
        <p:spPr>
          <a:xfrm>
            <a:off x="9966960" y="4846320"/>
            <a:ext cx="1097280" cy="219456"/>
          </a:xfrm>
          <a:prstGeom prst="rect">
            <a:avLst/>
          </a:prstGeom>
          <a:noFill/>
          <a:ln/>
        </p:spPr>
        <p:txBody>
          <a:bodyPr wrap="square" rtlCol="0" anchor="ctr"/>
          <a:lstStyle/>
          <a:p>
            <a:pPr algn="r" indent="0" marL="0">
              <a:buNone/>
            </a:pPr>
            <a:r>
              <a:rPr lang="en-US" sz="1000" b="1" dirty="0">
                <a:solidFill>
                  <a:srgbClr val="4338CA"/>
                </a:solidFill>
                <a:latin typeface="Arial" pitchFamily="34" charset="0"/>
                <a:ea typeface="Arial" pitchFamily="34" charset="-122"/>
                <a:cs typeface="Arial" pitchFamily="34" charset="-120"/>
              </a:rPr>
              <a:t>৳1,850</a:t>
            </a:r>
            <a:endParaRPr lang="en-US" sz="1000" dirty="0"/>
          </a:p>
        </p:txBody>
      </p:sp>
      <p:sp>
        <p:nvSpPr>
          <p:cNvPr id="41" name="Text 39"/>
          <p:cNvSpPr/>
          <p:nvPr/>
        </p:nvSpPr>
        <p:spPr>
          <a:xfrm>
            <a:off x="6629400" y="5084064"/>
            <a:ext cx="438912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MAIRA Score: 94.0% Recovery Match</a:t>
            </a:r>
            <a:endParaRPr lang="en-US" sz="850" dirty="0"/>
          </a:p>
        </p:txBody>
      </p:sp>
      <p:sp>
        <p:nvSpPr>
          <p:cNvPr id="42" name="Text 40"/>
          <p:cNvSpPr/>
          <p:nvPr/>
        </p:nvSpPr>
        <p:spPr>
          <a:xfrm>
            <a:off x="6629400" y="5285232"/>
            <a:ext cx="4389120" cy="530352"/>
          </a:xfrm>
          <a:prstGeom prst="rect">
            <a:avLst/>
          </a:prstGeom>
          <a:noFill/>
          <a:ln/>
        </p:spPr>
        <p:txBody>
          <a:bodyPr wrap="square" rtlCol="0" anchor="ctr"/>
          <a:lstStyle/>
          <a:p>
            <a:pPr indent="0" marL="0">
              <a:lnSpc>
                <a:spcPts val="1200"/>
              </a:lnSpc>
              <a:buNone/>
            </a:pPr>
            <a:r>
              <a:rPr lang="en-US" sz="850" dirty="0">
                <a:solidFill>
                  <a:srgbClr val="64748B"/>
                </a:solidFill>
                <a:latin typeface="Arial" pitchFamily="34" charset="0"/>
                <a:ea typeface="Arial" pitchFamily="34" charset="-122"/>
                <a:cs typeface="Arial" pitchFamily="34" charset="-120"/>
              </a:rPr>
              <a:t>Essential vitamins for postoperative recovery and appetite stimulation in malnourished rescues.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11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DATASET ENGINEERING</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Curating &amp; Training MAIRA Vector Knowledge Datasets</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How Nuzzle engineered, formatted, and indexed 3 high-dimensional datasets on Gigalogy cloud.</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3429000" cy="4389120"/>
          </a:xfrm>
          <a:prstGeom prst="roundRect">
            <a:avLst/>
          </a:prstGeom>
          <a:solidFill>
            <a:srgbClr val="FFFFFF"/>
          </a:solidFill>
          <a:ln w="15240">
            <a:solidFill>
              <a:srgbClr val="CBD5E1"/>
            </a:solidFill>
            <a:prstDash val="solid"/>
          </a:ln>
        </p:spPr>
      </p:sp>
      <p:sp>
        <p:nvSpPr>
          <p:cNvPr id="12" name="Text 10"/>
          <p:cNvSpPr/>
          <p:nvPr/>
        </p:nvSpPr>
        <p:spPr>
          <a:xfrm>
            <a:off x="914400" y="1965960"/>
            <a:ext cx="3063240" cy="182880"/>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DATASET 01</a:t>
            </a:r>
            <a:endParaRPr lang="en-US" sz="900" dirty="0"/>
          </a:p>
        </p:txBody>
      </p:sp>
      <p:sp>
        <p:nvSpPr>
          <p:cNvPr id="13" name="Text 11"/>
          <p:cNvSpPr/>
          <p:nvPr/>
        </p:nvSpPr>
        <p:spPr>
          <a:xfrm>
            <a:off x="914400" y="2176272"/>
            <a:ext cx="3063240" cy="45720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Lost &amp; Found Pet Radar Dataset</a:t>
            </a:r>
            <a:endParaRPr lang="en-US" sz="1300" dirty="0"/>
          </a:p>
        </p:txBody>
      </p:sp>
      <p:sp>
        <p:nvSpPr>
          <p:cNvPr id="14" name="Shape 12"/>
          <p:cNvSpPr/>
          <p:nvPr/>
        </p:nvSpPr>
        <p:spPr>
          <a:xfrm>
            <a:off x="914400" y="2670048"/>
            <a:ext cx="3063240" cy="384048"/>
          </a:xfrm>
          <a:prstGeom prst="roundRect">
            <a:avLst/>
          </a:prstGeom>
          <a:solidFill>
            <a:srgbClr val="F1F5F9"/>
          </a:solidFill>
          <a:ln w="12700">
            <a:solidFill>
              <a:srgbClr val="E2E8F0"/>
            </a:solidFill>
            <a:prstDash val="solid"/>
          </a:ln>
        </p:spPr>
      </p:sp>
      <p:sp>
        <p:nvSpPr>
          <p:cNvPr id="15" name="Text 13"/>
          <p:cNvSpPr/>
          <p:nvPr/>
        </p:nvSpPr>
        <p:spPr>
          <a:xfrm>
            <a:off x="960120" y="2724912"/>
            <a:ext cx="2971800" cy="274320"/>
          </a:xfrm>
          <a:prstGeom prst="rect">
            <a:avLst/>
          </a:prstGeom>
          <a:noFill/>
          <a:ln/>
        </p:spPr>
        <p:txBody>
          <a:bodyPr wrap="square" rtlCol="0" anchor="ctr"/>
          <a:lstStyle/>
          <a:p>
            <a:pPr indent="0" marL="0">
              <a:buNone/>
            </a:pPr>
            <a:r>
              <a:rPr lang="en-US" sz="800" dirty="0">
                <a:solidFill>
                  <a:srgbClr val="475569"/>
                </a:solidFill>
                <a:latin typeface="Courier New" pitchFamily="34" charset="0"/>
                <a:ea typeface="Courier New" pitchFamily="34" charset="-122"/>
                <a:cs typeface="Courier New" pitchFamily="34" charset="-120"/>
              </a:rPr>
              <a:t>ID: 564dce9b-6ca7-403a-be5e-9738de1a056b</a:t>
            </a:r>
            <a:endParaRPr lang="en-US" sz="800" dirty="0"/>
          </a:p>
        </p:txBody>
      </p:sp>
      <p:sp>
        <p:nvSpPr>
          <p:cNvPr id="16" name="Text 14"/>
          <p:cNvSpPr/>
          <p:nvPr/>
        </p:nvSpPr>
        <p:spPr>
          <a:xfrm>
            <a:off x="914400" y="3154680"/>
            <a:ext cx="306324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Volume: 50 Curated Benchmark Pet Records</a:t>
            </a:r>
            <a:endParaRPr lang="en-US" sz="1000" dirty="0"/>
          </a:p>
        </p:txBody>
      </p:sp>
      <p:sp>
        <p:nvSpPr>
          <p:cNvPr id="17" name="Text 15"/>
          <p:cNvSpPr/>
          <p:nvPr/>
        </p:nvSpPr>
        <p:spPr>
          <a:xfrm>
            <a:off x="914400" y="3429000"/>
            <a:ext cx="3063240" cy="164592"/>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SCHEMA FIELDS:</a:t>
            </a:r>
            <a:endParaRPr lang="en-US" sz="850" dirty="0"/>
          </a:p>
        </p:txBody>
      </p:sp>
      <p:sp>
        <p:nvSpPr>
          <p:cNvPr id="18" name="Text 16"/>
          <p:cNvSpPr/>
          <p:nvPr/>
        </p:nvSpPr>
        <p:spPr>
          <a:xfrm>
            <a:off x="914400" y="3621024"/>
            <a:ext cx="3063240" cy="868680"/>
          </a:xfrm>
          <a:prstGeom prst="rect">
            <a:avLst/>
          </a:prstGeom>
          <a:noFill/>
          <a:ln/>
        </p:spPr>
        <p:txBody>
          <a:bodyPr wrap="square" rtlCol="0" anchor="ctr"/>
          <a:lstStyle/>
          <a:p>
            <a:pPr indent="0" marL="0">
              <a:lnSpc>
                <a:spcPts val="1200"/>
              </a:lnSpc>
              <a:buNone/>
            </a:pPr>
            <a:r>
              <a:rPr lang="en-US" sz="850" dirty="0">
                <a:solidFill>
                  <a:srgbClr val="475569"/>
                </a:solidFill>
                <a:latin typeface="Courier New" pitchFamily="34" charset="0"/>
                <a:ea typeface="Courier New" pitchFamily="34" charset="-122"/>
                <a:cs typeface="Courier New" pitchFamily="34" charset="-120"/>
              </a:rPr>
              <a:t>pet_id, pet_name, species, breed, distinctive_features, collar, last_seen_location, lat, lng, image_url, contact_phone, reward_bdt</a:t>
            </a:r>
            <a:endParaRPr lang="en-US" sz="850" dirty="0"/>
          </a:p>
        </p:txBody>
      </p:sp>
      <p:sp>
        <p:nvSpPr>
          <p:cNvPr id="19" name="Text 17"/>
          <p:cNvSpPr/>
          <p:nvPr/>
        </p:nvSpPr>
        <p:spPr>
          <a:xfrm>
            <a:off x="914400" y="4572000"/>
            <a:ext cx="306324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VECTOR RETRIEVAL ROLE:</a:t>
            </a:r>
            <a:endParaRPr lang="en-US" sz="850" dirty="0"/>
          </a:p>
        </p:txBody>
      </p:sp>
      <p:sp>
        <p:nvSpPr>
          <p:cNvPr id="20" name="Text 18"/>
          <p:cNvSpPr/>
          <p:nvPr/>
        </p:nvSpPr>
        <p:spPr>
          <a:xfrm>
            <a:off x="914400" y="4773168"/>
            <a:ext cx="3063240" cy="12344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Indexed with dense multimodal visual embeddings and text semantics. Powers geospatial radar matching across all Dhaka districts.</a:t>
            </a:r>
            <a:endParaRPr lang="en-US" sz="950" dirty="0"/>
          </a:p>
        </p:txBody>
      </p:sp>
      <p:sp>
        <p:nvSpPr>
          <p:cNvPr id="21" name="Shape 19"/>
          <p:cNvSpPr/>
          <p:nvPr/>
        </p:nvSpPr>
        <p:spPr>
          <a:xfrm>
            <a:off x="4370832" y="1783080"/>
            <a:ext cx="3429000" cy="4389120"/>
          </a:xfrm>
          <a:prstGeom prst="roundRect">
            <a:avLst/>
          </a:prstGeom>
          <a:solidFill>
            <a:srgbClr val="FFFFFF"/>
          </a:solidFill>
          <a:ln w="15240">
            <a:solidFill>
              <a:srgbClr val="CBD5E1"/>
            </a:solidFill>
            <a:prstDash val="solid"/>
          </a:ln>
        </p:spPr>
      </p:sp>
      <p:sp>
        <p:nvSpPr>
          <p:cNvPr id="22" name="Text 20"/>
          <p:cNvSpPr/>
          <p:nvPr/>
        </p:nvSpPr>
        <p:spPr>
          <a:xfrm>
            <a:off x="4553712" y="1965960"/>
            <a:ext cx="3063240" cy="182880"/>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DATASET 02</a:t>
            </a:r>
            <a:endParaRPr lang="en-US" sz="900" dirty="0"/>
          </a:p>
        </p:txBody>
      </p:sp>
      <p:sp>
        <p:nvSpPr>
          <p:cNvPr id="23" name="Text 21"/>
          <p:cNvSpPr/>
          <p:nvPr/>
        </p:nvSpPr>
        <p:spPr>
          <a:xfrm>
            <a:off x="4553712" y="2176272"/>
            <a:ext cx="3063240" cy="45720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Veterinary Clinics &amp; Doctors Directory</a:t>
            </a:r>
            <a:endParaRPr lang="en-US" sz="1300" dirty="0"/>
          </a:p>
        </p:txBody>
      </p:sp>
      <p:sp>
        <p:nvSpPr>
          <p:cNvPr id="24" name="Shape 22"/>
          <p:cNvSpPr/>
          <p:nvPr/>
        </p:nvSpPr>
        <p:spPr>
          <a:xfrm>
            <a:off x="4553712" y="2670048"/>
            <a:ext cx="3063240" cy="384048"/>
          </a:xfrm>
          <a:prstGeom prst="roundRect">
            <a:avLst/>
          </a:prstGeom>
          <a:solidFill>
            <a:srgbClr val="F1F5F9"/>
          </a:solidFill>
          <a:ln w="12700">
            <a:solidFill>
              <a:srgbClr val="E2E8F0"/>
            </a:solidFill>
            <a:prstDash val="solid"/>
          </a:ln>
        </p:spPr>
      </p:sp>
      <p:sp>
        <p:nvSpPr>
          <p:cNvPr id="25" name="Text 23"/>
          <p:cNvSpPr/>
          <p:nvPr/>
        </p:nvSpPr>
        <p:spPr>
          <a:xfrm>
            <a:off x="4599432" y="2724912"/>
            <a:ext cx="2971800" cy="274320"/>
          </a:xfrm>
          <a:prstGeom prst="rect">
            <a:avLst/>
          </a:prstGeom>
          <a:noFill/>
          <a:ln/>
        </p:spPr>
        <p:txBody>
          <a:bodyPr wrap="square" rtlCol="0" anchor="ctr"/>
          <a:lstStyle/>
          <a:p>
            <a:pPr indent="0" marL="0">
              <a:buNone/>
            </a:pPr>
            <a:r>
              <a:rPr lang="en-US" sz="800" dirty="0">
                <a:solidFill>
                  <a:srgbClr val="475569"/>
                </a:solidFill>
                <a:latin typeface="Courier New" pitchFamily="34" charset="0"/>
                <a:ea typeface="Courier New" pitchFamily="34" charset="-122"/>
                <a:cs typeface="Courier New" pitchFamily="34" charset="-120"/>
              </a:rPr>
              <a:t>ID: 9dfc7c57-c072-441c-b653-1cf98247f990</a:t>
            </a:r>
            <a:endParaRPr lang="en-US" sz="800" dirty="0"/>
          </a:p>
        </p:txBody>
      </p:sp>
      <p:sp>
        <p:nvSpPr>
          <p:cNvPr id="26" name="Text 24"/>
          <p:cNvSpPr/>
          <p:nvPr/>
        </p:nvSpPr>
        <p:spPr>
          <a:xfrm>
            <a:off x="4553712" y="3154680"/>
            <a:ext cx="306324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Volume: 4 Specialist Hospitals • 12 Veterinarians</a:t>
            </a:r>
            <a:endParaRPr lang="en-US" sz="1000" dirty="0"/>
          </a:p>
        </p:txBody>
      </p:sp>
      <p:sp>
        <p:nvSpPr>
          <p:cNvPr id="27" name="Text 25"/>
          <p:cNvSpPr/>
          <p:nvPr/>
        </p:nvSpPr>
        <p:spPr>
          <a:xfrm>
            <a:off x="4553712" y="3429000"/>
            <a:ext cx="3063240" cy="164592"/>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SCHEMA FIELDS:</a:t>
            </a:r>
            <a:endParaRPr lang="en-US" sz="850" dirty="0"/>
          </a:p>
        </p:txBody>
      </p:sp>
      <p:sp>
        <p:nvSpPr>
          <p:cNvPr id="28" name="Text 26"/>
          <p:cNvSpPr/>
          <p:nvPr/>
        </p:nvSpPr>
        <p:spPr>
          <a:xfrm>
            <a:off x="4553712" y="3621024"/>
            <a:ext cx="3063240" cy="868680"/>
          </a:xfrm>
          <a:prstGeom prst="rect">
            <a:avLst/>
          </a:prstGeom>
          <a:noFill/>
          <a:ln/>
        </p:spPr>
        <p:txBody>
          <a:bodyPr wrap="square" rtlCol="0" anchor="ctr"/>
          <a:lstStyle/>
          <a:p>
            <a:pPr indent="0" marL="0">
              <a:lnSpc>
                <a:spcPts val="1200"/>
              </a:lnSpc>
              <a:buNone/>
            </a:pPr>
            <a:r>
              <a:rPr lang="en-US" sz="850" dirty="0">
                <a:solidFill>
                  <a:srgbClr val="475569"/>
                </a:solidFill>
                <a:latin typeface="Courier New" pitchFamily="34" charset="0"/>
                <a:ea typeface="Courier New" pitchFamily="34" charset="-122"/>
                <a:cs typeface="Courier New" pitchFamily="34" charset="-120"/>
              </a:rPr>
              <a:t>clinic_id, clinic_name, location_address, lead_vet, contact_phone, emergency_hours, specialized_services, diagnostic_equipment</a:t>
            </a:r>
            <a:endParaRPr lang="en-US" sz="850" dirty="0"/>
          </a:p>
        </p:txBody>
      </p:sp>
      <p:sp>
        <p:nvSpPr>
          <p:cNvPr id="29" name="Text 27"/>
          <p:cNvSpPr/>
          <p:nvPr/>
        </p:nvSpPr>
        <p:spPr>
          <a:xfrm>
            <a:off x="4553712" y="4572000"/>
            <a:ext cx="306324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VECTOR RETRIEVAL ROLE:</a:t>
            </a:r>
            <a:endParaRPr lang="en-US" sz="850" dirty="0"/>
          </a:p>
        </p:txBody>
      </p:sp>
      <p:sp>
        <p:nvSpPr>
          <p:cNvPr id="30" name="Text 28"/>
          <p:cNvSpPr/>
          <p:nvPr/>
        </p:nvSpPr>
        <p:spPr>
          <a:xfrm>
            <a:off x="4553712" y="4773168"/>
            <a:ext cx="3063240" cy="12344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Structured key-value syntax trained for case routing. Enables matching patient clinical symptoms to hospital ICU and surgical specialties.</a:t>
            </a:r>
            <a:endParaRPr lang="en-US" sz="950" dirty="0"/>
          </a:p>
        </p:txBody>
      </p:sp>
      <p:sp>
        <p:nvSpPr>
          <p:cNvPr id="31" name="Shape 29"/>
          <p:cNvSpPr/>
          <p:nvPr/>
        </p:nvSpPr>
        <p:spPr>
          <a:xfrm>
            <a:off x="8010144" y="1783080"/>
            <a:ext cx="3429000" cy="4389120"/>
          </a:xfrm>
          <a:prstGeom prst="roundRect">
            <a:avLst/>
          </a:prstGeom>
          <a:solidFill>
            <a:srgbClr val="FFFFFF"/>
          </a:solidFill>
          <a:ln w="15240">
            <a:solidFill>
              <a:srgbClr val="CBD5E1"/>
            </a:solidFill>
            <a:prstDash val="solid"/>
          </a:ln>
        </p:spPr>
      </p:sp>
      <p:sp>
        <p:nvSpPr>
          <p:cNvPr id="32" name="Text 30"/>
          <p:cNvSpPr/>
          <p:nvPr/>
        </p:nvSpPr>
        <p:spPr>
          <a:xfrm>
            <a:off x="8193024" y="1965960"/>
            <a:ext cx="3063240" cy="182880"/>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DATASET 03</a:t>
            </a:r>
            <a:endParaRPr lang="en-US" sz="900" dirty="0"/>
          </a:p>
        </p:txBody>
      </p:sp>
      <p:sp>
        <p:nvSpPr>
          <p:cNvPr id="33" name="Text 31"/>
          <p:cNvSpPr/>
          <p:nvPr/>
        </p:nvSpPr>
        <p:spPr>
          <a:xfrm>
            <a:off x="8193024" y="2176272"/>
            <a:ext cx="3063240" cy="45720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Marketplace Pet Nutrition Catalog</a:t>
            </a:r>
            <a:endParaRPr lang="en-US" sz="1300" dirty="0"/>
          </a:p>
        </p:txBody>
      </p:sp>
      <p:sp>
        <p:nvSpPr>
          <p:cNvPr id="34" name="Shape 32"/>
          <p:cNvSpPr/>
          <p:nvPr/>
        </p:nvSpPr>
        <p:spPr>
          <a:xfrm>
            <a:off x="8193024" y="2670048"/>
            <a:ext cx="3063240" cy="384048"/>
          </a:xfrm>
          <a:prstGeom prst="roundRect">
            <a:avLst/>
          </a:prstGeom>
          <a:solidFill>
            <a:srgbClr val="F1F5F9"/>
          </a:solidFill>
          <a:ln w="12700">
            <a:solidFill>
              <a:srgbClr val="E2E8F0"/>
            </a:solidFill>
            <a:prstDash val="solid"/>
          </a:ln>
        </p:spPr>
      </p:sp>
      <p:sp>
        <p:nvSpPr>
          <p:cNvPr id="35" name="Text 33"/>
          <p:cNvSpPr/>
          <p:nvPr/>
        </p:nvSpPr>
        <p:spPr>
          <a:xfrm>
            <a:off x="8238744" y="2724912"/>
            <a:ext cx="2971800" cy="274320"/>
          </a:xfrm>
          <a:prstGeom prst="rect">
            <a:avLst/>
          </a:prstGeom>
          <a:noFill/>
          <a:ln/>
        </p:spPr>
        <p:txBody>
          <a:bodyPr wrap="square" rtlCol="0" anchor="ctr"/>
          <a:lstStyle/>
          <a:p>
            <a:pPr indent="0" marL="0">
              <a:buNone/>
            </a:pPr>
            <a:r>
              <a:rPr lang="en-US" sz="800" dirty="0">
                <a:solidFill>
                  <a:srgbClr val="475569"/>
                </a:solidFill>
                <a:latin typeface="Courier New" pitchFamily="34" charset="0"/>
                <a:ea typeface="Courier New" pitchFamily="34" charset="-122"/>
                <a:cs typeface="Courier New" pitchFamily="34" charset="-120"/>
              </a:rPr>
              <a:t>ID: 1fbd9ddf-ee42-4ee6-ba50-ffaae169ffc1</a:t>
            </a:r>
            <a:endParaRPr lang="en-US" sz="800" dirty="0"/>
          </a:p>
        </p:txBody>
      </p:sp>
      <p:sp>
        <p:nvSpPr>
          <p:cNvPr id="36" name="Text 34"/>
          <p:cNvSpPr/>
          <p:nvPr/>
        </p:nvSpPr>
        <p:spPr>
          <a:xfrm>
            <a:off x="8193024" y="3154680"/>
            <a:ext cx="306324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Volume: 8 Verified Feeds &amp; Medical Supplements</a:t>
            </a:r>
            <a:endParaRPr lang="en-US" sz="1000" dirty="0"/>
          </a:p>
        </p:txBody>
      </p:sp>
      <p:sp>
        <p:nvSpPr>
          <p:cNvPr id="37" name="Text 35"/>
          <p:cNvSpPr/>
          <p:nvPr/>
        </p:nvSpPr>
        <p:spPr>
          <a:xfrm>
            <a:off x="8193024" y="3429000"/>
            <a:ext cx="3063240" cy="164592"/>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SCHEMA FIELDS:</a:t>
            </a:r>
            <a:endParaRPr lang="en-US" sz="850" dirty="0"/>
          </a:p>
        </p:txBody>
      </p:sp>
      <p:sp>
        <p:nvSpPr>
          <p:cNvPr id="38" name="Text 36"/>
          <p:cNvSpPr/>
          <p:nvPr/>
        </p:nvSpPr>
        <p:spPr>
          <a:xfrm>
            <a:off x="8193024" y="3621024"/>
            <a:ext cx="3063240" cy="868680"/>
          </a:xfrm>
          <a:prstGeom prst="rect">
            <a:avLst/>
          </a:prstGeom>
          <a:noFill/>
          <a:ln/>
        </p:spPr>
        <p:txBody>
          <a:bodyPr wrap="square" rtlCol="0" anchor="ctr"/>
          <a:lstStyle/>
          <a:p>
            <a:pPr indent="0" marL="0">
              <a:lnSpc>
                <a:spcPts val="1200"/>
              </a:lnSpc>
              <a:buNone/>
            </a:pPr>
            <a:r>
              <a:rPr lang="en-US" sz="850" dirty="0">
                <a:solidFill>
                  <a:srgbClr val="475569"/>
                </a:solidFill>
                <a:latin typeface="Courier New" pitchFamily="34" charset="0"/>
                <a:ea typeface="Courier New" pitchFamily="34" charset="-122"/>
                <a:cs typeface="Courier New" pitchFamily="34" charset="-120"/>
              </a:rPr>
              <a:t>product_id, title, target_species, dietary_class, price_bdt, active_ingredients, guaranteed_analysis, allergy_exemptions</a:t>
            </a:r>
            <a:endParaRPr lang="en-US" sz="850" dirty="0"/>
          </a:p>
        </p:txBody>
      </p:sp>
      <p:sp>
        <p:nvSpPr>
          <p:cNvPr id="39" name="Text 37"/>
          <p:cNvSpPr/>
          <p:nvPr/>
        </p:nvSpPr>
        <p:spPr>
          <a:xfrm>
            <a:off x="8193024" y="4572000"/>
            <a:ext cx="306324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VECTOR RETRIEVAL ROLE:</a:t>
            </a:r>
            <a:endParaRPr lang="en-US" sz="850" dirty="0"/>
          </a:p>
        </p:txBody>
      </p:sp>
      <p:sp>
        <p:nvSpPr>
          <p:cNvPr id="40" name="Text 38"/>
          <p:cNvSpPr/>
          <p:nvPr/>
        </p:nvSpPr>
        <p:spPr>
          <a:xfrm>
            <a:off x="8193024" y="4773168"/>
            <a:ext cx="3063240" cy="12344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Semantic ingredient cross-referencing. Prevents recommending poultry-based feeds to allergic canines and matches clinical diets.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12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TECHNICAL IMPLEMENTATION</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API Protocols, Header Security &amp; Deployment Architecture</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Overcoming Gigalogy authentication gotchas: Hyphenated headers, Next.js route handlers &amp; Supabase database.</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0B0F19"/>
          </a:solidFill>
          <a:ln w="15240">
            <a:solidFill>
              <a:srgbClr val="334155"/>
            </a:solidFill>
            <a:prstDash val="solid"/>
          </a:ln>
        </p:spPr>
      </p:sp>
      <p:sp>
        <p:nvSpPr>
          <p:cNvPr id="12" name="Text 10"/>
          <p:cNvSpPr/>
          <p:nvPr/>
        </p:nvSpPr>
        <p:spPr>
          <a:xfrm>
            <a:off x="960120" y="1965960"/>
            <a:ext cx="4709160" cy="228600"/>
          </a:xfrm>
          <a:prstGeom prst="rect">
            <a:avLst/>
          </a:prstGeom>
          <a:noFill/>
          <a:ln/>
        </p:spPr>
        <p:txBody>
          <a:bodyPr wrap="square"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SRC/LIB/MAIRA/MAIRA-CLIENT.TS (PRODUCTION INGRESS)</a:t>
            </a:r>
            <a:endParaRPr lang="en-US" sz="950" dirty="0"/>
          </a:p>
        </p:txBody>
      </p:sp>
      <p:sp>
        <p:nvSpPr>
          <p:cNvPr id="13" name="Text 11"/>
          <p:cNvSpPr/>
          <p:nvPr/>
        </p:nvSpPr>
        <p:spPr>
          <a:xfrm>
            <a:off x="960120" y="2240280"/>
            <a:ext cx="4709160" cy="3749040"/>
          </a:xfrm>
          <a:prstGeom prst="rect">
            <a:avLst/>
          </a:prstGeom>
          <a:noFill/>
          <a:ln/>
        </p:spPr>
        <p:txBody>
          <a:bodyPr wrap="square" rtlCol="0" anchor="ctr"/>
          <a:lstStyle/>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class MairaClient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private getHeaders(): Record&lt;string, string&gt;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 CRITICAL: Gigalogy requires hyphenated header names</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return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'api-key': this.apiKey,        // NOT 'apikey'</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'project-key': this.projectKey, // NOT 'projectkey'</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'Content-Type': 'application/json',</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'Accept': 'application/json',</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200"/>
              </a:lnSpc>
              <a:buNone/>
            </a:pP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async ask(options: MairaAskOptions): Promise&lt;MairaAskResponse&gt;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const res = await fetch(`${this.baseUrl}/maira/ask`,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method: 'POST',</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headers: this.getHeaders(),</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body: JSON.stringify({</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user_id: options.user_id,</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query: options.query,</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conversation_type: 'question',</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gpt_profile_id: options.gpt_profile_id,</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context_preference: options.context_preference,</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top_k: options.top_k || 10,</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is_keyword_enabled: true</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signal: AbortSignal.timeout(12000)</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return await res.json();</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E2E8F0"/>
                </a:solidFill>
                <a:latin typeface="Courier New" pitchFamily="34" charset="0"/>
                <a:ea typeface="Courier New" pitchFamily="34" charset="-122"/>
                <a:cs typeface="Courier New" pitchFamily="34" charset="-120"/>
              </a:rPr>
              <a:t>}</a:t>
            </a:r>
            <a:endParaRPr lang="en-US" sz="850" dirty="0"/>
          </a:p>
        </p:txBody>
      </p:sp>
      <p:sp>
        <p:nvSpPr>
          <p:cNvPr id="14" name="Shape 12"/>
          <p:cNvSpPr/>
          <p:nvPr/>
        </p:nvSpPr>
        <p:spPr>
          <a:xfrm>
            <a:off x="6263640" y="1783080"/>
            <a:ext cx="5193792" cy="4389120"/>
          </a:xfrm>
          <a:prstGeom prst="roundRect">
            <a:avLst/>
          </a:prstGeom>
          <a:solidFill>
            <a:srgbClr val="FFFFFF"/>
          </a:solidFill>
          <a:ln w="15240">
            <a:solidFill>
              <a:srgbClr val="CBD5E1"/>
            </a:solidFill>
            <a:prstDash val="solid"/>
          </a:ln>
        </p:spPr>
      </p:sp>
      <p:sp>
        <p:nvSpPr>
          <p:cNvPr id="15" name="Text 13"/>
          <p:cNvSpPr/>
          <p:nvPr/>
        </p:nvSpPr>
        <p:spPr>
          <a:xfrm>
            <a:off x="6492240" y="1965960"/>
            <a:ext cx="4736592"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CORE ARCHITECTURAL SAFEGUARDS</a:t>
            </a:r>
            <a:endParaRPr lang="en-US" sz="1100" dirty="0"/>
          </a:p>
        </p:txBody>
      </p:sp>
      <p:sp>
        <p:nvSpPr>
          <p:cNvPr id="16" name="Shape 14"/>
          <p:cNvSpPr/>
          <p:nvPr/>
        </p:nvSpPr>
        <p:spPr>
          <a:xfrm>
            <a:off x="6492240" y="2286000"/>
            <a:ext cx="4736592" cy="1143000"/>
          </a:xfrm>
          <a:prstGeom prst="roundRect">
            <a:avLst/>
          </a:prstGeom>
          <a:solidFill>
            <a:srgbClr val="F1F5F9"/>
          </a:solidFill>
          <a:ln w="12700">
            <a:solidFill>
              <a:srgbClr val="E2E8F0"/>
            </a:solidFill>
            <a:prstDash val="solid"/>
          </a:ln>
        </p:spPr>
      </p:sp>
      <p:sp>
        <p:nvSpPr>
          <p:cNvPr id="17" name="Text 15"/>
          <p:cNvSpPr/>
          <p:nvPr/>
        </p:nvSpPr>
        <p:spPr>
          <a:xfrm>
            <a:off x="6629400" y="2377440"/>
            <a:ext cx="4389120" cy="182880"/>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AUTH PROTOCOL</a:t>
            </a:r>
            <a:endParaRPr lang="en-US" sz="850" dirty="0"/>
          </a:p>
        </p:txBody>
      </p:sp>
      <p:sp>
        <p:nvSpPr>
          <p:cNvPr id="18" name="Text 16"/>
          <p:cNvSpPr/>
          <p:nvPr/>
        </p:nvSpPr>
        <p:spPr>
          <a:xfrm>
            <a:off x="6629400" y="2560320"/>
            <a:ext cx="4389120"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Hyphenated Security Header Normalization</a:t>
            </a:r>
            <a:endParaRPr lang="en-US" sz="1100" dirty="0"/>
          </a:p>
        </p:txBody>
      </p:sp>
      <p:sp>
        <p:nvSpPr>
          <p:cNvPr id="19" name="Text 17"/>
          <p:cNvSpPr/>
          <p:nvPr/>
        </p:nvSpPr>
        <p:spPr>
          <a:xfrm>
            <a:off x="6629400" y="2816352"/>
            <a:ext cx="4389120" cy="54864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Gigalogy MAIRA strictly expects hyphenated headers ("api-key", "project-key"). Standard CamelCase or non-hyphenated variants cause 401 Unauthorized. Standardized across all fetch instances.</a:t>
            </a:r>
            <a:endParaRPr lang="en-US" sz="900" dirty="0"/>
          </a:p>
        </p:txBody>
      </p:sp>
      <p:sp>
        <p:nvSpPr>
          <p:cNvPr id="20" name="Shape 18"/>
          <p:cNvSpPr/>
          <p:nvPr/>
        </p:nvSpPr>
        <p:spPr>
          <a:xfrm>
            <a:off x="6492240" y="3520440"/>
            <a:ext cx="4736592" cy="1143000"/>
          </a:xfrm>
          <a:prstGeom prst="roundRect">
            <a:avLst/>
          </a:prstGeom>
          <a:solidFill>
            <a:srgbClr val="F1F5F9"/>
          </a:solidFill>
          <a:ln w="12700">
            <a:solidFill>
              <a:srgbClr val="E2E8F0"/>
            </a:solidFill>
            <a:prstDash val="solid"/>
          </a:ln>
        </p:spPr>
      </p:sp>
      <p:sp>
        <p:nvSpPr>
          <p:cNvPr id="21" name="Text 19"/>
          <p:cNvSpPr/>
          <p:nvPr/>
        </p:nvSpPr>
        <p:spPr>
          <a:xfrm>
            <a:off x="6629400" y="3611880"/>
            <a:ext cx="4389120" cy="182880"/>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CIRCUIT BREAKER</a:t>
            </a:r>
            <a:endParaRPr lang="en-US" sz="850" dirty="0"/>
          </a:p>
        </p:txBody>
      </p:sp>
      <p:sp>
        <p:nvSpPr>
          <p:cNvPr id="22" name="Text 20"/>
          <p:cNvSpPr/>
          <p:nvPr/>
        </p:nvSpPr>
        <p:spPr>
          <a:xfrm>
            <a:off x="6629400" y="3794760"/>
            <a:ext cx="4389120"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12-Second Circuit Breaker Timeout</a:t>
            </a:r>
            <a:endParaRPr lang="en-US" sz="1100" dirty="0"/>
          </a:p>
        </p:txBody>
      </p:sp>
      <p:sp>
        <p:nvSpPr>
          <p:cNvPr id="23" name="Text 21"/>
          <p:cNvSpPr/>
          <p:nvPr/>
        </p:nvSpPr>
        <p:spPr>
          <a:xfrm>
            <a:off x="6629400" y="4050792"/>
            <a:ext cx="4389120" cy="54864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Mobile pet owners in triage cannot wait indefinitely on hanging network calls. AbortSignal.timeout(12000) automatically aborts sluggish queries and activates Tier-2 OpenAI fallback.</a:t>
            </a:r>
            <a:endParaRPr lang="en-US" sz="900" dirty="0"/>
          </a:p>
        </p:txBody>
      </p:sp>
      <p:sp>
        <p:nvSpPr>
          <p:cNvPr id="24" name="Shape 22"/>
          <p:cNvSpPr/>
          <p:nvPr/>
        </p:nvSpPr>
        <p:spPr>
          <a:xfrm>
            <a:off x="6492240" y="4754880"/>
            <a:ext cx="4736592" cy="1143000"/>
          </a:xfrm>
          <a:prstGeom prst="roundRect">
            <a:avLst/>
          </a:prstGeom>
          <a:solidFill>
            <a:srgbClr val="F1F5F9"/>
          </a:solidFill>
          <a:ln w="12700">
            <a:solidFill>
              <a:srgbClr val="E2E8F0"/>
            </a:solidFill>
            <a:prstDash val="solid"/>
          </a:ln>
        </p:spPr>
      </p:sp>
      <p:sp>
        <p:nvSpPr>
          <p:cNvPr id="25" name="Text 23"/>
          <p:cNvSpPr/>
          <p:nvPr/>
        </p:nvSpPr>
        <p:spPr>
          <a:xfrm>
            <a:off x="6629400" y="4846320"/>
            <a:ext cx="4389120" cy="182880"/>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METADATA PARSER</a:t>
            </a:r>
            <a:endParaRPr lang="en-US" sz="850" dirty="0"/>
          </a:p>
        </p:txBody>
      </p:sp>
      <p:sp>
        <p:nvSpPr>
          <p:cNvPr id="26" name="Text 24"/>
          <p:cNvSpPr/>
          <p:nvPr/>
        </p:nvSpPr>
        <p:spPr>
          <a:xfrm>
            <a:off x="6629400" y="5029200"/>
            <a:ext cx="4389120"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Structured Key-Value Metadata Parsing</a:t>
            </a:r>
            <a:endParaRPr lang="en-US" sz="1100" dirty="0"/>
          </a:p>
        </p:txBody>
      </p:sp>
      <p:sp>
        <p:nvSpPr>
          <p:cNvPr id="27" name="Text 25"/>
          <p:cNvSpPr/>
          <p:nvPr/>
        </p:nvSpPr>
        <p:spPr>
          <a:xfrm>
            <a:off x="6629400" y="5285232"/>
            <a:ext cx="4389120" cy="54864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MAIRA reference documents return formatted multi-line strings. A custom parser (parseMairaContent) extracts pet_name, species, reward, and owner phone into strongly-typed frontend state.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13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RESILIENCE &amp; SECURITY</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Zero-Downtime Resilience Engine &amp; Access Controls</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Safeguarding user sessions against cloud outages, latency spikes, and unauthorized API tampering.</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3429000" cy="4389120"/>
          </a:xfrm>
          <a:prstGeom prst="roundRect">
            <a:avLst/>
          </a:prstGeom>
          <a:solidFill>
            <a:srgbClr val="FFFFFF"/>
          </a:solidFill>
          <a:ln w="15240">
            <a:solidFill>
              <a:srgbClr val="CBD5E1"/>
            </a:solidFill>
            <a:prstDash val="solid"/>
          </a:ln>
        </p:spPr>
      </p:sp>
      <p:sp>
        <p:nvSpPr>
          <p:cNvPr id="12" name="Shape 10"/>
          <p:cNvSpPr/>
          <p:nvPr/>
        </p:nvSpPr>
        <p:spPr>
          <a:xfrm>
            <a:off x="868680" y="1920240"/>
            <a:ext cx="3154680" cy="594360"/>
          </a:xfrm>
          <a:prstGeom prst="roundRect">
            <a:avLst/>
          </a:prstGeom>
          <a:solidFill>
            <a:srgbClr val="ECFDF5"/>
          </a:solidFill>
          <a:ln w="12700">
            <a:solidFill>
              <a:srgbClr val="10B981"/>
            </a:solidFill>
            <a:prstDash val="solid"/>
          </a:ln>
        </p:spPr>
      </p:sp>
      <p:sp>
        <p:nvSpPr>
          <p:cNvPr id="13" name="Text 11"/>
          <p:cNvSpPr/>
          <p:nvPr/>
        </p:nvSpPr>
        <p:spPr>
          <a:xfrm>
            <a:off x="960120" y="2011680"/>
            <a:ext cx="411480" cy="4114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4" name="Text 12"/>
          <p:cNvSpPr/>
          <p:nvPr/>
        </p:nvSpPr>
        <p:spPr>
          <a:xfrm>
            <a:off x="1417320" y="2057400"/>
            <a:ext cx="2514600" cy="36576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Graceful Degradation Engine</a:t>
            </a:r>
            <a:endParaRPr lang="en-US" sz="1100" dirty="0"/>
          </a:p>
        </p:txBody>
      </p:sp>
      <p:sp>
        <p:nvSpPr>
          <p:cNvPr id="15" name="Text 13"/>
          <p:cNvSpPr/>
          <p:nvPr/>
        </p:nvSpPr>
        <p:spPr>
          <a:xfrm>
            <a:off x="914400" y="269748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Tier 1 (MAIRA RAG): Engaged for all authenticated sessions. Delivers vector similarity and reference citations.</a:t>
            </a:r>
            <a:endParaRPr lang="en-US" sz="950" dirty="0"/>
          </a:p>
        </p:txBody>
      </p:sp>
      <p:sp>
        <p:nvSpPr>
          <p:cNvPr id="16" name="Text 14"/>
          <p:cNvSpPr/>
          <p:nvPr/>
        </p:nvSpPr>
        <p:spPr>
          <a:xfrm>
            <a:off x="914400" y="356616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Tier 2 (OpenAI GPT-4o-mini): Intercepts 429, 500, or timeout errors. Answers clinical questions with system grounding.</a:t>
            </a:r>
            <a:endParaRPr lang="en-US" sz="950" dirty="0"/>
          </a:p>
        </p:txBody>
      </p:sp>
      <p:sp>
        <p:nvSpPr>
          <p:cNvPr id="17" name="Text 15"/>
          <p:cNvSpPr/>
          <p:nvPr/>
        </p:nvSpPr>
        <p:spPr>
          <a:xfrm>
            <a:off x="914400" y="443484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Tier 3 (Local Clinical Heuristics): Completely offline mode. Reads hardcoded toxic tables and clinic phone numbers.</a:t>
            </a:r>
            <a:endParaRPr lang="en-US" sz="950" dirty="0"/>
          </a:p>
        </p:txBody>
      </p:sp>
      <p:sp>
        <p:nvSpPr>
          <p:cNvPr id="18" name="Text 16"/>
          <p:cNvSpPr/>
          <p:nvPr/>
        </p:nvSpPr>
        <p:spPr>
          <a:xfrm>
            <a:off x="914400" y="530352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Zero 500 Errors: Users never receive a broken UI or blank error screen.</a:t>
            </a:r>
            <a:endParaRPr lang="en-US" sz="950" dirty="0"/>
          </a:p>
        </p:txBody>
      </p:sp>
      <p:sp>
        <p:nvSpPr>
          <p:cNvPr id="19" name="Shape 17"/>
          <p:cNvSpPr/>
          <p:nvPr/>
        </p:nvSpPr>
        <p:spPr>
          <a:xfrm>
            <a:off x="4370832" y="1783080"/>
            <a:ext cx="3429000" cy="4389120"/>
          </a:xfrm>
          <a:prstGeom prst="roundRect">
            <a:avLst/>
          </a:prstGeom>
          <a:solidFill>
            <a:srgbClr val="FFFFFF"/>
          </a:solidFill>
          <a:ln w="15240">
            <a:solidFill>
              <a:srgbClr val="CBD5E1"/>
            </a:solidFill>
            <a:prstDash val="solid"/>
          </a:ln>
        </p:spPr>
      </p:sp>
      <p:sp>
        <p:nvSpPr>
          <p:cNvPr id="20" name="Shape 18"/>
          <p:cNvSpPr/>
          <p:nvPr/>
        </p:nvSpPr>
        <p:spPr>
          <a:xfrm>
            <a:off x="4507992" y="1920240"/>
            <a:ext cx="3154680" cy="594360"/>
          </a:xfrm>
          <a:prstGeom prst="roundRect">
            <a:avLst/>
          </a:prstGeom>
          <a:solidFill>
            <a:srgbClr val="EEF2FF"/>
          </a:solidFill>
          <a:ln w="12700">
            <a:solidFill>
              <a:srgbClr val="4F46E5"/>
            </a:solidFill>
            <a:prstDash val="solid"/>
          </a:ln>
        </p:spPr>
      </p:sp>
      <p:sp>
        <p:nvSpPr>
          <p:cNvPr id="21" name="Text 19"/>
          <p:cNvSpPr/>
          <p:nvPr/>
        </p:nvSpPr>
        <p:spPr>
          <a:xfrm>
            <a:off x="4599432" y="2011680"/>
            <a:ext cx="411480" cy="4114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2" name="Text 20"/>
          <p:cNvSpPr/>
          <p:nvPr/>
        </p:nvSpPr>
        <p:spPr>
          <a:xfrm>
            <a:off x="5056632" y="2057400"/>
            <a:ext cx="2514600" cy="365760"/>
          </a:xfrm>
          <a:prstGeom prst="rect">
            <a:avLst/>
          </a:prstGeom>
          <a:noFill/>
          <a:ln/>
        </p:spPr>
        <p:txBody>
          <a:bodyPr wrap="square" rtlCol="0" anchor="ctr"/>
          <a:lstStyle/>
          <a:p>
            <a:pPr indent="0" marL="0">
              <a:buNone/>
            </a:pPr>
            <a:r>
              <a:rPr lang="en-US" sz="1100" b="1" dirty="0">
                <a:solidFill>
                  <a:srgbClr val="4F46E5"/>
                </a:solidFill>
                <a:latin typeface="Arial" pitchFamily="34" charset="0"/>
                <a:ea typeface="Arial" pitchFamily="34" charset="-122"/>
                <a:cs typeface="Arial" pitchFamily="34" charset="-120"/>
              </a:rPr>
              <a:t>Role-Based Access &amp; Rate Limiting</a:t>
            </a:r>
            <a:endParaRPr lang="en-US" sz="1100" dirty="0"/>
          </a:p>
        </p:txBody>
      </p:sp>
      <p:sp>
        <p:nvSpPr>
          <p:cNvPr id="23" name="Text 21"/>
          <p:cNvSpPr/>
          <p:nvPr/>
        </p:nvSpPr>
        <p:spPr>
          <a:xfrm>
            <a:off x="4553712" y="269748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Token-Bucket Rate Limiting: 60 requests per minute per IP address preventing API cost exhaustion.</a:t>
            </a:r>
            <a:endParaRPr lang="en-US" sz="950" dirty="0"/>
          </a:p>
        </p:txBody>
      </p:sp>
      <p:sp>
        <p:nvSpPr>
          <p:cNvPr id="24" name="Text 22"/>
          <p:cNvSpPr/>
          <p:nvPr/>
        </p:nvSpPr>
        <p:spPr>
          <a:xfrm>
            <a:off x="4553712" y="356616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Supabase Auth Session Validation: Clinical endpoints verify active Bearer JWT tokens on ingress.</a:t>
            </a:r>
            <a:endParaRPr lang="en-US" sz="950" dirty="0"/>
          </a:p>
        </p:txBody>
      </p:sp>
      <p:sp>
        <p:nvSpPr>
          <p:cNvPr id="25" name="Text 23"/>
          <p:cNvSpPr/>
          <p:nvPr/>
        </p:nvSpPr>
        <p:spPr>
          <a:xfrm>
            <a:off x="4553712" y="443484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Server-Side Secret Isolation: MAIRA API keys and project IDs remain strictly on server environment.</a:t>
            </a:r>
            <a:endParaRPr lang="en-US" sz="950" dirty="0"/>
          </a:p>
        </p:txBody>
      </p:sp>
      <p:sp>
        <p:nvSpPr>
          <p:cNvPr id="26" name="Text 24"/>
          <p:cNvSpPr/>
          <p:nvPr/>
        </p:nvSpPr>
        <p:spPr>
          <a:xfrm>
            <a:off x="4553712" y="530352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GDPR &amp; PII Privacy: Pet medical records anonymized before sending to vector ingestion pipelines.</a:t>
            </a:r>
            <a:endParaRPr lang="en-US" sz="950" dirty="0"/>
          </a:p>
        </p:txBody>
      </p:sp>
      <p:sp>
        <p:nvSpPr>
          <p:cNvPr id="27" name="Shape 25"/>
          <p:cNvSpPr/>
          <p:nvPr/>
        </p:nvSpPr>
        <p:spPr>
          <a:xfrm>
            <a:off x="8010144" y="1783080"/>
            <a:ext cx="3429000" cy="4389120"/>
          </a:xfrm>
          <a:prstGeom prst="roundRect">
            <a:avLst/>
          </a:prstGeom>
          <a:solidFill>
            <a:srgbClr val="FFFFFF"/>
          </a:solidFill>
          <a:ln w="15240">
            <a:solidFill>
              <a:srgbClr val="CBD5E1"/>
            </a:solidFill>
            <a:prstDash val="solid"/>
          </a:ln>
        </p:spPr>
      </p:sp>
      <p:sp>
        <p:nvSpPr>
          <p:cNvPr id="28" name="Shape 26"/>
          <p:cNvSpPr/>
          <p:nvPr/>
        </p:nvSpPr>
        <p:spPr>
          <a:xfrm>
            <a:off x="8147304" y="1920240"/>
            <a:ext cx="3154680" cy="594360"/>
          </a:xfrm>
          <a:prstGeom prst="roundRect">
            <a:avLst/>
          </a:prstGeom>
          <a:solidFill>
            <a:srgbClr val="FEF2F2"/>
          </a:solidFill>
          <a:ln w="12700">
            <a:solidFill>
              <a:srgbClr val="EF4444"/>
            </a:solidFill>
            <a:prstDash val="solid"/>
          </a:ln>
        </p:spPr>
      </p:sp>
      <p:sp>
        <p:nvSpPr>
          <p:cNvPr id="29" name="Text 27"/>
          <p:cNvSpPr/>
          <p:nvPr/>
        </p:nvSpPr>
        <p:spPr>
          <a:xfrm>
            <a:off x="8238744" y="2011680"/>
            <a:ext cx="411480" cy="4114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30" name="Text 28"/>
          <p:cNvSpPr/>
          <p:nvPr/>
        </p:nvSpPr>
        <p:spPr>
          <a:xfrm>
            <a:off x="8695944" y="2057400"/>
            <a:ext cx="2514600" cy="365760"/>
          </a:xfrm>
          <a:prstGeom prst="rect">
            <a:avLst/>
          </a:prstGeom>
          <a:noFill/>
          <a:ln/>
        </p:spPr>
        <p:txBody>
          <a:bodyPr wrap="square" rtlCol="0" anchor="ctr"/>
          <a:lstStyle/>
          <a:p>
            <a:pPr indent="0" marL="0">
              <a:buNone/>
            </a:pPr>
            <a:r>
              <a:rPr lang="en-US" sz="1100" b="1" dirty="0">
                <a:solidFill>
                  <a:srgbClr val="EF4444"/>
                </a:solidFill>
                <a:latin typeface="Arial" pitchFamily="34" charset="0"/>
                <a:ea typeface="Arial" pitchFamily="34" charset="-122"/>
                <a:cs typeface="Arial" pitchFamily="34" charset="-120"/>
              </a:rPr>
              <a:t>Clinical Safety Guardrails</a:t>
            </a:r>
            <a:endParaRPr lang="en-US" sz="1100" dirty="0"/>
          </a:p>
        </p:txBody>
      </p:sp>
      <p:sp>
        <p:nvSpPr>
          <p:cNvPr id="31" name="Text 29"/>
          <p:cNvSpPr/>
          <p:nvPr/>
        </p:nvSpPr>
        <p:spPr>
          <a:xfrm>
            <a:off x="8193024" y="269748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Zero-Latency Poison Guard: Sub-millisecond deterministic regex scanner intercepting lethal ingestions.</a:t>
            </a:r>
            <a:endParaRPr lang="en-US" sz="950" dirty="0"/>
          </a:p>
        </p:txBody>
      </p:sp>
      <p:sp>
        <p:nvSpPr>
          <p:cNvPr id="32" name="Text 30"/>
          <p:cNvSpPr/>
          <p:nvPr/>
        </p:nvSpPr>
        <p:spPr>
          <a:xfrm>
            <a:off x="8193024" y="356616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Dosage Hallucination Shield: Enforces medical disclaimer and prevents prescriptive medication dosing.</a:t>
            </a:r>
            <a:endParaRPr lang="en-US" sz="950" dirty="0"/>
          </a:p>
        </p:txBody>
      </p:sp>
      <p:sp>
        <p:nvSpPr>
          <p:cNvPr id="33" name="Text 31"/>
          <p:cNvSpPr/>
          <p:nvPr/>
        </p:nvSpPr>
        <p:spPr>
          <a:xfrm>
            <a:off x="8193024" y="443484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Emergency Clinic CTA: Emergency triage outcomes force high-visibility emergency call buttons in UI.</a:t>
            </a:r>
            <a:endParaRPr lang="en-US" sz="950" dirty="0"/>
          </a:p>
        </p:txBody>
      </p:sp>
      <p:sp>
        <p:nvSpPr>
          <p:cNvPr id="34" name="Text 32"/>
          <p:cNvSpPr/>
          <p:nvPr/>
        </p:nvSpPr>
        <p:spPr>
          <a:xfrm>
            <a:off x="8193024" y="5303520"/>
            <a:ext cx="3063240" cy="82296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 Continuous Audit Logging: All AI responses recorded for clinical telemetry and veterinary review.</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14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VERIFICATION &amp; TELEMETRY</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Production Benchmarks &amp; Live Verification Telemetry</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Comprehensive automated and browser-based verification proving zero regression and sub-second latency.</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2926080" cy="2057400"/>
          </a:xfrm>
          <a:prstGeom prst="roundRect">
            <a:avLst/>
          </a:prstGeom>
          <a:solidFill>
            <a:srgbClr val="FFFFFF"/>
          </a:solidFill>
          <a:ln w="15240">
            <a:solidFill>
              <a:srgbClr val="CBD5E1"/>
            </a:solidFill>
            <a:prstDash val="solid"/>
          </a:ln>
        </p:spPr>
      </p:sp>
      <p:sp>
        <p:nvSpPr>
          <p:cNvPr id="12" name="Shape 10"/>
          <p:cNvSpPr/>
          <p:nvPr/>
        </p:nvSpPr>
        <p:spPr>
          <a:xfrm>
            <a:off x="914400" y="1965960"/>
            <a:ext cx="2560320" cy="320040"/>
          </a:xfrm>
          <a:prstGeom prst="roundRect">
            <a:avLst/>
          </a:prstGeom>
          <a:solidFill>
            <a:srgbClr val="ECFDF5"/>
          </a:solidFill>
          <a:ln w="12700">
            <a:solidFill>
              <a:srgbClr val="10B981"/>
            </a:solidFill>
            <a:prstDash val="solid"/>
          </a:ln>
        </p:spPr>
      </p:sp>
      <p:sp>
        <p:nvSpPr>
          <p:cNvPr id="13" name="Text 11"/>
          <p:cNvSpPr/>
          <p:nvPr/>
        </p:nvSpPr>
        <p:spPr>
          <a:xfrm>
            <a:off x="960120" y="2029968"/>
            <a:ext cx="2468880" cy="182880"/>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E2E API TEST PASS RATE</a:t>
            </a:r>
            <a:endParaRPr lang="en-US" sz="850" dirty="0"/>
          </a:p>
        </p:txBody>
      </p:sp>
      <p:sp>
        <p:nvSpPr>
          <p:cNvPr id="14" name="Text 12"/>
          <p:cNvSpPr/>
          <p:nvPr/>
        </p:nvSpPr>
        <p:spPr>
          <a:xfrm>
            <a:off x="914400" y="2468880"/>
            <a:ext cx="2560320" cy="731520"/>
          </a:xfrm>
          <a:prstGeom prst="rect">
            <a:avLst/>
          </a:prstGeom>
          <a:noFill/>
          <a:ln/>
        </p:spPr>
        <p:txBody>
          <a:bodyPr wrap="square" rtlCol="0" anchor="ctr"/>
          <a:lstStyle/>
          <a:p>
            <a:pPr algn="ctr" indent="0" marL="0">
              <a:buNone/>
            </a:pPr>
            <a:r>
              <a:rPr lang="en-US" sz="3600" b="1" dirty="0">
                <a:solidFill>
                  <a:srgbClr val="0F172A"/>
                </a:solidFill>
                <a:latin typeface="Arial" pitchFamily="34" charset="0"/>
                <a:ea typeface="Arial" pitchFamily="34" charset="-122"/>
                <a:cs typeface="Arial" pitchFamily="34" charset="-120"/>
              </a:rPr>
              <a:t>100%</a:t>
            </a:r>
            <a:endParaRPr lang="en-US" sz="3600" dirty="0"/>
          </a:p>
        </p:txBody>
      </p:sp>
      <p:sp>
        <p:nvSpPr>
          <p:cNvPr id="15" name="Text 13"/>
          <p:cNvSpPr/>
          <p:nvPr/>
        </p:nvSpPr>
        <p:spPr>
          <a:xfrm>
            <a:off x="914400" y="3291840"/>
            <a:ext cx="2560320" cy="36576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4/4 Pillar Endpoints Verified</a:t>
            </a:r>
            <a:endParaRPr lang="en-US" sz="950" dirty="0"/>
          </a:p>
        </p:txBody>
      </p:sp>
      <p:sp>
        <p:nvSpPr>
          <p:cNvPr id="16" name="Shape 14"/>
          <p:cNvSpPr/>
          <p:nvPr/>
        </p:nvSpPr>
        <p:spPr>
          <a:xfrm>
            <a:off x="3840480" y="1783080"/>
            <a:ext cx="2926080" cy="2057400"/>
          </a:xfrm>
          <a:prstGeom prst="roundRect">
            <a:avLst/>
          </a:prstGeom>
          <a:solidFill>
            <a:srgbClr val="FFFFFF"/>
          </a:solidFill>
          <a:ln w="15240">
            <a:solidFill>
              <a:srgbClr val="CBD5E1"/>
            </a:solidFill>
            <a:prstDash val="solid"/>
          </a:ln>
        </p:spPr>
      </p:sp>
      <p:sp>
        <p:nvSpPr>
          <p:cNvPr id="17" name="Shape 15"/>
          <p:cNvSpPr/>
          <p:nvPr/>
        </p:nvSpPr>
        <p:spPr>
          <a:xfrm>
            <a:off x="4023360" y="1965960"/>
            <a:ext cx="2560320" cy="320040"/>
          </a:xfrm>
          <a:prstGeom prst="roundRect">
            <a:avLst/>
          </a:prstGeom>
          <a:solidFill>
            <a:srgbClr val="EEF2FF"/>
          </a:solidFill>
          <a:ln w="12700">
            <a:solidFill>
              <a:srgbClr val="4F46E5"/>
            </a:solidFill>
            <a:prstDash val="solid"/>
          </a:ln>
        </p:spPr>
      </p:sp>
      <p:sp>
        <p:nvSpPr>
          <p:cNvPr id="18" name="Text 16"/>
          <p:cNvSpPr/>
          <p:nvPr/>
        </p:nvSpPr>
        <p:spPr>
          <a:xfrm>
            <a:off x="4069080" y="2029968"/>
            <a:ext cx="2468880" cy="182880"/>
          </a:xfrm>
          <a:prstGeom prst="rect">
            <a:avLst/>
          </a:prstGeom>
          <a:noFill/>
          <a:ln/>
        </p:spPr>
        <p:txBody>
          <a:bodyPr wrap="square" rtlCol="0" anchor="ctr"/>
          <a:lstStyle/>
          <a:p>
            <a:pPr algn="ctr" indent="0" marL="0">
              <a:buNone/>
            </a:pPr>
            <a:r>
              <a:rPr lang="en-US" sz="850" b="1" dirty="0">
                <a:solidFill>
                  <a:srgbClr val="4F46E5"/>
                </a:solidFill>
                <a:latin typeface="Arial" pitchFamily="34" charset="0"/>
                <a:ea typeface="Arial" pitchFamily="34" charset="-122"/>
                <a:cs typeface="Arial" pitchFamily="34" charset="-120"/>
              </a:rPr>
              <a:t>AVERAGE RAG RETRIEVAL</a:t>
            </a:r>
            <a:endParaRPr lang="en-US" sz="850" dirty="0"/>
          </a:p>
        </p:txBody>
      </p:sp>
      <p:sp>
        <p:nvSpPr>
          <p:cNvPr id="19" name="Text 17"/>
          <p:cNvSpPr/>
          <p:nvPr/>
        </p:nvSpPr>
        <p:spPr>
          <a:xfrm>
            <a:off x="4023360" y="2468880"/>
            <a:ext cx="2560320" cy="731520"/>
          </a:xfrm>
          <a:prstGeom prst="rect">
            <a:avLst/>
          </a:prstGeom>
          <a:noFill/>
          <a:ln/>
        </p:spPr>
        <p:txBody>
          <a:bodyPr wrap="square" rtlCol="0" anchor="ctr"/>
          <a:lstStyle/>
          <a:p>
            <a:pPr algn="ctr" indent="0" marL="0">
              <a:buNone/>
            </a:pPr>
            <a:r>
              <a:rPr lang="en-US" sz="3600" b="1" dirty="0">
                <a:solidFill>
                  <a:srgbClr val="0F172A"/>
                </a:solidFill>
                <a:latin typeface="Arial" pitchFamily="34" charset="0"/>
                <a:ea typeface="Arial" pitchFamily="34" charset="-122"/>
                <a:cs typeface="Arial" pitchFamily="34" charset="-120"/>
              </a:rPr>
              <a:t>420ms</a:t>
            </a:r>
            <a:endParaRPr lang="en-US" sz="3600" dirty="0"/>
          </a:p>
        </p:txBody>
      </p:sp>
      <p:sp>
        <p:nvSpPr>
          <p:cNvPr id="20" name="Text 18"/>
          <p:cNvSpPr/>
          <p:nvPr/>
        </p:nvSpPr>
        <p:spPr>
          <a:xfrm>
            <a:off x="4023360" y="3291840"/>
            <a:ext cx="2560320" cy="36576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Sub-500ms Vector Search Latency</a:t>
            </a:r>
            <a:endParaRPr lang="en-US" sz="950" dirty="0"/>
          </a:p>
        </p:txBody>
      </p:sp>
      <p:sp>
        <p:nvSpPr>
          <p:cNvPr id="21" name="Shape 19"/>
          <p:cNvSpPr/>
          <p:nvPr/>
        </p:nvSpPr>
        <p:spPr>
          <a:xfrm>
            <a:off x="731520" y="3977640"/>
            <a:ext cx="2926080" cy="2057400"/>
          </a:xfrm>
          <a:prstGeom prst="roundRect">
            <a:avLst/>
          </a:prstGeom>
          <a:solidFill>
            <a:srgbClr val="FFFFFF"/>
          </a:solidFill>
          <a:ln w="15240">
            <a:solidFill>
              <a:srgbClr val="CBD5E1"/>
            </a:solidFill>
            <a:prstDash val="solid"/>
          </a:ln>
        </p:spPr>
      </p:sp>
      <p:sp>
        <p:nvSpPr>
          <p:cNvPr id="22" name="Shape 20"/>
          <p:cNvSpPr/>
          <p:nvPr/>
        </p:nvSpPr>
        <p:spPr>
          <a:xfrm>
            <a:off x="914400" y="4160520"/>
            <a:ext cx="2560320" cy="320040"/>
          </a:xfrm>
          <a:prstGeom prst="roundRect">
            <a:avLst/>
          </a:prstGeom>
          <a:solidFill>
            <a:srgbClr val="FEF2F2"/>
          </a:solidFill>
          <a:ln w="12700">
            <a:solidFill>
              <a:srgbClr val="EF4444"/>
            </a:solidFill>
            <a:prstDash val="solid"/>
          </a:ln>
        </p:spPr>
      </p:sp>
      <p:sp>
        <p:nvSpPr>
          <p:cNvPr id="23" name="Text 21"/>
          <p:cNvSpPr/>
          <p:nvPr/>
        </p:nvSpPr>
        <p:spPr>
          <a:xfrm>
            <a:off x="960120" y="4224528"/>
            <a:ext cx="2468880" cy="18288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POISON GUARD LATENCY</a:t>
            </a:r>
            <a:endParaRPr lang="en-US" sz="850" dirty="0"/>
          </a:p>
        </p:txBody>
      </p:sp>
      <p:sp>
        <p:nvSpPr>
          <p:cNvPr id="24" name="Text 22"/>
          <p:cNvSpPr/>
          <p:nvPr/>
        </p:nvSpPr>
        <p:spPr>
          <a:xfrm>
            <a:off x="914400" y="4663440"/>
            <a:ext cx="2560320" cy="731520"/>
          </a:xfrm>
          <a:prstGeom prst="rect">
            <a:avLst/>
          </a:prstGeom>
          <a:noFill/>
          <a:ln/>
        </p:spPr>
        <p:txBody>
          <a:bodyPr wrap="square" rtlCol="0" anchor="ctr"/>
          <a:lstStyle/>
          <a:p>
            <a:pPr algn="ctr" indent="0" marL="0">
              <a:buNone/>
            </a:pPr>
            <a:r>
              <a:rPr lang="en-US" sz="3600" b="1" dirty="0">
                <a:solidFill>
                  <a:srgbClr val="0F172A"/>
                </a:solidFill>
                <a:latin typeface="Arial" pitchFamily="34" charset="0"/>
                <a:ea typeface="Arial" pitchFamily="34" charset="-122"/>
                <a:cs typeface="Arial" pitchFamily="34" charset="-120"/>
              </a:rPr>
              <a:t>1.8ms</a:t>
            </a:r>
            <a:endParaRPr lang="en-US" sz="3600" dirty="0"/>
          </a:p>
        </p:txBody>
      </p:sp>
      <p:sp>
        <p:nvSpPr>
          <p:cNvPr id="25" name="Text 23"/>
          <p:cNvSpPr/>
          <p:nvPr/>
        </p:nvSpPr>
        <p:spPr>
          <a:xfrm>
            <a:off x="914400" y="5486400"/>
            <a:ext cx="2560320" cy="36576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Deterministic In-Memory Lookup</a:t>
            </a:r>
            <a:endParaRPr lang="en-US" sz="950" dirty="0"/>
          </a:p>
        </p:txBody>
      </p:sp>
      <p:sp>
        <p:nvSpPr>
          <p:cNvPr id="26" name="Shape 24"/>
          <p:cNvSpPr/>
          <p:nvPr/>
        </p:nvSpPr>
        <p:spPr>
          <a:xfrm>
            <a:off x="3840480" y="3977640"/>
            <a:ext cx="2926080" cy="2057400"/>
          </a:xfrm>
          <a:prstGeom prst="roundRect">
            <a:avLst/>
          </a:prstGeom>
          <a:solidFill>
            <a:srgbClr val="FFFFFF"/>
          </a:solidFill>
          <a:ln w="15240">
            <a:solidFill>
              <a:srgbClr val="CBD5E1"/>
            </a:solidFill>
            <a:prstDash val="solid"/>
          </a:ln>
        </p:spPr>
      </p:sp>
      <p:sp>
        <p:nvSpPr>
          <p:cNvPr id="27" name="Shape 25"/>
          <p:cNvSpPr/>
          <p:nvPr/>
        </p:nvSpPr>
        <p:spPr>
          <a:xfrm>
            <a:off x="4023360" y="4160520"/>
            <a:ext cx="2560320" cy="320040"/>
          </a:xfrm>
          <a:prstGeom prst="roundRect">
            <a:avLst/>
          </a:prstGeom>
          <a:solidFill>
            <a:srgbClr val="FFFBEB"/>
          </a:solidFill>
          <a:ln w="12700">
            <a:solidFill>
              <a:srgbClr val="F59E0B"/>
            </a:solidFill>
            <a:prstDash val="solid"/>
          </a:ln>
        </p:spPr>
      </p:sp>
      <p:sp>
        <p:nvSpPr>
          <p:cNvPr id="28" name="Text 26"/>
          <p:cNvSpPr/>
          <p:nvPr/>
        </p:nvSpPr>
        <p:spPr>
          <a:xfrm>
            <a:off x="4069080" y="4224528"/>
            <a:ext cx="2468880" cy="18288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OFFLINE FAILOVER VELOCITY</a:t>
            </a:r>
            <a:endParaRPr lang="en-US" sz="850" dirty="0"/>
          </a:p>
        </p:txBody>
      </p:sp>
      <p:sp>
        <p:nvSpPr>
          <p:cNvPr id="29" name="Text 27"/>
          <p:cNvSpPr/>
          <p:nvPr/>
        </p:nvSpPr>
        <p:spPr>
          <a:xfrm>
            <a:off x="4023360" y="4663440"/>
            <a:ext cx="2560320" cy="731520"/>
          </a:xfrm>
          <a:prstGeom prst="rect">
            <a:avLst/>
          </a:prstGeom>
          <a:noFill/>
          <a:ln/>
        </p:spPr>
        <p:txBody>
          <a:bodyPr wrap="square" rtlCol="0" anchor="ctr"/>
          <a:lstStyle/>
          <a:p>
            <a:pPr algn="ctr" indent="0" marL="0">
              <a:buNone/>
            </a:pPr>
            <a:r>
              <a:rPr lang="en-US" sz="3600" b="1" dirty="0">
                <a:solidFill>
                  <a:srgbClr val="0F172A"/>
                </a:solidFill>
                <a:latin typeface="Arial" pitchFamily="34" charset="0"/>
                <a:ea typeface="Arial" pitchFamily="34" charset="-122"/>
                <a:cs typeface="Arial" pitchFamily="34" charset="-120"/>
              </a:rPr>
              <a:t>&lt; 50ms</a:t>
            </a:r>
            <a:endParaRPr lang="en-US" sz="3600" dirty="0"/>
          </a:p>
        </p:txBody>
      </p:sp>
      <p:sp>
        <p:nvSpPr>
          <p:cNvPr id="30" name="Text 28"/>
          <p:cNvSpPr/>
          <p:nvPr/>
        </p:nvSpPr>
        <p:spPr>
          <a:xfrm>
            <a:off x="4023360" y="5486400"/>
            <a:ext cx="2560320" cy="36576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Zero-Downtime Resilience Switch</a:t>
            </a:r>
            <a:endParaRPr lang="en-US" sz="950" dirty="0"/>
          </a:p>
        </p:txBody>
      </p:sp>
      <p:sp>
        <p:nvSpPr>
          <p:cNvPr id="31" name="Shape 29"/>
          <p:cNvSpPr/>
          <p:nvPr/>
        </p:nvSpPr>
        <p:spPr>
          <a:xfrm>
            <a:off x="7132320" y="1783080"/>
            <a:ext cx="4327855" cy="4389120"/>
          </a:xfrm>
          <a:prstGeom prst="roundRect">
            <a:avLst/>
          </a:prstGeom>
          <a:solidFill>
            <a:srgbClr val="0B0F19"/>
          </a:solidFill>
          <a:ln w="15240">
            <a:solidFill>
              <a:srgbClr val="334155"/>
            </a:solidFill>
            <a:prstDash val="solid"/>
          </a:ln>
        </p:spPr>
      </p:sp>
      <p:sp>
        <p:nvSpPr>
          <p:cNvPr id="32" name="Text 30"/>
          <p:cNvSpPr/>
          <p:nvPr/>
        </p:nvSpPr>
        <p:spPr>
          <a:xfrm>
            <a:off x="7360920" y="1965960"/>
            <a:ext cx="3840480"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LIVE VERIFIED PRODUCTION API ENDPOINTS</a:t>
            </a:r>
            <a:endParaRPr lang="en-US" sz="1050" dirty="0"/>
          </a:p>
        </p:txBody>
      </p:sp>
      <p:sp>
        <p:nvSpPr>
          <p:cNvPr id="33" name="Shape 31"/>
          <p:cNvSpPr/>
          <p:nvPr/>
        </p:nvSpPr>
        <p:spPr>
          <a:xfrm>
            <a:off x="7360920" y="2286000"/>
            <a:ext cx="3840480" cy="868680"/>
          </a:xfrm>
          <a:prstGeom prst="roundRect">
            <a:avLst/>
          </a:prstGeom>
          <a:solidFill>
            <a:srgbClr val="1E293B"/>
          </a:solidFill>
          <a:ln w="12700">
            <a:solidFill>
              <a:srgbClr val="334155"/>
            </a:solidFill>
            <a:prstDash val="solid"/>
          </a:ln>
        </p:spPr>
      </p:sp>
      <p:sp>
        <p:nvSpPr>
          <p:cNvPr id="34" name="Text 32"/>
          <p:cNvSpPr/>
          <p:nvPr/>
        </p:nvSpPr>
        <p:spPr>
          <a:xfrm>
            <a:off x="7498080" y="2359152"/>
            <a:ext cx="3566160" cy="201168"/>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Triage &amp; Poison Guard</a:t>
            </a:r>
            <a:endParaRPr lang="en-US" sz="1000" dirty="0"/>
          </a:p>
        </p:txBody>
      </p:sp>
      <p:sp>
        <p:nvSpPr>
          <p:cNvPr id="35" name="Text 33"/>
          <p:cNvSpPr/>
          <p:nvPr/>
        </p:nvSpPr>
        <p:spPr>
          <a:xfrm>
            <a:off x="7498080" y="2560320"/>
            <a:ext cx="3566160" cy="164592"/>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POST /api/pawai/triage</a:t>
            </a:r>
            <a:endParaRPr lang="en-US" sz="850" dirty="0"/>
          </a:p>
        </p:txBody>
      </p:sp>
      <p:sp>
        <p:nvSpPr>
          <p:cNvPr id="36" name="Text 34"/>
          <p:cNvSpPr/>
          <p:nvPr/>
        </p:nvSpPr>
        <p:spPr>
          <a:xfrm>
            <a:off x="7498080" y="2743200"/>
            <a:ext cx="3566160" cy="365760"/>
          </a:xfrm>
          <a:prstGeom prst="rect">
            <a:avLst/>
          </a:prstGeom>
          <a:noFill/>
          <a:ln/>
        </p:spPr>
        <p:txBody>
          <a:bodyPr wrap="square" rtlCol="0" anchor="ctr"/>
          <a:lstStyle/>
          <a:p>
            <a:pPr indent="0" marL="0">
              <a:lnSpc>
                <a:spcPts val="1100"/>
              </a:lnSpc>
              <a:buNone/>
            </a:pPr>
            <a:r>
              <a:rPr lang="en-US" sz="800" dirty="0">
                <a:solidFill>
                  <a:srgbClr val="94A3B8"/>
                </a:solidFill>
                <a:latin typeface="Arial" pitchFamily="34" charset="0"/>
                <a:ea typeface="Arial" pitchFamily="34" charset="-122"/>
                <a:cs typeface="Arial" pitchFamily="34" charset="-120"/>
              </a:rPr>
              <a:t>Deterministic poison screening + MAIRA profile 0a8fd1e8 triage assessment.</a:t>
            </a:r>
            <a:endParaRPr lang="en-US" sz="800" dirty="0"/>
          </a:p>
        </p:txBody>
      </p:sp>
      <p:sp>
        <p:nvSpPr>
          <p:cNvPr id="37" name="Shape 35"/>
          <p:cNvSpPr/>
          <p:nvPr/>
        </p:nvSpPr>
        <p:spPr>
          <a:xfrm>
            <a:off x="7360920" y="3246120"/>
            <a:ext cx="3840480" cy="868680"/>
          </a:xfrm>
          <a:prstGeom prst="roundRect">
            <a:avLst/>
          </a:prstGeom>
          <a:solidFill>
            <a:srgbClr val="1E293B"/>
          </a:solidFill>
          <a:ln w="12700">
            <a:solidFill>
              <a:srgbClr val="334155"/>
            </a:solidFill>
            <a:prstDash val="solid"/>
          </a:ln>
        </p:spPr>
      </p:sp>
      <p:sp>
        <p:nvSpPr>
          <p:cNvPr id="38" name="Text 36"/>
          <p:cNvSpPr/>
          <p:nvPr/>
        </p:nvSpPr>
        <p:spPr>
          <a:xfrm>
            <a:off x="7498080" y="3319272"/>
            <a:ext cx="3566160" cy="201168"/>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Veterinary Conversational AI</a:t>
            </a:r>
            <a:endParaRPr lang="en-US" sz="1000" dirty="0"/>
          </a:p>
        </p:txBody>
      </p:sp>
      <p:sp>
        <p:nvSpPr>
          <p:cNvPr id="39" name="Text 37"/>
          <p:cNvSpPr/>
          <p:nvPr/>
        </p:nvSpPr>
        <p:spPr>
          <a:xfrm>
            <a:off x="7498080" y="3520440"/>
            <a:ext cx="3566160" cy="164592"/>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POST /api/pawai/chat</a:t>
            </a:r>
            <a:endParaRPr lang="en-US" sz="850" dirty="0"/>
          </a:p>
        </p:txBody>
      </p:sp>
      <p:sp>
        <p:nvSpPr>
          <p:cNvPr id="40" name="Text 38"/>
          <p:cNvSpPr/>
          <p:nvPr/>
        </p:nvSpPr>
        <p:spPr>
          <a:xfrm>
            <a:off x="7498080" y="3703320"/>
            <a:ext cx="3566160" cy="365760"/>
          </a:xfrm>
          <a:prstGeom prst="rect">
            <a:avLst/>
          </a:prstGeom>
          <a:noFill/>
          <a:ln/>
        </p:spPr>
        <p:txBody>
          <a:bodyPr wrap="square" rtlCol="0" anchor="ctr"/>
          <a:lstStyle/>
          <a:p>
            <a:pPr indent="0" marL="0">
              <a:lnSpc>
                <a:spcPts val="1100"/>
              </a:lnSpc>
              <a:buNone/>
            </a:pPr>
            <a:r>
              <a:rPr lang="en-US" sz="800" dirty="0">
                <a:solidFill>
                  <a:srgbClr val="94A3B8"/>
                </a:solidFill>
                <a:latin typeface="Arial" pitchFamily="34" charset="0"/>
                <a:ea typeface="Arial" pitchFamily="34" charset="-122"/>
                <a:cs typeface="Arial" pitchFamily="34" charset="-120"/>
              </a:rPr>
              <a:t>Multi-turn clinical dialogue with verified pet health history context injection.</a:t>
            </a:r>
            <a:endParaRPr lang="en-US" sz="800" dirty="0"/>
          </a:p>
        </p:txBody>
      </p:sp>
      <p:sp>
        <p:nvSpPr>
          <p:cNvPr id="41" name="Shape 39"/>
          <p:cNvSpPr/>
          <p:nvPr/>
        </p:nvSpPr>
        <p:spPr>
          <a:xfrm>
            <a:off x="7360920" y="4206240"/>
            <a:ext cx="3840480" cy="868680"/>
          </a:xfrm>
          <a:prstGeom prst="roundRect">
            <a:avLst/>
          </a:prstGeom>
          <a:solidFill>
            <a:srgbClr val="1E293B"/>
          </a:solidFill>
          <a:ln w="12700">
            <a:solidFill>
              <a:srgbClr val="334155"/>
            </a:solidFill>
            <a:prstDash val="solid"/>
          </a:ln>
        </p:spPr>
      </p:sp>
      <p:sp>
        <p:nvSpPr>
          <p:cNvPr id="42" name="Text 40"/>
          <p:cNvSpPr/>
          <p:nvPr/>
        </p:nvSpPr>
        <p:spPr>
          <a:xfrm>
            <a:off x="7498080" y="4279392"/>
            <a:ext cx="3566160" cy="201168"/>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Lost &amp; Found Vision Biometrics</a:t>
            </a:r>
            <a:endParaRPr lang="en-US" sz="1000" dirty="0"/>
          </a:p>
        </p:txBody>
      </p:sp>
      <p:sp>
        <p:nvSpPr>
          <p:cNvPr id="43" name="Text 41"/>
          <p:cNvSpPr/>
          <p:nvPr/>
        </p:nvSpPr>
        <p:spPr>
          <a:xfrm>
            <a:off x="7498080" y="4480560"/>
            <a:ext cx="3566160" cy="164592"/>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POST /api/lost-found/ai-match</a:t>
            </a:r>
            <a:endParaRPr lang="en-US" sz="850" dirty="0"/>
          </a:p>
        </p:txBody>
      </p:sp>
      <p:sp>
        <p:nvSpPr>
          <p:cNvPr id="44" name="Text 42"/>
          <p:cNvSpPr/>
          <p:nvPr/>
        </p:nvSpPr>
        <p:spPr>
          <a:xfrm>
            <a:off x="7498080" y="4663440"/>
            <a:ext cx="3566160" cy="365760"/>
          </a:xfrm>
          <a:prstGeom prst="rect">
            <a:avLst/>
          </a:prstGeom>
          <a:noFill/>
          <a:ln/>
        </p:spPr>
        <p:txBody>
          <a:bodyPr wrap="square" rtlCol="0" anchor="ctr"/>
          <a:lstStyle/>
          <a:p>
            <a:pPr indent="0" marL="0">
              <a:lnSpc>
                <a:spcPts val="1100"/>
              </a:lnSpc>
              <a:buNone/>
            </a:pPr>
            <a:r>
              <a:rPr lang="en-US" sz="800" dirty="0">
                <a:solidFill>
                  <a:srgbClr val="94A3B8"/>
                </a:solidFill>
                <a:latin typeface="Arial" pitchFamily="34" charset="0"/>
                <a:ea typeface="Arial" pitchFamily="34" charset="-122"/>
                <a:cs typeface="Arial" pitchFamily="34" charset="-120"/>
              </a:rPr>
              <a:t>Qwen2.5-VL-72B &amp; GPT-4o vision matching + 50-pet benchmark radar correlation.</a:t>
            </a:r>
            <a:endParaRPr lang="en-US" sz="800" dirty="0"/>
          </a:p>
        </p:txBody>
      </p:sp>
      <p:sp>
        <p:nvSpPr>
          <p:cNvPr id="45" name="Shape 43"/>
          <p:cNvSpPr/>
          <p:nvPr/>
        </p:nvSpPr>
        <p:spPr>
          <a:xfrm>
            <a:off x="7360920" y="5166360"/>
            <a:ext cx="3840480" cy="868680"/>
          </a:xfrm>
          <a:prstGeom prst="roundRect">
            <a:avLst/>
          </a:prstGeom>
          <a:solidFill>
            <a:srgbClr val="1E293B"/>
          </a:solidFill>
          <a:ln w="12700">
            <a:solidFill>
              <a:srgbClr val="334155"/>
            </a:solidFill>
            <a:prstDash val="solid"/>
          </a:ln>
        </p:spPr>
      </p:sp>
      <p:sp>
        <p:nvSpPr>
          <p:cNvPr id="46" name="Text 44"/>
          <p:cNvSpPr/>
          <p:nvPr/>
        </p:nvSpPr>
        <p:spPr>
          <a:xfrm>
            <a:off x="7498080" y="5239512"/>
            <a:ext cx="3566160" cy="201168"/>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Specialist Clinic Navigator</a:t>
            </a:r>
            <a:endParaRPr lang="en-US" sz="1000" dirty="0"/>
          </a:p>
        </p:txBody>
      </p:sp>
      <p:sp>
        <p:nvSpPr>
          <p:cNvPr id="47" name="Text 45"/>
          <p:cNvSpPr/>
          <p:nvPr/>
        </p:nvSpPr>
        <p:spPr>
          <a:xfrm>
            <a:off x="7498080" y="5440680"/>
            <a:ext cx="3566160" cy="164592"/>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GET /api/vets</a:t>
            </a:r>
            <a:endParaRPr lang="en-US" sz="850" dirty="0"/>
          </a:p>
        </p:txBody>
      </p:sp>
      <p:sp>
        <p:nvSpPr>
          <p:cNvPr id="48" name="Text 46"/>
          <p:cNvSpPr/>
          <p:nvPr/>
        </p:nvSpPr>
        <p:spPr>
          <a:xfrm>
            <a:off x="7498080" y="5623560"/>
            <a:ext cx="3566160" cy="365760"/>
          </a:xfrm>
          <a:prstGeom prst="rect">
            <a:avLst/>
          </a:prstGeom>
          <a:noFill/>
          <a:ln/>
        </p:spPr>
        <p:txBody>
          <a:bodyPr wrap="square" rtlCol="0" anchor="ctr"/>
          <a:lstStyle/>
          <a:p>
            <a:pPr indent="0" marL="0">
              <a:lnSpc>
                <a:spcPts val="1100"/>
              </a:lnSpc>
              <a:buNone/>
            </a:pPr>
            <a:r>
              <a:rPr lang="en-US" sz="800" dirty="0">
                <a:solidFill>
                  <a:srgbClr val="94A3B8"/>
                </a:solidFill>
                <a:latin typeface="Arial" pitchFamily="34" charset="0"/>
                <a:ea typeface="Arial" pitchFamily="34" charset="-122"/>
                <a:cs typeface="Arial" pitchFamily="34" charset="-120"/>
              </a:rPr>
              <a:t>Intelligent specialty routing with Dhaka district filtering and booking.</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58368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NUZZLE AI PLATFORM  |  GIGALOGY MAIRA MANAGED RAG INTEGRATION</a:t>
            </a:r>
            <a:endParaRPr lang="en-US" sz="1050" dirty="0"/>
          </a:p>
        </p:txBody>
      </p:sp>
      <p:sp>
        <p:nvSpPr>
          <p:cNvPr id="4" name="Text 2"/>
          <p:cNvSpPr/>
          <p:nvPr/>
        </p:nvSpPr>
        <p:spPr>
          <a:xfrm>
            <a:off x="7498080" y="128016"/>
            <a:ext cx="3962095" cy="320040"/>
          </a:xfrm>
          <a:prstGeom prst="rect">
            <a:avLst/>
          </a:prstGeom>
          <a:noFill/>
          <a:ln/>
        </p:spPr>
        <p:txBody>
          <a:bodyPr wrap="square" rtlCol="0" anchor="ctr"/>
          <a:lstStyle/>
          <a:p>
            <a:pPr algn="r" indent="0" marL="0">
              <a:buNone/>
            </a:pPr>
            <a:r>
              <a:rPr lang="en-US" sz="950" dirty="0">
                <a:solidFill>
                  <a:srgbClr val="94A3B8"/>
                </a:solidFill>
                <a:latin typeface="Arial" pitchFamily="34" charset="0"/>
                <a:ea typeface="Arial" pitchFamily="34" charset="-122"/>
                <a:cs typeface="Arial" pitchFamily="34" charset="-120"/>
              </a:rPr>
              <a:t>Slide 15 of 15  •  Technical &amp; Architecture Deep Dive</a:t>
            </a:r>
            <a:endParaRPr lang="en-US" sz="950" dirty="0"/>
          </a:p>
        </p:txBody>
      </p:sp>
      <p:sp>
        <p:nvSpPr>
          <p:cNvPr id="5" name="Text 3"/>
          <p:cNvSpPr/>
          <p:nvPr/>
        </p:nvSpPr>
        <p:spPr>
          <a:xfrm>
            <a:off x="731520" y="658368"/>
            <a:ext cx="10728655" cy="201168"/>
          </a:xfrm>
          <a:prstGeom prst="rect">
            <a:avLst/>
          </a:prstGeom>
          <a:noFill/>
          <a:ln/>
        </p:spPr>
        <p:txBody>
          <a:bodyPr wrap="square" rtlCol="0" anchor="ctr"/>
          <a:lstStyle/>
          <a:p>
            <a:pPr indent="0" marL="0">
              <a:buNone/>
            </a:pPr>
            <a:r>
              <a:rPr lang="en-US" sz="950" b="1" spc="120" kern="0" dirty="0">
                <a:solidFill>
                  <a:srgbClr val="4338CA"/>
                </a:solidFill>
                <a:latin typeface="Arial" pitchFamily="34" charset="0"/>
                <a:ea typeface="Arial" pitchFamily="34" charset="-122"/>
                <a:cs typeface="Arial" pitchFamily="34" charset="-120"/>
              </a:rPr>
              <a:t>LOOKING FORWARD</a:t>
            </a:r>
            <a:endParaRPr lang="en-US" sz="950" dirty="0"/>
          </a:p>
        </p:txBody>
      </p:sp>
      <p:sp>
        <p:nvSpPr>
          <p:cNvPr id="6" name="Text 4"/>
          <p:cNvSpPr/>
          <p:nvPr/>
        </p:nvSpPr>
        <p:spPr>
          <a:xfrm>
            <a:off x="731520" y="896112"/>
            <a:ext cx="10728655" cy="384048"/>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Future Roadmap &amp; Production Conclusion</a:t>
            </a:r>
            <a:endParaRPr lang="en-US" sz="1900" dirty="0"/>
          </a:p>
        </p:txBody>
      </p:sp>
      <p:sp>
        <p:nvSpPr>
          <p:cNvPr id="7" name="Text 5"/>
          <p:cNvSpPr/>
          <p:nvPr/>
        </p:nvSpPr>
        <p:spPr>
          <a:xfrm>
            <a:off x="731520" y="1316736"/>
            <a:ext cx="10728655" cy="292608"/>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Scaling multimodal AI across South Asia: Automated ingest, streaming responses, and voice triage.</a:t>
            </a:r>
            <a:endParaRPr lang="en-US" sz="1050" dirty="0"/>
          </a:p>
        </p:txBody>
      </p:sp>
      <p:sp>
        <p:nvSpPr>
          <p:cNvPr id="8" name="Shape 6"/>
          <p:cNvSpPr/>
          <p:nvPr/>
        </p:nvSpPr>
        <p:spPr>
          <a:xfrm>
            <a:off x="0" y="6355080"/>
            <a:ext cx="12191695" cy="502920"/>
          </a:xfrm>
          <a:prstGeom prst="rect">
            <a:avLst/>
          </a:prstGeom>
          <a:solidFill>
            <a:srgbClr val="0F172A"/>
          </a:solidFill>
          <a:ln w="12700">
            <a:solidFill>
              <a:srgbClr val="1E293B"/>
            </a:solidFill>
            <a:prstDash val="solid"/>
          </a:ln>
        </p:spPr>
      </p:sp>
      <p:sp>
        <p:nvSpPr>
          <p:cNvPr id="9" name="Text 7"/>
          <p:cNvSpPr/>
          <p:nvPr/>
        </p:nvSpPr>
        <p:spPr>
          <a:xfrm>
            <a:off x="731520" y="6446520"/>
            <a:ext cx="6583680" cy="32004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7498080" y="6446520"/>
            <a:ext cx="3962095" cy="32004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3429000" cy="2834640"/>
          </a:xfrm>
          <a:prstGeom prst="roundRect">
            <a:avLst/>
          </a:prstGeom>
          <a:solidFill>
            <a:srgbClr val="FFFFFF"/>
          </a:solidFill>
          <a:ln w="15240">
            <a:solidFill>
              <a:srgbClr val="CBD5E1"/>
            </a:solidFill>
            <a:prstDash val="solid"/>
          </a:ln>
        </p:spPr>
      </p:sp>
      <p:sp>
        <p:nvSpPr>
          <p:cNvPr id="12" name="Text 10"/>
          <p:cNvSpPr/>
          <p:nvPr/>
        </p:nvSpPr>
        <p:spPr>
          <a:xfrm>
            <a:off x="868680" y="1965960"/>
            <a:ext cx="457200" cy="36576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3" name="Text 11"/>
          <p:cNvSpPr/>
          <p:nvPr/>
        </p:nvSpPr>
        <p:spPr>
          <a:xfrm>
            <a:off x="868680" y="2423160"/>
            <a:ext cx="310896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PHASE 1 (NEXT SPRINT)</a:t>
            </a:r>
            <a:endParaRPr lang="en-US" sz="900" dirty="0"/>
          </a:p>
        </p:txBody>
      </p:sp>
      <p:sp>
        <p:nvSpPr>
          <p:cNvPr id="14" name="Text 12"/>
          <p:cNvSpPr/>
          <p:nvPr/>
        </p:nvSpPr>
        <p:spPr>
          <a:xfrm>
            <a:off x="868680" y="2651760"/>
            <a:ext cx="3108960" cy="457200"/>
          </a:xfrm>
          <a:prstGeom prst="rect">
            <a:avLst/>
          </a:prstGeom>
          <a:noFill/>
          <a:ln/>
        </p:spPr>
        <p:txBody>
          <a:bodyPr wrap="square" rtlCol="0" anchor="ctr"/>
          <a:lstStyle/>
          <a:p>
            <a:pPr indent="0" marL="0">
              <a:lnSpc>
                <a:spcPts val="1500"/>
              </a:lnSpc>
              <a:buNone/>
            </a:pPr>
            <a:r>
              <a:rPr lang="en-US" sz="1200" b="1" dirty="0">
                <a:solidFill>
                  <a:srgbClr val="0F172A"/>
                </a:solidFill>
                <a:latin typeface="Arial" pitchFamily="34" charset="0"/>
                <a:ea typeface="Arial" pitchFamily="34" charset="-122"/>
                <a:cs typeface="Arial" pitchFamily="34" charset="-120"/>
              </a:rPr>
              <a:t>Server-Sent Events (SSE) Streaming</a:t>
            </a:r>
            <a:endParaRPr lang="en-US" sz="1200" dirty="0"/>
          </a:p>
        </p:txBody>
      </p:sp>
      <p:sp>
        <p:nvSpPr>
          <p:cNvPr id="15" name="Text 13"/>
          <p:cNvSpPr/>
          <p:nvPr/>
        </p:nvSpPr>
        <p:spPr>
          <a:xfrm>
            <a:off x="868680" y="3154680"/>
            <a:ext cx="3108960" cy="128016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Upgrade /api/pawai/chat to native HTTP chunked streaming, reducing perceived token generation latency to &lt; 100ms on mobile devices.</a:t>
            </a:r>
            <a:endParaRPr lang="en-US" sz="950" dirty="0"/>
          </a:p>
        </p:txBody>
      </p:sp>
      <p:sp>
        <p:nvSpPr>
          <p:cNvPr id="16" name="Shape 14"/>
          <p:cNvSpPr/>
          <p:nvPr/>
        </p:nvSpPr>
        <p:spPr>
          <a:xfrm>
            <a:off x="4370832" y="1783080"/>
            <a:ext cx="3429000" cy="2834640"/>
          </a:xfrm>
          <a:prstGeom prst="roundRect">
            <a:avLst/>
          </a:prstGeom>
          <a:solidFill>
            <a:srgbClr val="FFFFFF"/>
          </a:solidFill>
          <a:ln w="15240">
            <a:solidFill>
              <a:srgbClr val="CBD5E1"/>
            </a:solidFill>
            <a:prstDash val="solid"/>
          </a:ln>
        </p:spPr>
      </p:sp>
      <p:sp>
        <p:nvSpPr>
          <p:cNvPr id="17" name="Text 15"/>
          <p:cNvSpPr/>
          <p:nvPr/>
        </p:nvSpPr>
        <p:spPr>
          <a:xfrm>
            <a:off x="4507992" y="1965960"/>
            <a:ext cx="457200" cy="36576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8" name="Text 16"/>
          <p:cNvSpPr/>
          <p:nvPr/>
        </p:nvSpPr>
        <p:spPr>
          <a:xfrm>
            <a:off x="4507992" y="2423160"/>
            <a:ext cx="310896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PHASE 2 (Q4 2026)</a:t>
            </a:r>
            <a:endParaRPr lang="en-US" sz="900" dirty="0"/>
          </a:p>
        </p:txBody>
      </p:sp>
      <p:sp>
        <p:nvSpPr>
          <p:cNvPr id="19" name="Text 17"/>
          <p:cNvSpPr/>
          <p:nvPr/>
        </p:nvSpPr>
        <p:spPr>
          <a:xfrm>
            <a:off x="4507992" y="2651760"/>
            <a:ext cx="3108960" cy="457200"/>
          </a:xfrm>
          <a:prstGeom prst="rect">
            <a:avLst/>
          </a:prstGeom>
          <a:noFill/>
          <a:ln/>
        </p:spPr>
        <p:txBody>
          <a:bodyPr wrap="square" rtlCol="0" anchor="ctr"/>
          <a:lstStyle/>
          <a:p>
            <a:pPr indent="0" marL="0">
              <a:lnSpc>
                <a:spcPts val="1500"/>
              </a:lnSpc>
              <a:buNone/>
            </a:pPr>
            <a:r>
              <a:rPr lang="en-US" sz="1200" b="1" dirty="0">
                <a:solidFill>
                  <a:srgbClr val="0F172A"/>
                </a:solidFill>
                <a:latin typeface="Arial" pitchFamily="34" charset="0"/>
                <a:ea typeface="Arial" pitchFamily="34" charset="-122"/>
                <a:cs typeface="Arial" pitchFamily="34" charset="-120"/>
              </a:rPr>
              <a:t>Real-Time Lost Pet Auto-Ingestion</a:t>
            </a:r>
            <a:endParaRPr lang="en-US" sz="1200" dirty="0"/>
          </a:p>
        </p:txBody>
      </p:sp>
      <p:sp>
        <p:nvSpPr>
          <p:cNvPr id="20" name="Text 18"/>
          <p:cNvSpPr/>
          <p:nvPr/>
        </p:nvSpPr>
        <p:spPr>
          <a:xfrm>
            <a:off x="4507992" y="3154680"/>
            <a:ext cx="3108960" cy="128016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Automate webhook ingestion so when a pet parent creates a lost report on Nuzzle, it is automatically vectorized into MAIRA within 5 seconds.</a:t>
            </a:r>
            <a:endParaRPr lang="en-US" sz="950" dirty="0"/>
          </a:p>
        </p:txBody>
      </p:sp>
      <p:sp>
        <p:nvSpPr>
          <p:cNvPr id="21" name="Shape 19"/>
          <p:cNvSpPr/>
          <p:nvPr/>
        </p:nvSpPr>
        <p:spPr>
          <a:xfrm>
            <a:off x="8010144" y="1783080"/>
            <a:ext cx="3429000" cy="2834640"/>
          </a:xfrm>
          <a:prstGeom prst="roundRect">
            <a:avLst/>
          </a:prstGeom>
          <a:solidFill>
            <a:srgbClr val="FFFFFF"/>
          </a:solidFill>
          <a:ln w="15240">
            <a:solidFill>
              <a:srgbClr val="CBD5E1"/>
            </a:solidFill>
            <a:prstDash val="solid"/>
          </a:ln>
        </p:spPr>
      </p:sp>
      <p:sp>
        <p:nvSpPr>
          <p:cNvPr id="22" name="Text 20"/>
          <p:cNvSpPr/>
          <p:nvPr/>
        </p:nvSpPr>
        <p:spPr>
          <a:xfrm>
            <a:off x="8147304" y="1965960"/>
            <a:ext cx="457200" cy="36576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23" name="Text 21"/>
          <p:cNvSpPr/>
          <p:nvPr/>
        </p:nvSpPr>
        <p:spPr>
          <a:xfrm>
            <a:off x="8147304" y="2423160"/>
            <a:ext cx="310896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PHASE 3 (Q1 2027)</a:t>
            </a:r>
            <a:endParaRPr lang="en-US" sz="900" dirty="0"/>
          </a:p>
        </p:txBody>
      </p:sp>
      <p:sp>
        <p:nvSpPr>
          <p:cNvPr id="24" name="Text 22"/>
          <p:cNvSpPr/>
          <p:nvPr/>
        </p:nvSpPr>
        <p:spPr>
          <a:xfrm>
            <a:off x="8147304" y="2651760"/>
            <a:ext cx="3108960" cy="457200"/>
          </a:xfrm>
          <a:prstGeom prst="rect">
            <a:avLst/>
          </a:prstGeom>
          <a:noFill/>
          <a:ln/>
        </p:spPr>
        <p:txBody>
          <a:bodyPr wrap="square" rtlCol="0" anchor="ctr"/>
          <a:lstStyle/>
          <a:p>
            <a:pPr indent="0" marL="0">
              <a:lnSpc>
                <a:spcPts val="1500"/>
              </a:lnSpc>
              <a:buNone/>
            </a:pPr>
            <a:r>
              <a:rPr lang="en-US" sz="1200" b="1" dirty="0">
                <a:solidFill>
                  <a:srgbClr val="0F172A"/>
                </a:solidFill>
                <a:latin typeface="Arial" pitchFamily="34" charset="0"/>
                <a:ea typeface="Arial" pitchFamily="34" charset="-122"/>
                <a:cs typeface="Arial" pitchFamily="34" charset="-120"/>
              </a:rPr>
              <a:t>Bilingual Voice Emergency Triage</a:t>
            </a:r>
            <a:endParaRPr lang="en-US" sz="1200" dirty="0"/>
          </a:p>
        </p:txBody>
      </p:sp>
      <p:sp>
        <p:nvSpPr>
          <p:cNvPr id="25" name="Text 23"/>
          <p:cNvSpPr/>
          <p:nvPr/>
        </p:nvSpPr>
        <p:spPr>
          <a:xfrm>
            <a:off x="8147304" y="3154680"/>
            <a:ext cx="3108960" cy="128016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Deploy whisper voice-to-text allowing panicking pet owners to verbally describe symptoms in spoken Bengali or English during acute emergencies.</a:t>
            </a:r>
            <a:endParaRPr lang="en-US" sz="950" dirty="0"/>
          </a:p>
        </p:txBody>
      </p:sp>
      <p:sp>
        <p:nvSpPr>
          <p:cNvPr id="26" name="Shape 24"/>
          <p:cNvSpPr/>
          <p:nvPr/>
        </p:nvSpPr>
        <p:spPr>
          <a:xfrm>
            <a:off x="731520" y="4800600"/>
            <a:ext cx="10728655" cy="1371600"/>
          </a:xfrm>
          <a:prstGeom prst="roundRect">
            <a:avLst/>
          </a:prstGeom>
          <a:solidFill>
            <a:srgbClr val="0F172A"/>
          </a:solidFill>
          <a:ln w="12700">
            <a:solidFill>
              <a:srgbClr val="1E293B"/>
            </a:solidFill>
            <a:prstDash val="solid"/>
          </a:ln>
        </p:spPr>
      </p:sp>
      <p:sp>
        <p:nvSpPr>
          <p:cNvPr id="27" name="Text 25"/>
          <p:cNvSpPr/>
          <p:nvPr/>
        </p:nvSpPr>
        <p:spPr>
          <a:xfrm>
            <a:off x="960120" y="4937760"/>
            <a:ext cx="5486400" cy="201168"/>
          </a:xfrm>
          <a:prstGeom prst="rect">
            <a:avLst/>
          </a:prstGeom>
          <a:noFill/>
          <a:ln/>
        </p:spPr>
        <p:txBody>
          <a:bodyPr wrap="square" rtlCol="0" anchor="ctr"/>
          <a:lstStyle/>
          <a:p>
            <a:pPr indent="0" marL="0">
              <a:buNone/>
            </a:pPr>
            <a:r>
              <a:rPr lang="en-US" sz="1000" b="1" spc="120" kern="0" dirty="0">
                <a:solidFill>
                  <a:srgbClr val="818CF8"/>
                </a:solidFill>
                <a:latin typeface="Arial" pitchFamily="34" charset="0"/>
                <a:ea typeface="Arial" pitchFamily="34" charset="-122"/>
                <a:cs typeface="Arial" pitchFamily="34" charset="-120"/>
              </a:rPr>
              <a:t>CONCLUSION &amp; KEY TAKEAWAYS</a:t>
            </a:r>
            <a:endParaRPr lang="en-US" sz="1000" dirty="0"/>
          </a:p>
        </p:txBody>
      </p:sp>
      <p:sp>
        <p:nvSpPr>
          <p:cNvPr id="28" name="Text 26"/>
          <p:cNvSpPr/>
          <p:nvPr/>
        </p:nvSpPr>
        <p:spPr>
          <a:xfrm>
            <a:off x="960120" y="5166360"/>
            <a:ext cx="7772400" cy="868680"/>
          </a:xfrm>
          <a:prstGeom prst="rect">
            <a:avLst/>
          </a:prstGeom>
          <a:noFill/>
          <a:ln/>
        </p:spPr>
        <p:txBody>
          <a:bodyPr wrap="square" rtlCol="0" anchor="ctr"/>
          <a:lstStyle/>
          <a:p>
            <a:pPr indent="0" marL="0">
              <a:lnSpc>
                <a:spcPts val="1400"/>
              </a:lnSpc>
              <a:buNone/>
            </a:pPr>
            <a:r>
              <a:rPr lang="en-US" sz="950" dirty="0">
                <a:solidFill>
                  <a:srgbClr val="CBD5E1"/>
                </a:solidFill>
                <a:latin typeface="Arial" pitchFamily="34" charset="0"/>
                <a:ea typeface="Arial" pitchFamily="34" charset="-122"/>
                <a:cs typeface="Arial" pitchFamily="34" charset="-120"/>
              </a:rPr>
              <a:t>Nuzzle’s integration with Gigalogy MAIRA successfully bridges the gap between social community and clinical veterinary intelligence. By combining isolated domain profiles, trained vector datasets, and deterministic poison guardrails, Nuzzle delivers an enterprise pet health companion built for real-world impact.</a:t>
            </a:r>
            <a:endParaRPr lang="en-US" sz="950" dirty="0"/>
          </a:p>
        </p:txBody>
      </p:sp>
      <p:sp>
        <p:nvSpPr>
          <p:cNvPr id="29" name="Shape 27"/>
          <p:cNvSpPr/>
          <p:nvPr/>
        </p:nvSpPr>
        <p:spPr>
          <a:xfrm>
            <a:off x="9144000" y="5029200"/>
            <a:ext cx="2011680" cy="868680"/>
          </a:xfrm>
          <a:prstGeom prst="roundRect">
            <a:avLst/>
          </a:prstGeom>
          <a:solidFill>
            <a:srgbClr val="4338CA"/>
          </a:solidFill>
          <a:ln w="12700">
            <a:solidFill>
              <a:srgbClr val="6366F1"/>
            </a:solidFill>
            <a:prstDash val="solid"/>
          </a:ln>
        </p:spPr>
      </p:sp>
      <p:sp>
        <p:nvSpPr>
          <p:cNvPr id="30" name="Text 28"/>
          <p:cNvSpPr/>
          <p:nvPr/>
        </p:nvSpPr>
        <p:spPr>
          <a:xfrm>
            <a:off x="9144000" y="5212080"/>
            <a:ext cx="2011680" cy="50292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THANK YOU!</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QUESTIONS &amp; ANSWERS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Nuzzle (Dhaka, Bangladesh)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Gigalogy MAIRA AI Integration: Managed RAG, Multimodal Vision &amp; Clinical Intelligence</dc:title>
  <dc:subject>Comprehensive Architectural &amp; Technical Walkthrough of Gigalogy MAIRA AI Integration in Nuzzle</dc:subject>
  <dc:creator>Abu Zafor &amp; Nuzzle Engineering Team</dc:creator>
  <cp:lastModifiedBy>Abu Zafor &amp; Nuzzle Engineering Team</cp:lastModifiedBy>
  <cp:revision>1</cp:revision>
  <dcterms:created xsi:type="dcterms:W3CDTF">2026-09-18T05:58:20Z</dcterms:created>
  <dcterms:modified xsi:type="dcterms:W3CDTF">2026-09-18T05:58:20Z</dcterms:modified>
</cp:coreProperties>
</file>