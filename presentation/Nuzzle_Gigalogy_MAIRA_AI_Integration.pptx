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7"/>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6366F1"/>
          </a:solidFill>
          <a:ln/>
        </p:spPr>
      </p:sp>
      <p:sp>
        <p:nvSpPr>
          <p:cNvPr id="3" name="Shape 1"/>
          <p:cNvSpPr/>
          <p:nvPr/>
        </p:nvSpPr>
        <p:spPr>
          <a:xfrm>
            <a:off x="914400" y="1051560"/>
            <a:ext cx="4389120" cy="347472"/>
          </a:xfrm>
          <a:prstGeom prst="roundRect">
            <a:avLst/>
          </a:prstGeom>
          <a:solidFill>
            <a:srgbClr val="1E1B4B"/>
          </a:solidFill>
          <a:ln w="12700">
            <a:solidFill>
              <a:srgbClr val="6366F1"/>
            </a:solidFill>
            <a:prstDash val="solid"/>
          </a:ln>
        </p:spPr>
      </p:sp>
      <p:sp>
        <p:nvSpPr>
          <p:cNvPr id="4" name="Text 2"/>
          <p:cNvSpPr/>
          <p:nvPr/>
        </p:nvSpPr>
        <p:spPr>
          <a:xfrm>
            <a:off x="914400" y="1115568"/>
            <a:ext cx="4389120" cy="228600"/>
          </a:xfrm>
          <a:prstGeom prst="rect">
            <a:avLst/>
          </a:prstGeom>
          <a:noFill/>
          <a:ln/>
        </p:spPr>
        <p:txBody>
          <a:bodyPr wrap="square" rtlCol="0" anchor="ctr"/>
          <a:lstStyle/>
          <a:p>
            <a:pPr algn="ctr" indent="0" marL="0">
              <a:buNone/>
            </a:pPr>
            <a:r>
              <a:rPr lang="en-US" sz="1000" b="1" dirty="0">
                <a:solidFill>
                  <a:srgbClr val="A5B4FC"/>
                </a:solidFill>
                <a:latin typeface="Arial" pitchFamily="34" charset="0"/>
                <a:ea typeface="Arial" pitchFamily="34" charset="-122"/>
                <a:cs typeface="Arial" pitchFamily="34" charset="-120"/>
              </a:rPr>
              <a:t>ENTERPRISE MULTIMODAL AI &amp; MANAGED RAG</a:t>
            </a:r>
            <a:endParaRPr lang="en-US" sz="1000" dirty="0"/>
          </a:p>
        </p:txBody>
      </p:sp>
      <p:sp>
        <p:nvSpPr>
          <p:cNvPr id="5" name="Text 3"/>
          <p:cNvSpPr/>
          <p:nvPr/>
        </p:nvSpPr>
        <p:spPr>
          <a:xfrm>
            <a:off x="914400" y="1600200"/>
            <a:ext cx="6949440" cy="1463040"/>
          </a:xfrm>
          <a:prstGeom prst="rect">
            <a:avLst/>
          </a:prstGeom>
          <a:noFill/>
          <a:ln/>
        </p:spPr>
        <p:txBody>
          <a:bodyPr wrap="square" rtlCol="0" anchor="ctr"/>
          <a:lstStyle/>
          <a:p>
            <a:pPr indent="0" marL="0">
              <a:lnSpc>
                <a:spcPts val="3800"/>
              </a:lnSpc>
              <a:buNone/>
            </a:pPr>
            <a:r>
              <a:rPr lang="en-US" sz="3200" b="1" dirty="0">
                <a:solidFill>
                  <a:srgbClr val="FFFFFF"/>
                </a:solidFill>
                <a:latin typeface="Arial" pitchFamily="34" charset="0"/>
                <a:ea typeface="Arial" pitchFamily="34" charset="-122"/>
                <a:cs typeface="Arial" pitchFamily="34" charset="-120"/>
              </a:rPr>
              <a:t>Gigalogy MAIRA AI Integration</a:t>
            </a:r>
            <a:endParaRPr lang="en-US" sz="3200" dirty="0"/>
          </a:p>
          <a:p>
            <a:pPr indent="0" marL="0">
              <a:lnSpc>
                <a:spcPts val="3800"/>
              </a:lnSpc>
              <a:buNone/>
            </a:pPr>
            <a:r>
              <a:rPr lang="en-US" sz="3200" b="1" dirty="0">
                <a:solidFill>
                  <a:srgbClr val="FFFFFF"/>
                </a:solidFill>
                <a:latin typeface="Arial" pitchFamily="34" charset="0"/>
                <a:ea typeface="Arial" pitchFamily="34" charset="-122"/>
                <a:cs typeface="Arial" pitchFamily="34" charset="-120"/>
              </a:rPr>
              <a:t>in Nuzzle Pet Social Media</a:t>
            </a:r>
            <a:endParaRPr lang="en-US" sz="3200" dirty="0"/>
          </a:p>
        </p:txBody>
      </p:sp>
      <p:sp>
        <p:nvSpPr>
          <p:cNvPr id="6" name="Text 4"/>
          <p:cNvSpPr/>
          <p:nvPr/>
        </p:nvSpPr>
        <p:spPr>
          <a:xfrm>
            <a:off x="914400" y="3200400"/>
            <a:ext cx="6766560" cy="731520"/>
          </a:xfrm>
          <a:prstGeom prst="rect">
            <a:avLst/>
          </a:prstGeom>
          <a:noFill/>
          <a:ln/>
        </p:spPr>
        <p:txBody>
          <a:bodyPr wrap="square" rtlCol="0" anchor="ctr"/>
          <a:lstStyle/>
          <a:p>
            <a:pPr indent="0" marL="0">
              <a:lnSpc>
                <a:spcPts val="1800"/>
              </a:lnSpc>
              <a:buNone/>
            </a:pPr>
            <a:r>
              <a:rPr lang="en-US" sz="1300" dirty="0">
                <a:solidFill>
                  <a:srgbClr val="94A3B8"/>
                </a:solidFill>
                <a:latin typeface="Arial" pitchFamily="34" charset="0"/>
                <a:ea typeface="Arial" pitchFamily="34" charset="-122"/>
                <a:cs typeface="Arial" pitchFamily="34" charset="-120"/>
              </a:rPr>
              <a:t>Comprehensive technical walkthrough of deploying Gigalogy MAIRA Managed RAG, fine-tuned multimodal vector datasets, and zero-downtime clinical AI intelligence across 4 core pillars.</a:t>
            </a:r>
            <a:endParaRPr lang="en-US" sz="1300" dirty="0"/>
          </a:p>
        </p:txBody>
      </p:sp>
      <p:sp>
        <p:nvSpPr>
          <p:cNvPr id="7" name="Shape 5"/>
          <p:cNvSpPr/>
          <p:nvPr/>
        </p:nvSpPr>
        <p:spPr>
          <a:xfrm>
            <a:off x="914400" y="4160520"/>
            <a:ext cx="1627632" cy="1645920"/>
          </a:xfrm>
          <a:prstGeom prst="roundRect">
            <a:avLst/>
          </a:prstGeom>
          <a:solidFill>
            <a:srgbClr val="111827"/>
          </a:solidFill>
          <a:ln w="12700">
            <a:solidFill>
              <a:srgbClr val="374151"/>
            </a:solidFill>
            <a:prstDash val="solid"/>
          </a:ln>
        </p:spPr>
      </p:sp>
      <p:sp>
        <p:nvSpPr>
          <p:cNvPr id="8" name="Text 6"/>
          <p:cNvSpPr/>
          <p:nvPr/>
        </p:nvSpPr>
        <p:spPr>
          <a:xfrm>
            <a:off x="1051560" y="4297680"/>
            <a:ext cx="457200" cy="365760"/>
          </a:xfrm>
          <a:prstGeom prst="rect">
            <a:avLst/>
          </a:prstGeom>
          <a:noFill/>
          <a:ln/>
        </p:spPr>
        <p:txBody>
          <a:bodyPr wrap="square" rtlCol="0" anchor="ctr"/>
          <a:lstStyle/>
          <a:p>
            <a:pPr indent="0" marL="0">
              <a:buNone/>
            </a:pPr>
            <a:r>
              <a:rPr lang="en-US" sz="2000" dirty="0">
                <a:solidFill>
                  <a:srgbClr val="000000"/>
                </a:solidFill>
              </a:rPr>
              <a:t>🩺</a:t>
            </a:r>
            <a:endParaRPr lang="en-US" sz="2000" dirty="0"/>
          </a:p>
        </p:txBody>
      </p:sp>
      <p:sp>
        <p:nvSpPr>
          <p:cNvPr id="9" name="Text 7"/>
          <p:cNvSpPr/>
          <p:nvPr/>
        </p:nvSpPr>
        <p:spPr>
          <a:xfrm>
            <a:off x="1051560" y="4709160"/>
            <a:ext cx="1371600" cy="41148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PawDoctor Triage</a:t>
            </a:r>
            <a:endParaRPr lang="en-US" sz="1100" dirty="0"/>
          </a:p>
        </p:txBody>
      </p:sp>
      <p:sp>
        <p:nvSpPr>
          <p:cNvPr id="10" name="Text 8"/>
          <p:cNvSpPr/>
          <p:nvPr/>
        </p:nvSpPr>
        <p:spPr>
          <a:xfrm>
            <a:off x="1051560" y="5138928"/>
            <a:ext cx="1371600" cy="201168"/>
          </a:xfrm>
          <a:prstGeom prst="rect">
            <a:avLst/>
          </a:prstGeom>
          <a:noFill/>
          <a:ln/>
        </p:spPr>
        <p:txBody>
          <a:bodyPr wrap="square" rtlCol="0" anchor="ctr"/>
          <a:lstStyle/>
          <a:p>
            <a:pPr indent="0" marL="0">
              <a:buNone/>
            </a:pPr>
            <a:r>
              <a:rPr lang="en-US" sz="950" b="1" dirty="0">
                <a:solidFill>
                  <a:srgbClr val="818CF8"/>
                </a:solidFill>
                <a:latin typeface="Arial" pitchFamily="34" charset="0"/>
                <a:ea typeface="Arial" pitchFamily="34" charset="-122"/>
                <a:cs typeface="Arial" pitchFamily="34" charset="-120"/>
              </a:rPr>
              <a:t>ID: 0a8fd1e8</a:t>
            </a:r>
            <a:endParaRPr lang="en-US" sz="950" dirty="0"/>
          </a:p>
        </p:txBody>
      </p:sp>
      <p:sp>
        <p:nvSpPr>
          <p:cNvPr id="11" name="Text 9"/>
          <p:cNvSpPr/>
          <p:nvPr/>
        </p:nvSpPr>
        <p:spPr>
          <a:xfrm>
            <a:off x="1051560" y="5358384"/>
            <a:ext cx="1371600" cy="347472"/>
          </a:xfrm>
          <a:prstGeom prst="rect">
            <a:avLst/>
          </a:prstGeom>
          <a:noFill/>
          <a:ln/>
        </p:spPr>
        <p:txBody>
          <a:bodyPr wrap="square" rtlCol="0" anchor="ctr"/>
          <a:lstStyle/>
          <a:p>
            <a:pPr indent="0" marL="0">
              <a:buNone/>
            </a:pPr>
            <a:r>
              <a:rPr lang="en-US" sz="900" dirty="0">
                <a:solidFill>
                  <a:srgbClr val="9CA3AF"/>
                </a:solidFill>
                <a:latin typeface="Arial" pitchFamily="34" charset="0"/>
                <a:ea typeface="Arial" pitchFamily="34" charset="-122"/>
                <a:cs typeface="Arial" pitchFamily="34" charset="-120"/>
              </a:rPr>
              <a:t>24/7 Clinical Emergency AI</a:t>
            </a:r>
            <a:endParaRPr lang="en-US" sz="900" dirty="0"/>
          </a:p>
        </p:txBody>
      </p:sp>
      <p:sp>
        <p:nvSpPr>
          <p:cNvPr id="12" name="Shape 10"/>
          <p:cNvSpPr/>
          <p:nvPr/>
        </p:nvSpPr>
        <p:spPr>
          <a:xfrm>
            <a:off x="2633472" y="4160520"/>
            <a:ext cx="1627632" cy="1645920"/>
          </a:xfrm>
          <a:prstGeom prst="roundRect">
            <a:avLst/>
          </a:prstGeom>
          <a:solidFill>
            <a:srgbClr val="111827"/>
          </a:solidFill>
          <a:ln w="12700">
            <a:solidFill>
              <a:srgbClr val="374151"/>
            </a:solidFill>
            <a:prstDash val="solid"/>
          </a:ln>
        </p:spPr>
      </p:sp>
      <p:sp>
        <p:nvSpPr>
          <p:cNvPr id="13" name="Text 11"/>
          <p:cNvSpPr/>
          <p:nvPr/>
        </p:nvSpPr>
        <p:spPr>
          <a:xfrm>
            <a:off x="2770632" y="4297680"/>
            <a:ext cx="457200" cy="365760"/>
          </a:xfrm>
          <a:prstGeom prst="rect">
            <a:avLst/>
          </a:prstGeom>
          <a:noFill/>
          <a:ln/>
        </p:spPr>
        <p:txBody>
          <a:bodyPr wrap="square" rtlCol="0" anchor="ctr"/>
          <a:lstStyle/>
          <a:p>
            <a:pPr indent="0" marL="0">
              <a:buNone/>
            </a:pPr>
            <a:r>
              <a:rPr lang="en-US" sz="2000" dirty="0">
                <a:solidFill>
                  <a:srgbClr val="000000"/>
                </a:solidFill>
              </a:rPr>
              <a:t>📡</a:t>
            </a:r>
            <a:endParaRPr lang="en-US" sz="2000" dirty="0"/>
          </a:p>
        </p:txBody>
      </p:sp>
      <p:sp>
        <p:nvSpPr>
          <p:cNvPr id="14" name="Text 12"/>
          <p:cNvSpPr/>
          <p:nvPr/>
        </p:nvSpPr>
        <p:spPr>
          <a:xfrm>
            <a:off x="2770632" y="4709160"/>
            <a:ext cx="1371600" cy="41148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Lost &amp; Found Radar</a:t>
            </a:r>
            <a:endParaRPr lang="en-US" sz="1100" dirty="0"/>
          </a:p>
        </p:txBody>
      </p:sp>
      <p:sp>
        <p:nvSpPr>
          <p:cNvPr id="15" name="Text 13"/>
          <p:cNvSpPr/>
          <p:nvPr/>
        </p:nvSpPr>
        <p:spPr>
          <a:xfrm>
            <a:off x="2770632" y="5138928"/>
            <a:ext cx="1371600" cy="201168"/>
          </a:xfrm>
          <a:prstGeom prst="rect">
            <a:avLst/>
          </a:prstGeom>
          <a:noFill/>
          <a:ln/>
        </p:spPr>
        <p:txBody>
          <a:bodyPr wrap="square" rtlCol="0" anchor="ctr"/>
          <a:lstStyle/>
          <a:p>
            <a:pPr indent="0" marL="0">
              <a:buNone/>
            </a:pPr>
            <a:r>
              <a:rPr lang="en-US" sz="950" b="1" dirty="0">
                <a:solidFill>
                  <a:srgbClr val="818CF8"/>
                </a:solidFill>
                <a:latin typeface="Arial" pitchFamily="34" charset="0"/>
                <a:ea typeface="Arial" pitchFamily="34" charset="-122"/>
                <a:cs typeface="Arial" pitchFamily="34" charset="-120"/>
              </a:rPr>
              <a:t>ID: a10e6172</a:t>
            </a:r>
            <a:endParaRPr lang="en-US" sz="950" dirty="0"/>
          </a:p>
        </p:txBody>
      </p:sp>
      <p:sp>
        <p:nvSpPr>
          <p:cNvPr id="16" name="Text 14"/>
          <p:cNvSpPr/>
          <p:nvPr/>
        </p:nvSpPr>
        <p:spPr>
          <a:xfrm>
            <a:off x="2770632" y="5358384"/>
            <a:ext cx="1371600" cy="347472"/>
          </a:xfrm>
          <a:prstGeom prst="rect">
            <a:avLst/>
          </a:prstGeom>
          <a:noFill/>
          <a:ln/>
        </p:spPr>
        <p:txBody>
          <a:bodyPr wrap="square" rtlCol="0" anchor="ctr"/>
          <a:lstStyle/>
          <a:p>
            <a:pPr indent="0" marL="0">
              <a:buNone/>
            </a:pPr>
            <a:r>
              <a:rPr lang="en-US" sz="900" dirty="0">
                <a:solidFill>
                  <a:srgbClr val="9CA3AF"/>
                </a:solidFill>
                <a:latin typeface="Arial" pitchFamily="34" charset="0"/>
                <a:ea typeface="Arial" pitchFamily="34" charset="-122"/>
                <a:cs typeface="Arial" pitchFamily="34" charset="-120"/>
              </a:rPr>
              <a:t>Vision + RAG Pet Matcher</a:t>
            </a:r>
            <a:endParaRPr lang="en-US" sz="900" dirty="0"/>
          </a:p>
        </p:txBody>
      </p:sp>
      <p:sp>
        <p:nvSpPr>
          <p:cNvPr id="17" name="Shape 15"/>
          <p:cNvSpPr/>
          <p:nvPr/>
        </p:nvSpPr>
        <p:spPr>
          <a:xfrm>
            <a:off x="4352544" y="4160520"/>
            <a:ext cx="1627632" cy="1645920"/>
          </a:xfrm>
          <a:prstGeom prst="roundRect">
            <a:avLst/>
          </a:prstGeom>
          <a:solidFill>
            <a:srgbClr val="111827"/>
          </a:solidFill>
          <a:ln w="12700">
            <a:solidFill>
              <a:srgbClr val="374151"/>
            </a:solidFill>
            <a:prstDash val="solid"/>
          </a:ln>
        </p:spPr>
      </p:sp>
      <p:sp>
        <p:nvSpPr>
          <p:cNvPr id="18" name="Text 16"/>
          <p:cNvSpPr/>
          <p:nvPr/>
        </p:nvSpPr>
        <p:spPr>
          <a:xfrm>
            <a:off x="4489704" y="4297680"/>
            <a:ext cx="457200" cy="365760"/>
          </a:xfrm>
          <a:prstGeom prst="rect">
            <a:avLst/>
          </a:prstGeom>
          <a:noFill/>
          <a:ln/>
        </p:spPr>
        <p:txBody>
          <a:bodyPr wrap="square" rtlCol="0" anchor="ctr"/>
          <a:lstStyle/>
          <a:p>
            <a:pPr indent="0" marL="0">
              <a:buNone/>
            </a:pPr>
            <a:r>
              <a:rPr lang="en-US" sz="2000" dirty="0">
                <a:solidFill>
                  <a:srgbClr val="000000"/>
                </a:solidFill>
              </a:rPr>
              <a:t>🏥</a:t>
            </a:r>
            <a:endParaRPr lang="en-US" sz="2000" dirty="0"/>
          </a:p>
        </p:txBody>
      </p:sp>
      <p:sp>
        <p:nvSpPr>
          <p:cNvPr id="19" name="Text 17"/>
          <p:cNvSpPr/>
          <p:nvPr/>
        </p:nvSpPr>
        <p:spPr>
          <a:xfrm>
            <a:off x="4489704" y="4709160"/>
            <a:ext cx="1371600" cy="41148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Vet Clinic Routing</a:t>
            </a:r>
            <a:endParaRPr lang="en-US" sz="1100" dirty="0"/>
          </a:p>
        </p:txBody>
      </p:sp>
      <p:sp>
        <p:nvSpPr>
          <p:cNvPr id="20" name="Text 18"/>
          <p:cNvSpPr/>
          <p:nvPr/>
        </p:nvSpPr>
        <p:spPr>
          <a:xfrm>
            <a:off x="4489704" y="5138928"/>
            <a:ext cx="1371600" cy="201168"/>
          </a:xfrm>
          <a:prstGeom prst="rect">
            <a:avLst/>
          </a:prstGeom>
          <a:noFill/>
          <a:ln/>
        </p:spPr>
        <p:txBody>
          <a:bodyPr wrap="square" rtlCol="0" anchor="ctr"/>
          <a:lstStyle/>
          <a:p>
            <a:pPr indent="0" marL="0">
              <a:buNone/>
            </a:pPr>
            <a:r>
              <a:rPr lang="en-US" sz="950" b="1" dirty="0">
                <a:solidFill>
                  <a:srgbClr val="818CF8"/>
                </a:solidFill>
                <a:latin typeface="Arial" pitchFamily="34" charset="0"/>
                <a:ea typeface="Arial" pitchFamily="34" charset="-122"/>
                <a:cs typeface="Arial" pitchFamily="34" charset="-120"/>
              </a:rPr>
              <a:t>ID: 9884416a</a:t>
            </a:r>
            <a:endParaRPr lang="en-US" sz="950" dirty="0"/>
          </a:p>
        </p:txBody>
      </p:sp>
      <p:sp>
        <p:nvSpPr>
          <p:cNvPr id="21" name="Text 19"/>
          <p:cNvSpPr/>
          <p:nvPr/>
        </p:nvSpPr>
        <p:spPr>
          <a:xfrm>
            <a:off x="4489704" y="5358384"/>
            <a:ext cx="1371600" cy="347472"/>
          </a:xfrm>
          <a:prstGeom prst="rect">
            <a:avLst/>
          </a:prstGeom>
          <a:noFill/>
          <a:ln/>
        </p:spPr>
        <p:txBody>
          <a:bodyPr wrap="square" rtlCol="0" anchor="ctr"/>
          <a:lstStyle/>
          <a:p>
            <a:pPr indent="0" marL="0">
              <a:buNone/>
            </a:pPr>
            <a:r>
              <a:rPr lang="en-US" sz="900" dirty="0">
                <a:solidFill>
                  <a:srgbClr val="9CA3AF"/>
                </a:solidFill>
                <a:latin typeface="Arial" pitchFamily="34" charset="0"/>
                <a:ea typeface="Arial" pitchFamily="34" charset="-122"/>
                <a:cs typeface="Arial" pitchFamily="34" charset="-120"/>
              </a:rPr>
              <a:t>Dhaka Specialist Navigator</a:t>
            </a:r>
            <a:endParaRPr lang="en-US" sz="900" dirty="0"/>
          </a:p>
        </p:txBody>
      </p:sp>
      <p:sp>
        <p:nvSpPr>
          <p:cNvPr id="22" name="Shape 20"/>
          <p:cNvSpPr/>
          <p:nvPr/>
        </p:nvSpPr>
        <p:spPr>
          <a:xfrm>
            <a:off x="6071616" y="4160520"/>
            <a:ext cx="1627632" cy="1645920"/>
          </a:xfrm>
          <a:prstGeom prst="roundRect">
            <a:avLst/>
          </a:prstGeom>
          <a:solidFill>
            <a:srgbClr val="111827"/>
          </a:solidFill>
          <a:ln w="12700">
            <a:solidFill>
              <a:srgbClr val="374151"/>
            </a:solidFill>
            <a:prstDash val="solid"/>
          </a:ln>
        </p:spPr>
      </p:sp>
      <p:sp>
        <p:nvSpPr>
          <p:cNvPr id="23" name="Text 21"/>
          <p:cNvSpPr/>
          <p:nvPr/>
        </p:nvSpPr>
        <p:spPr>
          <a:xfrm>
            <a:off x="6208776" y="4297680"/>
            <a:ext cx="457200" cy="365760"/>
          </a:xfrm>
          <a:prstGeom prst="rect">
            <a:avLst/>
          </a:prstGeom>
          <a:noFill/>
          <a:ln/>
        </p:spPr>
        <p:txBody>
          <a:bodyPr wrap="square" rtlCol="0" anchor="ctr"/>
          <a:lstStyle/>
          <a:p>
            <a:pPr indent="0" marL="0">
              <a:buNone/>
            </a:pPr>
            <a:r>
              <a:rPr lang="en-US" sz="2000" dirty="0">
                <a:solidFill>
                  <a:srgbClr val="000000"/>
                </a:solidFill>
              </a:rPr>
              <a:t>🥑</a:t>
            </a:r>
            <a:endParaRPr lang="en-US" sz="2000" dirty="0"/>
          </a:p>
        </p:txBody>
      </p:sp>
      <p:sp>
        <p:nvSpPr>
          <p:cNvPr id="24" name="Text 22"/>
          <p:cNvSpPr/>
          <p:nvPr/>
        </p:nvSpPr>
        <p:spPr>
          <a:xfrm>
            <a:off x="6208776" y="4709160"/>
            <a:ext cx="1371600" cy="411480"/>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Marketplace Nutrition</a:t>
            </a:r>
            <a:endParaRPr lang="en-US" sz="1100" dirty="0"/>
          </a:p>
        </p:txBody>
      </p:sp>
      <p:sp>
        <p:nvSpPr>
          <p:cNvPr id="25" name="Text 23"/>
          <p:cNvSpPr/>
          <p:nvPr/>
        </p:nvSpPr>
        <p:spPr>
          <a:xfrm>
            <a:off x="6208776" y="5138928"/>
            <a:ext cx="1371600" cy="201168"/>
          </a:xfrm>
          <a:prstGeom prst="rect">
            <a:avLst/>
          </a:prstGeom>
          <a:noFill/>
          <a:ln/>
        </p:spPr>
        <p:txBody>
          <a:bodyPr wrap="square" rtlCol="0" anchor="ctr"/>
          <a:lstStyle/>
          <a:p>
            <a:pPr indent="0" marL="0">
              <a:buNone/>
            </a:pPr>
            <a:r>
              <a:rPr lang="en-US" sz="950" b="1" dirty="0">
                <a:solidFill>
                  <a:srgbClr val="818CF8"/>
                </a:solidFill>
                <a:latin typeface="Arial" pitchFamily="34" charset="0"/>
                <a:ea typeface="Arial" pitchFamily="34" charset="-122"/>
                <a:cs typeface="Arial" pitchFamily="34" charset="-120"/>
              </a:rPr>
              <a:t>ID: 66e15325</a:t>
            </a:r>
            <a:endParaRPr lang="en-US" sz="950" dirty="0"/>
          </a:p>
        </p:txBody>
      </p:sp>
      <p:sp>
        <p:nvSpPr>
          <p:cNvPr id="26" name="Text 24"/>
          <p:cNvSpPr/>
          <p:nvPr/>
        </p:nvSpPr>
        <p:spPr>
          <a:xfrm>
            <a:off x="6208776" y="5358384"/>
            <a:ext cx="1371600" cy="347472"/>
          </a:xfrm>
          <a:prstGeom prst="rect">
            <a:avLst/>
          </a:prstGeom>
          <a:noFill/>
          <a:ln/>
        </p:spPr>
        <p:txBody>
          <a:bodyPr wrap="square" rtlCol="0" anchor="ctr"/>
          <a:lstStyle/>
          <a:p>
            <a:pPr indent="0" marL="0">
              <a:buNone/>
            </a:pPr>
            <a:r>
              <a:rPr lang="en-US" sz="900" dirty="0">
                <a:solidFill>
                  <a:srgbClr val="9CA3AF"/>
                </a:solidFill>
                <a:latin typeface="Arial" pitchFamily="34" charset="0"/>
                <a:ea typeface="Arial" pitchFamily="34" charset="-122"/>
                <a:cs typeface="Arial" pitchFamily="34" charset="-120"/>
              </a:rPr>
              <a:t>Diet &amp; Allergy Formulation</a:t>
            </a:r>
            <a:endParaRPr lang="en-US" sz="900" dirty="0"/>
          </a:p>
        </p:txBody>
      </p:sp>
      <p:sp>
        <p:nvSpPr>
          <p:cNvPr id="27" name="Shape 25"/>
          <p:cNvSpPr/>
          <p:nvPr/>
        </p:nvSpPr>
        <p:spPr>
          <a:xfrm>
            <a:off x="8092440" y="1051560"/>
            <a:ext cx="3200400" cy="4754880"/>
          </a:xfrm>
          <a:prstGeom prst="roundRect">
            <a:avLst/>
          </a:prstGeom>
          <a:solidFill>
            <a:srgbClr val="0F172A"/>
          </a:solidFill>
          <a:ln w="19050">
            <a:solidFill>
              <a:srgbClr val="334155"/>
            </a:solidFill>
            <a:prstDash val="solid"/>
          </a:ln>
        </p:spPr>
      </p:sp>
      <p:sp>
        <p:nvSpPr>
          <p:cNvPr id="28" name="Text 26"/>
          <p:cNvSpPr/>
          <p:nvPr/>
        </p:nvSpPr>
        <p:spPr>
          <a:xfrm>
            <a:off x="8366760" y="1325880"/>
            <a:ext cx="2651760" cy="228600"/>
          </a:xfrm>
          <a:prstGeom prst="rect">
            <a:avLst/>
          </a:prstGeom>
          <a:noFill/>
          <a:ln/>
        </p:spPr>
        <p:txBody>
          <a:bodyPr wrap="square" rtlCol="0" anchor="ctr"/>
          <a:lstStyle/>
          <a:p>
            <a:pPr indent="0" marL="0">
              <a:buNone/>
            </a:pPr>
            <a:r>
              <a:rPr lang="en-US" sz="1050" b="1" spc="120" kern="0" dirty="0">
                <a:solidFill>
                  <a:srgbClr val="818CF8"/>
                </a:solidFill>
                <a:latin typeface="Arial" pitchFamily="34" charset="0"/>
                <a:ea typeface="Arial" pitchFamily="34" charset="-122"/>
                <a:cs typeface="Arial" pitchFamily="34" charset="-120"/>
              </a:rPr>
              <a:t>DEPLOYMENT SUMMARY</a:t>
            </a:r>
            <a:endParaRPr lang="en-US" sz="1050" dirty="0"/>
          </a:p>
        </p:txBody>
      </p:sp>
      <p:sp>
        <p:nvSpPr>
          <p:cNvPr id="29" name="Shape 27"/>
          <p:cNvSpPr/>
          <p:nvPr/>
        </p:nvSpPr>
        <p:spPr>
          <a:xfrm>
            <a:off x="8321040" y="1691640"/>
            <a:ext cx="2743200" cy="658368"/>
          </a:xfrm>
          <a:prstGeom prst="roundRect">
            <a:avLst/>
          </a:prstGeom>
          <a:solidFill>
            <a:srgbClr val="1E293B"/>
          </a:solidFill>
          <a:ln w="12700">
            <a:solidFill>
              <a:srgbClr val="334155"/>
            </a:solidFill>
            <a:prstDash val="solid"/>
          </a:ln>
        </p:spPr>
      </p:sp>
      <p:sp>
        <p:nvSpPr>
          <p:cNvPr id="30" name="Text 28"/>
          <p:cNvSpPr/>
          <p:nvPr/>
        </p:nvSpPr>
        <p:spPr>
          <a:xfrm>
            <a:off x="8458200" y="1746504"/>
            <a:ext cx="2468880" cy="146304"/>
          </a:xfrm>
          <a:prstGeom prst="rect">
            <a:avLst/>
          </a:prstGeom>
          <a:noFill/>
          <a:ln/>
        </p:spPr>
        <p:txBody>
          <a:bodyPr wrap="square" rtlCol="0" anchor="ctr"/>
          <a:lstStyle/>
          <a:p>
            <a:pPr indent="0" marL="0">
              <a:buNone/>
            </a:pPr>
            <a:r>
              <a:rPr lang="en-US" sz="800" b="1" dirty="0">
                <a:solidFill>
                  <a:srgbClr val="94A3B8"/>
                </a:solidFill>
                <a:latin typeface="Arial" pitchFamily="34" charset="0"/>
                <a:ea typeface="Arial" pitchFamily="34" charset="-122"/>
                <a:cs typeface="Arial" pitchFamily="34" charset="-120"/>
              </a:rPr>
              <a:t>MAIRA PROFILES</a:t>
            </a:r>
            <a:endParaRPr lang="en-US" sz="800" dirty="0"/>
          </a:p>
        </p:txBody>
      </p:sp>
      <p:sp>
        <p:nvSpPr>
          <p:cNvPr id="31" name="Text 29"/>
          <p:cNvSpPr/>
          <p:nvPr/>
        </p:nvSpPr>
        <p:spPr>
          <a:xfrm>
            <a:off x="8458200" y="1901952"/>
            <a:ext cx="2468880" cy="210312"/>
          </a:xfrm>
          <a:prstGeom prst="rect">
            <a:avLst/>
          </a:prstGeom>
          <a:noFill/>
          <a:ln/>
        </p:spPr>
        <p:txBody>
          <a:bodyPr wrap="square" rtlCol="0" anchor="ctr"/>
          <a:lstStyle/>
          <a:p>
            <a:pPr indent="0" marL="0">
              <a:buNone/>
            </a:pPr>
            <a:r>
              <a:rPr lang="en-US" sz="1150" b="1" dirty="0">
                <a:solidFill>
                  <a:srgbClr val="38BDF8"/>
                </a:solidFill>
                <a:latin typeface="Arial" pitchFamily="34" charset="0"/>
                <a:ea typeface="Arial" pitchFamily="34" charset="-122"/>
                <a:cs typeface="Arial" pitchFamily="34" charset="-120"/>
              </a:rPr>
              <a:t>4 Live Profiles</a:t>
            </a:r>
            <a:endParaRPr lang="en-US" sz="1150" dirty="0"/>
          </a:p>
        </p:txBody>
      </p:sp>
      <p:sp>
        <p:nvSpPr>
          <p:cNvPr id="32" name="Text 30"/>
          <p:cNvSpPr/>
          <p:nvPr/>
        </p:nvSpPr>
        <p:spPr>
          <a:xfrm>
            <a:off x="8458200" y="2130552"/>
            <a:ext cx="2468880" cy="164592"/>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UUID-bound custom system prompts</a:t>
            </a:r>
            <a:endParaRPr lang="en-US" sz="800" dirty="0"/>
          </a:p>
        </p:txBody>
      </p:sp>
      <p:sp>
        <p:nvSpPr>
          <p:cNvPr id="33" name="Shape 31"/>
          <p:cNvSpPr/>
          <p:nvPr/>
        </p:nvSpPr>
        <p:spPr>
          <a:xfrm>
            <a:off x="8321040" y="2468880"/>
            <a:ext cx="2743200" cy="658368"/>
          </a:xfrm>
          <a:prstGeom prst="roundRect">
            <a:avLst/>
          </a:prstGeom>
          <a:solidFill>
            <a:srgbClr val="1E293B"/>
          </a:solidFill>
          <a:ln w="12700">
            <a:solidFill>
              <a:srgbClr val="334155"/>
            </a:solidFill>
            <a:prstDash val="solid"/>
          </a:ln>
        </p:spPr>
      </p:sp>
      <p:sp>
        <p:nvSpPr>
          <p:cNvPr id="34" name="Text 32"/>
          <p:cNvSpPr/>
          <p:nvPr/>
        </p:nvSpPr>
        <p:spPr>
          <a:xfrm>
            <a:off x="8458200" y="2523744"/>
            <a:ext cx="2468880" cy="146304"/>
          </a:xfrm>
          <a:prstGeom prst="rect">
            <a:avLst/>
          </a:prstGeom>
          <a:noFill/>
          <a:ln/>
        </p:spPr>
        <p:txBody>
          <a:bodyPr wrap="square" rtlCol="0" anchor="ctr"/>
          <a:lstStyle/>
          <a:p>
            <a:pPr indent="0" marL="0">
              <a:buNone/>
            </a:pPr>
            <a:r>
              <a:rPr lang="en-US" sz="800" b="1" dirty="0">
                <a:solidFill>
                  <a:srgbClr val="94A3B8"/>
                </a:solidFill>
                <a:latin typeface="Arial" pitchFamily="34" charset="0"/>
                <a:ea typeface="Arial" pitchFamily="34" charset="-122"/>
                <a:cs typeface="Arial" pitchFamily="34" charset="-120"/>
              </a:rPr>
              <a:t>TRAINED DATASETS</a:t>
            </a:r>
            <a:endParaRPr lang="en-US" sz="800" dirty="0"/>
          </a:p>
        </p:txBody>
      </p:sp>
      <p:sp>
        <p:nvSpPr>
          <p:cNvPr id="35" name="Text 33"/>
          <p:cNvSpPr/>
          <p:nvPr/>
        </p:nvSpPr>
        <p:spPr>
          <a:xfrm>
            <a:off x="8458200" y="2679192"/>
            <a:ext cx="2468880" cy="210312"/>
          </a:xfrm>
          <a:prstGeom prst="rect">
            <a:avLst/>
          </a:prstGeom>
          <a:noFill/>
          <a:ln/>
        </p:spPr>
        <p:txBody>
          <a:bodyPr wrap="square" rtlCol="0" anchor="ctr"/>
          <a:lstStyle/>
          <a:p>
            <a:pPr indent="0" marL="0">
              <a:buNone/>
            </a:pPr>
            <a:r>
              <a:rPr lang="en-US" sz="1150" b="1" dirty="0">
                <a:solidFill>
                  <a:srgbClr val="38BDF8"/>
                </a:solidFill>
                <a:latin typeface="Arial" pitchFamily="34" charset="0"/>
                <a:ea typeface="Arial" pitchFamily="34" charset="-122"/>
                <a:cs typeface="Arial" pitchFamily="34" charset="-120"/>
              </a:rPr>
              <a:t>3 Vector Indices</a:t>
            </a:r>
            <a:endParaRPr lang="en-US" sz="1150" dirty="0"/>
          </a:p>
        </p:txBody>
      </p:sp>
      <p:sp>
        <p:nvSpPr>
          <p:cNvPr id="36" name="Text 34"/>
          <p:cNvSpPr/>
          <p:nvPr/>
        </p:nvSpPr>
        <p:spPr>
          <a:xfrm>
            <a:off x="8458200" y="2907792"/>
            <a:ext cx="2468880" cy="164592"/>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Lost pets, clinics, catalog</a:t>
            </a:r>
            <a:endParaRPr lang="en-US" sz="800" dirty="0"/>
          </a:p>
        </p:txBody>
      </p:sp>
      <p:sp>
        <p:nvSpPr>
          <p:cNvPr id="37" name="Shape 35"/>
          <p:cNvSpPr/>
          <p:nvPr/>
        </p:nvSpPr>
        <p:spPr>
          <a:xfrm>
            <a:off x="8321040" y="3246120"/>
            <a:ext cx="2743200" cy="658368"/>
          </a:xfrm>
          <a:prstGeom prst="roundRect">
            <a:avLst/>
          </a:prstGeom>
          <a:solidFill>
            <a:srgbClr val="1E293B"/>
          </a:solidFill>
          <a:ln w="12700">
            <a:solidFill>
              <a:srgbClr val="334155"/>
            </a:solidFill>
            <a:prstDash val="solid"/>
          </a:ln>
        </p:spPr>
      </p:sp>
      <p:sp>
        <p:nvSpPr>
          <p:cNvPr id="38" name="Text 36"/>
          <p:cNvSpPr/>
          <p:nvPr/>
        </p:nvSpPr>
        <p:spPr>
          <a:xfrm>
            <a:off x="8458200" y="3300984"/>
            <a:ext cx="2468880" cy="146304"/>
          </a:xfrm>
          <a:prstGeom prst="rect">
            <a:avLst/>
          </a:prstGeom>
          <a:noFill/>
          <a:ln/>
        </p:spPr>
        <p:txBody>
          <a:bodyPr wrap="square" rtlCol="0" anchor="ctr"/>
          <a:lstStyle/>
          <a:p>
            <a:pPr indent="0" marL="0">
              <a:buNone/>
            </a:pPr>
            <a:r>
              <a:rPr lang="en-US" sz="800" b="1" dirty="0">
                <a:solidFill>
                  <a:srgbClr val="94A3B8"/>
                </a:solidFill>
                <a:latin typeface="Arial" pitchFamily="34" charset="0"/>
                <a:ea typeface="Arial" pitchFamily="34" charset="-122"/>
                <a:cs typeface="Arial" pitchFamily="34" charset="-120"/>
              </a:rPr>
              <a:t>MULTIMODAL VISION</a:t>
            </a:r>
            <a:endParaRPr lang="en-US" sz="800" dirty="0"/>
          </a:p>
        </p:txBody>
      </p:sp>
      <p:sp>
        <p:nvSpPr>
          <p:cNvPr id="39" name="Text 37"/>
          <p:cNvSpPr/>
          <p:nvPr/>
        </p:nvSpPr>
        <p:spPr>
          <a:xfrm>
            <a:off x="8458200" y="3456432"/>
            <a:ext cx="2468880" cy="210312"/>
          </a:xfrm>
          <a:prstGeom prst="rect">
            <a:avLst/>
          </a:prstGeom>
          <a:noFill/>
          <a:ln/>
        </p:spPr>
        <p:txBody>
          <a:bodyPr wrap="square" rtlCol="0" anchor="ctr"/>
          <a:lstStyle/>
          <a:p>
            <a:pPr indent="0" marL="0">
              <a:buNone/>
            </a:pPr>
            <a:r>
              <a:rPr lang="en-US" sz="1150" b="1" dirty="0">
                <a:solidFill>
                  <a:srgbClr val="38BDF8"/>
                </a:solidFill>
                <a:latin typeface="Arial" pitchFamily="34" charset="0"/>
                <a:ea typeface="Arial" pitchFamily="34" charset="-122"/>
                <a:cs typeface="Arial" pitchFamily="34" charset="-120"/>
              </a:rPr>
              <a:t>Qwen2.5-VL-72B &amp; GPT-4o</a:t>
            </a:r>
            <a:endParaRPr lang="en-US" sz="1150" dirty="0"/>
          </a:p>
        </p:txBody>
      </p:sp>
      <p:sp>
        <p:nvSpPr>
          <p:cNvPr id="40" name="Text 38"/>
          <p:cNvSpPr/>
          <p:nvPr/>
        </p:nvSpPr>
        <p:spPr>
          <a:xfrm>
            <a:off x="8458200" y="3685032"/>
            <a:ext cx="2468880" cy="164592"/>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Visual sighting biometric correlation</a:t>
            </a:r>
            <a:endParaRPr lang="en-US" sz="800" dirty="0"/>
          </a:p>
        </p:txBody>
      </p:sp>
      <p:sp>
        <p:nvSpPr>
          <p:cNvPr id="41" name="Shape 39"/>
          <p:cNvSpPr/>
          <p:nvPr/>
        </p:nvSpPr>
        <p:spPr>
          <a:xfrm>
            <a:off x="8321040" y="4023360"/>
            <a:ext cx="2743200" cy="658368"/>
          </a:xfrm>
          <a:prstGeom prst="roundRect">
            <a:avLst/>
          </a:prstGeom>
          <a:solidFill>
            <a:srgbClr val="1E293B"/>
          </a:solidFill>
          <a:ln w="12700">
            <a:solidFill>
              <a:srgbClr val="334155"/>
            </a:solidFill>
            <a:prstDash val="solid"/>
          </a:ln>
        </p:spPr>
      </p:sp>
      <p:sp>
        <p:nvSpPr>
          <p:cNvPr id="42" name="Text 40"/>
          <p:cNvSpPr/>
          <p:nvPr/>
        </p:nvSpPr>
        <p:spPr>
          <a:xfrm>
            <a:off x="8458200" y="4078224"/>
            <a:ext cx="2468880" cy="146304"/>
          </a:xfrm>
          <a:prstGeom prst="rect">
            <a:avLst/>
          </a:prstGeom>
          <a:noFill/>
          <a:ln/>
        </p:spPr>
        <p:txBody>
          <a:bodyPr wrap="square" rtlCol="0" anchor="ctr"/>
          <a:lstStyle/>
          <a:p>
            <a:pPr indent="0" marL="0">
              <a:buNone/>
            </a:pPr>
            <a:r>
              <a:rPr lang="en-US" sz="800" b="1" dirty="0">
                <a:solidFill>
                  <a:srgbClr val="94A3B8"/>
                </a:solidFill>
                <a:latin typeface="Arial" pitchFamily="34" charset="0"/>
                <a:ea typeface="Arial" pitchFamily="34" charset="-122"/>
                <a:cs typeface="Arial" pitchFamily="34" charset="-120"/>
              </a:rPr>
              <a:t>EMERGENCY GUARD</a:t>
            </a:r>
            <a:endParaRPr lang="en-US" sz="800" dirty="0"/>
          </a:p>
        </p:txBody>
      </p:sp>
      <p:sp>
        <p:nvSpPr>
          <p:cNvPr id="43" name="Text 41"/>
          <p:cNvSpPr/>
          <p:nvPr/>
        </p:nvSpPr>
        <p:spPr>
          <a:xfrm>
            <a:off x="8458200" y="4233672"/>
            <a:ext cx="2468880" cy="210312"/>
          </a:xfrm>
          <a:prstGeom prst="rect">
            <a:avLst/>
          </a:prstGeom>
          <a:noFill/>
          <a:ln/>
        </p:spPr>
        <p:txBody>
          <a:bodyPr wrap="square" rtlCol="0" anchor="ctr"/>
          <a:lstStyle/>
          <a:p>
            <a:pPr indent="0" marL="0">
              <a:buNone/>
            </a:pPr>
            <a:r>
              <a:rPr lang="en-US" sz="1150" b="1" dirty="0">
                <a:solidFill>
                  <a:srgbClr val="38BDF8"/>
                </a:solidFill>
                <a:latin typeface="Arial" pitchFamily="34" charset="0"/>
                <a:ea typeface="Arial" pitchFamily="34" charset="-122"/>
                <a:cs typeface="Arial" pitchFamily="34" charset="-120"/>
              </a:rPr>
              <a:t>2ms Latency</a:t>
            </a:r>
            <a:endParaRPr lang="en-US" sz="1150" dirty="0"/>
          </a:p>
        </p:txBody>
      </p:sp>
      <p:sp>
        <p:nvSpPr>
          <p:cNvPr id="44" name="Text 42"/>
          <p:cNvSpPr/>
          <p:nvPr/>
        </p:nvSpPr>
        <p:spPr>
          <a:xfrm>
            <a:off x="8458200" y="4462272"/>
            <a:ext cx="2468880" cy="164592"/>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Zero-hallucination poison guardrail</a:t>
            </a:r>
            <a:endParaRPr lang="en-US" sz="800" dirty="0"/>
          </a:p>
        </p:txBody>
      </p:sp>
      <p:sp>
        <p:nvSpPr>
          <p:cNvPr id="45" name="Shape 43"/>
          <p:cNvSpPr/>
          <p:nvPr/>
        </p:nvSpPr>
        <p:spPr>
          <a:xfrm>
            <a:off x="8321040" y="4800600"/>
            <a:ext cx="2743200" cy="658368"/>
          </a:xfrm>
          <a:prstGeom prst="roundRect">
            <a:avLst/>
          </a:prstGeom>
          <a:solidFill>
            <a:srgbClr val="1E293B"/>
          </a:solidFill>
          <a:ln w="12700">
            <a:solidFill>
              <a:srgbClr val="334155"/>
            </a:solidFill>
            <a:prstDash val="solid"/>
          </a:ln>
        </p:spPr>
      </p:sp>
      <p:sp>
        <p:nvSpPr>
          <p:cNvPr id="46" name="Text 44"/>
          <p:cNvSpPr/>
          <p:nvPr/>
        </p:nvSpPr>
        <p:spPr>
          <a:xfrm>
            <a:off x="8458200" y="4855464"/>
            <a:ext cx="2468880" cy="146304"/>
          </a:xfrm>
          <a:prstGeom prst="rect">
            <a:avLst/>
          </a:prstGeom>
          <a:noFill/>
          <a:ln/>
        </p:spPr>
        <p:txBody>
          <a:bodyPr wrap="square" rtlCol="0" anchor="ctr"/>
          <a:lstStyle/>
          <a:p>
            <a:pPr indent="0" marL="0">
              <a:buNone/>
            </a:pPr>
            <a:r>
              <a:rPr lang="en-US" sz="800" b="1" dirty="0">
                <a:solidFill>
                  <a:srgbClr val="94A3B8"/>
                </a:solidFill>
                <a:latin typeface="Arial" pitchFamily="34" charset="0"/>
                <a:ea typeface="Arial" pitchFamily="34" charset="-122"/>
                <a:cs typeface="Arial" pitchFamily="34" charset="-120"/>
              </a:rPr>
              <a:t>RESILIENCE LAYER</a:t>
            </a:r>
            <a:endParaRPr lang="en-US" sz="800" dirty="0"/>
          </a:p>
        </p:txBody>
      </p:sp>
      <p:sp>
        <p:nvSpPr>
          <p:cNvPr id="47" name="Text 45"/>
          <p:cNvSpPr/>
          <p:nvPr/>
        </p:nvSpPr>
        <p:spPr>
          <a:xfrm>
            <a:off x="8458200" y="5010912"/>
            <a:ext cx="2468880" cy="210312"/>
          </a:xfrm>
          <a:prstGeom prst="rect">
            <a:avLst/>
          </a:prstGeom>
          <a:noFill/>
          <a:ln/>
        </p:spPr>
        <p:txBody>
          <a:bodyPr wrap="square" rtlCol="0" anchor="ctr"/>
          <a:lstStyle/>
          <a:p>
            <a:pPr indent="0" marL="0">
              <a:buNone/>
            </a:pPr>
            <a:r>
              <a:rPr lang="en-US" sz="1150" b="1" dirty="0">
                <a:solidFill>
                  <a:srgbClr val="38BDF8"/>
                </a:solidFill>
                <a:latin typeface="Arial" pitchFamily="34" charset="0"/>
                <a:ea typeface="Arial" pitchFamily="34" charset="-122"/>
                <a:cs typeface="Arial" pitchFamily="34" charset="-120"/>
              </a:rPr>
              <a:t>100% Uptime</a:t>
            </a:r>
            <a:endParaRPr lang="en-US" sz="1150" dirty="0"/>
          </a:p>
        </p:txBody>
      </p:sp>
      <p:sp>
        <p:nvSpPr>
          <p:cNvPr id="48" name="Text 46"/>
          <p:cNvSpPr/>
          <p:nvPr/>
        </p:nvSpPr>
        <p:spPr>
          <a:xfrm>
            <a:off x="8458200" y="5239512"/>
            <a:ext cx="2468880" cy="164592"/>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Triple-tier offline failover engine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sp>
      <p:sp>
        <p:nvSpPr>
          <p:cNvPr id="3" name="Text 1"/>
          <p:cNvSpPr/>
          <p:nvPr/>
        </p:nvSpPr>
        <p:spPr>
          <a:xfrm>
            <a:off x="731520" y="128016"/>
            <a:ext cx="6583680" cy="32004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 NUZZLE AI PLATFORM  |  GIGALOGY MAIRA MANAGED RAG INTEGRATION</a:t>
            </a:r>
            <a:endParaRPr lang="en-US" sz="1050" dirty="0"/>
          </a:p>
        </p:txBody>
      </p:sp>
      <p:sp>
        <p:nvSpPr>
          <p:cNvPr id="4" name="Text 2"/>
          <p:cNvSpPr/>
          <p:nvPr/>
        </p:nvSpPr>
        <p:spPr>
          <a:xfrm>
            <a:off x="7498080" y="128016"/>
            <a:ext cx="3962095" cy="320040"/>
          </a:xfrm>
          <a:prstGeom prst="rect">
            <a:avLst/>
          </a:prstGeom>
          <a:noFill/>
          <a:ln/>
        </p:spPr>
        <p:txBody>
          <a:bodyPr wrap="square" rtlCol="0" anchor="ctr"/>
          <a:lstStyle/>
          <a:p>
            <a:pPr algn="r" indent="0" marL="0">
              <a:buNone/>
            </a:pPr>
            <a:r>
              <a:rPr lang="en-US" sz="950" dirty="0">
                <a:solidFill>
                  <a:srgbClr val="94A3B8"/>
                </a:solidFill>
                <a:latin typeface="Arial" pitchFamily="34" charset="0"/>
                <a:ea typeface="Arial" pitchFamily="34" charset="-122"/>
                <a:cs typeface="Arial" pitchFamily="34" charset="-120"/>
              </a:rPr>
              <a:t>Slide 2 of 14  •  Technical &amp; Architecture Deep Dive</a:t>
            </a:r>
            <a:endParaRPr lang="en-US" sz="950" dirty="0"/>
          </a:p>
        </p:txBody>
      </p:sp>
      <p:sp>
        <p:nvSpPr>
          <p:cNvPr id="5" name="Text 3"/>
          <p:cNvSpPr/>
          <p:nvPr/>
        </p:nvSpPr>
        <p:spPr>
          <a:xfrm>
            <a:off x="731520" y="658368"/>
            <a:ext cx="10728655" cy="201168"/>
          </a:xfrm>
          <a:prstGeom prst="rect">
            <a:avLst/>
          </a:prstGeom>
          <a:noFill/>
          <a:ln/>
        </p:spPr>
        <p:txBody>
          <a:bodyPr wrap="square" rtlCol="0" anchor="ctr"/>
          <a:lstStyle/>
          <a:p>
            <a:pPr indent="0" marL="0">
              <a:buNone/>
            </a:pPr>
            <a:r>
              <a:rPr lang="en-US" sz="950" b="1" spc="120" kern="0" dirty="0">
                <a:solidFill>
                  <a:srgbClr val="4338CA"/>
                </a:solidFill>
                <a:latin typeface="Arial" pitchFamily="34" charset="0"/>
                <a:ea typeface="Arial" pitchFamily="34" charset="-122"/>
                <a:cs typeface="Arial" pitchFamily="34" charset="-120"/>
              </a:rPr>
              <a:t>STRATEGIC MOTIVATION</a:t>
            </a:r>
            <a:endParaRPr lang="en-US" sz="950" dirty="0"/>
          </a:p>
        </p:txBody>
      </p:sp>
      <p:sp>
        <p:nvSpPr>
          <p:cNvPr id="6" name="Text 4"/>
          <p:cNvSpPr/>
          <p:nvPr/>
        </p:nvSpPr>
        <p:spPr>
          <a:xfrm>
            <a:off x="731520" y="896112"/>
            <a:ext cx="10728655" cy="384048"/>
          </a:xfrm>
          <a:prstGeom prst="rect">
            <a:avLst/>
          </a:prstGeom>
          <a:noFill/>
          <a:ln/>
        </p:spPr>
        <p:txBody>
          <a:bodyPr wrap="square" rtlCol="0" anchor="ctr"/>
          <a:lstStyle/>
          <a:p>
            <a:pPr indent="0" marL="0">
              <a:buNone/>
            </a:pPr>
            <a:r>
              <a:rPr lang="en-US" sz="1900" b="1" dirty="0">
                <a:solidFill>
                  <a:srgbClr val="0F172A"/>
                </a:solidFill>
                <a:latin typeface="Arial" pitchFamily="34" charset="0"/>
                <a:ea typeface="Arial" pitchFamily="34" charset="-122"/>
                <a:cs typeface="Arial" pitchFamily="34" charset="-120"/>
              </a:rPr>
              <a:t>Why Gigalogy MAIRA? Moving Beyond Generic LLMs</a:t>
            </a:r>
            <a:endParaRPr lang="en-US" sz="1900" dirty="0"/>
          </a:p>
        </p:txBody>
      </p:sp>
      <p:sp>
        <p:nvSpPr>
          <p:cNvPr id="7" name="Text 5"/>
          <p:cNvSpPr/>
          <p:nvPr/>
        </p:nvSpPr>
        <p:spPr>
          <a:xfrm>
            <a:off x="731520" y="1316736"/>
            <a:ext cx="10728655" cy="292608"/>
          </a:xfrm>
          <a:prstGeom prst="rect">
            <a:avLst/>
          </a:prstGeom>
          <a:noFill/>
          <a:ln/>
        </p:spPr>
        <p:txBody>
          <a:bodyPr wrap="square" rtlCol="0" anchor="ctr"/>
          <a:lstStyle/>
          <a:p>
            <a:pPr indent="0" marL="0">
              <a:buNone/>
            </a:pPr>
            <a:r>
              <a:rPr lang="en-US" sz="1050" dirty="0">
                <a:solidFill>
                  <a:srgbClr val="475569"/>
                </a:solidFill>
                <a:latin typeface="Arial" pitchFamily="34" charset="0"/>
                <a:ea typeface="Arial" pitchFamily="34" charset="-122"/>
                <a:cs typeface="Arial" pitchFamily="34" charset="-120"/>
              </a:rPr>
              <a:t>Traditional LLM prompts suffer from hallucinations, high latency, and lack local Dhaka veterinary grounding.</a:t>
            </a:r>
            <a:endParaRPr lang="en-US" sz="1050" dirty="0"/>
          </a:p>
        </p:txBody>
      </p:sp>
      <p:sp>
        <p:nvSpPr>
          <p:cNvPr id="8" name="Shape 6"/>
          <p:cNvSpPr/>
          <p:nvPr/>
        </p:nvSpPr>
        <p:spPr>
          <a:xfrm>
            <a:off x="0" y="6355080"/>
            <a:ext cx="12191695" cy="502920"/>
          </a:xfrm>
          <a:prstGeom prst="rect">
            <a:avLst/>
          </a:prstGeom>
          <a:solidFill>
            <a:srgbClr val="0F172A"/>
          </a:solidFill>
          <a:ln w="12700">
            <a:solidFill>
              <a:srgbClr val="1E293B"/>
            </a:solidFill>
            <a:prstDash val="solid"/>
          </a:ln>
        </p:spPr>
      </p:sp>
      <p:sp>
        <p:nvSpPr>
          <p:cNvPr id="9" name="Text 7"/>
          <p:cNvSpPr/>
          <p:nvPr/>
        </p:nvSpPr>
        <p:spPr>
          <a:xfrm>
            <a:off x="731520" y="6446520"/>
            <a:ext cx="6583680" cy="320040"/>
          </a:xfrm>
          <a:prstGeom prst="rect">
            <a:avLst/>
          </a:prstGeom>
          <a:noFill/>
          <a:ln/>
        </p:spPr>
        <p:txBody>
          <a:bodyPr wrap="square" rtlCol="0" anchor="ctr"/>
          <a:lstStyle/>
          <a:p>
            <a:pPr indent="0" marL="0">
              <a:buNone/>
            </a:pPr>
            <a:r>
              <a:rPr lang="en-US" sz="950" dirty="0">
                <a:solidFill>
                  <a:srgbClr val="94A3B8"/>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7498080" y="6446520"/>
            <a:ext cx="3962095" cy="32004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Text 9"/>
          <p:cNvSpPr/>
          <p:nvPr/>
        </p:nvSpPr>
        <p:spPr>
          <a:xfrm>
            <a:off x="731520" y="1783080"/>
            <a:ext cx="5120640" cy="228600"/>
          </a:xfrm>
          <a:prstGeom prst="rect">
            <a:avLst/>
          </a:prstGeom>
          <a:noFill/>
          <a:ln/>
        </p:spPr>
        <p:txBody>
          <a:bodyPr wrap="square" rtlCol="0" anchor="ctr"/>
          <a:lstStyle/>
          <a:p>
            <a:pPr indent="0" marL="0">
              <a:buNone/>
            </a:pPr>
            <a:r>
              <a:rPr lang="en-US" sz="1100" b="1" spc="100" kern="0" dirty="0">
                <a:solidFill>
                  <a:srgbClr val="EF4444"/>
                </a:solidFill>
                <a:latin typeface="Arial" pitchFamily="34" charset="0"/>
                <a:ea typeface="Arial" pitchFamily="34" charset="-122"/>
                <a:cs typeface="Arial" pitchFamily="34" charset="-120"/>
              </a:rPr>
              <a:t>CHALLENGES OF RAW / GENERIC LLMs</a:t>
            </a:r>
            <a:endParaRPr lang="en-US" sz="1100" dirty="0"/>
          </a:p>
        </p:txBody>
      </p:sp>
      <p:sp>
        <p:nvSpPr>
          <p:cNvPr id="12" name="Shape 10"/>
          <p:cNvSpPr/>
          <p:nvPr/>
        </p:nvSpPr>
        <p:spPr>
          <a:xfrm>
            <a:off x="731520" y="2103120"/>
            <a:ext cx="5120640" cy="1207008"/>
          </a:xfrm>
          <a:prstGeom prst="roundRect">
            <a:avLst/>
          </a:prstGeom>
          <a:solidFill>
            <a:srgbClr val="FEF2F2"/>
          </a:solidFill>
          <a:ln w="15240">
            <a:solidFill>
              <a:srgbClr val="FECACA"/>
            </a:solidFill>
            <a:prstDash val="solid"/>
          </a:ln>
        </p:spPr>
      </p:sp>
      <p:sp>
        <p:nvSpPr>
          <p:cNvPr id="13" name="Text 11"/>
          <p:cNvSpPr/>
          <p:nvPr/>
        </p:nvSpPr>
        <p:spPr>
          <a:xfrm>
            <a:off x="914400" y="2212848"/>
            <a:ext cx="4754880" cy="274320"/>
          </a:xfrm>
          <a:prstGeom prst="rect">
            <a:avLst/>
          </a:prstGeom>
          <a:noFill/>
          <a:ln/>
        </p:spPr>
        <p:txBody>
          <a:bodyPr wrap="square" rtlCol="0" anchor="ctr"/>
          <a:lstStyle/>
          <a:p>
            <a:pPr indent="0" marL="0">
              <a:buNone/>
            </a:pPr>
            <a:r>
              <a:rPr lang="en-US" sz="1200" b="1" dirty="0">
                <a:solidFill>
                  <a:srgbClr val="991B1B"/>
                </a:solidFill>
                <a:latin typeface="Arial" pitchFamily="34" charset="0"/>
                <a:ea typeface="Arial" pitchFamily="34" charset="-122"/>
                <a:cs typeface="Arial" pitchFamily="34" charset="-120"/>
              </a:rPr>
              <a:t>⚠️ Clinical Hallucination Risks</a:t>
            </a:r>
            <a:endParaRPr lang="en-US" sz="1200" dirty="0"/>
          </a:p>
        </p:txBody>
      </p:sp>
      <p:sp>
        <p:nvSpPr>
          <p:cNvPr id="14" name="Text 12"/>
          <p:cNvSpPr/>
          <p:nvPr/>
        </p:nvSpPr>
        <p:spPr>
          <a:xfrm>
            <a:off x="914400" y="2505456"/>
            <a:ext cx="4754880" cy="713232"/>
          </a:xfrm>
          <a:prstGeom prst="rect">
            <a:avLst/>
          </a:prstGeom>
          <a:noFill/>
          <a:ln/>
        </p:spPr>
        <p:txBody>
          <a:bodyPr wrap="square" rtlCol="0" anchor="ctr"/>
          <a:lstStyle/>
          <a:p>
            <a:pPr indent="0" marL="0">
              <a:lnSpc>
                <a:spcPts val="1400"/>
              </a:lnSpc>
              <a:buNone/>
            </a:pPr>
            <a:r>
              <a:rPr lang="en-US" sz="1000" dirty="0">
                <a:solidFill>
                  <a:srgbClr val="7F1D1D"/>
                </a:solidFill>
                <a:latin typeface="Arial" pitchFamily="34" charset="0"/>
                <a:ea typeface="Arial" pitchFamily="34" charset="-122"/>
                <a:cs typeface="Arial" pitchFamily="34" charset="-120"/>
              </a:rPr>
              <a:t>Generic models often invent dosages or fail to urgently flag lethal pet toxins (like lilies for cats or xylitol for dogs), creating severe liability risks.</a:t>
            </a:r>
            <a:endParaRPr lang="en-US" sz="1000" dirty="0"/>
          </a:p>
        </p:txBody>
      </p:sp>
      <p:sp>
        <p:nvSpPr>
          <p:cNvPr id="15" name="Shape 13"/>
          <p:cNvSpPr/>
          <p:nvPr/>
        </p:nvSpPr>
        <p:spPr>
          <a:xfrm>
            <a:off x="731520" y="3429000"/>
            <a:ext cx="5120640" cy="1207008"/>
          </a:xfrm>
          <a:prstGeom prst="roundRect">
            <a:avLst/>
          </a:prstGeom>
          <a:solidFill>
            <a:srgbClr val="FEF2F2"/>
          </a:solidFill>
          <a:ln w="15240">
            <a:solidFill>
              <a:srgbClr val="FECACA"/>
            </a:solidFill>
            <a:prstDash val="solid"/>
          </a:ln>
        </p:spPr>
      </p:sp>
      <p:sp>
        <p:nvSpPr>
          <p:cNvPr id="16" name="Text 14"/>
          <p:cNvSpPr/>
          <p:nvPr/>
        </p:nvSpPr>
        <p:spPr>
          <a:xfrm>
            <a:off x="914400" y="3538728"/>
            <a:ext cx="4754880" cy="274320"/>
          </a:xfrm>
          <a:prstGeom prst="rect">
            <a:avLst/>
          </a:prstGeom>
          <a:noFill/>
          <a:ln/>
        </p:spPr>
        <p:txBody>
          <a:bodyPr wrap="square" rtlCol="0" anchor="ctr"/>
          <a:lstStyle/>
          <a:p>
            <a:pPr indent="0" marL="0">
              <a:buNone/>
            </a:pPr>
            <a:r>
              <a:rPr lang="en-US" sz="1200" b="1" dirty="0">
                <a:solidFill>
                  <a:srgbClr val="991B1B"/>
                </a:solidFill>
                <a:latin typeface="Arial" pitchFamily="34" charset="0"/>
                <a:ea typeface="Arial" pitchFamily="34" charset="-122"/>
                <a:cs typeface="Arial" pitchFamily="34" charset="-120"/>
              </a:rPr>
              <a:t>⚠️ Zero Local Context Grounding</a:t>
            </a:r>
            <a:endParaRPr lang="en-US" sz="1200" dirty="0"/>
          </a:p>
        </p:txBody>
      </p:sp>
      <p:sp>
        <p:nvSpPr>
          <p:cNvPr id="17" name="Text 15"/>
          <p:cNvSpPr/>
          <p:nvPr/>
        </p:nvSpPr>
        <p:spPr>
          <a:xfrm>
            <a:off x="914400" y="3831336"/>
            <a:ext cx="4754880" cy="713232"/>
          </a:xfrm>
          <a:prstGeom prst="rect">
            <a:avLst/>
          </a:prstGeom>
          <a:noFill/>
          <a:ln/>
        </p:spPr>
        <p:txBody>
          <a:bodyPr wrap="square" rtlCol="0" anchor="ctr"/>
          <a:lstStyle/>
          <a:p>
            <a:pPr indent="0" marL="0">
              <a:lnSpc>
                <a:spcPts val="1400"/>
              </a:lnSpc>
              <a:buNone/>
            </a:pPr>
            <a:r>
              <a:rPr lang="en-US" sz="1000" dirty="0">
                <a:solidFill>
                  <a:srgbClr val="7F1D1D"/>
                </a:solidFill>
                <a:latin typeface="Arial" pitchFamily="34" charset="0"/>
                <a:ea typeface="Arial" pitchFamily="34" charset="-122"/>
                <a:cs typeface="Arial" pitchFamily="34" charset="-120"/>
              </a:rPr>
              <a:t>Models have no knowledge of local Dhaka vet hospitals, Banani lost pet sightings, or Bangladeshi marketplace pet nutritional supply chains.</a:t>
            </a:r>
            <a:endParaRPr lang="en-US" sz="1000" dirty="0"/>
          </a:p>
        </p:txBody>
      </p:sp>
      <p:sp>
        <p:nvSpPr>
          <p:cNvPr id="18" name="Shape 16"/>
          <p:cNvSpPr/>
          <p:nvPr/>
        </p:nvSpPr>
        <p:spPr>
          <a:xfrm>
            <a:off x="731520" y="4754880"/>
            <a:ext cx="5120640" cy="1207008"/>
          </a:xfrm>
          <a:prstGeom prst="roundRect">
            <a:avLst/>
          </a:prstGeom>
          <a:solidFill>
            <a:srgbClr val="FEF2F2"/>
          </a:solidFill>
          <a:ln w="15240">
            <a:solidFill>
              <a:srgbClr val="FECACA"/>
            </a:solidFill>
            <a:prstDash val="solid"/>
          </a:ln>
        </p:spPr>
      </p:sp>
      <p:sp>
        <p:nvSpPr>
          <p:cNvPr id="19" name="Text 17"/>
          <p:cNvSpPr/>
          <p:nvPr/>
        </p:nvSpPr>
        <p:spPr>
          <a:xfrm>
            <a:off x="914400" y="4864608"/>
            <a:ext cx="4754880" cy="274320"/>
          </a:xfrm>
          <a:prstGeom prst="rect">
            <a:avLst/>
          </a:prstGeom>
          <a:noFill/>
          <a:ln/>
        </p:spPr>
        <p:txBody>
          <a:bodyPr wrap="square" rtlCol="0" anchor="ctr"/>
          <a:lstStyle/>
          <a:p>
            <a:pPr indent="0" marL="0">
              <a:buNone/>
            </a:pPr>
            <a:r>
              <a:rPr lang="en-US" sz="1200" b="1" dirty="0">
                <a:solidFill>
                  <a:srgbClr val="991B1B"/>
                </a:solidFill>
                <a:latin typeface="Arial" pitchFamily="34" charset="0"/>
                <a:ea typeface="Arial" pitchFamily="34" charset="-122"/>
                <a:cs typeface="Arial" pitchFamily="34" charset="-120"/>
              </a:rPr>
              <a:t>⚠️ High Latency &amp; Heavy Ops Overhead</a:t>
            </a:r>
            <a:endParaRPr lang="en-US" sz="1200" dirty="0"/>
          </a:p>
        </p:txBody>
      </p:sp>
      <p:sp>
        <p:nvSpPr>
          <p:cNvPr id="20" name="Text 18"/>
          <p:cNvSpPr/>
          <p:nvPr/>
        </p:nvSpPr>
        <p:spPr>
          <a:xfrm>
            <a:off x="914400" y="5157216"/>
            <a:ext cx="4754880" cy="713232"/>
          </a:xfrm>
          <a:prstGeom prst="rect">
            <a:avLst/>
          </a:prstGeom>
          <a:noFill/>
          <a:ln/>
        </p:spPr>
        <p:txBody>
          <a:bodyPr wrap="square" rtlCol="0" anchor="ctr"/>
          <a:lstStyle/>
          <a:p>
            <a:pPr indent="0" marL="0">
              <a:lnSpc>
                <a:spcPts val="1400"/>
              </a:lnSpc>
              <a:buNone/>
            </a:pPr>
            <a:r>
              <a:rPr lang="en-US" sz="1000" dirty="0">
                <a:solidFill>
                  <a:srgbClr val="7F1D1D"/>
                </a:solidFill>
                <a:latin typeface="Arial" pitchFamily="34" charset="0"/>
                <a:ea typeface="Arial" pitchFamily="34" charset="-122"/>
                <a:cs typeface="Arial" pitchFamily="34" charset="-120"/>
              </a:rPr>
              <a:t>Building custom vector databases, embedding chunkers, and ingestion pipelines manually requires massive dev time and ongoing infrastructure maintenance.</a:t>
            </a:r>
            <a:endParaRPr lang="en-US" sz="1000" dirty="0"/>
          </a:p>
        </p:txBody>
      </p:sp>
      <p:sp>
        <p:nvSpPr>
          <p:cNvPr id="21" name="Text 19"/>
          <p:cNvSpPr/>
          <p:nvPr/>
        </p:nvSpPr>
        <p:spPr>
          <a:xfrm>
            <a:off x="6339535" y="1783080"/>
            <a:ext cx="5120640" cy="228600"/>
          </a:xfrm>
          <a:prstGeom prst="rect">
            <a:avLst/>
          </a:prstGeom>
          <a:noFill/>
          <a:ln/>
        </p:spPr>
        <p:txBody>
          <a:bodyPr wrap="square" rtlCol="0" anchor="ctr"/>
          <a:lstStyle/>
          <a:p>
            <a:pPr indent="0" marL="0">
              <a:buNone/>
            </a:pPr>
            <a:r>
              <a:rPr lang="en-US" sz="1100" b="1" spc="100" kern="0" dirty="0">
                <a:solidFill>
                  <a:srgbClr val="10B981"/>
                </a:solidFill>
                <a:latin typeface="Arial" pitchFamily="34" charset="0"/>
                <a:ea typeface="Arial" pitchFamily="34" charset="-122"/>
                <a:cs typeface="Arial" pitchFamily="34" charset="-120"/>
              </a:rPr>
              <a:t>GIGALOGY MAIRA MANAGED RAG ADVANTAGES</a:t>
            </a:r>
            <a:endParaRPr lang="en-US" sz="1100" dirty="0"/>
          </a:p>
        </p:txBody>
      </p:sp>
      <p:sp>
        <p:nvSpPr>
          <p:cNvPr id="22" name="Shape 20"/>
          <p:cNvSpPr/>
          <p:nvPr/>
        </p:nvSpPr>
        <p:spPr>
          <a:xfrm>
            <a:off x="6339535" y="2103120"/>
            <a:ext cx="5120640" cy="1207008"/>
          </a:xfrm>
          <a:prstGeom prst="roundRect">
            <a:avLst/>
          </a:prstGeom>
          <a:solidFill>
            <a:srgbClr val="ECFDF5"/>
          </a:solidFill>
          <a:ln w="15240">
            <a:solidFill>
              <a:srgbClr val="A7F3D0"/>
            </a:solidFill>
            <a:prstDash val="solid"/>
          </a:ln>
        </p:spPr>
      </p:sp>
      <p:sp>
        <p:nvSpPr>
          <p:cNvPr id="23" name="Text 21"/>
          <p:cNvSpPr/>
          <p:nvPr/>
        </p:nvSpPr>
        <p:spPr>
          <a:xfrm>
            <a:off x="6522415" y="2212848"/>
            <a:ext cx="4754880" cy="274320"/>
          </a:xfrm>
          <a:prstGeom prst="rect">
            <a:avLst/>
          </a:prstGeom>
          <a:noFill/>
          <a:ln/>
        </p:spPr>
        <p:txBody>
          <a:bodyPr wrap="square" rtlCol="0" anchor="ctr"/>
          <a:lstStyle/>
          <a:p>
            <a:pPr indent="0" marL="0">
              <a:buNone/>
            </a:pPr>
            <a:r>
              <a:rPr lang="en-US" sz="1200" b="1" dirty="0">
                <a:solidFill>
                  <a:srgbClr val="065F46"/>
                </a:solidFill>
                <a:latin typeface="Arial" pitchFamily="34" charset="0"/>
                <a:ea typeface="Arial" pitchFamily="34" charset="-122"/>
                <a:cs typeface="Arial" pitchFamily="34" charset="-120"/>
              </a:rPr>
              <a:t>✅ Isolated Domain AI Profiles</a:t>
            </a:r>
            <a:endParaRPr lang="en-US" sz="1200" dirty="0"/>
          </a:p>
        </p:txBody>
      </p:sp>
      <p:sp>
        <p:nvSpPr>
          <p:cNvPr id="24" name="Text 22"/>
          <p:cNvSpPr/>
          <p:nvPr/>
        </p:nvSpPr>
        <p:spPr>
          <a:xfrm>
            <a:off x="6522415" y="2505456"/>
            <a:ext cx="4754880" cy="713232"/>
          </a:xfrm>
          <a:prstGeom prst="rect">
            <a:avLst/>
          </a:prstGeom>
          <a:noFill/>
          <a:ln/>
        </p:spPr>
        <p:txBody>
          <a:bodyPr wrap="square" rtlCol="0" anchor="ctr"/>
          <a:lstStyle/>
          <a:p>
            <a:pPr indent="0" marL="0">
              <a:lnSpc>
                <a:spcPts val="1400"/>
              </a:lnSpc>
              <a:buNone/>
            </a:pPr>
            <a:r>
              <a:rPr lang="en-US" sz="1000" dirty="0">
                <a:solidFill>
                  <a:srgbClr val="047857"/>
                </a:solidFill>
                <a:latin typeface="Arial" pitchFamily="34" charset="0"/>
                <a:ea typeface="Arial" pitchFamily="34" charset="-122"/>
                <a:cs typeface="Arial" pitchFamily="34" charset="-120"/>
              </a:rPr>
              <a:t>Four dedicated profiles with tailored veterinary temperature, clinical system instructions, and specialized multimodal models (GPT-4o).</a:t>
            </a:r>
            <a:endParaRPr lang="en-US" sz="1000" dirty="0"/>
          </a:p>
        </p:txBody>
      </p:sp>
      <p:sp>
        <p:nvSpPr>
          <p:cNvPr id="25" name="Shape 23"/>
          <p:cNvSpPr/>
          <p:nvPr/>
        </p:nvSpPr>
        <p:spPr>
          <a:xfrm>
            <a:off x="6339535" y="3429000"/>
            <a:ext cx="5120640" cy="1207008"/>
          </a:xfrm>
          <a:prstGeom prst="roundRect">
            <a:avLst/>
          </a:prstGeom>
          <a:solidFill>
            <a:srgbClr val="ECFDF5"/>
          </a:solidFill>
          <a:ln w="15240">
            <a:solidFill>
              <a:srgbClr val="A7F3D0"/>
            </a:solidFill>
            <a:prstDash val="solid"/>
          </a:ln>
        </p:spPr>
      </p:sp>
      <p:sp>
        <p:nvSpPr>
          <p:cNvPr id="26" name="Text 24"/>
          <p:cNvSpPr/>
          <p:nvPr/>
        </p:nvSpPr>
        <p:spPr>
          <a:xfrm>
            <a:off x="6522415" y="3538728"/>
            <a:ext cx="4754880" cy="274320"/>
          </a:xfrm>
          <a:prstGeom prst="rect">
            <a:avLst/>
          </a:prstGeom>
          <a:noFill/>
          <a:ln/>
        </p:spPr>
        <p:txBody>
          <a:bodyPr wrap="square" rtlCol="0" anchor="ctr"/>
          <a:lstStyle/>
          <a:p>
            <a:pPr indent="0" marL="0">
              <a:buNone/>
            </a:pPr>
            <a:r>
              <a:rPr lang="en-US" sz="1200" b="1" dirty="0">
                <a:solidFill>
                  <a:srgbClr val="065F46"/>
                </a:solidFill>
                <a:latin typeface="Arial" pitchFamily="34" charset="0"/>
                <a:ea typeface="Arial" pitchFamily="34" charset="-122"/>
                <a:cs typeface="Arial" pitchFamily="34" charset="-120"/>
              </a:rPr>
              <a:t>✅ Managed Vector Retrieval (RAG)</a:t>
            </a:r>
            <a:endParaRPr lang="en-US" sz="1200" dirty="0"/>
          </a:p>
        </p:txBody>
      </p:sp>
      <p:sp>
        <p:nvSpPr>
          <p:cNvPr id="27" name="Text 25"/>
          <p:cNvSpPr/>
          <p:nvPr/>
        </p:nvSpPr>
        <p:spPr>
          <a:xfrm>
            <a:off x="6522415" y="3831336"/>
            <a:ext cx="4754880" cy="713232"/>
          </a:xfrm>
          <a:prstGeom prst="rect">
            <a:avLst/>
          </a:prstGeom>
          <a:noFill/>
          <a:ln/>
        </p:spPr>
        <p:txBody>
          <a:bodyPr wrap="square" rtlCol="0" anchor="ctr"/>
          <a:lstStyle/>
          <a:p>
            <a:pPr indent="0" marL="0">
              <a:lnSpc>
                <a:spcPts val="1400"/>
              </a:lnSpc>
              <a:buNone/>
            </a:pPr>
            <a:r>
              <a:rPr lang="en-US" sz="1000" dirty="0">
                <a:solidFill>
                  <a:srgbClr val="047857"/>
                </a:solidFill>
                <a:latin typeface="Arial" pitchFamily="34" charset="0"/>
                <a:ea typeface="Arial" pitchFamily="34" charset="-122"/>
                <a:cs typeface="Arial" pitchFamily="34" charset="-120"/>
              </a:rPr>
              <a:t>Instant search across trained pet sighting databases and clinic directories with similarity scores, returning verified facts instead of guessing.</a:t>
            </a:r>
            <a:endParaRPr lang="en-US" sz="1000" dirty="0"/>
          </a:p>
        </p:txBody>
      </p:sp>
      <p:sp>
        <p:nvSpPr>
          <p:cNvPr id="28" name="Shape 26"/>
          <p:cNvSpPr/>
          <p:nvPr/>
        </p:nvSpPr>
        <p:spPr>
          <a:xfrm>
            <a:off x="6339535" y="4754880"/>
            <a:ext cx="5120640" cy="1207008"/>
          </a:xfrm>
          <a:prstGeom prst="roundRect">
            <a:avLst/>
          </a:prstGeom>
          <a:solidFill>
            <a:srgbClr val="ECFDF5"/>
          </a:solidFill>
          <a:ln w="15240">
            <a:solidFill>
              <a:srgbClr val="A7F3D0"/>
            </a:solidFill>
            <a:prstDash val="solid"/>
          </a:ln>
        </p:spPr>
      </p:sp>
      <p:sp>
        <p:nvSpPr>
          <p:cNvPr id="29" name="Text 27"/>
          <p:cNvSpPr/>
          <p:nvPr/>
        </p:nvSpPr>
        <p:spPr>
          <a:xfrm>
            <a:off x="6522415" y="4864608"/>
            <a:ext cx="4754880" cy="274320"/>
          </a:xfrm>
          <a:prstGeom prst="rect">
            <a:avLst/>
          </a:prstGeom>
          <a:noFill/>
          <a:ln/>
        </p:spPr>
        <p:txBody>
          <a:bodyPr wrap="square" rtlCol="0" anchor="ctr"/>
          <a:lstStyle/>
          <a:p>
            <a:pPr indent="0" marL="0">
              <a:buNone/>
            </a:pPr>
            <a:r>
              <a:rPr lang="en-US" sz="1200" b="1" dirty="0">
                <a:solidFill>
                  <a:srgbClr val="065F46"/>
                </a:solidFill>
                <a:latin typeface="Arial" pitchFamily="34" charset="0"/>
                <a:ea typeface="Arial" pitchFamily="34" charset="-122"/>
                <a:cs typeface="Arial" pitchFamily="34" charset="-120"/>
              </a:rPr>
              <a:t>✅ Enterprise SLA &amp; Turnkey API</a:t>
            </a:r>
            <a:endParaRPr lang="en-US" sz="1200" dirty="0"/>
          </a:p>
        </p:txBody>
      </p:sp>
      <p:sp>
        <p:nvSpPr>
          <p:cNvPr id="30" name="Text 28"/>
          <p:cNvSpPr/>
          <p:nvPr/>
        </p:nvSpPr>
        <p:spPr>
          <a:xfrm>
            <a:off x="6522415" y="5157216"/>
            <a:ext cx="4754880" cy="713232"/>
          </a:xfrm>
          <a:prstGeom prst="rect">
            <a:avLst/>
          </a:prstGeom>
          <a:noFill/>
          <a:ln/>
        </p:spPr>
        <p:txBody>
          <a:bodyPr wrap="square" rtlCol="0" anchor="ctr"/>
          <a:lstStyle/>
          <a:p>
            <a:pPr indent="0" marL="0">
              <a:lnSpc>
                <a:spcPts val="1400"/>
              </a:lnSpc>
              <a:buNone/>
            </a:pPr>
            <a:r>
              <a:rPr lang="en-US" sz="1000" dirty="0">
                <a:solidFill>
                  <a:srgbClr val="047857"/>
                </a:solidFill>
                <a:latin typeface="Arial" pitchFamily="34" charset="0"/>
                <a:ea typeface="Arial" pitchFamily="34" charset="-122"/>
                <a:cs typeface="Arial" pitchFamily="34" charset="-120"/>
              </a:rPr>
              <a:t>Pre-built embedding, indexing, and vector search exposed via a clean REST API, drastically reducing operational overhead while ensuring sub-second response times.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sp>
      <p:sp>
        <p:nvSpPr>
          <p:cNvPr id="3" name="Text 1"/>
          <p:cNvSpPr/>
          <p:nvPr/>
        </p:nvSpPr>
        <p:spPr>
          <a:xfrm>
            <a:off x="731520" y="128016"/>
            <a:ext cx="6583680" cy="32004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 NUZZLE AI PLATFORM  |  GIGALOGY MAIRA MANAGED RAG INTEGRATION</a:t>
            </a:r>
            <a:endParaRPr lang="en-US" sz="1050" dirty="0"/>
          </a:p>
        </p:txBody>
      </p:sp>
      <p:sp>
        <p:nvSpPr>
          <p:cNvPr id="4" name="Text 2"/>
          <p:cNvSpPr/>
          <p:nvPr/>
        </p:nvSpPr>
        <p:spPr>
          <a:xfrm>
            <a:off x="7498080" y="128016"/>
            <a:ext cx="3962095" cy="320040"/>
          </a:xfrm>
          <a:prstGeom prst="rect">
            <a:avLst/>
          </a:prstGeom>
          <a:noFill/>
          <a:ln/>
        </p:spPr>
        <p:txBody>
          <a:bodyPr wrap="square" rtlCol="0" anchor="ctr"/>
          <a:lstStyle/>
          <a:p>
            <a:pPr algn="r" indent="0" marL="0">
              <a:buNone/>
            </a:pPr>
            <a:r>
              <a:rPr lang="en-US" sz="950" dirty="0">
                <a:solidFill>
                  <a:srgbClr val="94A3B8"/>
                </a:solidFill>
                <a:latin typeface="Arial" pitchFamily="34" charset="0"/>
                <a:ea typeface="Arial" pitchFamily="34" charset="-122"/>
                <a:cs typeface="Arial" pitchFamily="34" charset="-120"/>
              </a:rPr>
              <a:t>Slide 3 of 14  •  Technical &amp; Architecture Deep Dive</a:t>
            </a:r>
            <a:endParaRPr lang="en-US" sz="950" dirty="0"/>
          </a:p>
        </p:txBody>
      </p:sp>
      <p:sp>
        <p:nvSpPr>
          <p:cNvPr id="5" name="Text 3"/>
          <p:cNvSpPr/>
          <p:nvPr/>
        </p:nvSpPr>
        <p:spPr>
          <a:xfrm>
            <a:off x="731520" y="658368"/>
            <a:ext cx="10728655" cy="201168"/>
          </a:xfrm>
          <a:prstGeom prst="rect">
            <a:avLst/>
          </a:prstGeom>
          <a:noFill/>
          <a:ln/>
        </p:spPr>
        <p:txBody>
          <a:bodyPr wrap="square" rtlCol="0" anchor="ctr"/>
          <a:lstStyle/>
          <a:p>
            <a:pPr indent="0" marL="0">
              <a:buNone/>
            </a:pPr>
            <a:r>
              <a:rPr lang="en-US" sz="950" b="1" spc="120" kern="0" dirty="0">
                <a:solidFill>
                  <a:srgbClr val="4338CA"/>
                </a:solidFill>
                <a:latin typeface="Arial" pitchFamily="34" charset="0"/>
                <a:ea typeface="Arial" pitchFamily="34" charset="-122"/>
                <a:cs typeface="Arial" pitchFamily="34" charset="-120"/>
              </a:rPr>
              <a:t>SYSTEM ARCHITECTURE</a:t>
            </a:r>
            <a:endParaRPr lang="en-US" sz="950" dirty="0"/>
          </a:p>
        </p:txBody>
      </p:sp>
      <p:sp>
        <p:nvSpPr>
          <p:cNvPr id="6" name="Text 4"/>
          <p:cNvSpPr/>
          <p:nvPr/>
        </p:nvSpPr>
        <p:spPr>
          <a:xfrm>
            <a:off x="731520" y="896112"/>
            <a:ext cx="10728655" cy="384048"/>
          </a:xfrm>
          <a:prstGeom prst="rect">
            <a:avLst/>
          </a:prstGeom>
          <a:noFill/>
          <a:ln/>
        </p:spPr>
        <p:txBody>
          <a:bodyPr wrap="square" rtlCol="0" anchor="ctr"/>
          <a:lstStyle/>
          <a:p>
            <a:pPr indent="0" marL="0">
              <a:buNone/>
            </a:pPr>
            <a:r>
              <a:rPr lang="en-US" sz="1900" b="1" dirty="0">
                <a:solidFill>
                  <a:srgbClr val="0F172A"/>
                </a:solidFill>
                <a:latin typeface="Arial" pitchFamily="34" charset="0"/>
                <a:ea typeface="Arial" pitchFamily="34" charset="-122"/>
                <a:cs typeface="Arial" pitchFamily="34" charset="-120"/>
              </a:rPr>
              <a:t>Nuzzle × MAIRA End-to-End Ingress &amp; Security Topology</a:t>
            </a:r>
            <a:endParaRPr lang="en-US" sz="1900" dirty="0"/>
          </a:p>
        </p:txBody>
      </p:sp>
      <p:sp>
        <p:nvSpPr>
          <p:cNvPr id="7" name="Text 5"/>
          <p:cNvSpPr/>
          <p:nvPr/>
        </p:nvSpPr>
        <p:spPr>
          <a:xfrm>
            <a:off x="731520" y="1316736"/>
            <a:ext cx="10728655" cy="292608"/>
          </a:xfrm>
          <a:prstGeom prst="rect">
            <a:avLst/>
          </a:prstGeom>
          <a:noFill/>
          <a:ln/>
        </p:spPr>
        <p:txBody>
          <a:bodyPr wrap="square" rtlCol="0" anchor="ctr"/>
          <a:lstStyle/>
          <a:p>
            <a:pPr indent="0" marL="0">
              <a:buNone/>
            </a:pPr>
            <a:r>
              <a:rPr lang="en-US" sz="1050" dirty="0">
                <a:solidFill>
                  <a:srgbClr val="475569"/>
                </a:solidFill>
                <a:latin typeface="Arial" pitchFamily="34" charset="0"/>
                <a:ea typeface="Arial" pitchFamily="34" charset="-122"/>
                <a:cs typeface="Arial" pitchFamily="34" charset="-120"/>
              </a:rPr>
              <a:t>Decoupled client architecture with edge proxying, custom hyphenated security headers, and multi-tier failover.</a:t>
            </a:r>
            <a:endParaRPr lang="en-US" sz="1050" dirty="0"/>
          </a:p>
        </p:txBody>
      </p:sp>
      <p:sp>
        <p:nvSpPr>
          <p:cNvPr id="8" name="Shape 6"/>
          <p:cNvSpPr/>
          <p:nvPr/>
        </p:nvSpPr>
        <p:spPr>
          <a:xfrm>
            <a:off x="0" y="6355080"/>
            <a:ext cx="12191695" cy="502920"/>
          </a:xfrm>
          <a:prstGeom prst="rect">
            <a:avLst/>
          </a:prstGeom>
          <a:solidFill>
            <a:srgbClr val="0F172A"/>
          </a:solidFill>
          <a:ln w="12700">
            <a:solidFill>
              <a:srgbClr val="1E293B"/>
            </a:solidFill>
            <a:prstDash val="solid"/>
          </a:ln>
        </p:spPr>
      </p:sp>
      <p:sp>
        <p:nvSpPr>
          <p:cNvPr id="9" name="Text 7"/>
          <p:cNvSpPr/>
          <p:nvPr/>
        </p:nvSpPr>
        <p:spPr>
          <a:xfrm>
            <a:off x="731520" y="6446520"/>
            <a:ext cx="6583680" cy="320040"/>
          </a:xfrm>
          <a:prstGeom prst="rect">
            <a:avLst/>
          </a:prstGeom>
          <a:noFill/>
          <a:ln/>
        </p:spPr>
        <p:txBody>
          <a:bodyPr wrap="square" rtlCol="0" anchor="ctr"/>
          <a:lstStyle/>
          <a:p>
            <a:pPr indent="0" marL="0">
              <a:buNone/>
            </a:pPr>
            <a:r>
              <a:rPr lang="en-US" sz="950" dirty="0">
                <a:solidFill>
                  <a:srgbClr val="94A3B8"/>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7498080" y="6446520"/>
            <a:ext cx="3962095" cy="32004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2560320" cy="2606040"/>
          </a:xfrm>
          <a:prstGeom prst="roundRect">
            <a:avLst/>
          </a:prstGeom>
          <a:solidFill>
            <a:srgbClr val="FFFFFF"/>
          </a:solidFill>
          <a:ln w="15240">
            <a:solidFill>
              <a:srgbClr val="CBD5E1"/>
            </a:solidFill>
            <a:prstDash val="solid"/>
          </a:ln>
        </p:spPr>
      </p:sp>
      <p:sp>
        <p:nvSpPr>
          <p:cNvPr id="12" name="Shape 10"/>
          <p:cNvSpPr/>
          <p:nvPr/>
        </p:nvSpPr>
        <p:spPr>
          <a:xfrm>
            <a:off x="868680" y="1920240"/>
            <a:ext cx="685800" cy="274320"/>
          </a:xfrm>
          <a:prstGeom prst="roundRect">
            <a:avLst/>
          </a:prstGeom>
          <a:solidFill>
            <a:srgbClr val="F1F5F9"/>
          </a:solidFill>
          <a:ln w="12700">
            <a:solidFill>
              <a:srgbClr val="CBD5E1"/>
            </a:solidFill>
            <a:prstDash val="solid"/>
          </a:ln>
        </p:spPr>
      </p:sp>
      <p:sp>
        <p:nvSpPr>
          <p:cNvPr id="13" name="Text 11"/>
          <p:cNvSpPr/>
          <p:nvPr/>
        </p:nvSpPr>
        <p:spPr>
          <a:xfrm>
            <a:off x="868680" y="1975104"/>
            <a:ext cx="685800" cy="182880"/>
          </a:xfrm>
          <a:prstGeom prst="rect">
            <a:avLst/>
          </a:prstGeom>
          <a:noFill/>
          <a:ln/>
        </p:spPr>
        <p:txBody>
          <a:bodyPr wrap="square" rtlCol="0" anchor="ctr"/>
          <a:lstStyle/>
          <a:p>
            <a:pPr algn="ctr" indent="0" marL="0">
              <a:buNone/>
            </a:pPr>
            <a:r>
              <a:rPr lang="en-US" sz="850" b="1" dirty="0">
                <a:solidFill>
                  <a:srgbClr val="4F46E5"/>
                </a:solidFill>
                <a:latin typeface="Arial" pitchFamily="34" charset="0"/>
                <a:ea typeface="Arial" pitchFamily="34" charset="-122"/>
                <a:cs typeface="Arial" pitchFamily="34" charset="-120"/>
              </a:rPr>
              <a:t>STAGE 01</a:t>
            </a:r>
            <a:endParaRPr lang="en-US" sz="850" dirty="0"/>
          </a:p>
        </p:txBody>
      </p:sp>
      <p:sp>
        <p:nvSpPr>
          <p:cNvPr id="14" name="Text 12"/>
          <p:cNvSpPr/>
          <p:nvPr/>
        </p:nvSpPr>
        <p:spPr>
          <a:xfrm>
            <a:off x="2697480" y="1874520"/>
            <a:ext cx="457200" cy="36576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15" name="Text 13"/>
          <p:cNvSpPr/>
          <p:nvPr/>
        </p:nvSpPr>
        <p:spPr>
          <a:xfrm>
            <a:off x="868680" y="2286000"/>
            <a:ext cx="2286000"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Vue 3 Client Layer</a:t>
            </a:r>
            <a:endParaRPr lang="en-US" sz="1300" dirty="0"/>
          </a:p>
        </p:txBody>
      </p:sp>
      <p:sp>
        <p:nvSpPr>
          <p:cNvPr id="16" name="Text 14"/>
          <p:cNvSpPr/>
          <p:nvPr/>
        </p:nvSpPr>
        <p:spPr>
          <a:xfrm>
            <a:off x="868680" y="2606040"/>
            <a:ext cx="2286000" cy="201168"/>
          </a:xfrm>
          <a:prstGeom prst="rect">
            <a:avLst/>
          </a:prstGeom>
          <a:noFill/>
          <a:ln/>
        </p:spPr>
        <p:txBody>
          <a:bodyPr wrap="square" rtlCol="0" anchor="ctr"/>
          <a:lstStyle/>
          <a:p>
            <a:pPr indent="0" marL="0">
              <a:buNone/>
            </a:pPr>
            <a:r>
              <a:rPr lang="en-US" sz="950" b="1" dirty="0">
                <a:solidFill>
                  <a:srgbClr val="4F46E5"/>
                </a:solidFill>
                <a:latin typeface="Arial" pitchFamily="34" charset="0"/>
                <a:ea typeface="Arial" pitchFamily="34" charset="-122"/>
                <a:cs typeface="Arial" pitchFamily="34" charset="-120"/>
              </a:rPr>
              <a:t>Vite • Pinia • TypeScript</a:t>
            </a:r>
            <a:endParaRPr lang="en-US" sz="950" dirty="0"/>
          </a:p>
        </p:txBody>
      </p:sp>
      <p:sp>
        <p:nvSpPr>
          <p:cNvPr id="17" name="Text 15"/>
          <p:cNvSpPr/>
          <p:nvPr/>
        </p:nvSpPr>
        <p:spPr>
          <a:xfrm>
            <a:off x="868680" y="2852928"/>
            <a:ext cx="2286000" cy="1371600"/>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PawAIView, RadarView, TopBar Architecture Modal dispatching typed HTTP requests via apiClient.</a:t>
            </a:r>
            <a:endParaRPr lang="en-US" sz="950" dirty="0"/>
          </a:p>
        </p:txBody>
      </p:sp>
      <p:sp>
        <p:nvSpPr>
          <p:cNvPr id="18" name="Shape 16"/>
          <p:cNvSpPr/>
          <p:nvPr/>
        </p:nvSpPr>
        <p:spPr>
          <a:xfrm>
            <a:off x="3456432" y="1783080"/>
            <a:ext cx="2560320" cy="2606040"/>
          </a:xfrm>
          <a:prstGeom prst="roundRect">
            <a:avLst/>
          </a:prstGeom>
          <a:solidFill>
            <a:srgbClr val="FFFFFF"/>
          </a:solidFill>
          <a:ln w="15240">
            <a:solidFill>
              <a:srgbClr val="CBD5E1"/>
            </a:solidFill>
            <a:prstDash val="solid"/>
          </a:ln>
        </p:spPr>
      </p:sp>
      <p:sp>
        <p:nvSpPr>
          <p:cNvPr id="19" name="Shape 17"/>
          <p:cNvSpPr/>
          <p:nvPr/>
        </p:nvSpPr>
        <p:spPr>
          <a:xfrm>
            <a:off x="3593592" y="1920240"/>
            <a:ext cx="685800" cy="274320"/>
          </a:xfrm>
          <a:prstGeom prst="roundRect">
            <a:avLst/>
          </a:prstGeom>
          <a:solidFill>
            <a:srgbClr val="F1F5F9"/>
          </a:solidFill>
          <a:ln w="12700">
            <a:solidFill>
              <a:srgbClr val="CBD5E1"/>
            </a:solidFill>
            <a:prstDash val="solid"/>
          </a:ln>
        </p:spPr>
      </p:sp>
      <p:sp>
        <p:nvSpPr>
          <p:cNvPr id="20" name="Text 18"/>
          <p:cNvSpPr/>
          <p:nvPr/>
        </p:nvSpPr>
        <p:spPr>
          <a:xfrm>
            <a:off x="3593592" y="1975104"/>
            <a:ext cx="685800" cy="182880"/>
          </a:xfrm>
          <a:prstGeom prst="rect">
            <a:avLst/>
          </a:prstGeom>
          <a:noFill/>
          <a:ln/>
        </p:spPr>
        <p:txBody>
          <a:bodyPr wrap="square" rtlCol="0" anchor="ctr"/>
          <a:lstStyle/>
          <a:p>
            <a:pPr algn="ctr" indent="0" marL="0">
              <a:buNone/>
            </a:pPr>
            <a:r>
              <a:rPr lang="en-US" sz="850" b="1" dirty="0">
                <a:solidFill>
                  <a:srgbClr val="4338CA"/>
                </a:solidFill>
                <a:latin typeface="Arial" pitchFamily="34" charset="0"/>
                <a:ea typeface="Arial" pitchFamily="34" charset="-122"/>
                <a:cs typeface="Arial" pitchFamily="34" charset="-120"/>
              </a:rPr>
              <a:t>STAGE 02</a:t>
            </a:r>
            <a:endParaRPr lang="en-US" sz="850" dirty="0"/>
          </a:p>
        </p:txBody>
      </p:sp>
      <p:sp>
        <p:nvSpPr>
          <p:cNvPr id="21" name="Text 19"/>
          <p:cNvSpPr/>
          <p:nvPr/>
        </p:nvSpPr>
        <p:spPr>
          <a:xfrm>
            <a:off x="5422392" y="1874520"/>
            <a:ext cx="457200" cy="36576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22" name="Text 20"/>
          <p:cNvSpPr/>
          <p:nvPr/>
        </p:nvSpPr>
        <p:spPr>
          <a:xfrm>
            <a:off x="3593592" y="2286000"/>
            <a:ext cx="2286000"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Next.js 16 REST Engine</a:t>
            </a:r>
            <a:endParaRPr lang="en-US" sz="1300" dirty="0"/>
          </a:p>
        </p:txBody>
      </p:sp>
      <p:sp>
        <p:nvSpPr>
          <p:cNvPr id="23" name="Text 21"/>
          <p:cNvSpPr/>
          <p:nvPr/>
        </p:nvSpPr>
        <p:spPr>
          <a:xfrm>
            <a:off x="3593592" y="2606040"/>
            <a:ext cx="2286000" cy="201168"/>
          </a:xfrm>
          <a:prstGeom prst="rect">
            <a:avLst/>
          </a:prstGeom>
          <a:noFill/>
          <a:ln/>
        </p:spPr>
        <p:txBody>
          <a:bodyPr wrap="square" rtlCol="0" anchor="ctr"/>
          <a:lstStyle/>
          <a:p>
            <a:pPr indent="0" marL="0">
              <a:buNone/>
            </a:pPr>
            <a:r>
              <a:rPr lang="en-US" sz="950" b="1" dirty="0">
                <a:solidFill>
                  <a:srgbClr val="4338CA"/>
                </a:solidFill>
                <a:latin typeface="Arial" pitchFamily="34" charset="0"/>
                <a:ea typeface="Arial" pitchFamily="34" charset="-122"/>
                <a:cs typeface="Arial" pitchFamily="34" charset="-120"/>
              </a:rPr>
              <a:t>Zod • Edge Routes • RBAC</a:t>
            </a:r>
            <a:endParaRPr lang="en-US" sz="950" dirty="0"/>
          </a:p>
        </p:txBody>
      </p:sp>
      <p:sp>
        <p:nvSpPr>
          <p:cNvPr id="24" name="Text 22"/>
          <p:cNvSpPr/>
          <p:nvPr/>
        </p:nvSpPr>
        <p:spPr>
          <a:xfrm>
            <a:off x="3593592" y="2852928"/>
            <a:ext cx="2286000" cy="1371600"/>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Strict schema validation, rate-limiting, pet context enrichment, and prompt normalization.</a:t>
            </a:r>
            <a:endParaRPr lang="en-US" sz="950" dirty="0"/>
          </a:p>
        </p:txBody>
      </p:sp>
      <p:sp>
        <p:nvSpPr>
          <p:cNvPr id="25" name="Shape 23"/>
          <p:cNvSpPr/>
          <p:nvPr/>
        </p:nvSpPr>
        <p:spPr>
          <a:xfrm>
            <a:off x="6181344" y="1783080"/>
            <a:ext cx="2560320" cy="2606040"/>
          </a:xfrm>
          <a:prstGeom prst="roundRect">
            <a:avLst/>
          </a:prstGeom>
          <a:solidFill>
            <a:srgbClr val="FFFFFF"/>
          </a:solidFill>
          <a:ln w="15240">
            <a:solidFill>
              <a:srgbClr val="CBD5E1"/>
            </a:solidFill>
            <a:prstDash val="solid"/>
          </a:ln>
        </p:spPr>
      </p:sp>
      <p:sp>
        <p:nvSpPr>
          <p:cNvPr id="26" name="Shape 24"/>
          <p:cNvSpPr/>
          <p:nvPr/>
        </p:nvSpPr>
        <p:spPr>
          <a:xfrm>
            <a:off x="6318504" y="1920240"/>
            <a:ext cx="685800" cy="274320"/>
          </a:xfrm>
          <a:prstGeom prst="roundRect">
            <a:avLst/>
          </a:prstGeom>
          <a:solidFill>
            <a:srgbClr val="F1F5F9"/>
          </a:solidFill>
          <a:ln w="12700">
            <a:solidFill>
              <a:srgbClr val="CBD5E1"/>
            </a:solidFill>
            <a:prstDash val="solid"/>
          </a:ln>
        </p:spPr>
      </p:sp>
      <p:sp>
        <p:nvSpPr>
          <p:cNvPr id="27" name="Text 25"/>
          <p:cNvSpPr/>
          <p:nvPr/>
        </p:nvSpPr>
        <p:spPr>
          <a:xfrm>
            <a:off x="6318504" y="1975104"/>
            <a:ext cx="685800" cy="182880"/>
          </a:xfrm>
          <a:prstGeom prst="rect">
            <a:avLst/>
          </a:prstGeom>
          <a:noFill/>
          <a:ln/>
        </p:spPr>
        <p:txBody>
          <a:bodyPr wrap="square" rtlCol="0" anchor="ctr"/>
          <a:lstStyle/>
          <a:p>
            <a:pPr algn="ctr" indent="0" marL="0">
              <a:buNone/>
            </a:pPr>
            <a:r>
              <a:rPr lang="en-US" sz="850" b="1" dirty="0">
                <a:solidFill>
                  <a:srgbClr val="8B5CF6"/>
                </a:solidFill>
                <a:latin typeface="Arial" pitchFamily="34" charset="0"/>
                <a:ea typeface="Arial" pitchFamily="34" charset="-122"/>
                <a:cs typeface="Arial" pitchFamily="34" charset="-120"/>
              </a:rPr>
              <a:t>STAGE 03</a:t>
            </a:r>
            <a:endParaRPr lang="en-US" sz="850" dirty="0"/>
          </a:p>
        </p:txBody>
      </p:sp>
      <p:sp>
        <p:nvSpPr>
          <p:cNvPr id="28" name="Text 26"/>
          <p:cNvSpPr/>
          <p:nvPr/>
        </p:nvSpPr>
        <p:spPr>
          <a:xfrm>
            <a:off x="8147304" y="1874520"/>
            <a:ext cx="457200" cy="36576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29" name="Text 27"/>
          <p:cNvSpPr/>
          <p:nvPr/>
        </p:nvSpPr>
        <p:spPr>
          <a:xfrm>
            <a:off x="6318504" y="2286000"/>
            <a:ext cx="2286000"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Nuzzle Maira Client</a:t>
            </a:r>
            <a:endParaRPr lang="en-US" sz="1300" dirty="0"/>
          </a:p>
        </p:txBody>
      </p:sp>
      <p:sp>
        <p:nvSpPr>
          <p:cNvPr id="30" name="Text 28"/>
          <p:cNvSpPr/>
          <p:nvPr/>
        </p:nvSpPr>
        <p:spPr>
          <a:xfrm>
            <a:off x="6318504" y="2606040"/>
            <a:ext cx="2286000" cy="201168"/>
          </a:xfrm>
          <a:prstGeom prst="rect">
            <a:avLst/>
          </a:prstGeom>
          <a:noFill/>
          <a:ln/>
        </p:spPr>
        <p:txBody>
          <a:bodyPr wrap="square" rtlCol="0" anchor="ctr"/>
          <a:lstStyle/>
          <a:p>
            <a:pPr indent="0" marL="0">
              <a:buNone/>
            </a:pPr>
            <a:r>
              <a:rPr lang="en-US" sz="950" b="1" dirty="0">
                <a:solidFill>
                  <a:srgbClr val="8B5CF6"/>
                </a:solidFill>
                <a:latin typeface="Arial" pitchFamily="34" charset="0"/>
                <a:ea typeface="Arial" pitchFamily="34" charset="-122"/>
                <a:cs typeface="Arial" pitchFamily="34" charset="-120"/>
              </a:rPr>
              <a:t>lib/maira/maira-client.ts</a:t>
            </a:r>
            <a:endParaRPr lang="en-US" sz="950" dirty="0"/>
          </a:p>
        </p:txBody>
      </p:sp>
      <p:sp>
        <p:nvSpPr>
          <p:cNvPr id="31" name="Text 29"/>
          <p:cNvSpPr/>
          <p:nvPr/>
        </p:nvSpPr>
        <p:spPr>
          <a:xfrm>
            <a:off x="6318504" y="2852928"/>
            <a:ext cx="2286000" cy="1371600"/>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Hyphenated header injection (api-key, project-key), timeout circuits, and vector section extraction.</a:t>
            </a:r>
            <a:endParaRPr lang="en-US" sz="950" dirty="0"/>
          </a:p>
        </p:txBody>
      </p:sp>
      <p:sp>
        <p:nvSpPr>
          <p:cNvPr id="32" name="Shape 30"/>
          <p:cNvSpPr/>
          <p:nvPr/>
        </p:nvSpPr>
        <p:spPr>
          <a:xfrm>
            <a:off x="8906256" y="1783080"/>
            <a:ext cx="2560320" cy="2606040"/>
          </a:xfrm>
          <a:prstGeom prst="roundRect">
            <a:avLst/>
          </a:prstGeom>
          <a:solidFill>
            <a:srgbClr val="FFFFFF"/>
          </a:solidFill>
          <a:ln w="15240">
            <a:solidFill>
              <a:srgbClr val="CBD5E1"/>
            </a:solidFill>
            <a:prstDash val="solid"/>
          </a:ln>
        </p:spPr>
      </p:sp>
      <p:sp>
        <p:nvSpPr>
          <p:cNvPr id="33" name="Shape 31"/>
          <p:cNvSpPr/>
          <p:nvPr/>
        </p:nvSpPr>
        <p:spPr>
          <a:xfrm>
            <a:off x="9043416" y="1920240"/>
            <a:ext cx="685800" cy="274320"/>
          </a:xfrm>
          <a:prstGeom prst="roundRect">
            <a:avLst/>
          </a:prstGeom>
          <a:solidFill>
            <a:srgbClr val="F1F5F9"/>
          </a:solidFill>
          <a:ln w="12700">
            <a:solidFill>
              <a:srgbClr val="CBD5E1"/>
            </a:solidFill>
            <a:prstDash val="solid"/>
          </a:ln>
        </p:spPr>
      </p:sp>
      <p:sp>
        <p:nvSpPr>
          <p:cNvPr id="34" name="Text 32"/>
          <p:cNvSpPr/>
          <p:nvPr/>
        </p:nvSpPr>
        <p:spPr>
          <a:xfrm>
            <a:off x="9043416" y="1975104"/>
            <a:ext cx="685800" cy="182880"/>
          </a:xfrm>
          <a:prstGeom prst="rect">
            <a:avLst/>
          </a:prstGeom>
          <a:noFill/>
          <a:ln/>
        </p:spPr>
        <p:txBody>
          <a:bodyPr wrap="square" rtlCol="0" anchor="ctr"/>
          <a:lstStyle/>
          <a:p>
            <a:pPr algn="ctr" indent="0" marL="0">
              <a:buNone/>
            </a:pPr>
            <a:r>
              <a:rPr lang="en-US" sz="850" b="1" dirty="0">
                <a:solidFill>
                  <a:srgbClr val="10B981"/>
                </a:solidFill>
                <a:latin typeface="Arial" pitchFamily="34" charset="0"/>
                <a:ea typeface="Arial" pitchFamily="34" charset="-122"/>
                <a:cs typeface="Arial" pitchFamily="34" charset="-120"/>
              </a:rPr>
              <a:t>STAGE 04</a:t>
            </a:r>
            <a:endParaRPr lang="en-US" sz="850" dirty="0"/>
          </a:p>
        </p:txBody>
      </p:sp>
      <p:sp>
        <p:nvSpPr>
          <p:cNvPr id="35" name="Text 33"/>
          <p:cNvSpPr/>
          <p:nvPr/>
        </p:nvSpPr>
        <p:spPr>
          <a:xfrm>
            <a:off x="10872216" y="1874520"/>
            <a:ext cx="457200" cy="36576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36" name="Text 34"/>
          <p:cNvSpPr/>
          <p:nvPr/>
        </p:nvSpPr>
        <p:spPr>
          <a:xfrm>
            <a:off x="9043416" y="2286000"/>
            <a:ext cx="2286000" cy="320040"/>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Gigalogy MAIRA Cloud</a:t>
            </a:r>
            <a:endParaRPr lang="en-US" sz="1300" dirty="0"/>
          </a:p>
        </p:txBody>
      </p:sp>
      <p:sp>
        <p:nvSpPr>
          <p:cNvPr id="37" name="Text 35"/>
          <p:cNvSpPr/>
          <p:nvPr/>
        </p:nvSpPr>
        <p:spPr>
          <a:xfrm>
            <a:off x="9043416" y="2606040"/>
            <a:ext cx="2286000" cy="201168"/>
          </a:xfrm>
          <a:prstGeom prst="rect">
            <a:avLst/>
          </a:prstGeom>
          <a:noFill/>
          <a:ln/>
        </p:spPr>
        <p:txBody>
          <a:bodyPr wrap="square" rtlCol="0" anchor="ctr"/>
          <a:lstStyle/>
          <a:p>
            <a:pPr indent="0" marL="0">
              <a:buNone/>
            </a:pPr>
            <a:r>
              <a:rPr lang="en-US" sz="950" b="1" dirty="0">
                <a:solidFill>
                  <a:srgbClr val="10B981"/>
                </a:solidFill>
                <a:latin typeface="Arial" pitchFamily="34" charset="0"/>
                <a:ea typeface="Arial" pitchFamily="34" charset="-122"/>
                <a:cs typeface="Arial" pitchFamily="34" charset="-120"/>
              </a:rPr>
              <a:t>api.recommender.gigalogy.com</a:t>
            </a:r>
            <a:endParaRPr lang="en-US" sz="950" dirty="0"/>
          </a:p>
        </p:txBody>
      </p:sp>
      <p:sp>
        <p:nvSpPr>
          <p:cNvPr id="38" name="Text 36"/>
          <p:cNvSpPr/>
          <p:nvPr/>
        </p:nvSpPr>
        <p:spPr>
          <a:xfrm>
            <a:off x="9043416" y="2852928"/>
            <a:ext cx="2286000" cy="1371600"/>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Vector search engine, vector similarity ranking, LLM generation, and section metadata response.</a:t>
            </a:r>
            <a:endParaRPr lang="en-US" sz="950" dirty="0"/>
          </a:p>
        </p:txBody>
      </p:sp>
      <p:sp>
        <p:nvSpPr>
          <p:cNvPr id="39" name="Shape 37"/>
          <p:cNvSpPr/>
          <p:nvPr/>
        </p:nvSpPr>
        <p:spPr>
          <a:xfrm>
            <a:off x="731520" y="4572000"/>
            <a:ext cx="10728655" cy="1600200"/>
          </a:xfrm>
          <a:prstGeom prst="roundRect">
            <a:avLst/>
          </a:prstGeom>
          <a:solidFill>
            <a:srgbClr val="0B0F19"/>
          </a:solidFill>
          <a:ln w="19050">
            <a:solidFill>
              <a:srgbClr val="4F46E5"/>
            </a:solidFill>
            <a:prstDash val="solid"/>
          </a:ln>
        </p:spPr>
      </p:sp>
      <p:sp>
        <p:nvSpPr>
          <p:cNvPr id="40" name="Text 38"/>
          <p:cNvSpPr/>
          <p:nvPr/>
        </p:nvSpPr>
        <p:spPr>
          <a:xfrm>
            <a:off x="914400" y="4709160"/>
            <a:ext cx="10362895" cy="228600"/>
          </a:xfrm>
          <a:prstGeom prst="rect">
            <a:avLst/>
          </a:prstGeom>
          <a:noFill/>
          <a:ln/>
        </p:spPr>
        <p:txBody>
          <a:bodyPr wrap="square" rtlCol="0" anchor="ctr"/>
          <a:lstStyle/>
          <a:p>
            <a:pPr indent="0" marL="0">
              <a:buNone/>
            </a:pPr>
            <a:r>
              <a:rPr lang="en-US" sz="1050" b="1" spc="120" kern="0" dirty="0">
                <a:solidFill>
                  <a:srgbClr val="818CF8"/>
                </a:solidFill>
                <a:latin typeface="Arial" pitchFamily="34" charset="0"/>
                <a:ea typeface="Arial" pitchFamily="34" charset="-122"/>
                <a:cs typeface="Arial" pitchFamily="34" charset="-120"/>
              </a:rPr>
              <a:t>TRIPLE-TIER FAILOVER &amp; ZERO-DOWNTIME RESILIENCE STRATEGY</a:t>
            </a:r>
            <a:endParaRPr lang="en-US" sz="1050" dirty="0"/>
          </a:p>
        </p:txBody>
      </p:sp>
      <p:sp>
        <p:nvSpPr>
          <p:cNvPr id="41" name="Shape 39"/>
          <p:cNvSpPr/>
          <p:nvPr/>
        </p:nvSpPr>
        <p:spPr>
          <a:xfrm>
            <a:off x="914400" y="5010912"/>
            <a:ext cx="3337560" cy="1005840"/>
          </a:xfrm>
          <a:prstGeom prst="roundRect">
            <a:avLst/>
          </a:prstGeom>
          <a:solidFill>
            <a:srgbClr val="1E293B"/>
          </a:solidFill>
          <a:ln w="12700">
            <a:solidFill>
              <a:srgbClr val="334155"/>
            </a:solidFill>
            <a:prstDash val="solid"/>
          </a:ln>
        </p:spPr>
      </p:sp>
      <p:sp>
        <p:nvSpPr>
          <p:cNvPr id="42" name="Text 40"/>
          <p:cNvSpPr/>
          <p:nvPr/>
        </p:nvSpPr>
        <p:spPr>
          <a:xfrm>
            <a:off x="1051560" y="5102352"/>
            <a:ext cx="3063240"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TIER 1 (PRIMARY)</a:t>
            </a:r>
            <a:endParaRPr lang="en-US" sz="850" dirty="0"/>
          </a:p>
        </p:txBody>
      </p:sp>
      <p:sp>
        <p:nvSpPr>
          <p:cNvPr id="43" name="Text 41"/>
          <p:cNvSpPr/>
          <p:nvPr/>
        </p:nvSpPr>
        <p:spPr>
          <a:xfrm>
            <a:off x="1051560" y="5285232"/>
            <a:ext cx="3063240" cy="219456"/>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Gigalogy MAIRA Managed RAG</a:t>
            </a:r>
            <a:endParaRPr lang="en-US" sz="1100" dirty="0"/>
          </a:p>
        </p:txBody>
      </p:sp>
      <p:sp>
        <p:nvSpPr>
          <p:cNvPr id="44" name="Text 42"/>
          <p:cNvSpPr/>
          <p:nvPr/>
        </p:nvSpPr>
        <p:spPr>
          <a:xfrm>
            <a:off x="1051560" y="5522976"/>
            <a:ext cx="3063240" cy="411480"/>
          </a:xfrm>
          <a:prstGeom prst="rect">
            <a:avLst/>
          </a:prstGeom>
          <a:noFill/>
          <a:ln/>
        </p:spPr>
        <p:txBody>
          <a:bodyPr wrap="square" rtlCol="0" anchor="ctr"/>
          <a:lstStyle/>
          <a:p>
            <a:pPr indent="0" marL="0">
              <a:lnSpc>
                <a:spcPts val="1200"/>
              </a:lnSpc>
              <a:buNone/>
            </a:pPr>
            <a:r>
              <a:rPr lang="en-US" sz="850" dirty="0">
                <a:solidFill>
                  <a:srgbClr val="94A3B8"/>
                </a:solidFill>
                <a:latin typeface="Arial" pitchFamily="34" charset="0"/>
                <a:ea typeface="Arial" pitchFamily="34" charset="-122"/>
                <a:cs typeface="Arial" pitchFamily="34" charset="-120"/>
              </a:rPr>
              <a:t>Live vector retrieval from trained pet and clinic datasets. Sub-500ms RAG retrieval.</a:t>
            </a:r>
            <a:endParaRPr lang="en-US" sz="850" dirty="0"/>
          </a:p>
        </p:txBody>
      </p:sp>
      <p:sp>
        <p:nvSpPr>
          <p:cNvPr id="45" name="Shape 43"/>
          <p:cNvSpPr/>
          <p:nvPr/>
        </p:nvSpPr>
        <p:spPr>
          <a:xfrm>
            <a:off x="4389120" y="5010912"/>
            <a:ext cx="3337560" cy="1005840"/>
          </a:xfrm>
          <a:prstGeom prst="roundRect">
            <a:avLst/>
          </a:prstGeom>
          <a:solidFill>
            <a:srgbClr val="1E293B"/>
          </a:solidFill>
          <a:ln w="12700">
            <a:solidFill>
              <a:srgbClr val="334155"/>
            </a:solidFill>
            <a:prstDash val="solid"/>
          </a:ln>
        </p:spPr>
      </p:sp>
      <p:sp>
        <p:nvSpPr>
          <p:cNvPr id="46" name="Text 44"/>
          <p:cNvSpPr/>
          <p:nvPr/>
        </p:nvSpPr>
        <p:spPr>
          <a:xfrm>
            <a:off x="4526280" y="5102352"/>
            <a:ext cx="3063240"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TIER 2 (FALLBACK)</a:t>
            </a:r>
            <a:endParaRPr lang="en-US" sz="850" dirty="0"/>
          </a:p>
        </p:txBody>
      </p:sp>
      <p:sp>
        <p:nvSpPr>
          <p:cNvPr id="47" name="Text 45"/>
          <p:cNvSpPr/>
          <p:nvPr/>
        </p:nvSpPr>
        <p:spPr>
          <a:xfrm>
            <a:off x="4526280" y="5285232"/>
            <a:ext cx="3063240" cy="219456"/>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OpenAI GPT-4o-mini / Gemini API</a:t>
            </a:r>
            <a:endParaRPr lang="en-US" sz="1100" dirty="0"/>
          </a:p>
        </p:txBody>
      </p:sp>
      <p:sp>
        <p:nvSpPr>
          <p:cNvPr id="48" name="Text 46"/>
          <p:cNvSpPr/>
          <p:nvPr/>
        </p:nvSpPr>
        <p:spPr>
          <a:xfrm>
            <a:off x="4526280" y="5522976"/>
            <a:ext cx="3063240" cy="411480"/>
          </a:xfrm>
          <a:prstGeom prst="rect">
            <a:avLst/>
          </a:prstGeom>
          <a:noFill/>
          <a:ln/>
        </p:spPr>
        <p:txBody>
          <a:bodyPr wrap="square" rtlCol="0" anchor="ctr"/>
          <a:lstStyle/>
          <a:p>
            <a:pPr indent="0" marL="0">
              <a:lnSpc>
                <a:spcPts val="1200"/>
              </a:lnSpc>
              <a:buNone/>
            </a:pPr>
            <a:r>
              <a:rPr lang="en-US" sz="850" dirty="0">
                <a:solidFill>
                  <a:srgbClr val="94A3B8"/>
                </a:solidFill>
                <a:latin typeface="Arial" pitchFamily="34" charset="0"/>
                <a:ea typeface="Arial" pitchFamily="34" charset="-122"/>
                <a:cs typeface="Arial" pitchFamily="34" charset="-120"/>
              </a:rPr>
              <a:t>Engaged automatically if MAIRA API experiences rate limit or cloud network disruption.</a:t>
            </a:r>
            <a:endParaRPr lang="en-US" sz="850" dirty="0"/>
          </a:p>
        </p:txBody>
      </p:sp>
      <p:sp>
        <p:nvSpPr>
          <p:cNvPr id="49" name="Shape 47"/>
          <p:cNvSpPr/>
          <p:nvPr/>
        </p:nvSpPr>
        <p:spPr>
          <a:xfrm>
            <a:off x="7863840" y="5010912"/>
            <a:ext cx="3337560" cy="1005840"/>
          </a:xfrm>
          <a:prstGeom prst="roundRect">
            <a:avLst/>
          </a:prstGeom>
          <a:solidFill>
            <a:srgbClr val="1E293B"/>
          </a:solidFill>
          <a:ln w="12700">
            <a:solidFill>
              <a:srgbClr val="334155"/>
            </a:solidFill>
            <a:prstDash val="solid"/>
          </a:ln>
        </p:spPr>
      </p:sp>
      <p:sp>
        <p:nvSpPr>
          <p:cNvPr id="50" name="Text 48"/>
          <p:cNvSpPr/>
          <p:nvPr/>
        </p:nvSpPr>
        <p:spPr>
          <a:xfrm>
            <a:off x="8001000" y="5102352"/>
            <a:ext cx="3063240"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TIER 3 (OFFLINE)</a:t>
            </a:r>
            <a:endParaRPr lang="en-US" sz="850" dirty="0"/>
          </a:p>
        </p:txBody>
      </p:sp>
      <p:sp>
        <p:nvSpPr>
          <p:cNvPr id="51" name="Text 49"/>
          <p:cNvSpPr/>
          <p:nvPr/>
        </p:nvSpPr>
        <p:spPr>
          <a:xfrm>
            <a:off x="8001000" y="5285232"/>
            <a:ext cx="3063240" cy="219456"/>
          </a:xfrm>
          <a:prstGeom prst="rect">
            <a:avLst/>
          </a:prstGeom>
          <a:noFill/>
          <a:ln/>
        </p:spPr>
        <p:txBody>
          <a:bodyPr wrap="square" rtlCol="0" anchor="ctr"/>
          <a:lstStyle/>
          <a:p>
            <a:pPr indent="0" marL="0">
              <a:buNone/>
            </a:pPr>
            <a:r>
              <a:rPr lang="en-US" sz="1100" b="1" dirty="0">
                <a:solidFill>
                  <a:srgbClr val="FFFFFF"/>
                </a:solidFill>
                <a:latin typeface="Arial" pitchFamily="34" charset="0"/>
                <a:ea typeface="Arial" pitchFamily="34" charset="-122"/>
                <a:cs typeface="Arial" pitchFamily="34" charset="-120"/>
              </a:rPr>
              <a:t>Deterministic Heuristic Engine</a:t>
            </a:r>
            <a:endParaRPr lang="en-US" sz="1100" dirty="0"/>
          </a:p>
        </p:txBody>
      </p:sp>
      <p:sp>
        <p:nvSpPr>
          <p:cNvPr id="52" name="Text 50"/>
          <p:cNvSpPr/>
          <p:nvPr/>
        </p:nvSpPr>
        <p:spPr>
          <a:xfrm>
            <a:off x="8001000" y="5522976"/>
            <a:ext cx="3063240" cy="411480"/>
          </a:xfrm>
          <a:prstGeom prst="rect">
            <a:avLst/>
          </a:prstGeom>
          <a:noFill/>
          <a:ln/>
        </p:spPr>
        <p:txBody>
          <a:bodyPr wrap="square" rtlCol="0" anchor="ctr"/>
          <a:lstStyle/>
          <a:p>
            <a:pPr indent="0" marL="0">
              <a:lnSpc>
                <a:spcPts val="1200"/>
              </a:lnSpc>
              <a:buNone/>
            </a:pPr>
            <a:r>
              <a:rPr lang="en-US" sz="850" dirty="0">
                <a:solidFill>
                  <a:srgbClr val="94A3B8"/>
                </a:solidFill>
                <a:latin typeface="Arial" pitchFamily="34" charset="0"/>
                <a:ea typeface="Arial" pitchFamily="34" charset="-122"/>
                <a:cs typeface="Arial" pitchFamily="34" charset="-120"/>
              </a:rPr>
              <a:t>Local poison threshold tables and clinic directories guaranteeing zero user-facing 500 crashes.</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sp>
      <p:sp>
        <p:nvSpPr>
          <p:cNvPr id="3" name="Text 1"/>
          <p:cNvSpPr/>
          <p:nvPr/>
        </p:nvSpPr>
        <p:spPr>
          <a:xfrm>
            <a:off x="731520" y="128016"/>
            <a:ext cx="6583680" cy="32004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 NUZZLE AI PLATFORM  |  GIGALOGY MAIRA MANAGED RAG INTEGRATION</a:t>
            </a:r>
            <a:endParaRPr lang="en-US" sz="1050" dirty="0"/>
          </a:p>
        </p:txBody>
      </p:sp>
      <p:sp>
        <p:nvSpPr>
          <p:cNvPr id="4" name="Text 2"/>
          <p:cNvSpPr/>
          <p:nvPr/>
        </p:nvSpPr>
        <p:spPr>
          <a:xfrm>
            <a:off x="7498080" y="128016"/>
            <a:ext cx="3962095" cy="320040"/>
          </a:xfrm>
          <a:prstGeom prst="rect">
            <a:avLst/>
          </a:prstGeom>
          <a:noFill/>
          <a:ln/>
        </p:spPr>
        <p:txBody>
          <a:bodyPr wrap="square" rtlCol="0" anchor="ctr"/>
          <a:lstStyle/>
          <a:p>
            <a:pPr algn="r" indent="0" marL="0">
              <a:buNone/>
            </a:pPr>
            <a:r>
              <a:rPr lang="en-US" sz="950" dirty="0">
                <a:solidFill>
                  <a:srgbClr val="94A3B8"/>
                </a:solidFill>
                <a:latin typeface="Arial" pitchFamily="34" charset="0"/>
                <a:ea typeface="Arial" pitchFamily="34" charset="-122"/>
                <a:cs typeface="Arial" pitchFamily="34" charset="-120"/>
              </a:rPr>
              <a:t>Slide 4 of 14  •  Technical &amp; Architecture Deep Dive</a:t>
            </a:r>
            <a:endParaRPr lang="en-US" sz="950" dirty="0"/>
          </a:p>
        </p:txBody>
      </p:sp>
      <p:sp>
        <p:nvSpPr>
          <p:cNvPr id="5" name="Text 3"/>
          <p:cNvSpPr/>
          <p:nvPr/>
        </p:nvSpPr>
        <p:spPr>
          <a:xfrm>
            <a:off x="731520" y="658368"/>
            <a:ext cx="10728655" cy="201168"/>
          </a:xfrm>
          <a:prstGeom prst="rect">
            <a:avLst/>
          </a:prstGeom>
          <a:noFill/>
          <a:ln/>
        </p:spPr>
        <p:txBody>
          <a:bodyPr wrap="square" rtlCol="0" anchor="ctr"/>
          <a:lstStyle/>
          <a:p>
            <a:pPr indent="0" marL="0">
              <a:buNone/>
            </a:pPr>
            <a:r>
              <a:rPr lang="en-US" sz="950" b="1" spc="120" kern="0" dirty="0">
                <a:solidFill>
                  <a:srgbClr val="4338CA"/>
                </a:solidFill>
                <a:latin typeface="Arial" pitchFamily="34" charset="0"/>
                <a:ea typeface="Arial" pitchFamily="34" charset="-122"/>
                <a:cs typeface="Arial" pitchFamily="34" charset="-120"/>
              </a:rPr>
              <a:t>SYSTEM BLUEPRINT &amp; TOPOLOGY</a:t>
            </a:r>
            <a:endParaRPr lang="en-US" sz="950" dirty="0"/>
          </a:p>
        </p:txBody>
      </p:sp>
      <p:sp>
        <p:nvSpPr>
          <p:cNvPr id="6" name="Text 4"/>
          <p:cNvSpPr/>
          <p:nvPr/>
        </p:nvSpPr>
        <p:spPr>
          <a:xfrm>
            <a:off x="731520" y="896112"/>
            <a:ext cx="10728655" cy="384048"/>
          </a:xfrm>
          <a:prstGeom prst="rect">
            <a:avLst/>
          </a:prstGeom>
          <a:noFill/>
          <a:ln/>
        </p:spPr>
        <p:txBody>
          <a:bodyPr wrap="square" rtlCol="0" anchor="ctr"/>
          <a:lstStyle/>
          <a:p>
            <a:pPr indent="0" marL="0">
              <a:buNone/>
            </a:pPr>
            <a:r>
              <a:rPr lang="en-US" sz="1900" b="1" dirty="0">
                <a:solidFill>
                  <a:srgbClr val="0F172A"/>
                </a:solidFill>
                <a:latin typeface="Arial" pitchFamily="34" charset="0"/>
                <a:ea typeface="Arial" pitchFamily="34" charset="-122"/>
                <a:cs typeface="Arial" pitchFamily="34" charset="-120"/>
              </a:rPr>
              <a:t>Full-Stack Multimodal AI &amp; Managed RAG Architecture Diagram</a:t>
            </a:r>
            <a:endParaRPr lang="en-US" sz="1900" dirty="0"/>
          </a:p>
        </p:txBody>
      </p:sp>
      <p:sp>
        <p:nvSpPr>
          <p:cNvPr id="7" name="Text 5"/>
          <p:cNvSpPr/>
          <p:nvPr/>
        </p:nvSpPr>
        <p:spPr>
          <a:xfrm>
            <a:off x="731520" y="1316736"/>
            <a:ext cx="10728655" cy="292608"/>
          </a:xfrm>
          <a:prstGeom prst="rect">
            <a:avLst/>
          </a:prstGeom>
          <a:noFill/>
          <a:ln/>
        </p:spPr>
        <p:txBody>
          <a:bodyPr wrap="square" rtlCol="0" anchor="ctr"/>
          <a:lstStyle/>
          <a:p>
            <a:pPr indent="0" marL="0">
              <a:buNone/>
            </a:pPr>
            <a:r>
              <a:rPr lang="en-US" sz="1050" dirty="0">
                <a:solidFill>
                  <a:srgbClr val="475569"/>
                </a:solidFill>
                <a:latin typeface="Arial" pitchFamily="34" charset="0"/>
                <a:ea typeface="Arial" pitchFamily="34" charset="-122"/>
                <a:cs typeface="Arial" pitchFamily="34" charset="-120"/>
              </a:rPr>
              <a:t>End-to-end data flow: Vue 3 Client ➔ Edge Gateway ➔ Clinical AI &amp; Vision Core ➔ Supabase Persistence &amp; Vectors.</a:t>
            </a:r>
            <a:endParaRPr lang="en-US" sz="1050" dirty="0"/>
          </a:p>
        </p:txBody>
      </p:sp>
      <p:sp>
        <p:nvSpPr>
          <p:cNvPr id="8" name="Shape 6"/>
          <p:cNvSpPr/>
          <p:nvPr/>
        </p:nvSpPr>
        <p:spPr>
          <a:xfrm>
            <a:off x="0" y="6355080"/>
            <a:ext cx="12191695" cy="502920"/>
          </a:xfrm>
          <a:prstGeom prst="rect">
            <a:avLst/>
          </a:prstGeom>
          <a:solidFill>
            <a:srgbClr val="0F172A"/>
          </a:solidFill>
          <a:ln w="12700">
            <a:solidFill>
              <a:srgbClr val="1E293B"/>
            </a:solidFill>
            <a:prstDash val="solid"/>
          </a:ln>
        </p:spPr>
      </p:sp>
      <p:sp>
        <p:nvSpPr>
          <p:cNvPr id="9" name="Text 7"/>
          <p:cNvSpPr/>
          <p:nvPr/>
        </p:nvSpPr>
        <p:spPr>
          <a:xfrm>
            <a:off x="731520" y="6446520"/>
            <a:ext cx="6583680" cy="320040"/>
          </a:xfrm>
          <a:prstGeom prst="rect">
            <a:avLst/>
          </a:prstGeom>
          <a:noFill/>
          <a:ln/>
        </p:spPr>
        <p:txBody>
          <a:bodyPr wrap="square" rtlCol="0" anchor="ctr"/>
          <a:lstStyle/>
          <a:p>
            <a:pPr indent="0" marL="0">
              <a:buNone/>
            </a:pPr>
            <a:r>
              <a:rPr lang="en-US" sz="950" dirty="0">
                <a:solidFill>
                  <a:srgbClr val="94A3B8"/>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7498080" y="6446520"/>
            <a:ext cx="3962095" cy="32004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19072"/>
            <a:ext cx="2560320" cy="4462272"/>
          </a:xfrm>
          <a:prstGeom prst="roundRect">
            <a:avLst/>
          </a:prstGeom>
          <a:solidFill>
            <a:srgbClr val="FFFFFF"/>
          </a:solidFill>
          <a:ln w="19050">
            <a:solidFill>
              <a:srgbClr val="4F46E5"/>
            </a:solidFill>
            <a:prstDash val="solid"/>
          </a:ln>
        </p:spPr>
      </p:sp>
      <p:sp>
        <p:nvSpPr>
          <p:cNvPr id="12" name="Shape 10"/>
          <p:cNvSpPr/>
          <p:nvPr/>
        </p:nvSpPr>
        <p:spPr>
          <a:xfrm>
            <a:off x="822960" y="1810512"/>
            <a:ext cx="2377440" cy="658368"/>
          </a:xfrm>
          <a:prstGeom prst="roundRect">
            <a:avLst/>
          </a:prstGeom>
          <a:solidFill>
            <a:srgbClr val="EEF2FF"/>
          </a:solidFill>
          <a:ln w="12700">
            <a:solidFill>
              <a:srgbClr val="4F46E5"/>
            </a:solidFill>
            <a:prstDash val="solid"/>
          </a:ln>
        </p:spPr>
      </p:sp>
      <p:sp>
        <p:nvSpPr>
          <p:cNvPr id="13" name="Text 11"/>
          <p:cNvSpPr/>
          <p:nvPr/>
        </p:nvSpPr>
        <p:spPr>
          <a:xfrm>
            <a:off x="868680" y="1874520"/>
            <a:ext cx="2286000" cy="201168"/>
          </a:xfrm>
          <a:prstGeom prst="rect">
            <a:avLst/>
          </a:prstGeom>
          <a:noFill/>
          <a:ln/>
        </p:spPr>
        <p:txBody>
          <a:bodyPr wrap="square" rtlCol="0" anchor="ctr"/>
          <a:lstStyle/>
          <a:p>
            <a:pPr indent="0" marL="0">
              <a:buNone/>
            </a:pPr>
            <a:r>
              <a:rPr lang="en-US" sz="900" b="1" dirty="0">
                <a:solidFill>
                  <a:srgbClr val="4F46E5"/>
                </a:solidFill>
                <a:latin typeface="Arial" pitchFamily="34" charset="0"/>
                <a:ea typeface="Arial" pitchFamily="34" charset="-122"/>
                <a:cs typeface="Arial" pitchFamily="34" charset="-120"/>
              </a:rPr>
              <a:t>TIER 01 • CLIENT &amp; UI LAYER</a:t>
            </a:r>
            <a:endParaRPr lang="en-US" sz="900" dirty="0"/>
          </a:p>
        </p:txBody>
      </p:sp>
      <p:sp>
        <p:nvSpPr>
          <p:cNvPr id="14" name="Text 12"/>
          <p:cNvSpPr/>
          <p:nvPr/>
        </p:nvSpPr>
        <p:spPr>
          <a:xfrm>
            <a:off x="868680" y="2093976"/>
            <a:ext cx="2286000" cy="292608"/>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Vue 3 + Vite Frontend SPA</a:t>
            </a:r>
            <a:endParaRPr lang="en-US" sz="850" dirty="0"/>
          </a:p>
        </p:txBody>
      </p:sp>
      <p:sp>
        <p:nvSpPr>
          <p:cNvPr id="15" name="Shape 13"/>
          <p:cNvSpPr/>
          <p:nvPr/>
        </p:nvSpPr>
        <p:spPr>
          <a:xfrm>
            <a:off x="822960" y="2578608"/>
            <a:ext cx="2377440" cy="768096"/>
          </a:xfrm>
          <a:prstGeom prst="roundRect">
            <a:avLst/>
          </a:prstGeom>
          <a:solidFill>
            <a:srgbClr val="F1F5F9"/>
          </a:solidFill>
          <a:ln w="12700">
            <a:solidFill>
              <a:srgbClr val="E2E8F0"/>
            </a:solidFill>
            <a:prstDash val="solid"/>
          </a:ln>
        </p:spPr>
      </p:sp>
      <p:sp>
        <p:nvSpPr>
          <p:cNvPr id="16" name="Text 14"/>
          <p:cNvSpPr/>
          <p:nvPr/>
        </p:nvSpPr>
        <p:spPr>
          <a:xfrm>
            <a:off x="896112" y="2651760"/>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Sighting Photo Dropzone</a:t>
            </a:r>
            <a:endParaRPr lang="en-US" sz="950" dirty="0"/>
          </a:p>
        </p:txBody>
      </p:sp>
      <p:sp>
        <p:nvSpPr>
          <p:cNvPr id="17" name="Text 15"/>
          <p:cNvSpPr/>
          <p:nvPr/>
        </p:nvSpPr>
        <p:spPr>
          <a:xfrm>
            <a:off x="896112" y="2871216"/>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Camera capture &amp; base64 encoding (under 10MB)</a:t>
            </a:r>
            <a:endParaRPr lang="en-US" sz="800" dirty="0"/>
          </a:p>
        </p:txBody>
      </p:sp>
      <p:sp>
        <p:nvSpPr>
          <p:cNvPr id="18" name="Shape 16"/>
          <p:cNvSpPr/>
          <p:nvPr/>
        </p:nvSpPr>
        <p:spPr>
          <a:xfrm>
            <a:off x="822960" y="3456432"/>
            <a:ext cx="2377440" cy="768096"/>
          </a:xfrm>
          <a:prstGeom prst="roundRect">
            <a:avLst/>
          </a:prstGeom>
          <a:solidFill>
            <a:srgbClr val="F1F5F9"/>
          </a:solidFill>
          <a:ln w="12700">
            <a:solidFill>
              <a:srgbClr val="E2E8F0"/>
            </a:solidFill>
            <a:prstDash val="solid"/>
          </a:ln>
        </p:spPr>
      </p:sp>
      <p:sp>
        <p:nvSpPr>
          <p:cNvPr id="19" name="Text 17"/>
          <p:cNvSpPr/>
          <p:nvPr/>
        </p:nvSpPr>
        <p:spPr>
          <a:xfrm>
            <a:off x="896112" y="3529584"/>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PawDoctor AI Chat</a:t>
            </a:r>
            <a:endParaRPr lang="en-US" sz="950" dirty="0"/>
          </a:p>
        </p:txBody>
      </p:sp>
      <p:sp>
        <p:nvSpPr>
          <p:cNvPr id="20" name="Text 18"/>
          <p:cNvSpPr/>
          <p:nvPr/>
        </p:nvSpPr>
        <p:spPr>
          <a:xfrm>
            <a:off x="896112" y="3749040"/>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Interactive clinical triage &amp; symptom intake</a:t>
            </a:r>
            <a:endParaRPr lang="en-US" sz="800" dirty="0"/>
          </a:p>
        </p:txBody>
      </p:sp>
      <p:sp>
        <p:nvSpPr>
          <p:cNvPr id="21" name="Shape 19"/>
          <p:cNvSpPr/>
          <p:nvPr/>
        </p:nvSpPr>
        <p:spPr>
          <a:xfrm>
            <a:off x="822960" y="4334256"/>
            <a:ext cx="2377440" cy="768096"/>
          </a:xfrm>
          <a:prstGeom prst="roundRect">
            <a:avLst/>
          </a:prstGeom>
          <a:solidFill>
            <a:srgbClr val="F1F5F9"/>
          </a:solidFill>
          <a:ln w="12700">
            <a:solidFill>
              <a:srgbClr val="E2E8F0"/>
            </a:solidFill>
            <a:prstDash val="solid"/>
          </a:ln>
        </p:spPr>
      </p:sp>
      <p:sp>
        <p:nvSpPr>
          <p:cNvPr id="22" name="Text 20"/>
          <p:cNvSpPr/>
          <p:nvPr/>
        </p:nvSpPr>
        <p:spPr>
          <a:xfrm>
            <a:off x="896112" y="4407408"/>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Lost &amp; Found Radar</a:t>
            </a:r>
            <a:endParaRPr lang="en-US" sz="950" dirty="0"/>
          </a:p>
        </p:txBody>
      </p:sp>
      <p:sp>
        <p:nvSpPr>
          <p:cNvPr id="23" name="Text 21"/>
          <p:cNvSpPr/>
          <p:nvPr/>
        </p:nvSpPr>
        <p:spPr>
          <a:xfrm>
            <a:off x="896112" y="4626864"/>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Side-by-side visual verification &amp; phone dialer</a:t>
            </a:r>
            <a:endParaRPr lang="en-US" sz="800" dirty="0"/>
          </a:p>
        </p:txBody>
      </p:sp>
      <p:sp>
        <p:nvSpPr>
          <p:cNvPr id="24" name="Shape 22"/>
          <p:cNvSpPr/>
          <p:nvPr/>
        </p:nvSpPr>
        <p:spPr>
          <a:xfrm>
            <a:off x="822960" y="5212080"/>
            <a:ext cx="2377440" cy="768096"/>
          </a:xfrm>
          <a:prstGeom prst="roundRect">
            <a:avLst/>
          </a:prstGeom>
          <a:solidFill>
            <a:srgbClr val="F1F5F9"/>
          </a:solidFill>
          <a:ln w="12700">
            <a:solidFill>
              <a:srgbClr val="E2E8F0"/>
            </a:solidFill>
            <a:prstDash val="solid"/>
          </a:ln>
        </p:spPr>
      </p:sp>
      <p:sp>
        <p:nvSpPr>
          <p:cNvPr id="25" name="Text 23"/>
          <p:cNvSpPr/>
          <p:nvPr/>
        </p:nvSpPr>
        <p:spPr>
          <a:xfrm>
            <a:off x="896112" y="5285232"/>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Specialist Clinic Navigator</a:t>
            </a:r>
            <a:endParaRPr lang="en-US" sz="950" dirty="0"/>
          </a:p>
        </p:txBody>
      </p:sp>
      <p:sp>
        <p:nvSpPr>
          <p:cNvPr id="26" name="Text 24"/>
          <p:cNvSpPr/>
          <p:nvPr/>
        </p:nvSpPr>
        <p:spPr>
          <a:xfrm>
            <a:off x="896112" y="5504688"/>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Location filtering across 4 Dhaka districts</a:t>
            </a:r>
            <a:endParaRPr lang="en-US" sz="800" dirty="0"/>
          </a:p>
        </p:txBody>
      </p:sp>
      <p:sp>
        <p:nvSpPr>
          <p:cNvPr id="27" name="Shape 25"/>
          <p:cNvSpPr/>
          <p:nvPr/>
        </p:nvSpPr>
        <p:spPr>
          <a:xfrm>
            <a:off x="3456432" y="1719072"/>
            <a:ext cx="2560320" cy="4462272"/>
          </a:xfrm>
          <a:prstGeom prst="roundRect">
            <a:avLst/>
          </a:prstGeom>
          <a:solidFill>
            <a:srgbClr val="FFFFFF"/>
          </a:solidFill>
          <a:ln w="19050">
            <a:solidFill>
              <a:srgbClr val="4338CA"/>
            </a:solidFill>
            <a:prstDash val="solid"/>
          </a:ln>
        </p:spPr>
      </p:sp>
      <p:sp>
        <p:nvSpPr>
          <p:cNvPr id="28" name="Shape 26"/>
          <p:cNvSpPr/>
          <p:nvPr/>
        </p:nvSpPr>
        <p:spPr>
          <a:xfrm>
            <a:off x="3547872" y="1810512"/>
            <a:ext cx="2377440" cy="658368"/>
          </a:xfrm>
          <a:prstGeom prst="roundRect">
            <a:avLst/>
          </a:prstGeom>
          <a:solidFill>
            <a:srgbClr val="EEF2FF"/>
          </a:solidFill>
          <a:ln w="12700">
            <a:solidFill>
              <a:srgbClr val="4338CA"/>
            </a:solidFill>
            <a:prstDash val="solid"/>
          </a:ln>
        </p:spPr>
      </p:sp>
      <p:sp>
        <p:nvSpPr>
          <p:cNvPr id="29" name="Text 27"/>
          <p:cNvSpPr/>
          <p:nvPr/>
        </p:nvSpPr>
        <p:spPr>
          <a:xfrm>
            <a:off x="3593592" y="1874520"/>
            <a:ext cx="2286000" cy="201168"/>
          </a:xfrm>
          <a:prstGeom prst="rect">
            <a:avLst/>
          </a:prstGeom>
          <a:noFill/>
          <a:ln/>
        </p:spPr>
        <p:txBody>
          <a:bodyPr wrap="square" rtlCol="0" anchor="ctr"/>
          <a:lstStyle/>
          <a:p>
            <a:pPr indent="0" marL="0">
              <a:buNone/>
            </a:pPr>
            <a:r>
              <a:rPr lang="en-US" sz="900" b="1" dirty="0">
                <a:solidFill>
                  <a:srgbClr val="4338CA"/>
                </a:solidFill>
                <a:latin typeface="Arial" pitchFamily="34" charset="0"/>
                <a:ea typeface="Arial" pitchFamily="34" charset="-122"/>
                <a:cs typeface="Arial" pitchFamily="34" charset="-120"/>
              </a:rPr>
              <a:t>TIER 02 • EDGE API GATEWAY</a:t>
            </a:r>
            <a:endParaRPr lang="en-US" sz="900" dirty="0"/>
          </a:p>
        </p:txBody>
      </p:sp>
      <p:sp>
        <p:nvSpPr>
          <p:cNvPr id="30" name="Text 28"/>
          <p:cNvSpPr/>
          <p:nvPr/>
        </p:nvSpPr>
        <p:spPr>
          <a:xfrm>
            <a:off x="3593592" y="2093976"/>
            <a:ext cx="2286000" cy="292608"/>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Next.js 16 Serverless Engine</a:t>
            </a:r>
            <a:endParaRPr lang="en-US" sz="850" dirty="0"/>
          </a:p>
        </p:txBody>
      </p:sp>
      <p:sp>
        <p:nvSpPr>
          <p:cNvPr id="31" name="Shape 29"/>
          <p:cNvSpPr/>
          <p:nvPr/>
        </p:nvSpPr>
        <p:spPr>
          <a:xfrm>
            <a:off x="3547872" y="2578608"/>
            <a:ext cx="2377440" cy="768096"/>
          </a:xfrm>
          <a:prstGeom prst="roundRect">
            <a:avLst/>
          </a:prstGeom>
          <a:solidFill>
            <a:srgbClr val="F1F5F9"/>
          </a:solidFill>
          <a:ln w="12700">
            <a:solidFill>
              <a:srgbClr val="E2E8F0"/>
            </a:solidFill>
            <a:prstDash val="solid"/>
          </a:ln>
        </p:spPr>
      </p:sp>
      <p:sp>
        <p:nvSpPr>
          <p:cNvPr id="32" name="Text 30"/>
          <p:cNvSpPr/>
          <p:nvPr/>
        </p:nvSpPr>
        <p:spPr>
          <a:xfrm>
            <a:off x="3621024" y="2651760"/>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Zod Schema Validation</a:t>
            </a:r>
            <a:endParaRPr lang="en-US" sz="950" dirty="0"/>
          </a:p>
        </p:txBody>
      </p:sp>
      <p:sp>
        <p:nvSpPr>
          <p:cNvPr id="33" name="Text 31"/>
          <p:cNvSpPr/>
          <p:nvPr/>
        </p:nvSpPr>
        <p:spPr>
          <a:xfrm>
            <a:off x="3621024" y="2871216"/>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Strict payload validation &amp; prompt normalization</a:t>
            </a:r>
            <a:endParaRPr lang="en-US" sz="800" dirty="0"/>
          </a:p>
        </p:txBody>
      </p:sp>
      <p:sp>
        <p:nvSpPr>
          <p:cNvPr id="34" name="Shape 32"/>
          <p:cNvSpPr/>
          <p:nvPr/>
        </p:nvSpPr>
        <p:spPr>
          <a:xfrm>
            <a:off x="3547872" y="3456432"/>
            <a:ext cx="2377440" cy="768096"/>
          </a:xfrm>
          <a:prstGeom prst="roundRect">
            <a:avLst/>
          </a:prstGeom>
          <a:solidFill>
            <a:srgbClr val="F1F5F9"/>
          </a:solidFill>
          <a:ln w="12700">
            <a:solidFill>
              <a:srgbClr val="E2E8F0"/>
            </a:solidFill>
            <a:prstDash val="solid"/>
          </a:ln>
        </p:spPr>
      </p:sp>
      <p:sp>
        <p:nvSpPr>
          <p:cNvPr id="35" name="Text 33"/>
          <p:cNvSpPr/>
          <p:nvPr/>
        </p:nvSpPr>
        <p:spPr>
          <a:xfrm>
            <a:off x="3621024" y="3529584"/>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Token-Bucket Rate Limiter</a:t>
            </a:r>
            <a:endParaRPr lang="en-US" sz="950" dirty="0"/>
          </a:p>
        </p:txBody>
      </p:sp>
      <p:sp>
        <p:nvSpPr>
          <p:cNvPr id="36" name="Text 34"/>
          <p:cNvSpPr/>
          <p:nvPr/>
        </p:nvSpPr>
        <p:spPr>
          <a:xfrm>
            <a:off x="3621024" y="3749040"/>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60 req/min anti-abuse protection per IP</a:t>
            </a:r>
            <a:endParaRPr lang="en-US" sz="800" dirty="0"/>
          </a:p>
        </p:txBody>
      </p:sp>
      <p:sp>
        <p:nvSpPr>
          <p:cNvPr id="37" name="Shape 35"/>
          <p:cNvSpPr/>
          <p:nvPr/>
        </p:nvSpPr>
        <p:spPr>
          <a:xfrm>
            <a:off x="3547872" y="4334256"/>
            <a:ext cx="2377440" cy="768096"/>
          </a:xfrm>
          <a:prstGeom prst="roundRect">
            <a:avLst/>
          </a:prstGeom>
          <a:solidFill>
            <a:srgbClr val="F1F5F9"/>
          </a:solidFill>
          <a:ln w="12700">
            <a:solidFill>
              <a:srgbClr val="E2E8F0"/>
            </a:solidFill>
            <a:prstDash val="solid"/>
          </a:ln>
        </p:spPr>
      </p:sp>
      <p:sp>
        <p:nvSpPr>
          <p:cNvPr id="38" name="Text 36"/>
          <p:cNvSpPr/>
          <p:nvPr/>
        </p:nvSpPr>
        <p:spPr>
          <a:xfrm>
            <a:off x="3621024" y="4407408"/>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Supabase Auth &amp; RBAC</a:t>
            </a:r>
            <a:endParaRPr lang="en-US" sz="950" dirty="0"/>
          </a:p>
        </p:txBody>
      </p:sp>
      <p:sp>
        <p:nvSpPr>
          <p:cNvPr id="39" name="Text 37"/>
          <p:cNvSpPr/>
          <p:nvPr/>
        </p:nvSpPr>
        <p:spPr>
          <a:xfrm>
            <a:off x="3621024" y="4626864"/>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JWT session verification &amp; owner authorization</a:t>
            </a:r>
            <a:endParaRPr lang="en-US" sz="800" dirty="0"/>
          </a:p>
        </p:txBody>
      </p:sp>
      <p:sp>
        <p:nvSpPr>
          <p:cNvPr id="40" name="Shape 38"/>
          <p:cNvSpPr/>
          <p:nvPr/>
        </p:nvSpPr>
        <p:spPr>
          <a:xfrm>
            <a:off x="3547872" y="5212080"/>
            <a:ext cx="2377440" cy="768096"/>
          </a:xfrm>
          <a:prstGeom prst="roundRect">
            <a:avLst/>
          </a:prstGeom>
          <a:solidFill>
            <a:srgbClr val="F1F5F9"/>
          </a:solidFill>
          <a:ln w="12700">
            <a:solidFill>
              <a:srgbClr val="E2E8F0"/>
            </a:solidFill>
            <a:prstDash val="solid"/>
          </a:ln>
        </p:spPr>
      </p:sp>
      <p:sp>
        <p:nvSpPr>
          <p:cNvPr id="41" name="Text 39"/>
          <p:cNvSpPr/>
          <p:nvPr/>
        </p:nvSpPr>
        <p:spPr>
          <a:xfrm>
            <a:off x="3621024" y="5285232"/>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Multimodal Orchestrator</a:t>
            </a:r>
            <a:endParaRPr lang="en-US" sz="950" dirty="0"/>
          </a:p>
        </p:txBody>
      </p:sp>
      <p:sp>
        <p:nvSpPr>
          <p:cNvPr id="42" name="Text 40"/>
          <p:cNvSpPr/>
          <p:nvPr/>
        </p:nvSpPr>
        <p:spPr>
          <a:xfrm>
            <a:off x="3621024" y="5504688"/>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/api/lost-found/ai-match &amp; /api/pawai/*</a:t>
            </a:r>
            <a:endParaRPr lang="en-US" sz="800" dirty="0"/>
          </a:p>
        </p:txBody>
      </p:sp>
      <p:sp>
        <p:nvSpPr>
          <p:cNvPr id="43" name="Shape 41"/>
          <p:cNvSpPr/>
          <p:nvPr/>
        </p:nvSpPr>
        <p:spPr>
          <a:xfrm>
            <a:off x="6181344" y="1719072"/>
            <a:ext cx="2560320" cy="4462272"/>
          </a:xfrm>
          <a:prstGeom prst="roundRect">
            <a:avLst/>
          </a:prstGeom>
          <a:solidFill>
            <a:srgbClr val="FFFFFF"/>
          </a:solidFill>
          <a:ln w="19050">
            <a:solidFill>
              <a:srgbClr val="8B5CF6"/>
            </a:solidFill>
            <a:prstDash val="solid"/>
          </a:ln>
        </p:spPr>
      </p:sp>
      <p:sp>
        <p:nvSpPr>
          <p:cNvPr id="44" name="Shape 42"/>
          <p:cNvSpPr/>
          <p:nvPr/>
        </p:nvSpPr>
        <p:spPr>
          <a:xfrm>
            <a:off x="6272784" y="1810512"/>
            <a:ext cx="2377440" cy="658368"/>
          </a:xfrm>
          <a:prstGeom prst="roundRect">
            <a:avLst/>
          </a:prstGeom>
          <a:solidFill>
            <a:srgbClr val="F5F3FF"/>
          </a:solidFill>
          <a:ln w="12700">
            <a:solidFill>
              <a:srgbClr val="8B5CF6"/>
            </a:solidFill>
            <a:prstDash val="solid"/>
          </a:ln>
        </p:spPr>
      </p:sp>
      <p:sp>
        <p:nvSpPr>
          <p:cNvPr id="45" name="Text 43"/>
          <p:cNvSpPr/>
          <p:nvPr/>
        </p:nvSpPr>
        <p:spPr>
          <a:xfrm>
            <a:off x="6318504" y="1874520"/>
            <a:ext cx="2286000" cy="201168"/>
          </a:xfrm>
          <a:prstGeom prst="rect">
            <a:avLst/>
          </a:prstGeom>
          <a:noFill/>
          <a:ln/>
        </p:spPr>
        <p:txBody>
          <a:bodyPr wrap="square" rtlCol="0" anchor="ctr"/>
          <a:lstStyle/>
          <a:p>
            <a:pPr indent="0" marL="0">
              <a:buNone/>
            </a:pPr>
            <a:r>
              <a:rPr lang="en-US" sz="900" b="1" dirty="0">
                <a:solidFill>
                  <a:srgbClr val="8B5CF6"/>
                </a:solidFill>
                <a:latin typeface="Arial" pitchFamily="34" charset="0"/>
                <a:ea typeface="Arial" pitchFamily="34" charset="-122"/>
                <a:cs typeface="Arial" pitchFamily="34" charset="-120"/>
              </a:rPr>
              <a:t>TIER 03 • CLINICAL AI &amp; VISION</a:t>
            </a:r>
            <a:endParaRPr lang="en-US" sz="900" dirty="0"/>
          </a:p>
        </p:txBody>
      </p:sp>
      <p:sp>
        <p:nvSpPr>
          <p:cNvPr id="46" name="Text 44"/>
          <p:cNvSpPr/>
          <p:nvPr/>
        </p:nvSpPr>
        <p:spPr>
          <a:xfrm>
            <a:off x="6318504" y="2093976"/>
            <a:ext cx="2286000" cy="292608"/>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Multi-Model Intelligence Cluster</a:t>
            </a:r>
            <a:endParaRPr lang="en-US" sz="850" dirty="0"/>
          </a:p>
        </p:txBody>
      </p:sp>
      <p:sp>
        <p:nvSpPr>
          <p:cNvPr id="47" name="Shape 45"/>
          <p:cNvSpPr/>
          <p:nvPr/>
        </p:nvSpPr>
        <p:spPr>
          <a:xfrm>
            <a:off x="6272784" y="2578608"/>
            <a:ext cx="2377440" cy="768096"/>
          </a:xfrm>
          <a:prstGeom prst="roundRect">
            <a:avLst/>
          </a:prstGeom>
          <a:solidFill>
            <a:srgbClr val="F1F5F9"/>
          </a:solidFill>
          <a:ln w="12700">
            <a:solidFill>
              <a:srgbClr val="E2E8F0"/>
            </a:solidFill>
            <a:prstDash val="solid"/>
          </a:ln>
        </p:spPr>
      </p:sp>
      <p:sp>
        <p:nvSpPr>
          <p:cNvPr id="48" name="Text 46"/>
          <p:cNvSpPr/>
          <p:nvPr/>
        </p:nvSpPr>
        <p:spPr>
          <a:xfrm>
            <a:off x="6345936" y="2651760"/>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Deterministic Verifier</a:t>
            </a:r>
            <a:endParaRPr lang="en-US" sz="950" dirty="0"/>
          </a:p>
        </p:txBody>
      </p:sp>
      <p:sp>
        <p:nvSpPr>
          <p:cNvPr id="49" name="Text 47"/>
          <p:cNvSpPr/>
          <p:nvPr/>
        </p:nvSpPr>
        <p:spPr>
          <a:xfrm>
            <a:off x="6345936" y="2871216"/>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Human / non-pet rejection &amp; poison guard (&lt;2ms)</a:t>
            </a:r>
            <a:endParaRPr lang="en-US" sz="800" dirty="0"/>
          </a:p>
        </p:txBody>
      </p:sp>
      <p:sp>
        <p:nvSpPr>
          <p:cNvPr id="50" name="Shape 48"/>
          <p:cNvSpPr/>
          <p:nvPr/>
        </p:nvSpPr>
        <p:spPr>
          <a:xfrm>
            <a:off x="6272784" y="3456432"/>
            <a:ext cx="2377440" cy="768096"/>
          </a:xfrm>
          <a:prstGeom prst="roundRect">
            <a:avLst/>
          </a:prstGeom>
          <a:solidFill>
            <a:srgbClr val="F1F5F9"/>
          </a:solidFill>
          <a:ln w="12700">
            <a:solidFill>
              <a:srgbClr val="E2E8F0"/>
            </a:solidFill>
            <a:prstDash val="solid"/>
          </a:ln>
        </p:spPr>
      </p:sp>
      <p:sp>
        <p:nvSpPr>
          <p:cNvPr id="51" name="Text 49"/>
          <p:cNvSpPr/>
          <p:nvPr/>
        </p:nvSpPr>
        <p:spPr>
          <a:xfrm>
            <a:off x="6345936" y="3529584"/>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Hugging Face Vision AI</a:t>
            </a:r>
            <a:endParaRPr lang="en-US" sz="950" dirty="0"/>
          </a:p>
        </p:txBody>
      </p:sp>
      <p:sp>
        <p:nvSpPr>
          <p:cNvPr id="52" name="Text 50"/>
          <p:cNvSpPr/>
          <p:nvPr/>
        </p:nvSpPr>
        <p:spPr>
          <a:xfrm>
            <a:off x="6345936" y="3749040"/>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Qwen2.5-VL-72B Biometric Matcher (Free Router)</a:t>
            </a:r>
            <a:endParaRPr lang="en-US" sz="800" dirty="0"/>
          </a:p>
        </p:txBody>
      </p:sp>
      <p:sp>
        <p:nvSpPr>
          <p:cNvPr id="53" name="Shape 51"/>
          <p:cNvSpPr/>
          <p:nvPr/>
        </p:nvSpPr>
        <p:spPr>
          <a:xfrm>
            <a:off x="6272784" y="4334256"/>
            <a:ext cx="2377440" cy="768096"/>
          </a:xfrm>
          <a:prstGeom prst="roundRect">
            <a:avLst/>
          </a:prstGeom>
          <a:solidFill>
            <a:srgbClr val="F1F5F9"/>
          </a:solidFill>
          <a:ln w="12700">
            <a:solidFill>
              <a:srgbClr val="E2E8F0"/>
            </a:solidFill>
            <a:prstDash val="solid"/>
          </a:ln>
        </p:spPr>
      </p:sp>
      <p:sp>
        <p:nvSpPr>
          <p:cNvPr id="54" name="Text 52"/>
          <p:cNvSpPr/>
          <p:nvPr/>
        </p:nvSpPr>
        <p:spPr>
          <a:xfrm>
            <a:off x="6345936" y="4407408"/>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Gigalogy MAIRA RAG</a:t>
            </a:r>
            <a:endParaRPr lang="en-US" sz="950" dirty="0"/>
          </a:p>
        </p:txBody>
      </p:sp>
      <p:sp>
        <p:nvSpPr>
          <p:cNvPr id="55" name="Text 53"/>
          <p:cNvSpPr/>
          <p:nvPr/>
        </p:nvSpPr>
        <p:spPr>
          <a:xfrm>
            <a:off x="6345936" y="4626864"/>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4 Vector Profiles (api.recommender.gigalogy.com)</a:t>
            </a:r>
            <a:endParaRPr lang="en-US" sz="800" dirty="0"/>
          </a:p>
        </p:txBody>
      </p:sp>
      <p:sp>
        <p:nvSpPr>
          <p:cNvPr id="56" name="Shape 54"/>
          <p:cNvSpPr/>
          <p:nvPr/>
        </p:nvSpPr>
        <p:spPr>
          <a:xfrm>
            <a:off x="6272784" y="5212080"/>
            <a:ext cx="2377440" cy="768096"/>
          </a:xfrm>
          <a:prstGeom prst="roundRect">
            <a:avLst/>
          </a:prstGeom>
          <a:solidFill>
            <a:srgbClr val="F1F5F9"/>
          </a:solidFill>
          <a:ln w="12700">
            <a:solidFill>
              <a:srgbClr val="E2E8F0"/>
            </a:solidFill>
            <a:prstDash val="solid"/>
          </a:ln>
        </p:spPr>
      </p:sp>
      <p:sp>
        <p:nvSpPr>
          <p:cNvPr id="57" name="Text 55"/>
          <p:cNvSpPr/>
          <p:nvPr/>
        </p:nvSpPr>
        <p:spPr>
          <a:xfrm>
            <a:off x="6345936" y="5285232"/>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Multimodal Fallbacks</a:t>
            </a:r>
            <a:endParaRPr lang="en-US" sz="950" dirty="0"/>
          </a:p>
        </p:txBody>
      </p:sp>
      <p:sp>
        <p:nvSpPr>
          <p:cNvPr id="58" name="Text 56"/>
          <p:cNvSpPr/>
          <p:nvPr/>
        </p:nvSpPr>
        <p:spPr>
          <a:xfrm>
            <a:off x="6345936" y="5504688"/>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OpenAI GPT-4o Vision &amp; Heuristic Radar</a:t>
            </a:r>
            <a:endParaRPr lang="en-US" sz="800" dirty="0"/>
          </a:p>
        </p:txBody>
      </p:sp>
      <p:sp>
        <p:nvSpPr>
          <p:cNvPr id="59" name="Shape 57"/>
          <p:cNvSpPr/>
          <p:nvPr/>
        </p:nvSpPr>
        <p:spPr>
          <a:xfrm>
            <a:off x="8906256" y="1719072"/>
            <a:ext cx="2560320" cy="4462272"/>
          </a:xfrm>
          <a:prstGeom prst="roundRect">
            <a:avLst/>
          </a:prstGeom>
          <a:solidFill>
            <a:srgbClr val="FFFFFF"/>
          </a:solidFill>
          <a:ln w="19050">
            <a:solidFill>
              <a:srgbClr val="10B981"/>
            </a:solidFill>
            <a:prstDash val="solid"/>
          </a:ln>
        </p:spPr>
      </p:sp>
      <p:sp>
        <p:nvSpPr>
          <p:cNvPr id="60" name="Shape 58"/>
          <p:cNvSpPr/>
          <p:nvPr/>
        </p:nvSpPr>
        <p:spPr>
          <a:xfrm>
            <a:off x="8997696" y="1810512"/>
            <a:ext cx="2377440" cy="658368"/>
          </a:xfrm>
          <a:prstGeom prst="roundRect">
            <a:avLst/>
          </a:prstGeom>
          <a:solidFill>
            <a:srgbClr val="ECFDF5"/>
          </a:solidFill>
          <a:ln w="12700">
            <a:solidFill>
              <a:srgbClr val="10B981"/>
            </a:solidFill>
            <a:prstDash val="solid"/>
          </a:ln>
        </p:spPr>
      </p:sp>
      <p:sp>
        <p:nvSpPr>
          <p:cNvPr id="61" name="Text 59"/>
          <p:cNvSpPr/>
          <p:nvPr/>
        </p:nvSpPr>
        <p:spPr>
          <a:xfrm>
            <a:off x="9043416" y="1874520"/>
            <a:ext cx="2286000" cy="201168"/>
          </a:xfrm>
          <a:prstGeom prst="rect">
            <a:avLst/>
          </a:prstGeom>
          <a:noFill/>
          <a:ln/>
        </p:spPr>
        <p:txBody>
          <a:bodyPr wrap="square" rtlCol="0" anchor="ctr"/>
          <a:lstStyle/>
          <a:p>
            <a:pPr indent="0" marL="0">
              <a:buNone/>
            </a:pPr>
            <a:r>
              <a:rPr lang="en-US" sz="900" b="1" dirty="0">
                <a:solidFill>
                  <a:srgbClr val="10B981"/>
                </a:solidFill>
                <a:latin typeface="Arial" pitchFamily="34" charset="0"/>
                <a:ea typeface="Arial" pitchFamily="34" charset="-122"/>
                <a:cs typeface="Arial" pitchFamily="34" charset="-120"/>
              </a:rPr>
              <a:t>TIER 04 • DATA &amp; VECTORS</a:t>
            </a:r>
            <a:endParaRPr lang="en-US" sz="900" dirty="0"/>
          </a:p>
        </p:txBody>
      </p:sp>
      <p:sp>
        <p:nvSpPr>
          <p:cNvPr id="62" name="Text 60"/>
          <p:cNvSpPr/>
          <p:nvPr/>
        </p:nvSpPr>
        <p:spPr>
          <a:xfrm>
            <a:off x="9043416" y="2093976"/>
            <a:ext cx="2286000" cy="292608"/>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Supabase Cloud (ap-southeast-2)</a:t>
            </a:r>
            <a:endParaRPr lang="en-US" sz="850" dirty="0"/>
          </a:p>
        </p:txBody>
      </p:sp>
      <p:sp>
        <p:nvSpPr>
          <p:cNvPr id="63" name="Shape 61"/>
          <p:cNvSpPr/>
          <p:nvPr/>
        </p:nvSpPr>
        <p:spPr>
          <a:xfrm>
            <a:off x="8997696" y="2578608"/>
            <a:ext cx="2377440" cy="768096"/>
          </a:xfrm>
          <a:prstGeom prst="roundRect">
            <a:avLst/>
          </a:prstGeom>
          <a:solidFill>
            <a:srgbClr val="F1F5F9"/>
          </a:solidFill>
          <a:ln w="12700">
            <a:solidFill>
              <a:srgbClr val="E2E8F0"/>
            </a:solidFill>
            <a:prstDash val="solid"/>
          </a:ln>
        </p:spPr>
      </p:sp>
      <p:sp>
        <p:nvSpPr>
          <p:cNvPr id="64" name="Text 62"/>
          <p:cNvSpPr/>
          <p:nvPr/>
        </p:nvSpPr>
        <p:spPr>
          <a:xfrm>
            <a:off x="9070848" y="2651760"/>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PostgreSQL Tables</a:t>
            </a:r>
            <a:endParaRPr lang="en-US" sz="950" dirty="0"/>
          </a:p>
        </p:txBody>
      </p:sp>
      <p:sp>
        <p:nvSpPr>
          <p:cNvPr id="65" name="Text 63"/>
          <p:cNvSpPr/>
          <p:nvPr/>
        </p:nvSpPr>
        <p:spPr>
          <a:xfrm>
            <a:off x="9070848" y="2871216"/>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50-Pet benchmark dataset (Pet, LostFoundPost)</a:t>
            </a:r>
            <a:endParaRPr lang="en-US" sz="800" dirty="0"/>
          </a:p>
        </p:txBody>
      </p:sp>
      <p:sp>
        <p:nvSpPr>
          <p:cNvPr id="66" name="Shape 64"/>
          <p:cNvSpPr/>
          <p:nvPr/>
        </p:nvSpPr>
        <p:spPr>
          <a:xfrm>
            <a:off x="8997696" y="3456432"/>
            <a:ext cx="2377440" cy="768096"/>
          </a:xfrm>
          <a:prstGeom prst="roundRect">
            <a:avLst/>
          </a:prstGeom>
          <a:solidFill>
            <a:srgbClr val="F1F5F9"/>
          </a:solidFill>
          <a:ln w="12700">
            <a:solidFill>
              <a:srgbClr val="E2E8F0"/>
            </a:solidFill>
            <a:prstDash val="solid"/>
          </a:ln>
        </p:spPr>
      </p:sp>
      <p:sp>
        <p:nvSpPr>
          <p:cNvPr id="67" name="Text 65"/>
          <p:cNvSpPr/>
          <p:nvPr/>
        </p:nvSpPr>
        <p:spPr>
          <a:xfrm>
            <a:off x="9070848" y="3529584"/>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Supabase pgvector</a:t>
            </a:r>
            <a:endParaRPr lang="en-US" sz="950" dirty="0"/>
          </a:p>
        </p:txBody>
      </p:sp>
      <p:sp>
        <p:nvSpPr>
          <p:cNvPr id="68" name="Text 66"/>
          <p:cNvSpPr/>
          <p:nvPr/>
        </p:nvSpPr>
        <p:spPr>
          <a:xfrm>
            <a:off x="9070848" y="3749040"/>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Built-in cosine distance (&lt;=&gt;) vector indexing</a:t>
            </a:r>
            <a:endParaRPr lang="en-US" sz="800" dirty="0"/>
          </a:p>
        </p:txBody>
      </p:sp>
      <p:sp>
        <p:nvSpPr>
          <p:cNvPr id="69" name="Shape 67"/>
          <p:cNvSpPr/>
          <p:nvPr/>
        </p:nvSpPr>
        <p:spPr>
          <a:xfrm>
            <a:off x="8997696" y="4334256"/>
            <a:ext cx="2377440" cy="768096"/>
          </a:xfrm>
          <a:prstGeom prst="roundRect">
            <a:avLst/>
          </a:prstGeom>
          <a:solidFill>
            <a:srgbClr val="F1F5F9"/>
          </a:solidFill>
          <a:ln w="12700">
            <a:solidFill>
              <a:srgbClr val="E2E8F0"/>
            </a:solidFill>
            <a:prstDash val="solid"/>
          </a:ln>
        </p:spPr>
      </p:sp>
      <p:sp>
        <p:nvSpPr>
          <p:cNvPr id="70" name="Text 68"/>
          <p:cNvSpPr/>
          <p:nvPr/>
        </p:nvSpPr>
        <p:spPr>
          <a:xfrm>
            <a:off x="9070848" y="4407408"/>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Supabase Storage</a:t>
            </a:r>
            <a:endParaRPr lang="en-US" sz="950" dirty="0"/>
          </a:p>
        </p:txBody>
      </p:sp>
      <p:sp>
        <p:nvSpPr>
          <p:cNvPr id="71" name="Text 69"/>
          <p:cNvSpPr/>
          <p:nvPr/>
        </p:nvSpPr>
        <p:spPr>
          <a:xfrm>
            <a:off x="9070848" y="4626864"/>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High-res sighting photos &amp; avatar CDN buckets</a:t>
            </a:r>
            <a:endParaRPr lang="en-US" sz="800" dirty="0"/>
          </a:p>
        </p:txBody>
      </p:sp>
      <p:sp>
        <p:nvSpPr>
          <p:cNvPr id="72" name="Shape 70"/>
          <p:cNvSpPr/>
          <p:nvPr/>
        </p:nvSpPr>
        <p:spPr>
          <a:xfrm>
            <a:off x="8997696" y="5212080"/>
            <a:ext cx="2377440" cy="768096"/>
          </a:xfrm>
          <a:prstGeom prst="roundRect">
            <a:avLst/>
          </a:prstGeom>
          <a:solidFill>
            <a:srgbClr val="F1F5F9"/>
          </a:solidFill>
          <a:ln w="12700">
            <a:solidFill>
              <a:srgbClr val="E2E8F0"/>
            </a:solidFill>
            <a:prstDash val="solid"/>
          </a:ln>
        </p:spPr>
      </p:sp>
      <p:sp>
        <p:nvSpPr>
          <p:cNvPr id="73" name="Text 71"/>
          <p:cNvSpPr/>
          <p:nvPr/>
        </p:nvSpPr>
        <p:spPr>
          <a:xfrm>
            <a:off x="9070848" y="5285232"/>
            <a:ext cx="2231136" cy="201168"/>
          </a:xfrm>
          <a:prstGeom prst="rect">
            <a:avLst/>
          </a:prstGeom>
          <a:noFill/>
          <a:ln/>
        </p:spPr>
        <p:txBody>
          <a:bodyPr wrap="square" rtlCol="0" anchor="ctr"/>
          <a:lstStyle/>
          <a:p>
            <a:pPr indent="0" marL="0">
              <a:buNone/>
            </a:pPr>
            <a:r>
              <a:rPr lang="en-US" sz="950" b="1" dirty="0">
                <a:solidFill>
                  <a:srgbClr val="0F172A"/>
                </a:solidFill>
                <a:latin typeface="Arial" pitchFamily="34" charset="0"/>
                <a:ea typeface="Arial" pitchFamily="34" charset="-122"/>
                <a:cs typeface="Arial" pitchFamily="34" charset="-120"/>
              </a:rPr>
              <a:t>📡 Supabase Realtime</a:t>
            </a:r>
            <a:endParaRPr lang="en-US" sz="950" dirty="0"/>
          </a:p>
        </p:txBody>
      </p:sp>
      <p:sp>
        <p:nvSpPr>
          <p:cNvPr id="74" name="Text 72"/>
          <p:cNvSpPr/>
          <p:nvPr/>
        </p:nvSpPr>
        <p:spPr>
          <a:xfrm>
            <a:off x="9070848" y="5504688"/>
            <a:ext cx="2231136" cy="402336"/>
          </a:xfrm>
          <a:prstGeom prst="rect">
            <a:avLst/>
          </a:prstGeom>
          <a:noFill/>
          <a:ln/>
        </p:spPr>
        <p:txBody>
          <a:bodyPr wrap="square" rtlCol="0" anchor="ctr"/>
          <a:lstStyle/>
          <a:p>
            <a:pPr indent="0" marL="0">
              <a:lnSpc>
                <a:spcPts val="1100"/>
              </a:lnSpc>
              <a:buNone/>
            </a:pPr>
            <a:r>
              <a:rPr lang="en-US" sz="800" dirty="0">
                <a:solidFill>
                  <a:srgbClr val="64748B"/>
                </a:solidFill>
                <a:latin typeface="Arial" pitchFamily="34" charset="0"/>
                <a:ea typeface="Arial" pitchFamily="34" charset="-122"/>
                <a:cs typeface="Arial" pitchFamily="34" charset="-120"/>
              </a:rPr>
              <a:t>WebSocket broadcast to rescuers &amp; owners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sp>
      <p:sp>
        <p:nvSpPr>
          <p:cNvPr id="3" name="Text 1"/>
          <p:cNvSpPr/>
          <p:nvPr/>
        </p:nvSpPr>
        <p:spPr>
          <a:xfrm>
            <a:off x="731520" y="128016"/>
            <a:ext cx="6583680" cy="32004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 NUZZLE AI PLATFORM  |  GIGALOGY MAIRA MANAGED RAG INTEGRATION</a:t>
            </a:r>
            <a:endParaRPr lang="en-US" sz="1050" dirty="0"/>
          </a:p>
        </p:txBody>
      </p:sp>
      <p:sp>
        <p:nvSpPr>
          <p:cNvPr id="4" name="Text 2"/>
          <p:cNvSpPr/>
          <p:nvPr/>
        </p:nvSpPr>
        <p:spPr>
          <a:xfrm>
            <a:off x="7498080" y="128016"/>
            <a:ext cx="3962095" cy="320040"/>
          </a:xfrm>
          <a:prstGeom prst="rect">
            <a:avLst/>
          </a:prstGeom>
          <a:noFill/>
          <a:ln/>
        </p:spPr>
        <p:txBody>
          <a:bodyPr wrap="square" rtlCol="0" anchor="ctr"/>
          <a:lstStyle/>
          <a:p>
            <a:pPr algn="r" indent="0" marL="0">
              <a:buNone/>
            </a:pPr>
            <a:r>
              <a:rPr lang="en-US" sz="950" dirty="0">
                <a:solidFill>
                  <a:srgbClr val="94A3B8"/>
                </a:solidFill>
                <a:latin typeface="Arial" pitchFamily="34" charset="0"/>
                <a:ea typeface="Arial" pitchFamily="34" charset="-122"/>
                <a:cs typeface="Arial" pitchFamily="34" charset="-120"/>
              </a:rPr>
              <a:t>Slide 5 of 14  •  Technical &amp; Architecture Deep Dive</a:t>
            </a:r>
            <a:endParaRPr lang="en-US" sz="950" dirty="0"/>
          </a:p>
        </p:txBody>
      </p:sp>
      <p:sp>
        <p:nvSpPr>
          <p:cNvPr id="5" name="Text 3"/>
          <p:cNvSpPr/>
          <p:nvPr/>
        </p:nvSpPr>
        <p:spPr>
          <a:xfrm>
            <a:off x="731520" y="658368"/>
            <a:ext cx="10728655" cy="201168"/>
          </a:xfrm>
          <a:prstGeom prst="rect">
            <a:avLst/>
          </a:prstGeom>
          <a:noFill/>
          <a:ln/>
        </p:spPr>
        <p:txBody>
          <a:bodyPr wrap="square" rtlCol="0" anchor="ctr"/>
          <a:lstStyle/>
          <a:p>
            <a:pPr indent="0" marL="0">
              <a:buNone/>
            </a:pPr>
            <a:r>
              <a:rPr lang="en-US" sz="950" b="1" spc="120" kern="0" dirty="0">
                <a:solidFill>
                  <a:srgbClr val="4338CA"/>
                </a:solidFill>
                <a:latin typeface="Arial" pitchFamily="34" charset="0"/>
                <a:ea typeface="Arial" pitchFamily="34" charset="-122"/>
                <a:cs typeface="Arial" pitchFamily="34" charset="-120"/>
              </a:rPr>
              <a:t>PILLAR 1: VETERINARY MEDICINE</a:t>
            </a:r>
            <a:endParaRPr lang="en-US" sz="950" dirty="0"/>
          </a:p>
        </p:txBody>
      </p:sp>
      <p:sp>
        <p:nvSpPr>
          <p:cNvPr id="6" name="Text 4"/>
          <p:cNvSpPr/>
          <p:nvPr/>
        </p:nvSpPr>
        <p:spPr>
          <a:xfrm>
            <a:off x="731520" y="896112"/>
            <a:ext cx="10728655" cy="384048"/>
          </a:xfrm>
          <a:prstGeom prst="rect">
            <a:avLst/>
          </a:prstGeom>
          <a:noFill/>
          <a:ln/>
        </p:spPr>
        <p:txBody>
          <a:bodyPr wrap="square" rtlCol="0" anchor="ctr"/>
          <a:lstStyle/>
          <a:p>
            <a:pPr indent="0" marL="0">
              <a:buNone/>
            </a:pPr>
            <a:r>
              <a:rPr lang="en-US" sz="1900" b="1" dirty="0">
                <a:solidFill>
                  <a:srgbClr val="0F172A"/>
                </a:solidFill>
                <a:latin typeface="Arial" pitchFamily="34" charset="0"/>
                <a:ea typeface="Arial" pitchFamily="34" charset="-122"/>
                <a:cs typeface="Arial" pitchFamily="34" charset="-120"/>
              </a:rPr>
              <a:t>PawDoctor AI: 24/7 Clinical Triage &amp; Poison Fast-Path</a:t>
            </a:r>
            <a:endParaRPr lang="en-US" sz="1900" dirty="0"/>
          </a:p>
        </p:txBody>
      </p:sp>
      <p:sp>
        <p:nvSpPr>
          <p:cNvPr id="7" name="Text 5"/>
          <p:cNvSpPr/>
          <p:nvPr/>
        </p:nvSpPr>
        <p:spPr>
          <a:xfrm>
            <a:off x="731520" y="1316736"/>
            <a:ext cx="10728655" cy="292608"/>
          </a:xfrm>
          <a:prstGeom prst="rect">
            <a:avLst/>
          </a:prstGeom>
          <a:noFill/>
          <a:ln/>
        </p:spPr>
        <p:txBody>
          <a:bodyPr wrap="square" rtlCol="0" anchor="ctr"/>
          <a:lstStyle/>
          <a:p>
            <a:pPr indent="0" marL="0">
              <a:buNone/>
            </a:pPr>
            <a:r>
              <a:rPr lang="en-US" sz="1050" dirty="0">
                <a:solidFill>
                  <a:srgbClr val="475569"/>
                </a:solidFill>
                <a:latin typeface="Arial" pitchFamily="34" charset="0"/>
                <a:ea typeface="Arial" pitchFamily="34" charset="-122"/>
                <a:cs typeface="Arial" pitchFamily="34" charset="-120"/>
              </a:rPr>
              <a:t>Profile ID: 0a8fd1e8-45ac-4870-8f5f-cfbc7ccf58a6 • Endpoints: /api/pawai/triage &amp; /api/pawai/chat</a:t>
            </a:r>
            <a:endParaRPr lang="en-US" sz="1050" dirty="0"/>
          </a:p>
        </p:txBody>
      </p:sp>
      <p:sp>
        <p:nvSpPr>
          <p:cNvPr id="8" name="Shape 6"/>
          <p:cNvSpPr/>
          <p:nvPr/>
        </p:nvSpPr>
        <p:spPr>
          <a:xfrm>
            <a:off x="0" y="6355080"/>
            <a:ext cx="12191695" cy="502920"/>
          </a:xfrm>
          <a:prstGeom prst="rect">
            <a:avLst/>
          </a:prstGeom>
          <a:solidFill>
            <a:srgbClr val="0F172A"/>
          </a:solidFill>
          <a:ln w="12700">
            <a:solidFill>
              <a:srgbClr val="1E293B"/>
            </a:solidFill>
            <a:prstDash val="solid"/>
          </a:ln>
        </p:spPr>
      </p:sp>
      <p:sp>
        <p:nvSpPr>
          <p:cNvPr id="9" name="Text 7"/>
          <p:cNvSpPr/>
          <p:nvPr/>
        </p:nvSpPr>
        <p:spPr>
          <a:xfrm>
            <a:off x="731520" y="6446520"/>
            <a:ext cx="6583680" cy="320040"/>
          </a:xfrm>
          <a:prstGeom prst="rect">
            <a:avLst/>
          </a:prstGeom>
          <a:noFill/>
          <a:ln/>
        </p:spPr>
        <p:txBody>
          <a:bodyPr wrap="square" rtlCol="0" anchor="ctr"/>
          <a:lstStyle/>
          <a:p>
            <a:pPr indent="0" marL="0">
              <a:buNone/>
            </a:pPr>
            <a:r>
              <a:rPr lang="en-US" sz="950" dirty="0">
                <a:solidFill>
                  <a:srgbClr val="94A3B8"/>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7498080" y="6446520"/>
            <a:ext cx="3962095" cy="32004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5166360" cy="4389120"/>
          </a:xfrm>
          <a:prstGeom prst="roundRect">
            <a:avLst/>
          </a:prstGeom>
          <a:solidFill>
            <a:srgbClr val="FFFFFF"/>
          </a:solidFill>
          <a:ln w="15240">
            <a:solidFill>
              <a:srgbClr val="CBD5E1"/>
            </a:solidFill>
            <a:prstDash val="solid"/>
          </a:ln>
        </p:spPr>
      </p:sp>
      <p:sp>
        <p:nvSpPr>
          <p:cNvPr id="12" name="Shape 10"/>
          <p:cNvSpPr/>
          <p:nvPr/>
        </p:nvSpPr>
        <p:spPr>
          <a:xfrm>
            <a:off x="914400" y="1965960"/>
            <a:ext cx="4800600" cy="411480"/>
          </a:xfrm>
          <a:prstGeom prst="roundRect">
            <a:avLst/>
          </a:prstGeom>
          <a:solidFill>
            <a:srgbClr val="FEF2F2"/>
          </a:solidFill>
          <a:ln w="12700">
            <a:solidFill>
              <a:srgbClr val="EF4444"/>
            </a:solidFill>
            <a:prstDash val="solid"/>
          </a:ln>
        </p:spPr>
      </p:sp>
      <p:sp>
        <p:nvSpPr>
          <p:cNvPr id="13" name="Text 11"/>
          <p:cNvSpPr/>
          <p:nvPr/>
        </p:nvSpPr>
        <p:spPr>
          <a:xfrm>
            <a:off x="1005840" y="2075688"/>
            <a:ext cx="4617720" cy="228600"/>
          </a:xfrm>
          <a:prstGeom prst="rect">
            <a:avLst/>
          </a:prstGeom>
          <a:noFill/>
          <a:ln/>
        </p:spPr>
        <p:txBody>
          <a:bodyPr wrap="square" rtlCol="0" anchor="ctr"/>
          <a:lstStyle/>
          <a:p>
            <a:pPr indent="0" marL="0">
              <a:buNone/>
            </a:pPr>
            <a:r>
              <a:rPr lang="en-US" sz="950" b="1" dirty="0">
                <a:solidFill>
                  <a:srgbClr val="EF4444"/>
                </a:solidFill>
                <a:latin typeface="Arial" pitchFamily="34" charset="0"/>
                <a:ea typeface="Arial" pitchFamily="34" charset="-122"/>
                <a:cs typeface="Arial" pitchFamily="34" charset="-120"/>
              </a:rPr>
              <a:t>🚨 SUB-MILLISECOND DETERMINISTIC EMERGENCY GUARDRAIL</a:t>
            </a:r>
            <a:endParaRPr lang="en-US" sz="950" dirty="0"/>
          </a:p>
        </p:txBody>
      </p:sp>
      <p:sp>
        <p:nvSpPr>
          <p:cNvPr id="14" name="Text 12"/>
          <p:cNvSpPr/>
          <p:nvPr/>
        </p:nvSpPr>
        <p:spPr>
          <a:xfrm>
            <a:off x="914400" y="2487168"/>
            <a:ext cx="4800600" cy="685800"/>
          </a:xfrm>
          <a:prstGeom prst="rect">
            <a:avLst/>
          </a:prstGeom>
          <a:noFill/>
          <a:ln/>
        </p:spPr>
        <p:txBody>
          <a:bodyPr wrap="square" rtlCol="0" anchor="ctr"/>
          <a:lstStyle/>
          <a:p>
            <a:pPr indent="0" marL="0">
              <a:lnSpc>
                <a:spcPts val="1500"/>
              </a:lnSpc>
              <a:buNone/>
            </a:pPr>
            <a:r>
              <a:rPr lang="en-US" sz="1000" dirty="0">
                <a:solidFill>
                  <a:srgbClr val="475569"/>
                </a:solidFill>
                <a:latin typeface="Arial" pitchFamily="34" charset="0"/>
                <a:ea typeface="Arial" pitchFamily="34" charset="-122"/>
                <a:cs typeface="Arial" pitchFamily="34" charset="-120"/>
              </a:rPr>
              <a:t>Veterinary emergencies cannot tolerate model latency or hallucinated assurances. Before any LLM call, Nuzzle runs a zero-latency toxic ingestion screening filter (lib/llm/emergency-guard.ts):</a:t>
            </a:r>
            <a:endParaRPr lang="en-US" sz="1000" dirty="0"/>
          </a:p>
        </p:txBody>
      </p:sp>
      <p:sp>
        <p:nvSpPr>
          <p:cNvPr id="15" name="Shape 13"/>
          <p:cNvSpPr/>
          <p:nvPr/>
        </p:nvSpPr>
        <p:spPr>
          <a:xfrm>
            <a:off x="914400" y="3246120"/>
            <a:ext cx="4800600" cy="585216"/>
          </a:xfrm>
          <a:prstGeom prst="roundRect">
            <a:avLst/>
          </a:prstGeom>
          <a:solidFill>
            <a:srgbClr val="F1F5F9"/>
          </a:solidFill>
          <a:ln w="12700">
            <a:solidFill>
              <a:srgbClr val="E2E8F0"/>
            </a:solidFill>
            <a:prstDash val="solid"/>
          </a:ln>
        </p:spPr>
      </p:sp>
      <p:sp>
        <p:nvSpPr>
          <p:cNvPr id="16" name="Text 14"/>
          <p:cNvSpPr/>
          <p:nvPr/>
        </p:nvSpPr>
        <p:spPr>
          <a:xfrm>
            <a:off x="1051560" y="3319272"/>
            <a:ext cx="2377440"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Dark Chocolate / Theobromine</a:t>
            </a:r>
            <a:endParaRPr lang="en-US" sz="1000" dirty="0"/>
          </a:p>
        </p:txBody>
      </p:sp>
      <p:sp>
        <p:nvSpPr>
          <p:cNvPr id="17" name="Text 15"/>
          <p:cNvSpPr/>
          <p:nvPr/>
        </p:nvSpPr>
        <p:spPr>
          <a:xfrm>
            <a:off x="3520440" y="3319272"/>
            <a:ext cx="2057400" cy="201168"/>
          </a:xfrm>
          <a:prstGeom prst="rect">
            <a:avLst/>
          </a:prstGeom>
          <a:noFill/>
          <a:ln/>
        </p:spPr>
        <p:txBody>
          <a:bodyPr wrap="square" rtlCol="0" anchor="ctr"/>
          <a:lstStyle/>
          <a:p>
            <a:pPr algn="r" indent="0" marL="0">
              <a:buNone/>
            </a:pPr>
            <a:r>
              <a:rPr lang="en-US" sz="850" b="1" dirty="0">
                <a:solidFill>
                  <a:srgbClr val="EF4444"/>
                </a:solidFill>
                <a:latin typeface="Arial" pitchFamily="34" charset="0"/>
                <a:ea typeface="Arial" pitchFamily="34" charset="-122"/>
                <a:cs typeface="Arial" pitchFamily="34" charset="-120"/>
              </a:rPr>
              <a:t>&gt; 20mg/kg lethal</a:t>
            </a:r>
            <a:endParaRPr lang="en-US" sz="850" dirty="0"/>
          </a:p>
        </p:txBody>
      </p:sp>
      <p:sp>
        <p:nvSpPr>
          <p:cNvPr id="18" name="Text 16"/>
          <p:cNvSpPr/>
          <p:nvPr/>
        </p:nvSpPr>
        <p:spPr>
          <a:xfrm>
            <a:off x="1051560" y="3538728"/>
            <a:ext cx="4480560" cy="201168"/>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Clinical Red Flag: Tachycardia, seizures, arrhythmia</a:t>
            </a:r>
            <a:endParaRPr lang="en-US" sz="850" dirty="0"/>
          </a:p>
        </p:txBody>
      </p:sp>
      <p:sp>
        <p:nvSpPr>
          <p:cNvPr id="19" name="Shape 17"/>
          <p:cNvSpPr/>
          <p:nvPr/>
        </p:nvSpPr>
        <p:spPr>
          <a:xfrm>
            <a:off x="914400" y="3904488"/>
            <a:ext cx="4800600" cy="585216"/>
          </a:xfrm>
          <a:prstGeom prst="roundRect">
            <a:avLst/>
          </a:prstGeom>
          <a:solidFill>
            <a:srgbClr val="F1F5F9"/>
          </a:solidFill>
          <a:ln w="12700">
            <a:solidFill>
              <a:srgbClr val="E2E8F0"/>
            </a:solidFill>
            <a:prstDash val="solid"/>
          </a:ln>
        </p:spPr>
      </p:sp>
      <p:sp>
        <p:nvSpPr>
          <p:cNvPr id="20" name="Text 18"/>
          <p:cNvSpPr/>
          <p:nvPr/>
        </p:nvSpPr>
        <p:spPr>
          <a:xfrm>
            <a:off x="1051560" y="3977640"/>
            <a:ext cx="2377440"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Lilies (Feline Toxicity)</a:t>
            </a:r>
            <a:endParaRPr lang="en-US" sz="1000" dirty="0"/>
          </a:p>
        </p:txBody>
      </p:sp>
      <p:sp>
        <p:nvSpPr>
          <p:cNvPr id="21" name="Text 19"/>
          <p:cNvSpPr/>
          <p:nvPr/>
        </p:nvSpPr>
        <p:spPr>
          <a:xfrm>
            <a:off x="3520440" y="3977640"/>
            <a:ext cx="2057400" cy="201168"/>
          </a:xfrm>
          <a:prstGeom prst="rect">
            <a:avLst/>
          </a:prstGeom>
          <a:noFill/>
          <a:ln/>
        </p:spPr>
        <p:txBody>
          <a:bodyPr wrap="square" rtlCol="0" anchor="ctr"/>
          <a:lstStyle/>
          <a:p>
            <a:pPr algn="r" indent="0" marL="0">
              <a:buNone/>
            </a:pPr>
            <a:r>
              <a:rPr lang="en-US" sz="850" b="1" dirty="0">
                <a:solidFill>
                  <a:srgbClr val="EF4444"/>
                </a:solidFill>
                <a:latin typeface="Arial" pitchFamily="34" charset="0"/>
                <a:ea typeface="Arial" pitchFamily="34" charset="-122"/>
                <a:cs typeface="Arial" pitchFamily="34" charset="-120"/>
              </a:rPr>
              <a:t>Any pollen or petal ingestion</a:t>
            </a:r>
            <a:endParaRPr lang="en-US" sz="850" dirty="0"/>
          </a:p>
        </p:txBody>
      </p:sp>
      <p:sp>
        <p:nvSpPr>
          <p:cNvPr id="22" name="Text 20"/>
          <p:cNvSpPr/>
          <p:nvPr/>
        </p:nvSpPr>
        <p:spPr>
          <a:xfrm>
            <a:off x="1051560" y="4197096"/>
            <a:ext cx="4480560" cy="201168"/>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Clinical Red Flag: Acute oliguric kidney failure in 12h</a:t>
            </a:r>
            <a:endParaRPr lang="en-US" sz="850" dirty="0"/>
          </a:p>
        </p:txBody>
      </p:sp>
      <p:sp>
        <p:nvSpPr>
          <p:cNvPr id="23" name="Shape 21"/>
          <p:cNvSpPr/>
          <p:nvPr/>
        </p:nvSpPr>
        <p:spPr>
          <a:xfrm>
            <a:off x="914400" y="4562856"/>
            <a:ext cx="4800600" cy="585216"/>
          </a:xfrm>
          <a:prstGeom prst="roundRect">
            <a:avLst/>
          </a:prstGeom>
          <a:solidFill>
            <a:srgbClr val="F1F5F9"/>
          </a:solidFill>
          <a:ln w="12700">
            <a:solidFill>
              <a:srgbClr val="E2E8F0"/>
            </a:solidFill>
            <a:prstDash val="solid"/>
          </a:ln>
        </p:spPr>
      </p:sp>
      <p:sp>
        <p:nvSpPr>
          <p:cNvPr id="24" name="Text 22"/>
          <p:cNvSpPr/>
          <p:nvPr/>
        </p:nvSpPr>
        <p:spPr>
          <a:xfrm>
            <a:off x="1051560" y="4636008"/>
            <a:ext cx="2377440"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Grapes &amp; Raisins (Canine)</a:t>
            </a:r>
            <a:endParaRPr lang="en-US" sz="1000" dirty="0"/>
          </a:p>
        </p:txBody>
      </p:sp>
      <p:sp>
        <p:nvSpPr>
          <p:cNvPr id="25" name="Text 23"/>
          <p:cNvSpPr/>
          <p:nvPr/>
        </p:nvSpPr>
        <p:spPr>
          <a:xfrm>
            <a:off x="3520440" y="4636008"/>
            <a:ext cx="2057400" cy="201168"/>
          </a:xfrm>
          <a:prstGeom prst="rect">
            <a:avLst/>
          </a:prstGeom>
          <a:noFill/>
          <a:ln/>
        </p:spPr>
        <p:txBody>
          <a:bodyPr wrap="square" rtlCol="0" anchor="ctr"/>
          <a:lstStyle/>
          <a:p>
            <a:pPr algn="r" indent="0" marL="0">
              <a:buNone/>
            </a:pPr>
            <a:r>
              <a:rPr lang="en-US" sz="850" b="1" dirty="0">
                <a:solidFill>
                  <a:srgbClr val="EF4444"/>
                </a:solidFill>
                <a:latin typeface="Arial" pitchFamily="34" charset="0"/>
                <a:ea typeface="Arial" pitchFamily="34" charset="-122"/>
                <a:cs typeface="Arial" pitchFamily="34" charset="-120"/>
              </a:rPr>
              <a:t>Unpredictable idiosyncratic toxicity</a:t>
            </a:r>
            <a:endParaRPr lang="en-US" sz="850" dirty="0"/>
          </a:p>
        </p:txBody>
      </p:sp>
      <p:sp>
        <p:nvSpPr>
          <p:cNvPr id="26" name="Text 24"/>
          <p:cNvSpPr/>
          <p:nvPr/>
        </p:nvSpPr>
        <p:spPr>
          <a:xfrm>
            <a:off x="1051560" y="4855464"/>
            <a:ext cx="4480560" cy="201168"/>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Clinical Red Flag: Severe acute renal tubule necrosis</a:t>
            </a:r>
            <a:endParaRPr lang="en-US" sz="850" dirty="0"/>
          </a:p>
        </p:txBody>
      </p:sp>
      <p:sp>
        <p:nvSpPr>
          <p:cNvPr id="27" name="Shape 25"/>
          <p:cNvSpPr/>
          <p:nvPr/>
        </p:nvSpPr>
        <p:spPr>
          <a:xfrm>
            <a:off x="914400" y="5221224"/>
            <a:ext cx="4800600" cy="585216"/>
          </a:xfrm>
          <a:prstGeom prst="roundRect">
            <a:avLst/>
          </a:prstGeom>
          <a:solidFill>
            <a:srgbClr val="F1F5F9"/>
          </a:solidFill>
          <a:ln w="12700">
            <a:solidFill>
              <a:srgbClr val="E2E8F0"/>
            </a:solidFill>
            <a:prstDash val="solid"/>
          </a:ln>
        </p:spPr>
      </p:sp>
      <p:sp>
        <p:nvSpPr>
          <p:cNvPr id="28" name="Text 26"/>
          <p:cNvSpPr/>
          <p:nvPr/>
        </p:nvSpPr>
        <p:spPr>
          <a:xfrm>
            <a:off x="1051560" y="5294376"/>
            <a:ext cx="2377440"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Paracetamol / Acetaminophen</a:t>
            </a:r>
            <a:endParaRPr lang="en-US" sz="1000" dirty="0"/>
          </a:p>
        </p:txBody>
      </p:sp>
      <p:sp>
        <p:nvSpPr>
          <p:cNvPr id="29" name="Text 27"/>
          <p:cNvSpPr/>
          <p:nvPr/>
        </p:nvSpPr>
        <p:spPr>
          <a:xfrm>
            <a:off x="3520440" y="5294376"/>
            <a:ext cx="2057400" cy="201168"/>
          </a:xfrm>
          <a:prstGeom prst="rect">
            <a:avLst/>
          </a:prstGeom>
          <a:noFill/>
          <a:ln/>
        </p:spPr>
        <p:txBody>
          <a:bodyPr wrap="square" rtlCol="0" anchor="ctr"/>
          <a:lstStyle/>
          <a:p>
            <a:pPr algn="r" indent="0" marL="0">
              <a:buNone/>
            </a:pPr>
            <a:r>
              <a:rPr lang="en-US" sz="850" b="1" dirty="0">
                <a:solidFill>
                  <a:srgbClr val="EF4444"/>
                </a:solidFill>
                <a:latin typeface="Arial" pitchFamily="34" charset="0"/>
                <a:ea typeface="Arial" pitchFamily="34" charset="-122"/>
                <a:cs typeface="Arial" pitchFamily="34" charset="-120"/>
              </a:rPr>
              <a:t>&gt; 10mg/kg in cats</a:t>
            </a:r>
            <a:endParaRPr lang="en-US" sz="850" dirty="0"/>
          </a:p>
        </p:txBody>
      </p:sp>
      <p:sp>
        <p:nvSpPr>
          <p:cNvPr id="30" name="Text 28"/>
          <p:cNvSpPr/>
          <p:nvPr/>
        </p:nvSpPr>
        <p:spPr>
          <a:xfrm>
            <a:off x="1051560" y="5513832"/>
            <a:ext cx="4480560" cy="201168"/>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Clinical Red Flag: Methemoglobinemia, cyanosis, asphyxia</a:t>
            </a:r>
            <a:endParaRPr lang="en-US" sz="850" dirty="0"/>
          </a:p>
        </p:txBody>
      </p:sp>
      <p:sp>
        <p:nvSpPr>
          <p:cNvPr id="31" name="Shape 29"/>
          <p:cNvSpPr/>
          <p:nvPr/>
        </p:nvSpPr>
        <p:spPr>
          <a:xfrm>
            <a:off x="6263640" y="1783080"/>
            <a:ext cx="5193792" cy="4389120"/>
          </a:xfrm>
          <a:prstGeom prst="roundRect">
            <a:avLst/>
          </a:prstGeom>
          <a:solidFill>
            <a:srgbClr val="FFFFFF"/>
          </a:solidFill>
          <a:ln w="15240">
            <a:solidFill>
              <a:srgbClr val="CBD5E1"/>
            </a:solidFill>
            <a:prstDash val="solid"/>
          </a:ln>
        </p:spPr>
      </p:sp>
      <p:sp>
        <p:nvSpPr>
          <p:cNvPr id="32" name="Text 30"/>
          <p:cNvSpPr/>
          <p:nvPr/>
        </p:nvSpPr>
        <p:spPr>
          <a:xfrm>
            <a:off x="6492240" y="1965960"/>
            <a:ext cx="4736592" cy="228600"/>
          </a:xfrm>
          <a:prstGeom prst="rect">
            <a:avLst/>
          </a:prstGeom>
          <a:noFill/>
          <a:ln/>
        </p:spPr>
        <p:txBody>
          <a:bodyPr wrap="square" rtlCol="0" anchor="ctr"/>
          <a:lstStyle/>
          <a:p>
            <a:pPr indent="0" marL="0">
              <a:buNone/>
            </a:pPr>
            <a:r>
              <a:rPr lang="en-US" sz="1100" b="1" spc="100" kern="0" dirty="0">
                <a:solidFill>
                  <a:srgbClr val="4338CA"/>
                </a:solidFill>
                <a:latin typeface="Arial" pitchFamily="34" charset="0"/>
                <a:ea typeface="Arial" pitchFamily="34" charset="-122"/>
                <a:cs typeface="Arial" pitchFamily="34" charset="-120"/>
              </a:rPr>
              <a:t>CLINICAL TRIAGE HIERARCHY &amp; CONVERSATION</a:t>
            </a:r>
            <a:endParaRPr lang="en-US" sz="1100" dirty="0"/>
          </a:p>
        </p:txBody>
      </p:sp>
      <p:sp>
        <p:nvSpPr>
          <p:cNvPr id="33" name="Shape 31"/>
          <p:cNvSpPr/>
          <p:nvPr/>
        </p:nvSpPr>
        <p:spPr>
          <a:xfrm>
            <a:off x="6492240" y="2286000"/>
            <a:ext cx="4736592" cy="868680"/>
          </a:xfrm>
          <a:prstGeom prst="roundRect">
            <a:avLst/>
          </a:prstGeom>
          <a:solidFill>
            <a:srgbClr val="FEF2F2"/>
          </a:solidFill>
          <a:ln w="12700">
            <a:solidFill>
              <a:srgbClr val="EF4444"/>
            </a:solidFill>
            <a:prstDash val="solid"/>
          </a:ln>
        </p:spPr>
      </p:sp>
      <p:sp>
        <p:nvSpPr>
          <p:cNvPr id="34" name="Text 32"/>
          <p:cNvSpPr/>
          <p:nvPr/>
        </p:nvSpPr>
        <p:spPr>
          <a:xfrm>
            <a:off x="6629400" y="2377440"/>
            <a:ext cx="4389120" cy="201168"/>
          </a:xfrm>
          <a:prstGeom prst="rect">
            <a:avLst/>
          </a:prstGeom>
          <a:noFill/>
          <a:ln/>
        </p:spPr>
        <p:txBody>
          <a:bodyPr wrap="square" rtlCol="0" anchor="ctr"/>
          <a:lstStyle/>
          <a:p>
            <a:pPr indent="0" marL="0">
              <a:buNone/>
            </a:pPr>
            <a:r>
              <a:rPr lang="en-US" sz="1000" b="1" dirty="0">
                <a:solidFill>
                  <a:srgbClr val="EF4444"/>
                </a:solidFill>
                <a:latin typeface="Arial" pitchFamily="34" charset="0"/>
                <a:ea typeface="Arial" pitchFamily="34" charset="-122"/>
                <a:cs typeface="Arial" pitchFamily="34" charset="-120"/>
              </a:rPr>
              <a:t>LEVEL 1: EMERGENCY</a:t>
            </a:r>
            <a:endParaRPr lang="en-US" sz="1000" dirty="0"/>
          </a:p>
        </p:txBody>
      </p:sp>
      <p:sp>
        <p:nvSpPr>
          <p:cNvPr id="35" name="Text 33"/>
          <p:cNvSpPr/>
          <p:nvPr/>
        </p:nvSpPr>
        <p:spPr>
          <a:xfrm>
            <a:off x="6629400" y="2596896"/>
            <a:ext cx="4389120" cy="502920"/>
          </a:xfrm>
          <a:prstGeom prst="rect">
            <a:avLst/>
          </a:prstGeom>
          <a:noFill/>
          <a:ln/>
        </p:spPr>
        <p:txBody>
          <a:bodyPr wrap="square" rtlCol="0" anchor="ctr"/>
          <a:lstStyle/>
          <a:p>
            <a:pPr indent="0" marL="0">
              <a:lnSpc>
                <a:spcPts val="1300"/>
              </a:lnSpc>
              <a:buNone/>
            </a:pPr>
            <a:r>
              <a:rPr lang="en-US" sz="950" dirty="0">
                <a:solidFill>
                  <a:srgbClr val="0F172A"/>
                </a:solidFill>
                <a:latin typeface="Arial" pitchFamily="34" charset="0"/>
                <a:ea typeface="Arial" pitchFamily="34" charset="-122"/>
                <a:cs typeface="Arial" pitchFamily="34" charset="-120"/>
              </a:rPr>
              <a:t>Immediate physical transport to Cascade 24/7 or closest ICU. Direct phone call button enabled in UI.</a:t>
            </a:r>
            <a:endParaRPr lang="en-US" sz="950" dirty="0"/>
          </a:p>
        </p:txBody>
      </p:sp>
      <p:sp>
        <p:nvSpPr>
          <p:cNvPr id="36" name="Shape 34"/>
          <p:cNvSpPr/>
          <p:nvPr/>
        </p:nvSpPr>
        <p:spPr>
          <a:xfrm>
            <a:off x="6492240" y="3246120"/>
            <a:ext cx="4736592" cy="868680"/>
          </a:xfrm>
          <a:prstGeom prst="roundRect">
            <a:avLst/>
          </a:prstGeom>
          <a:solidFill>
            <a:srgbClr val="FFFBEB"/>
          </a:solidFill>
          <a:ln w="12700">
            <a:solidFill>
              <a:srgbClr val="F59E0B"/>
            </a:solidFill>
            <a:prstDash val="solid"/>
          </a:ln>
        </p:spPr>
      </p:sp>
      <p:sp>
        <p:nvSpPr>
          <p:cNvPr id="37" name="Text 35"/>
          <p:cNvSpPr/>
          <p:nvPr/>
        </p:nvSpPr>
        <p:spPr>
          <a:xfrm>
            <a:off x="6629400" y="3337560"/>
            <a:ext cx="4389120" cy="201168"/>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LEVEL 2: SCHEDULE VET VISIT</a:t>
            </a:r>
            <a:endParaRPr lang="en-US" sz="1000" dirty="0"/>
          </a:p>
        </p:txBody>
      </p:sp>
      <p:sp>
        <p:nvSpPr>
          <p:cNvPr id="38" name="Text 36"/>
          <p:cNvSpPr/>
          <p:nvPr/>
        </p:nvSpPr>
        <p:spPr>
          <a:xfrm>
            <a:off x="6629400" y="3557016"/>
            <a:ext cx="4389120" cy="502920"/>
          </a:xfrm>
          <a:prstGeom prst="rect">
            <a:avLst/>
          </a:prstGeom>
          <a:noFill/>
          <a:ln/>
        </p:spPr>
        <p:txBody>
          <a:bodyPr wrap="square" rtlCol="0" anchor="ctr"/>
          <a:lstStyle/>
          <a:p>
            <a:pPr indent="0" marL="0">
              <a:lnSpc>
                <a:spcPts val="1300"/>
              </a:lnSpc>
              <a:buNone/>
            </a:pPr>
            <a:r>
              <a:rPr lang="en-US" sz="950" dirty="0">
                <a:solidFill>
                  <a:srgbClr val="0F172A"/>
                </a:solidFill>
                <a:latin typeface="Arial" pitchFamily="34" charset="0"/>
                <a:ea typeface="Arial" pitchFamily="34" charset="-122"/>
                <a:cs typeface="Arial" pitchFamily="34" charset="-120"/>
              </a:rPr>
              <a:t>Condition requires clinical diagnosis within 24–48 hours (e.g., limping, ear infection, mild lethargy).</a:t>
            </a:r>
            <a:endParaRPr lang="en-US" sz="950" dirty="0"/>
          </a:p>
        </p:txBody>
      </p:sp>
      <p:sp>
        <p:nvSpPr>
          <p:cNvPr id="39" name="Shape 37"/>
          <p:cNvSpPr/>
          <p:nvPr/>
        </p:nvSpPr>
        <p:spPr>
          <a:xfrm>
            <a:off x="6492240" y="4206240"/>
            <a:ext cx="4736592" cy="868680"/>
          </a:xfrm>
          <a:prstGeom prst="roundRect">
            <a:avLst/>
          </a:prstGeom>
          <a:solidFill>
            <a:srgbClr val="ECFDF5"/>
          </a:solidFill>
          <a:ln w="12700">
            <a:solidFill>
              <a:srgbClr val="10B981"/>
            </a:solidFill>
            <a:prstDash val="solid"/>
          </a:ln>
        </p:spPr>
      </p:sp>
      <p:sp>
        <p:nvSpPr>
          <p:cNvPr id="40" name="Text 38"/>
          <p:cNvSpPr/>
          <p:nvPr/>
        </p:nvSpPr>
        <p:spPr>
          <a:xfrm>
            <a:off x="6629400" y="4297680"/>
            <a:ext cx="4389120" cy="201168"/>
          </a:xfrm>
          <a:prstGeom prst="rect">
            <a:avLst/>
          </a:prstGeom>
          <a:noFill/>
          <a:ln/>
        </p:spPr>
        <p:txBody>
          <a:bodyPr wrap="square" rtlCol="0" anchor="ctr"/>
          <a:lstStyle/>
          <a:p>
            <a:pPr indent="0" marL="0">
              <a:buNone/>
            </a:pPr>
            <a:r>
              <a:rPr lang="en-US" sz="1000" b="1" dirty="0">
                <a:solidFill>
                  <a:srgbClr val="10B981"/>
                </a:solidFill>
                <a:latin typeface="Arial" pitchFamily="34" charset="0"/>
                <a:ea typeface="Arial" pitchFamily="34" charset="-122"/>
                <a:cs typeface="Arial" pitchFamily="34" charset="-120"/>
              </a:rPr>
              <a:t>LEVEL 3: MONITOR AT HOME</a:t>
            </a:r>
            <a:endParaRPr lang="en-US" sz="1000" dirty="0"/>
          </a:p>
        </p:txBody>
      </p:sp>
      <p:sp>
        <p:nvSpPr>
          <p:cNvPr id="41" name="Text 39"/>
          <p:cNvSpPr/>
          <p:nvPr/>
        </p:nvSpPr>
        <p:spPr>
          <a:xfrm>
            <a:off x="6629400" y="4517136"/>
            <a:ext cx="4389120" cy="502920"/>
          </a:xfrm>
          <a:prstGeom prst="rect">
            <a:avLst/>
          </a:prstGeom>
          <a:noFill/>
          <a:ln/>
        </p:spPr>
        <p:txBody>
          <a:bodyPr wrap="square" rtlCol="0" anchor="ctr"/>
          <a:lstStyle/>
          <a:p>
            <a:pPr indent="0" marL="0">
              <a:lnSpc>
                <a:spcPts val="1300"/>
              </a:lnSpc>
              <a:buNone/>
            </a:pPr>
            <a:r>
              <a:rPr lang="en-US" sz="950" dirty="0">
                <a:solidFill>
                  <a:srgbClr val="0F172A"/>
                </a:solidFill>
                <a:latin typeface="Arial" pitchFamily="34" charset="0"/>
                <a:ea typeface="Arial" pitchFamily="34" charset="-122"/>
                <a:cs typeface="Arial" pitchFamily="34" charset="-120"/>
              </a:rPr>
              <a:t>Mild self-limiting issue. Delivers hydration guidance, bland diet advice, and recovery milestones.</a:t>
            </a:r>
            <a:endParaRPr lang="en-US" sz="950" dirty="0"/>
          </a:p>
        </p:txBody>
      </p:sp>
      <p:sp>
        <p:nvSpPr>
          <p:cNvPr id="42" name="Shape 40"/>
          <p:cNvSpPr/>
          <p:nvPr/>
        </p:nvSpPr>
        <p:spPr>
          <a:xfrm>
            <a:off x="6492240" y="5303520"/>
            <a:ext cx="4736592" cy="731520"/>
          </a:xfrm>
          <a:prstGeom prst="roundRect">
            <a:avLst/>
          </a:prstGeom>
          <a:solidFill>
            <a:srgbClr val="EEF2FF"/>
          </a:solidFill>
          <a:ln w="12700">
            <a:solidFill>
              <a:srgbClr val="4F46E5"/>
            </a:solidFill>
            <a:prstDash val="solid"/>
          </a:ln>
        </p:spPr>
      </p:sp>
      <p:sp>
        <p:nvSpPr>
          <p:cNvPr id="43" name="Text 41"/>
          <p:cNvSpPr/>
          <p:nvPr/>
        </p:nvSpPr>
        <p:spPr>
          <a:xfrm>
            <a:off x="6629400" y="5376672"/>
            <a:ext cx="4389120" cy="182880"/>
          </a:xfrm>
          <a:prstGeom prst="rect">
            <a:avLst/>
          </a:prstGeom>
          <a:noFill/>
          <a:ln/>
        </p:spPr>
        <p:txBody>
          <a:bodyPr wrap="square" rtlCol="0" anchor="ctr"/>
          <a:lstStyle/>
          <a:p>
            <a:pPr indent="0" marL="0">
              <a:buNone/>
            </a:pPr>
            <a:r>
              <a:rPr lang="en-US" sz="900" b="1" dirty="0">
                <a:solidFill>
                  <a:srgbClr val="4F46E5"/>
                </a:solidFill>
                <a:latin typeface="Arial" pitchFamily="34" charset="0"/>
                <a:ea typeface="Arial" pitchFamily="34" charset="-122"/>
                <a:cs typeface="Arial" pitchFamily="34" charset="-120"/>
              </a:rPr>
              <a:t>🌐 NATIVE BILINGUAL BANGLA / EN SUPPORT</a:t>
            </a:r>
            <a:endParaRPr lang="en-US" sz="900" dirty="0"/>
          </a:p>
        </p:txBody>
      </p:sp>
      <p:sp>
        <p:nvSpPr>
          <p:cNvPr id="44" name="Text 42"/>
          <p:cNvSpPr/>
          <p:nvPr/>
        </p:nvSpPr>
        <p:spPr>
          <a:xfrm>
            <a:off x="6629400" y="5559552"/>
            <a:ext cx="4389120" cy="411480"/>
          </a:xfrm>
          <a:prstGeom prst="rect">
            <a:avLst/>
          </a:prstGeom>
          <a:noFill/>
          <a:ln/>
        </p:spPr>
        <p:txBody>
          <a:bodyPr wrap="square" rtlCol="0" anchor="ctr"/>
          <a:lstStyle/>
          <a:p>
            <a:pPr indent="0" marL="0">
              <a:buNone/>
            </a:pPr>
            <a:r>
              <a:rPr lang="en-US" sz="850" dirty="0">
                <a:solidFill>
                  <a:srgbClr val="475569"/>
                </a:solidFill>
                <a:latin typeface="Arial" pitchFamily="34" charset="0"/>
                <a:ea typeface="Arial" pitchFamily="34" charset="-122"/>
                <a:cs typeface="Arial" pitchFamily="34" charset="-120"/>
              </a:rPr>
              <a:t>Recognizes symptom queries in colloquial Bangla ("আমার কুকুর বমি করছে", "প্যারাসিটামল খেয়েছে") and responds with culturally contextualized Dhaka first-aid steps.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sp>
      <p:sp>
        <p:nvSpPr>
          <p:cNvPr id="3" name="Text 1"/>
          <p:cNvSpPr/>
          <p:nvPr/>
        </p:nvSpPr>
        <p:spPr>
          <a:xfrm>
            <a:off x="731520" y="128016"/>
            <a:ext cx="6583680" cy="32004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 NUZZLE AI PLATFORM  |  GIGALOGY MAIRA MANAGED RAG INTEGRATION</a:t>
            </a:r>
            <a:endParaRPr lang="en-US" sz="1050" dirty="0"/>
          </a:p>
        </p:txBody>
      </p:sp>
      <p:sp>
        <p:nvSpPr>
          <p:cNvPr id="4" name="Text 2"/>
          <p:cNvSpPr/>
          <p:nvPr/>
        </p:nvSpPr>
        <p:spPr>
          <a:xfrm>
            <a:off x="7498080" y="128016"/>
            <a:ext cx="3962095" cy="320040"/>
          </a:xfrm>
          <a:prstGeom prst="rect">
            <a:avLst/>
          </a:prstGeom>
          <a:noFill/>
          <a:ln/>
        </p:spPr>
        <p:txBody>
          <a:bodyPr wrap="square" rtlCol="0" anchor="ctr"/>
          <a:lstStyle/>
          <a:p>
            <a:pPr algn="r" indent="0" marL="0">
              <a:buNone/>
            </a:pPr>
            <a:r>
              <a:rPr lang="en-US" sz="950" dirty="0">
                <a:solidFill>
                  <a:srgbClr val="94A3B8"/>
                </a:solidFill>
                <a:latin typeface="Arial" pitchFamily="34" charset="0"/>
                <a:ea typeface="Arial" pitchFamily="34" charset="-122"/>
                <a:cs typeface="Arial" pitchFamily="34" charset="-120"/>
              </a:rPr>
              <a:t>Slide 6 of 14  •  Technical &amp; Architecture Deep Dive</a:t>
            </a:r>
            <a:endParaRPr lang="en-US" sz="950" dirty="0"/>
          </a:p>
        </p:txBody>
      </p:sp>
      <p:sp>
        <p:nvSpPr>
          <p:cNvPr id="5" name="Text 3"/>
          <p:cNvSpPr/>
          <p:nvPr/>
        </p:nvSpPr>
        <p:spPr>
          <a:xfrm>
            <a:off x="731520" y="658368"/>
            <a:ext cx="10728655" cy="201168"/>
          </a:xfrm>
          <a:prstGeom prst="rect">
            <a:avLst/>
          </a:prstGeom>
          <a:noFill/>
          <a:ln/>
        </p:spPr>
        <p:txBody>
          <a:bodyPr wrap="square" rtlCol="0" anchor="ctr"/>
          <a:lstStyle/>
          <a:p>
            <a:pPr indent="0" marL="0">
              <a:buNone/>
            </a:pPr>
            <a:r>
              <a:rPr lang="en-US" sz="950" b="1" spc="120" kern="0" dirty="0">
                <a:solidFill>
                  <a:srgbClr val="4338CA"/>
                </a:solidFill>
                <a:latin typeface="Arial" pitchFamily="34" charset="0"/>
                <a:ea typeface="Arial" pitchFamily="34" charset="-122"/>
                <a:cs typeface="Arial" pitchFamily="34" charset="-120"/>
              </a:rPr>
              <a:t>PILLAR 2: MULTIMODAL PET SAFETY RADAR</a:t>
            </a:r>
            <a:endParaRPr lang="en-US" sz="950" dirty="0"/>
          </a:p>
        </p:txBody>
      </p:sp>
      <p:sp>
        <p:nvSpPr>
          <p:cNvPr id="6" name="Text 4"/>
          <p:cNvSpPr/>
          <p:nvPr/>
        </p:nvSpPr>
        <p:spPr>
          <a:xfrm>
            <a:off x="731520" y="896112"/>
            <a:ext cx="10728655" cy="384048"/>
          </a:xfrm>
          <a:prstGeom prst="rect">
            <a:avLst/>
          </a:prstGeom>
          <a:noFill/>
          <a:ln/>
        </p:spPr>
        <p:txBody>
          <a:bodyPr wrap="square" rtlCol="0" anchor="ctr"/>
          <a:lstStyle/>
          <a:p>
            <a:pPr indent="0" marL="0">
              <a:buNone/>
            </a:pPr>
            <a:r>
              <a:rPr lang="en-US" sz="1900" b="1" dirty="0">
                <a:solidFill>
                  <a:srgbClr val="0F172A"/>
                </a:solidFill>
                <a:latin typeface="Arial" pitchFamily="34" charset="0"/>
                <a:ea typeface="Arial" pitchFamily="34" charset="-122"/>
                <a:cs typeface="Arial" pitchFamily="34" charset="-120"/>
              </a:rPr>
              <a:t>Lost &amp; Found Radar: Multimodal Vision &amp; Semantic Biometric Matching</a:t>
            </a:r>
            <a:endParaRPr lang="en-US" sz="1900" dirty="0"/>
          </a:p>
        </p:txBody>
      </p:sp>
      <p:sp>
        <p:nvSpPr>
          <p:cNvPr id="7" name="Text 5"/>
          <p:cNvSpPr/>
          <p:nvPr/>
        </p:nvSpPr>
        <p:spPr>
          <a:xfrm>
            <a:off x="731520" y="1316736"/>
            <a:ext cx="10728655" cy="292608"/>
          </a:xfrm>
          <a:prstGeom prst="rect">
            <a:avLst/>
          </a:prstGeom>
          <a:noFill/>
          <a:ln/>
        </p:spPr>
        <p:txBody>
          <a:bodyPr wrap="square" rtlCol="0" anchor="ctr"/>
          <a:lstStyle/>
          <a:p>
            <a:pPr indent="0" marL="0">
              <a:buNone/>
            </a:pPr>
            <a:r>
              <a:rPr lang="en-US" sz="1050" dirty="0">
                <a:solidFill>
                  <a:srgbClr val="475569"/>
                </a:solidFill>
                <a:latin typeface="Arial" pitchFamily="34" charset="0"/>
                <a:ea typeface="Arial" pitchFamily="34" charset="-122"/>
                <a:cs typeface="Arial" pitchFamily="34" charset="-120"/>
              </a:rPr>
              <a:t>Profile ID: a10e6172-abe5-4fed-965f-dcdf22148524 • Dataset: 50-Pet Radar Benchmark + Supabase pgvector</a:t>
            </a:r>
            <a:endParaRPr lang="en-US" sz="1050" dirty="0"/>
          </a:p>
        </p:txBody>
      </p:sp>
      <p:sp>
        <p:nvSpPr>
          <p:cNvPr id="8" name="Shape 6"/>
          <p:cNvSpPr/>
          <p:nvPr/>
        </p:nvSpPr>
        <p:spPr>
          <a:xfrm>
            <a:off x="0" y="6355080"/>
            <a:ext cx="12191695" cy="502920"/>
          </a:xfrm>
          <a:prstGeom prst="rect">
            <a:avLst/>
          </a:prstGeom>
          <a:solidFill>
            <a:srgbClr val="0F172A"/>
          </a:solidFill>
          <a:ln w="12700">
            <a:solidFill>
              <a:srgbClr val="1E293B"/>
            </a:solidFill>
            <a:prstDash val="solid"/>
          </a:ln>
        </p:spPr>
      </p:sp>
      <p:sp>
        <p:nvSpPr>
          <p:cNvPr id="9" name="Text 7"/>
          <p:cNvSpPr/>
          <p:nvPr/>
        </p:nvSpPr>
        <p:spPr>
          <a:xfrm>
            <a:off x="731520" y="6446520"/>
            <a:ext cx="6583680" cy="320040"/>
          </a:xfrm>
          <a:prstGeom prst="rect">
            <a:avLst/>
          </a:prstGeom>
          <a:noFill/>
          <a:ln/>
        </p:spPr>
        <p:txBody>
          <a:bodyPr wrap="square" rtlCol="0" anchor="ctr"/>
          <a:lstStyle/>
          <a:p>
            <a:pPr indent="0" marL="0">
              <a:buNone/>
            </a:pPr>
            <a:r>
              <a:rPr lang="en-US" sz="950" dirty="0">
                <a:solidFill>
                  <a:srgbClr val="94A3B8"/>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7498080" y="6446520"/>
            <a:ext cx="3962095" cy="32004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2560320" cy="868680"/>
          </a:xfrm>
          <a:prstGeom prst="roundRect">
            <a:avLst/>
          </a:prstGeom>
          <a:solidFill>
            <a:srgbClr val="FFFFFF"/>
          </a:solidFill>
          <a:ln w="12700">
            <a:solidFill>
              <a:srgbClr val="CBD5E1"/>
            </a:solidFill>
            <a:prstDash val="solid"/>
          </a:ln>
        </p:spPr>
      </p:sp>
      <p:sp>
        <p:nvSpPr>
          <p:cNvPr id="12" name="Text 10"/>
          <p:cNvSpPr/>
          <p:nvPr/>
        </p:nvSpPr>
        <p:spPr>
          <a:xfrm>
            <a:off x="868680" y="1874520"/>
            <a:ext cx="2286000" cy="164592"/>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RADAR BENCHMARK</a:t>
            </a:r>
            <a:endParaRPr lang="en-US" sz="850" dirty="0"/>
          </a:p>
        </p:txBody>
      </p:sp>
      <p:sp>
        <p:nvSpPr>
          <p:cNvPr id="13" name="Text 11"/>
          <p:cNvSpPr/>
          <p:nvPr/>
        </p:nvSpPr>
        <p:spPr>
          <a:xfrm>
            <a:off x="868680" y="2057400"/>
            <a:ext cx="2286000" cy="292608"/>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50 Curated Pets</a:t>
            </a:r>
            <a:endParaRPr lang="en-US" sz="1300" dirty="0"/>
          </a:p>
        </p:txBody>
      </p:sp>
      <p:sp>
        <p:nvSpPr>
          <p:cNvPr id="14" name="Text 12"/>
          <p:cNvSpPr/>
          <p:nvPr/>
        </p:nvSpPr>
        <p:spPr>
          <a:xfrm>
            <a:off x="868680" y="2359152"/>
            <a:ext cx="2286000" cy="201168"/>
          </a:xfrm>
          <a:prstGeom prst="rect">
            <a:avLst/>
          </a:prstGeom>
          <a:noFill/>
          <a:ln/>
        </p:spPr>
        <p:txBody>
          <a:bodyPr wrap="square" rtlCol="0" anchor="ctr"/>
          <a:lstStyle/>
          <a:p>
            <a:pPr indent="0" marL="0">
              <a:buNone/>
            </a:pPr>
            <a:r>
              <a:rPr lang="en-US" sz="850" dirty="0">
                <a:solidFill>
                  <a:srgbClr val="64748B"/>
                </a:solidFill>
                <a:latin typeface="Arial" pitchFamily="34" charset="0"/>
                <a:ea typeface="Arial" pitchFamily="34" charset="-122"/>
                <a:cs typeface="Arial" pitchFamily="34" charset="-120"/>
              </a:rPr>
              <a:t>Dhaka zones: Banani, Gulshan, Uttara</a:t>
            </a:r>
            <a:endParaRPr lang="en-US" sz="850" dirty="0"/>
          </a:p>
        </p:txBody>
      </p:sp>
      <p:sp>
        <p:nvSpPr>
          <p:cNvPr id="15" name="Shape 13"/>
          <p:cNvSpPr/>
          <p:nvPr/>
        </p:nvSpPr>
        <p:spPr>
          <a:xfrm>
            <a:off x="3456432" y="1783080"/>
            <a:ext cx="2560320" cy="868680"/>
          </a:xfrm>
          <a:prstGeom prst="roundRect">
            <a:avLst/>
          </a:prstGeom>
          <a:solidFill>
            <a:srgbClr val="FFFFFF"/>
          </a:solidFill>
          <a:ln w="12700">
            <a:solidFill>
              <a:srgbClr val="CBD5E1"/>
            </a:solidFill>
            <a:prstDash val="solid"/>
          </a:ln>
        </p:spPr>
      </p:sp>
      <p:sp>
        <p:nvSpPr>
          <p:cNvPr id="16" name="Text 14"/>
          <p:cNvSpPr/>
          <p:nvPr/>
        </p:nvSpPr>
        <p:spPr>
          <a:xfrm>
            <a:off x="3593592" y="1874520"/>
            <a:ext cx="2286000" cy="164592"/>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VISION MODEL</a:t>
            </a:r>
            <a:endParaRPr lang="en-US" sz="850" dirty="0"/>
          </a:p>
        </p:txBody>
      </p:sp>
      <p:sp>
        <p:nvSpPr>
          <p:cNvPr id="17" name="Text 15"/>
          <p:cNvSpPr/>
          <p:nvPr/>
        </p:nvSpPr>
        <p:spPr>
          <a:xfrm>
            <a:off x="3593592" y="2057400"/>
            <a:ext cx="2286000" cy="292608"/>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Qwen2.5-VL-72B</a:t>
            </a:r>
            <a:endParaRPr lang="en-US" sz="1300" dirty="0"/>
          </a:p>
        </p:txBody>
      </p:sp>
      <p:sp>
        <p:nvSpPr>
          <p:cNvPr id="18" name="Text 16"/>
          <p:cNvSpPr/>
          <p:nvPr/>
        </p:nvSpPr>
        <p:spPr>
          <a:xfrm>
            <a:off x="3593592" y="2359152"/>
            <a:ext cx="2286000" cy="201168"/>
          </a:xfrm>
          <a:prstGeom prst="rect">
            <a:avLst/>
          </a:prstGeom>
          <a:noFill/>
          <a:ln/>
        </p:spPr>
        <p:txBody>
          <a:bodyPr wrap="square" rtlCol="0" anchor="ctr"/>
          <a:lstStyle/>
          <a:p>
            <a:pPr indent="0" marL="0">
              <a:buNone/>
            </a:pPr>
            <a:r>
              <a:rPr lang="en-US" sz="850" dirty="0">
                <a:solidFill>
                  <a:srgbClr val="64748B"/>
                </a:solidFill>
                <a:latin typeface="Arial" pitchFamily="34" charset="0"/>
                <a:ea typeface="Arial" pitchFamily="34" charset="-122"/>
                <a:cs typeface="Arial" pitchFamily="34" charset="-120"/>
              </a:rPr>
              <a:t>Hugging Face free open-source router</a:t>
            </a:r>
            <a:endParaRPr lang="en-US" sz="850" dirty="0"/>
          </a:p>
        </p:txBody>
      </p:sp>
      <p:sp>
        <p:nvSpPr>
          <p:cNvPr id="19" name="Shape 17"/>
          <p:cNvSpPr/>
          <p:nvPr/>
        </p:nvSpPr>
        <p:spPr>
          <a:xfrm>
            <a:off x="6181344" y="1783080"/>
            <a:ext cx="2560320" cy="868680"/>
          </a:xfrm>
          <a:prstGeom prst="roundRect">
            <a:avLst/>
          </a:prstGeom>
          <a:solidFill>
            <a:srgbClr val="FFFFFF"/>
          </a:solidFill>
          <a:ln w="12700">
            <a:solidFill>
              <a:srgbClr val="CBD5E1"/>
            </a:solidFill>
            <a:prstDash val="solid"/>
          </a:ln>
        </p:spPr>
      </p:sp>
      <p:sp>
        <p:nvSpPr>
          <p:cNvPr id="20" name="Text 18"/>
          <p:cNvSpPr/>
          <p:nvPr/>
        </p:nvSpPr>
        <p:spPr>
          <a:xfrm>
            <a:off x="6318504" y="1874520"/>
            <a:ext cx="2286000" cy="164592"/>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MATCH CONFIDENCE</a:t>
            </a:r>
            <a:endParaRPr lang="en-US" sz="850" dirty="0"/>
          </a:p>
        </p:txBody>
      </p:sp>
      <p:sp>
        <p:nvSpPr>
          <p:cNvPr id="21" name="Text 19"/>
          <p:cNvSpPr/>
          <p:nvPr/>
        </p:nvSpPr>
        <p:spPr>
          <a:xfrm>
            <a:off x="6318504" y="2057400"/>
            <a:ext cx="2286000" cy="292608"/>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95.2% Clinical Score</a:t>
            </a:r>
            <a:endParaRPr lang="en-US" sz="1300" dirty="0"/>
          </a:p>
        </p:txBody>
      </p:sp>
      <p:sp>
        <p:nvSpPr>
          <p:cNvPr id="22" name="Text 20"/>
          <p:cNvSpPr/>
          <p:nvPr/>
        </p:nvSpPr>
        <p:spPr>
          <a:xfrm>
            <a:off x="6318504" y="2359152"/>
            <a:ext cx="2286000" cy="201168"/>
          </a:xfrm>
          <a:prstGeom prst="rect">
            <a:avLst/>
          </a:prstGeom>
          <a:noFill/>
          <a:ln/>
        </p:spPr>
        <p:txBody>
          <a:bodyPr wrap="square" rtlCol="0" anchor="ctr"/>
          <a:lstStyle/>
          <a:p>
            <a:pPr indent="0" marL="0">
              <a:buNone/>
            </a:pPr>
            <a:r>
              <a:rPr lang="en-US" sz="850" dirty="0">
                <a:solidFill>
                  <a:srgbClr val="64748B"/>
                </a:solidFill>
                <a:latin typeface="Arial" pitchFamily="34" charset="0"/>
                <a:ea typeface="Arial" pitchFamily="34" charset="-122"/>
                <a:cs typeface="Arial" pitchFamily="34" charset="-120"/>
              </a:rPr>
              <a:t>Biometric coat, ear &amp; collar extraction</a:t>
            </a:r>
            <a:endParaRPr lang="en-US" sz="850" dirty="0"/>
          </a:p>
        </p:txBody>
      </p:sp>
      <p:sp>
        <p:nvSpPr>
          <p:cNvPr id="23" name="Shape 21"/>
          <p:cNvSpPr/>
          <p:nvPr/>
        </p:nvSpPr>
        <p:spPr>
          <a:xfrm>
            <a:off x="8906256" y="1783080"/>
            <a:ext cx="2560320" cy="868680"/>
          </a:xfrm>
          <a:prstGeom prst="roundRect">
            <a:avLst/>
          </a:prstGeom>
          <a:solidFill>
            <a:srgbClr val="FFFFFF"/>
          </a:solidFill>
          <a:ln w="12700">
            <a:solidFill>
              <a:srgbClr val="CBD5E1"/>
            </a:solidFill>
            <a:prstDash val="solid"/>
          </a:ln>
        </p:spPr>
      </p:sp>
      <p:sp>
        <p:nvSpPr>
          <p:cNvPr id="24" name="Text 22"/>
          <p:cNvSpPr/>
          <p:nvPr/>
        </p:nvSpPr>
        <p:spPr>
          <a:xfrm>
            <a:off x="9043416" y="1874520"/>
            <a:ext cx="2286000" cy="164592"/>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ZERO HALLUCINATION</a:t>
            </a:r>
            <a:endParaRPr lang="en-US" sz="850" dirty="0"/>
          </a:p>
        </p:txBody>
      </p:sp>
      <p:sp>
        <p:nvSpPr>
          <p:cNvPr id="25" name="Text 23"/>
          <p:cNvSpPr/>
          <p:nvPr/>
        </p:nvSpPr>
        <p:spPr>
          <a:xfrm>
            <a:off x="9043416" y="2057400"/>
            <a:ext cx="2286000" cy="292608"/>
          </a:xfrm>
          <a:prstGeom prst="rect">
            <a:avLst/>
          </a:prstGeom>
          <a:noFill/>
          <a:ln/>
        </p:spPr>
        <p:txBody>
          <a:bodyPr wrap="square" rtlCol="0" anchor="ctr"/>
          <a:lstStyle/>
          <a:p>
            <a:pPr indent="0" marL="0">
              <a:buNone/>
            </a:pPr>
            <a:r>
              <a:rPr lang="en-US" sz="1300" b="1" dirty="0">
                <a:solidFill>
                  <a:srgbClr val="0F172A"/>
                </a:solidFill>
                <a:latin typeface="Arial" pitchFamily="34" charset="0"/>
                <a:ea typeface="Arial" pitchFamily="34" charset="-122"/>
                <a:cs typeface="Arial" pitchFamily="34" charset="-120"/>
              </a:rPr>
              <a:t>Strict Pet Filter</a:t>
            </a:r>
            <a:endParaRPr lang="en-US" sz="1300" dirty="0"/>
          </a:p>
        </p:txBody>
      </p:sp>
      <p:sp>
        <p:nvSpPr>
          <p:cNvPr id="26" name="Text 24"/>
          <p:cNvSpPr/>
          <p:nvPr/>
        </p:nvSpPr>
        <p:spPr>
          <a:xfrm>
            <a:off x="9043416" y="2359152"/>
            <a:ext cx="2286000" cy="201168"/>
          </a:xfrm>
          <a:prstGeom prst="rect">
            <a:avLst/>
          </a:prstGeom>
          <a:noFill/>
          <a:ln/>
        </p:spPr>
        <p:txBody>
          <a:bodyPr wrap="square" rtlCol="0" anchor="ctr"/>
          <a:lstStyle/>
          <a:p>
            <a:pPr indent="0" marL="0">
              <a:buNone/>
            </a:pPr>
            <a:r>
              <a:rPr lang="en-US" sz="850" dirty="0">
                <a:solidFill>
                  <a:srgbClr val="64748B"/>
                </a:solidFill>
                <a:latin typeface="Arial" pitchFamily="34" charset="0"/>
                <a:ea typeface="Arial" pitchFamily="34" charset="-122"/>
                <a:cs typeface="Arial" pitchFamily="34" charset="-120"/>
              </a:rPr>
              <a:t>Non-pet/human rejection &amp; verification</a:t>
            </a:r>
            <a:endParaRPr lang="en-US" sz="850" dirty="0"/>
          </a:p>
        </p:txBody>
      </p:sp>
      <p:sp>
        <p:nvSpPr>
          <p:cNvPr id="27" name="Shape 25"/>
          <p:cNvSpPr/>
          <p:nvPr/>
        </p:nvSpPr>
        <p:spPr>
          <a:xfrm>
            <a:off x="731520" y="2834640"/>
            <a:ext cx="5212080" cy="3337560"/>
          </a:xfrm>
          <a:prstGeom prst="roundRect">
            <a:avLst/>
          </a:prstGeom>
          <a:solidFill>
            <a:srgbClr val="FFFFFF"/>
          </a:solidFill>
          <a:ln w="19050">
            <a:solidFill>
              <a:srgbClr val="10B981"/>
            </a:solidFill>
            <a:prstDash val="solid"/>
          </a:ln>
        </p:spPr>
      </p:sp>
      <p:sp>
        <p:nvSpPr>
          <p:cNvPr id="28" name="Shape 26"/>
          <p:cNvSpPr/>
          <p:nvPr/>
        </p:nvSpPr>
        <p:spPr>
          <a:xfrm>
            <a:off x="914400" y="2971800"/>
            <a:ext cx="4846320" cy="320040"/>
          </a:xfrm>
          <a:prstGeom prst="roundRect">
            <a:avLst/>
          </a:prstGeom>
          <a:solidFill>
            <a:srgbClr val="ECFDF5"/>
          </a:solidFill>
          <a:ln w="12700">
            <a:solidFill>
              <a:srgbClr val="10B981"/>
            </a:solidFill>
            <a:prstDash val="solid"/>
          </a:ln>
        </p:spPr>
      </p:sp>
      <p:sp>
        <p:nvSpPr>
          <p:cNvPr id="29" name="Text 27"/>
          <p:cNvSpPr/>
          <p:nvPr/>
        </p:nvSpPr>
        <p:spPr>
          <a:xfrm>
            <a:off x="1005840" y="3035808"/>
            <a:ext cx="4663440" cy="201168"/>
          </a:xfrm>
          <a:prstGeom prst="rect">
            <a:avLst/>
          </a:prstGeom>
          <a:noFill/>
          <a:ln/>
        </p:spPr>
        <p:txBody>
          <a:bodyPr wrap="square" rtlCol="0" anchor="ctr"/>
          <a:lstStyle/>
          <a:p>
            <a:pPr indent="0" marL="0">
              <a:buNone/>
            </a:pPr>
            <a:r>
              <a:rPr lang="en-US" sz="950" b="1" dirty="0">
                <a:solidFill>
                  <a:srgbClr val="065F46"/>
                </a:solidFill>
                <a:latin typeface="Arial" pitchFamily="34" charset="0"/>
                <a:ea typeface="Arial" pitchFamily="34" charset="-122"/>
                <a:cs typeface="Arial" pitchFamily="34" charset="-120"/>
              </a:rPr>
              <a:t>🐕 VERIFIED CASE 1: ROCKY (GERMAN SHEPHERD)</a:t>
            </a:r>
            <a:endParaRPr lang="en-US" sz="950" dirty="0"/>
          </a:p>
        </p:txBody>
      </p:sp>
      <p:sp>
        <p:nvSpPr>
          <p:cNvPr id="30" name="Text 28"/>
          <p:cNvSpPr/>
          <p:nvPr/>
        </p:nvSpPr>
        <p:spPr>
          <a:xfrm>
            <a:off x="914400" y="3383280"/>
            <a:ext cx="4846320" cy="182880"/>
          </a:xfrm>
          <a:prstGeom prst="rect">
            <a:avLst/>
          </a:prstGeom>
          <a:noFill/>
          <a:ln/>
        </p:spPr>
        <p:txBody>
          <a:bodyPr wrap="square" rtlCol="0" anchor="ctr"/>
          <a:lstStyle/>
          <a:p>
            <a:pPr indent="0" marL="0">
              <a:buNone/>
            </a:pPr>
            <a:r>
              <a:rPr lang="en-US" sz="850" b="1" dirty="0">
                <a:solidFill>
                  <a:srgbClr val="64748B"/>
                </a:solidFill>
                <a:latin typeface="Arial" pitchFamily="34" charset="0"/>
                <a:ea typeface="Arial" pitchFamily="34" charset="-122"/>
                <a:cs typeface="Arial" pitchFamily="34" charset="-120"/>
              </a:rPr>
              <a:t>SIGHTING INPUT (POST /api/lost-found/ai-match):</a:t>
            </a:r>
            <a:endParaRPr lang="en-US" sz="850" dirty="0"/>
          </a:p>
        </p:txBody>
      </p:sp>
      <p:sp>
        <p:nvSpPr>
          <p:cNvPr id="31" name="Text 29"/>
          <p:cNvSpPr/>
          <p:nvPr/>
        </p:nvSpPr>
        <p:spPr>
          <a:xfrm>
            <a:off x="914400" y="3566160"/>
            <a:ext cx="4846320" cy="502920"/>
          </a:xfrm>
          <a:prstGeom prst="rect">
            <a:avLst/>
          </a:prstGeom>
          <a:noFill/>
          <a:ln/>
        </p:spPr>
        <p:txBody>
          <a:bodyPr wrap="square" rtlCol="0" anchor="ctr"/>
          <a:lstStyle/>
          <a:p>
            <a:pPr indent="0" marL="0">
              <a:buNone/>
            </a:pPr>
            <a:r>
              <a:rPr lang="en-US" sz="950" i="1" dirty="0">
                <a:solidFill>
                  <a:srgbClr val="0F172A"/>
                </a:solidFill>
                <a:latin typeface="Arial" pitchFamily="34" charset="0"/>
                <a:ea typeface="Arial" pitchFamily="34" charset="-122"/>
                <a:cs typeface="Arial" pitchFamily="34" charset="-120"/>
              </a:rPr>
              <a:t>"📸 Sighting Photo Attached + Notes: Spotted black &amp; tan dog near Banani Rd 11. Wearing red nylon collar with silver Nuzzle QR tag."</a:t>
            </a:r>
            <a:endParaRPr lang="en-US" sz="950" dirty="0"/>
          </a:p>
        </p:txBody>
      </p:sp>
      <p:sp>
        <p:nvSpPr>
          <p:cNvPr id="32" name="Text 30"/>
          <p:cNvSpPr/>
          <p:nvPr/>
        </p:nvSpPr>
        <p:spPr>
          <a:xfrm>
            <a:off x="914400" y="4114800"/>
            <a:ext cx="4846320"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MULTIMODAL AI VISION BIOMETRIC RESULT:</a:t>
            </a:r>
            <a:endParaRPr lang="en-US" sz="850" dirty="0"/>
          </a:p>
        </p:txBody>
      </p:sp>
      <p:sp>
        <p:nvSpPr>
          <p:cNvPr id="33" name="Text 31"/>
          <p:cNvSpPr/>
          <p:nvPr/>
        </p:nvSpPr>
        <p:spPr>
          <a:xfrm>
            <a:off x="914400" y="4343400"/>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Matched Pet Name:</a:t>
            </a:r>
            <a:endParaRPr lang="en-US" sz="900" dirty="0"/>
          </a:p>
        </p:txBody>
      </p:sp>
      <p:sp>
        <p:nvSpPr>
          <p:cNvPr id="34" name="Text 32"/>
          <p:cNvSpPr/>
          <p:nvPr/>
        </p:nvSpPr>
        <p:spPr>
          <a:xfrm>
            <a:off x="2834640" y="4343400"/>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Rocky (Post ID: LF-101 • German Shepherd)</a:t>
            </a:r>
            <a:endParaRPr lang="en-US" sz="900" dirty="0"/>
          </a:p>
        </p:txBody>
      </p:sp>
      <p:sp>
        <p:nvSpPr>
          <p:cNvPr id="35" name="Text 33"/>
          <p:cNvSpPr/>
          <p:nvPr/>
        </p:nvSpPr>
        <p:spPr>
          <a:xfrm>
            <a:off x="914400" y="4672584"/>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Biometric Features:</a:t>
            </a:r>
            <a:endParaRPr lang="en-US" sz="900" dirty="0"/>
          </a:p>
        </p:txBody>
      </p:sp>
      <p:sp>
        <p:nvSpPr>
          <p:cNvPr id="36" name="Text 34"/>
          <p:cNvSpPr/>
          <p:nvPr/>
        </p:nvSpPr>
        <p:spPr>
          <a:xfrm>
            <a:off x="2834640" y="4672584"/>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 Black &amp; Tan Saddle • 🐾 Pointed Ears • 🏷️ Red Tag</a:t>
            </a:r>
            <a:endParaRPr lang="en-US" sz="900" dirty="0"/>
          </a:p>
        </p:txBody>
      </p:sp>
      <p:sp>
        <p:nvSpPr>
          <p:cNvPr id="37" name="Text 35"/>
          <p:cNvSpPr/>
          <p:nvPr/>
        </p:nvSpPr>
        <p:spPr>
          <a:xfrm>
            <a:off x="914400" y="5001768"/>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Owner &amp; Contact:</a:t>
            </a:r>
            <a:endParaRPr lang="en-US" sz="900" dirty="0"/>
          </a:p>
        </p:txBody>
      </p:sp>
      <p:sp>
        <p:nvSpPr>
          <p:cNvPr id="38" name="Text 36"/>
          <p:cNvSpPr/>
          <p:nvPr/>
        </p:nvSpPr>
        <p:spPr>
          <a:xfrm>
            <a:off x="2834640" y="5001768"/>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Kazi Tanvir (+880 1711-998877)</a:t>
            </a:r>
            <a:endParaRPr lang="en-US" sz="900" dirty="0"/>
          </a:p>
        </p:txBody>
      </p:sp>
      <p:sp>
        <p:nvSpPr>
          <p:cNvPr id="39" name="Text 37"/>
          <p:cNvSpPr/>
          <p:nvPr/>
        </p:nvSpPr>
        <p:spPr>
          <a:xfrm>
            <a:off x="914400" y="5330952"/>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Cash Reward Offered:</a:t>
            </a:r>
            <a:endParaRPr lang="en-US" sz="900" dirty="0"/>
          </a:p>
        </p:txBody>
      </p:sp>
      <p:sp>
        <p:nvSpPr>
          <p:cNvPr id="40" name="Text 38"/>
          <p:cNvSpPr/>
          <p:nvPr/>
        </p:nvSpPr>
        <p:spPr>
          <a:xfrm>
            <a:off x="2834640" y="5330952"/>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৳15,000 BDT (Verified Escrow)</a:t>
            </a:r>
            <a:endParaRPr lang="en-US" sz="900" dirty="0"/>
          </a:p>
        </p:txBody>
      </p:sp>
      <p:sp>
        <p:nvSpPr>
          <p:cNvPr id="41" name="Text 39"/>
          <p:cNvSpPr/>
          <p:nvPr/>
        </p:nvSpPr>
        <p:spPr>
          <a:xfrm>
            <a:off x="914400" y="5660136"/>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Match Confidence Score:</a:t>
            </a:r>
            <a:endParaRPr lang="en-US" sz="900" dirty="0"/>
          </a:p>
        </p:txBody>
      </p:sp>
      <p:sp>
        <p:nvSpPr>
          <p:cNvPr id="42" name="Text 40"/>
          <p:cNvSpPr/>
          <p:nvPr/>
        </p:nvSpPr>
        <p:spPr>
          <a:xfrm>
            <a:off x="2834640" y="5660136"/>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0.95 (Hugging Face Vision Qwen2.5-VL-72B)</a:t>
            </a:r>
            <a:endParaRPr lang="en-US" sz="900" dirty="0"/>
          </a:p>
        </p:txBody>
      </p:sp>
      <p:sp>
        <p:nvSpPr>
          <p:cNvPr id="43" name="Shape 41"/>
          <p:cNvSpPr/>
          <p:nvPr/>
        </p:nvSpPr>
        <p:spPr>
          <a:xfrm>
            <a:off x="6248095" y="2834640"/>
            <a:ext cx="5212080" cy="3337560"/>
          </a:xfrm>
          <a:prstGeom prst="roundRect">
            <a:avLst/>
          </a:prstGeom>
          <a:solidFill>
            <a:srgbClr val="FFFFFF"/>
          </a:solidFill>
          <a:ln w="19050">
            <a:solidFill>
              <a:srgbClr val="6366F1"/>
            </a:solidFill>
            <a:prstDash val="solid"/>
          </a:ln>
        </p:spPr>
      </p:sp>
      <p:sp>
        <p:nvSpPr>
          <p:cNvPr id="44" name="Shape 42"/>
          <p:cNvSpPr/>
          <p:nvPr/>
        </p:nvSpPr>
        <p:spPr>
          <a:xfrm>
            <a:off x="6430975" y="2971800"/>
            <a:ext cx="4846320" cy="320040"/>
          </a:xfrm>
          <a:prstGeom prst="roundRect">
            <a:avLst/>
          </a:prstGeom>
          <a:solidFill>
            <a:srgbClr val="EEF2FF"/>
          </a:solidFill>
          <a:ln w="12700">
            <a:solidFill>
              <a:srgbClr val="6366F1"/>
            </a:solidFill>
            <a:prstDash val="solid"/>
          </a:ln>
        </p:spPr>
      </p:sp>
      <p:sp>
        <p:nvSpPr>
          <p:cNvPr id="45" name="Text 43"/>
          <p:cNvSpPr/>
          <p:nvPr/>
        </p:nvSpPr>
        <p:spPr>
          <a:xfrm>
            <a:off x="6522415" y="3035808"/>
            <a:ext cx="4663440" cy="201168"/>
          </a:xfrm>
          <a:prstGeom prst="rect">
            <a:avLst/>
          </a:prstGeom>
          <a:noFill/>
          <a:ln/>
        </p:spPr>
        <p:txBody>
          <a:bodyPr wrap="square" rtlCol="0" anchor="ctr"/>
          <a:lstStyle/>
          <a:p>
            <a:pPr indent="0" marL="0">
              <a:buNone/>
            </a:pPr>
            <a:r>
              <a:rPr lang="en-US" sz="950" b="1" dirty="0">
                <a:solidFill>
                  <a:srgbClr val="4338CA"/>
                </a:solidFill>
                <a:latin typeface="Arial" pitchFamily="34" charset="0"/>
                <a:ea typeface="Arial" pitchFamily="34" charset="-122"/>
                <a:cs typeface="Arial" pitchFamily="34" charset="-120"/>
              </a:rPr>
              <a:t>🐈 VERIFIED CASE 2: MILO (PERSIAN CAT)</a:t>
            </a:r>
            <a:endParaRPr lang="en-US" sz="950" dirty="0"/>
          </a:p>
        </p:txBody>
      </p:sp>
      <p:sp>
        <p:nvSpPr>
          <p:cNvPr id="46" name="Text 44"/>
          <p:cNvSpPr/>
          <p:nvPr/>
        </p:nvSpPr>
        <p:spPr>
          <a:xfrm>
            <a:off x="6430975" y="3383280"/>
            <a:ext cx="4846320" cy="182880"/>
          </a:xfrm>
          <a:prstGeom prst="rect">
            <a:avLst/>
          </a:prstGeom>
          <a:noFill/>
          <a:ln/>
        </p:spPr>
        <p:txBody>
          <a:bodyPr wrap="square" rtlCol="0" anchor="ctr"/>
          <a:lstStyle/>
          <a:p>
            <a:pPr indent="0" marL="0">
              <a:buNone/>
            </a:pPr>
            <a:r>
              <a:rPr lang="en-US" sz="850" b="1" dirty="0">
                <a:solidFill>
                  <a:srgbClr val="64748B"/>
                </a:solidFill>
                <a:latin typeface="Arial" pitchFamily="34" charset="0"/>
                <a:ea typeface="Arial" pitchFamily="34" charset="-122"/>
                <a:cs typeface="Arial" pitchFamily="34" charset="-120"/>
              </a:rPr>
              <a:t>SIGHTING INPUT (POST /api/lost-found/ai-match):</a:t>
            </a:r>
            <a:endParaRPr lang="en-US" sz="850" dirty="0"/>
          </a:p>
        </p:txBody>
      </p:sp>
      <p:sp>
        <p:nvSpPr>
          <p:cNvPr id="47" name="Text 45"/>
          <p:cNvSpPr/>
          <p:nvPr/>
        </p:nvSpPr>
        <p:spPr>
          <a:xfrm>
            <a:off x="6430975" y="3566160"/>
            <a:ext cx="4846320" cy="502920"/>
          </a:xfrm>
          <a:prstGeom prst="rect">
            <a:avLst/>
          </a:prstGeom>
          <a:noFill/>
          <a:ln/>
        </p:spPr>
        <p:txBody>
          <a:bodyPr wrap="square" rtlCol="0" anchor="ctr"/>
          <a:lstStyle/>
          <a:p>
            <a:pPr indent="0" marL="0">
              <a:buNone/>
            </a:pPr>
            <a:r>
              <a:rPr lang="en-US" sz="950" i="1" dirty="0">
                <a:solidFill>
                  <a:srgbClr val="0F172A"/>
                </a:solidFill>
                <a:latin typeface="Arial" pitchFamily="34" charset="0"/>
                <a:ea typeface="Arial" pitchFamily="34" charset="-122"/>
                <a:cs typeface="Arial" pitchFamily="34" charset="-120"/>
              </a:rPr>
              <a:t>"📸 Sighting Photo Attached: Found white fluffy Persian cat sitting near Gulshan Lake Park gate 2. Has one blue eye and one amber eye, pink velvet collar."</a:t>
            </a:r>
            <a:endParaRPr lang="en-US" sz="950" dirty="0"/>
          </a:p>
        </p:txBody>
      </p:sp>
      <p:sp>
        <p:nvSpPr>
          <p:cNvPr id="48" name="Text 46"/>
          <p:cNvSpPr/>
          <p:nvPr/>
        </p:nvSpPr>
        <p:spPr>
          <a:xfrm>
            <a:off x="6430975" y="4114800"/>
            <a:ext cx="4846320" cy="182880"/>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MULTIMODAL AI VISION BIOMETRIC RESULT:</a:t>
            </a:r>
            <a:endParaRPr lang="en-US" sz="850" dirty="0"/>
          </a:p>
        </p:txBody>
      </p:sp>
      <p:sp>
        <p:nvSpPr>
          <p:cNvPr id="49" name="Text 47"/>
          <p:cNvSpPr/>
          <p:nvPr/>
        </p:nvSpPr>
        <p:spPr>
          <a:xfrm>
            <a:off x="6430975" y="4343400"/>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Matched Pet Name:</a:t>
            </a:r>
            <a:endParaRPr lang="en-US" sz="900" dirty="0"/>
          </a:p>
        </p:txBody>
      </p:sp>
      <p:sp>
        <p:nvSpPr>
          <p:cNvPr id="50" name="Text 48"/>
          <p:cNvSpPr/>
          <p:nvPr/>
        </p:nvSpPr>
        <p:spPr>
          <a:xfrm>
            <a:off x="8351215" y="4343400"/>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Milo (Post ID: LF-102 • Persian Cat)</a:t>
            </a:r>
            <a:endParaRPr lang="en-US" sz="900" dirty="0"/>
          </a:p>
        </p:txBody>
      </p:sp>
      <p:sp>
        <p:nvSpPr>
          <p:cNvPr id="51" name="Text 49"/>
          <p:cNvSpPr/>
          <p:nvPr/>
        </p:nvSpPr>
        <p:spPr>
          <a:xfrm>
            <a:off x="6430975" y="4672584"/>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Biometric Features:</a:t>
            </a:r>
            <a:endParaRPr lang="en-US" sz="900" dirty="0"/>
          </a:p>
        </p:txBody>
      </p:sp>
      <p:sp>
        <p:nvSpPr>
          <p:cNvPr id="52" name="Text 50"/>
          <p:cNvSpPr/>
          <p:nvPr/>
        </p:nvSpPr>
        <p:spPr>
          <a:xfrm>
            <a:off x="8351215" y="4672584"/>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 Pure White • 🐾 Heterochromia (Odd-Eyed) • 🏷️ Bell</a:t>
            </a:r>
            <a:endParaRPr lang="en-US" sz="900" dirty="0"/>
          </a:p>
        </p:txBody>
      </p:sp>
      <p:sp>
        <p:nvSpPr>
          <p:cNvPr id="53" name="Text 51"/>
          <p:cNvSpPr/>
          <p:nvPr/>
        </p:nvSpPr>
        <p:spPr>
          <a:xfrm>
            <a:off x="6430975" y="5001768"/>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Owner &amp; Contact:</a:t>
            </a:r>
            <a:endParaRPr lang="en-US" sz="900" dirty="0"/>
          </a:p>
        </p:txBody>
      </p:sp>
      <p:sp>
        <p:nvSpPr>
          <p:cNvPr id="54" name="Text 52"/>
          <p:cNvSpPr/>
          <p:nvPr/>
        </p:nvSpPr>
        <p:spPr>
          <a:xfrm>
            <a:off x="8351215" y="5001768"/>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Nabila Rahman (+880 1819-223344)</a:t>
            </a:r>
            <a:endParaRPr lang="en-US" sz="900" dirty="0"/>
          </a:p>
        </p:txBody>
      </p:sp>
      <p:sp>
        <p:nvSpPr>
          <p:cNvPr id="55" name="Text 53"/>
          <p:cNvSpPr/>
          <p:nvPr/>
        </p:nvSpPr>
        <p:spPr>
          <a:xfrm>
            <a:off x="6430975" y="5330952"/>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Cash Reward Offered:</a:t>
            </a:r>
            <a:endParaRPr lang="en-US" sz="900" dirty="0"/>
          </a:p>
        </p:txBody>
      </p:sp>
      <p:sp>
        <p:nvSpPr>
          <p:cNvPr id="56" name="Text 54"/>
          <p:cNvSpPr/>
          <p:nvPr/>
        </p:nvSpPr>
        <p:spPr>
          <a:xfrm>
            <a:off x="8351215" y="5330952"/>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৳10,000 BDT (Verified Escrow)</a:t>
            </a:r>
            <a:endParaRPr lang="en-US" sz="900" dirty="0"/>
          </a:p>
        </p:txBody>
      </p:sp>
      <p:sp>
        <p:nvSpPr>
          <p:cNvPr id="57" name="Text 55"/>
          <p:cNvSpPr/>
          <p:nvPr/>
        </p:nvSpPr>
        <p:spPr>
          <a:xfrm>
            <a:off x="6430975" y="5660136"/>
            <a:ext cx="1920240" cy="292608"/>
          </a:xfrm>
          <a:prstGeom prst="rect">
            <a:avLst/>
          </a:prstGeom>
          <a:noFill/>
          <a:ln/>
        </p:spPr>
        <p:txBody>
          <a:bodyPr wrap="square" rtlCol="0" anchor="ctr"/>
          <a:lstStyle/>
          <a:p>
            <a:pPr indent="0" marL="0">
              <a:buNone/>
            </a:pPr>
            <a:r>
              <a:rPr lang="en-US" sz="900" b="1" dirty="0">
                <a:solidFill>
                  <a:srgbClr val="475569"/>
                </a:solidFill>
                <a:latin typeface="Arial" pitchFamily="34" charset="0"/>
                <a:ea typeface="Arial" pitchFamily="34" charset="-122"/>
                <a:cs typeface="Arial" pitchFamily="34" charset="-120"/>
              </a:rPr>
              <a:t>Match Confidence Score:</a:t>
            </a:r>
            <a:endParaRPr lang="en-US" sz="900" dirty="0"/>
          </a:p>
        </p:txBody>
      </p:sp>
      <p:sp>
        <p:nvSpPr>
          <p:cNvPr id="58" name="Text 56"/>
          <p:cNvSpPr/>
          <p:nvPr/>
        </p:nvSpPr>
        <p:spPr>
          <a:xfrm>
            <a:off x="8351215" y="5660136"/>
            <a:ext cx="2926080" cy="292608"/>
          </a:xfrm>
          <a:prstGeom prst="rect">
            <a:avLst/>
          </a:prstGeom>
          <a:noFill/>
          <a:ln/>
        </p:spPr>
        <p:txBody>
          <a:bodyPr wrap="square" rtlCol="0" anchor="ctr"/>
          <a:lstStyle/>
          <a:p>
            <a:pPr indent="0" marL="0">
              <a:buNone/>
            </a:pPr>
            <a:r>
              <a:rPr lang="en-US" sz="900" dirty="0">
                <a:solidFill>
                  <a:srgbClr val="0F172A"/>
                </a:solidFill>
                <a:latin typeface="Arial" pitchFamily="34" charset="0"/>
                <a:ea typeface="Arial" pitchFamily="34" charset="-122"/>
                <a:cs typeface="Arial" pitchFamily="34" charset="-120"/>
              </a:rPr>
              <a:t>0.92 (Visual Biometric Correlation)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sp>
      <p:sp>
        <p:nvSpPr>
          <p:cNvPr id="3" name="Text 1"/>
          <p:cNvSpPr/>
          <p:nvPr/>
        </p:nvSpPr>
        <p:spPr>
          <a:xfrm>
            <a:off x="731520" y="128016"/>
            <a:ext cx="6583680" cy="32004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 NUZZLE AI PLATFORM  |  GIGALOGY MAIRA MANAGED RAG INTEGRATION</a:t>
            </a:r>
            <a:endParaRPr lang="en-US" sz="1050" dirty="0"/>
          </a:p>
        </p:txBody>
      </p:sp>
      <p:sp>
        <p:nvSpPr>
          <p:cNvPr id="4" name="Text 2"/>
          <p:cNvSpPr/>
          <p:nvPr/>
        </p:nvSpPr>
        <p:spPr>
          <a:xfrm>
            <a:off x="7498080" y="128016"/>
            <a:ext cx="3962095" cy="320040"/>
          </a:xfrm>
          <a:prstGeom prst="rect">
            <a:avLst/>
          </a:prstGeom>
          <a:noFill/>
          <a:ln/>
        </p:spPr>
        <p:txBody>
          <a:bodyPr wrap="square" rtlCol="0" anchor="ctr"/>
          <a:lstStyle/>
          <a:p>
            <a:pPr algn="r" indent="0" marL="0">
              <a:buNone/>
            </a:pPr>
            <a:r>
              <a:rPr lang="en-US" sz="950" dirty="0">
                <a:solidFill>
                  <a:srgbClr val="94A3B8"/>
                </a:solidFill>
                <a:latin typeface="Arial" pitchFamily="34" charset="0"/>
                <a:ea typeface="Arial" pitchFamily="34" charset="-122"/>
                <a:cs typeface="Arial" pitchFamily="34" charset="-120"/>
              </a:rPr>
              <a:t>Slide 7 of 14  •  Technical &amp; Architecture Deep Dive</a:t>
            </a:r>
            <a:endParaRPr lang="en-US" sz="950" dirty="0"/>
          </a:p>
        </p:txBody>
      </p:sp>
      <p:sp>
        <p:nvSpPr>
          <p:cNvPr id="5" name="Text 3"/>
          <p:cNvSpPr/>
          <p:nvPr/>
        </p:nvSpPr>
        <p:spPr>
          <a:xfrm>
            <a:off x="731520" y="658368"/>
            <a:ext cx="10728655" cy="201168"/>
          </a:xfrm>
          <a:prstGeom prst="rect">
            <a:avLst/>
          </a:prstGeom>
          <a:noFill/>
          <a:ln/>
        </p:spPr>
        <p:txBody>
          <a:bodyPr wrap="square" rtlCol="0" anchor="ctr"/>
          <a:lstStyle/>
          <a:p>
            <a:pPr indent="0" marL="0">
              <a:buNone/>
            </a:pPr>
            <a:r>
              <a:rPr lang="en-US" sz="950" b="1" spc="120" kern="0" dirty="0">
                <a:solidFill>
                  <a:srgbClr val="4338CA"/>
                </a:solidFill>
                <a:latin typeface="Arial" pitchFamily="34" charset="0"/>
                <a:ea typeface="Arial" pitchFamily="34" charset="-122"/>
                <a:cs typeface="Arial" pitchFamily="34" charset="-120"/>
              </a:rPr>
              <a:t>PILLAR 2 • LIVE APPLICATION DEMO</a:t>
            </a:r>
            <a:endParaRPr lang="en-US" sz="950" dirty="0"/>
          </a:p>
        </p:txBody>
      </p:sp>
      <p:sp>
        <p:nvSpPr>
          <p:cNvPr id="6" name="Text 4"/>
          <p:cNvSpPr/>
          <p:nvPr/>
        </p:nvSpPr>
        <p:spPr>
          <a:xfrm>
            <a:off x="731520" y="896112"/>
            <a:ext cx="10728655" cy="384048"/>
          </a:xfrm>
          <a:prstGeom prst="rect">
            <a:avLst/>
          </a:prstGeom>
          <a:noFill/>
          <a:ln/>
        </p:spPr>
        <p:txBody>
          <a:bodyPr wrap="square" rtlCol="0" anchor="ctr"/>
          <a:lstStyle/>
          <a:p>
            <a:pPr indent="0" marL="0">
              <a:buNone/>
            </a:pPr>
            <a:r>
              <a:rPr lang="en-US" sz="1900" b="1" dirty="0">
                <a:solidFill>
                  <a:srgbClr val="0F172A"/>
                </a:solidFill>
                <a:latin typeface="Arial" pitchFamily="34" charset="0"/>
                <a:ea typeface="Arial" pitchFamily="34" charset="-122"/>
                <a:cs typeface="Arial" pitchFamily="34" charset="-120"/>
              </a:rPr>
              <a:t>Multimodal Visual Biometric Sighting Scanner</a:t>
            </a:r>
            <a:endParaRPr lang="en-US" sz="1900" dirty="0"/>
          </a:p>
        </p:txBody>
      </p:sp>
      <p:sp>
        <p:nvSpPr>
          <p:cNvPr id="7" name="Text 5"/>
          <p:cNvSpPr/>
          <p:nvPr/>
        </p:nvSpPr>
        <p:spPr>
          <a:xfrm>
            <a:off x="731520" y="1316736"/>
            <a:ext cx="10728655" cy="292608"/>
          </a:xfrm>
          <a:prstGeom prst="rect">
            <a:avLst/>
          </a:prstGeom>
          <a:noFill/>
          <a:ln/>
        </p:spPr>
        <p:txBody>
          <a:bodyPr wrap="square" rtlCol="0" anchor="ctr"/>
          <a:lstStyle/>
          <a:p>
            <a:pPr indent="0" marL="0">
              <a:buNone/>
            </a:pPr>
            <a:r>
              <a:rPr lang="en-US" sz="1050" dirty="0">
                <a:solidFill>
                  <a:srgbClr val="475569"/>
                </a:solidFill>
                <a:latin typeface="Arial" pitchFamily="34" charset="0"/>
                <a:ea typeface="Arial" pitchFamily="34" charset="-122"/>
                <a:cs typeface="Arial" pitchFamily="34" charset="-120"/>
              </a:rPr>
              <a:t>Live UI Workflow: Instant Photo Upload, Side-by-Side Biometric Comparison &amp; Real-Time Rescue Dispatch</a:t>
            </a:r>
            <a:endParaRPr lang="en-US" sz="1050" dirty="0"/>
          </a:p>
        </p:txBody>
      </p:sp>
      <p:sp>
        <p:nvSpPr>
          <p:cNvPr id="8" name="Shape 6"/>
          <p:cNvSpPr/>
          <p:nvPr/>
        </p:nvSpPr>
        <p:spPr>
          <a:xfrm>
            <a:off x="0" y="6355080"/>
            <a:ext cx="12191695" cy="502920"/>
          </a:xfrm>
          <a:prstGeom prst="rect">
            <a:avLst/>
          </a:prstGeom>
          <a:solidFill>
            <a:srgbClr val="0F172A"/>
          </a:solidFill>
          <a:ln w="12700">
            <a:solidFill>
              <a:srgbClr val="1E293B"/>
            </a:solidFill>
            <a:prstDash val="solid"/>
          </a:ln>
        </p:spPr>
      </p:sp>
      <p:sp>
        <p:nvSpPr>
          <p:cNvPr id="9" name="Text 7"/>
          <p:cNvSpPr/>
          <p:nvPr/>
        </p:nvSpPr>
        <p:spPr>
          <a:xfrm>
            <a:off x="731520" y="6446520"/>
            <a:ext cx="6583680" cy="320040"/>
          </a:xfrm>
          <a:prstGeom prst="rect">
            <a:avLst/>
          </a:prstGeom>
          <a:noFill/>
          <a:ln/>
        </p:spPr>
        <p:txBody>
          <a:bodyPr wrap="square" rtlCol="0" anchor="ctr"/>
          <a:lstStyle/>
          <a:p>
            <a:pPr indent="0" marL="0">
              <a:buNone/>
            </a:pPr>
            <a:r>
              <a:rPr lang="en-US" sz="950" dirty="0">
                <a:solidFill>
                  <a:srgbClr val="94A3B8"/>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7498080" y="6446520"/>
            <a:ext cx="3962095" cy="32004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676656" y="1728216"/>
            <a:ext cx="4041648" cy="4498848"/>
          </a:xfrm>
          <a:prstGeom prst="roundRect">
            <a:avLst/>
          </a:prstGeom>
          <a:solidFill>
            <a:srgbClr val="FFFFFF"/>
          </a:solidFill>
          <a:ln w="19050">
            <a:solidFill>
              <a:srgbClr val="8B5CF6"/>
            </a:solidFill>
            <a:prstDash val="solid"/>
          </a:ln>
        </p:spPr>
      </p:sp>
      <p:pic>
        <p:nvPicPr>
          <p:cNvPr id="12" name="Image 0" descr="e:\nuzzle project\forntenduse vue js\presentation_screenshots\ai_visual_radar_match_demo.png">    </p:cNvPr>
          <p:cNvPicPr>
            <a:picLocks noChangeAspect="1"/>
          </p:cNvPicPr>
          <p:nvPr/>
        </p:nvPicPr>
        <p:blipFill>
          <a:blip r:embed="rId1"/>
          <a:stretch>
            <a:fillRect/>
          </a:stretch>
        </p:blipFill>
        <p:spPr>
          <a:xfrm>
            <a:off x="731520" y="1783080"/>
            <a:ext cx="3931920" cy="4389120"/>
          </a:xfrm>
          <a:prstGeom prst="rect">
            <a:avLst/>
          </a:prstGeom>
        </p:spPr>
      </p:pic>
      <p:sp>
        <p:nvSpPr>
          <p:cNvPr id="13" name="Shape 10"/>
          <p:cNvSpPr/>
          <p:nvPr/>
        </p:nvSpPr>
        <p:spPr>
          <a:xfrm>
            <a:off x="4892040" y="1783080"/>
            <a:ext cx="6568135" cy="1371600"/>
          </a:xfrm>
          <a:prstGeom prst="roundRect">
            <a:avLst/>
          </a:prstGeom>
          <a:solidFill>
            <a:srgbClr val="FFFFFF"/>
          </a:solidFill>
          <a:ln w="12700">
            <a:solidFill>
              <a:srgbClr val="CBD5E1"/>
            </a:solidFill>
            <a:prstDash val="solid"/>
          </a:ln>
        </p:spPr>
      </p:sp>
      <p:sp>
        <p:nvSpPr>
          <p:cNvPr id="14" name="Text 11"/>
          <p:cNvSpPr/>
          <p:nvPr/>
        </p:nvSpPr>
        <p:spPr>
          <a:xfrm>
            <a:off x="5056632" y="1856232"/>
            <a:ext cx="6238951" cy="201168"/>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  Client-Side Photo Dropzone &amp; Ingestion</a:t>
            </a:r>
            <a:endParaRPr lang="en-US" sz="1150" dirty="0"/>
          </a:p>
        </p:txBody>
      </p:sp>
      <p:sp>
        <p:nvSpPr>
          <p:cNvPr id="15" name="Text 12"/>
          <p:cNvSpPr/>
          <p:nvPr/>
        </p:nvSpPr>
        <p:spPr>
          <a:xfrm>
            <a:off x="5056632" y="2057400"/>
            <a:ext cx="6238951" cy="164592"/>
          </a:xfrm>
          <a:prstGeom prst="rect">
            <a:avLst/>
          </a:prstGeom>
          <a:noFill/>
          <a:ln/>
        </p:spPr>
        <p:txBody>
          <a:bodyPr wrap="square" rtlCol="0" anchor="ctr"/>
          <a:lstStyle/>
          <a:p>
            <a:pPr indent="0" marL="0">
              <a:buNone/>
            </a:pPr>
            <a:r>
              <a:rPr lang="en-US" sz="900" b="1" dirty="0">
                <a:solidFill>
                  <a:srgbClr val="4338CA"/>
                </a:solidFill>
                <a:latin typeface="Arial" pitchFamily="34" charset="0"/>
                <a:ea typeface="Arial" pitchFamily="34" charset="-122"/>
                <a:cs typeface="Arial" pitchFamily="34" charset="-120"/>
              </a:rPr>
              <a:t>Vue 3 Reactive Camera &amp; File Input (Under 10MB)</a:t>
            </a:r>
            <a:endParaRPr lang="en-US" sz="900" dirty="0"/>
          </a:p>
        </p:txBody>
      </p:sp>
      <p:sp>
        <p:nvSpPr>
          <p:cNvPr id="16" name="Text 13"/>
          <p:cNvSpPr/>
          <p:nvPr/>
        </p:nvSpPr>
        <p:spPr>
          <a:xfrm>
            <a:off x="5056632" y="2240280"/>
            <a:ext cx="6238951" cy="594360"/>
          </a:xfrm>
          <a:prstGeom prst="rect">
            <a:avLst/>
          </a:prstGeom>
          <a:noFill/>
          <a:ln/>
        </p:spPr>
        <p:txBody>
          <a:bodyPr wrap="square" rtlCol="0" anchor="ctr"/>
          <a:lstStyle/>
          <a:p>
            <a:pPr indent="0" marL="0">
              <a:lnSpc>
                <a:spcPts val="1100"/>
              </a:lnSpc>
              <a:buNone/>
            </a:pPr>
            <a:r>
              <a:rPr lang="en-US" sz="850" dirty="0">
                <a:solidFill>
                  <a:srgbClr val="475569"/>
                </a:solidFill>
                <a:latin typeface="Arial" pitchFamily="34" charset="0"/>
                <a:ea typeface="Arial" pitchFamily="34" charset="-122"/>
                <a:cs typeface="Arial" pitchFamily="34" charset="-120"/>
              </a:rPr>
              <a:t>• Users click "Tap to Upload Sighting Photo" to trigger camera or file picker.</a:t>
            </a:r>
            <a:endParaRPr lang="en-US" sz="850" dirty="0"/>
          </a:p>
          <a:p>
            <a:pPr indent="0" marL="0">
              <a:lnSpc>
                <a:spcPts val="1100"/>
              </a:lnSpc>
              <a:buNone/>
            </a:pPr>
            <a:r>
              <a:rPr lang="en-US" sz="850" dirty="0">
                <a:solidFill>
                  <a:srgbClr val="475569"/>
                </a:solidFill>
                <a:latin typeface="Arial" pitchFamily="34" charset="0"/>
                <a:ea typeface="Arial" pitchFamily="34" charset="-122"/>
                <a:cs typeface="Arial" pitchFamily="34" charset="-120"/>
              </a:rPr>
              <a:t>• Converts image into reactive base64 data URI with instant thumbnail preview.</a:t>
            </a:r>
            <a:endParaRPr lang="en-US" sz="850" dirty="0"/>
          </a:p>
          <a:p>
            <a:pPr indent="0" marL="0">
              <a:lnSpc>
                <a:spcPts val="1100"/>
              </a:lnSpc>
              <a:buNone/>
            </a:pPr>
            <a:r>
              <a:rPr lang="en-US" sz="850" dirty="0">
                <a:solidFill>
                  <a:srgbClr val="475569"/>
                </a:solidFill>
                <a:latin typeface="Arial" pitchFamily="34" charset="0"/>
                <a:ea typeface="Arial" pitchFamily="34" charset="-122"/>
                <a:cs typeface="Arial" pitchFamily="34" charset="-120"/>
              </a:rPr>
              <a:t>• Strict validation: Rejects non-pet images and prompts rescuer for clear animal photos.</a:t>
            </a:r>
            <a:endParaRPr lang="en-US" sz="850" dirty="0"/>
          </a:p>
        </p:txBody>
      </p:sp>
      <p:sp>
        <p:nvSpPr>
          <p:cNvPr id="17" name="Text 14"/>
          <p:cNvSpPr/>
          <p:nvPr/>
        </p:nvSpPr>
        <p:spPr>
          <a:xfrm>
            <a:off x="5056632" y="2862072"/>
            <a:ext cx="6238951" cy="201168"/>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POST /api/lost-found/ai-match (200 OK • ~1.8s)</a:t>
            </a:r>
            <a:endParaRPr lang="en-US" sz="850" dirty="0"/>
          </a:p>
        </p:txBody>
      </p:sp>
      <p:sp>
        <p:nvSpPr>
          <p:cNvPr id="18" name="Shape 15"/>
          <p:cNvSpPr/>
          <p:nvPr/>
        </p:nvSpPr>
        <p:spPr>
          <a:xfrm>
            <a:off x="4892040" y="3264408"/>
            <a:ext cx="6568135" cy="1371600"/>
          </a:xfrm>
          <a:prstGeom prst="roundRect">
            <a:avLst/>
          </a:prstGeom>
          <a:solidFill>
            <a:srgbClr val="FFFFFF"/>
          </a:solidFill>
          <a:ln w="12700">
            <a:solidFill>
              <a:srgbClr val="CBD5E1"/>
            </a:solidFill>
            <a:prstDash val="solid"/>
          </a:ln>
        </p:spPr>
      </p:sp>
      <p:sp>
        <p:nvSpPr>
          <p:cNvPr id="19" name="Text 16"/>
          <p:cNvSpPr/>
          <p:nvPr/>
        </p:nvSpPr>
        <p:spPr>
          <a:xfrm>
            <a:off x="5056632" y="3337560"/>
            <a:ext cx="6238951" cy="201168"/>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  Hugging Face Vision Biometric Comparator</a:t>
            </a:r>
            <a:endParaRPr lang="en-US" sz="1150" dirty="0"/>
          </a:p>
        </p:txBody>
      </p:sp>
      <p:sp>
        <p:nvSpPr>
          <p:cNvPr id="20" name="Text 17"/>
          <p:cNvSpPr/>
          <p:nvPr/>
        </p:nvSpPr>
        <p:spPr>
          <a:xfrm>
            <a:off x="5056632" y="3538728"/>
            <a:ext cx="6238951" cy="164592"/>
          </a:xfrm>
          <a:prstGeom prst="rect">
            <a:avLst/>
          </a:prstGeom>
          <a:noFill/>
          <a:ln/>
        </p:spPr>
        <p:txBody>
          <a:bodyPr wrap="square" rtlCol="0" anchor="ctr"/>
          <a:lstStyle/>
          <a:p>
            <a:pPr indent="0" marL="0">
              <a:buNone/>
            </a:pPr>
            <a:r>
              <a:rPr lang="en-US" sz="900" b="1" dirty="0">
                <a:solidFill>
                  <a:srgbClr val="4338CA"/>
                </a:solidFill>
                <a:latin typeface="Arial" pitchFamily="34" charset="0"/>
                <a:ea typeface="Arial" pitchFamily="34" charset="-122"/>
                <a:cs typeface="Arial" pitchFamily="34" charset="-120"/>
              </a:rPr>
              <a:t>Qwen2.5-VL-72B-Instruct on Free Inference Router</a:t>
            </a:r>
            <a:endParaRPr lang="en-US" sz="900" dirty="0"/>
          </a:p>
        </p:txBody>
      </p:sp>
      <p:sp>
        <p:nvSpPr>
          <p:cNvPr id="21" name="Text 18"/>
          <p:cNvSpPr/>
          <p:nvPr/>
        </p:nvSpPr>
        <p:spPr>
          <a:xfrm>
            <a:off x="5056632" y="3721608"/>
            <a:ext cx="6238951" cy="594360"/>
          </a:xfrm>
          <a:prstGeom prst="rect">
            <a:avLst/>
          </a:prstGeom>
          <a:noFill/>
          <a:ln/>
        </p:spPr>
        <p:txBody>
          <a:bodyPr wrap="square" rtlCol="0" anchor="ctr"/>
          <a:lstStyle/>
          <a:p>
            <a:pPr indent="0" marL="0">
              <a:lnSpc>
                <a:spcPts val="1100"/>
              </a:lnSpc>
              <a:buNone/>
            </a:pPr>
            <a:r>
              <a:rPr lang="en-US" sz="850" dirty="0">
                <a:solidFill>
                  <a:srgbClr val="475569"/>
                </a:solidFill>
                <a:latin typeface="Arial" pitchFamily="34" charset="0"/>
                <a:ea typeface="Arial" pitchFamily="34" charset="-122"/>
                <a:cs typeface="Arial" pitchFamily="34" charset="-120"/>
              </a:rPr>
              <a:t>• Multimodal Vision AI compares sighting photo against registered lost pet records.</a:t>
            </a:r>
            <a:endParaRPr lang="en-US" sz="850" dirty="0"/>
          </a:p>
          <a:p>
            <a:pPr indent="0" marL="0">
              <a:lnSpc>
                <a:spcPts val="1100"/>
              </a:lnSpc>
              <a:buNone/>
            </a:pPr>
            <a:r>
              <a:rPr lang="en-US" sz="850" dirty="0">
                <a:solidFill>
                  <a:srgbClr val="475569"/>
                </a:solidFill>
                <a:latin typeface="Arial" pitchFamily="34" charset="0"/>
                <a:ea typeface="Arial" pitchFamily="34" charset="-122"/>
                <a:cs typeface="Arial" pitchFamily="34" charset="-120"/>
              </a:rPr>
              <a:t>• Extracts clinical criteria: 🎨 Coat pattern, 🐾 Ear/facial structure, 🏷️ Collar/tag.</a:t>
            </a:r>
            <a:endParaRPr lang="en-US" sz="850" dirty="0"/>
          </a:p>
          <a:p>
            <a:pPr indent="0" marL="0">
              <a:lnSpc>
                <a:spcPts val="1100"/>
              </a:lnSpc>
              <a:buNone/>
            </a:pPr>
            <a:r>
              <a:rPr lang="en-US" sz="850" dirty="0">
                <a:solidFill>
                  <a:srgbClr val="475569"/>
                </a:solidFill>
                <a:latin typeface="Arial" pitchFamily="34" charset="0"/>
                <a:ea typeface="Arial" pitchFamily="34" charset="-122"/>
                <a:cs typeface="Arial" pitchFamily="34" charset="-120"/>
              </a:rPr>
              <a:t>• Calculates 92%–95% similarity score with structured clinical reasoning.</a:t>
            </a:r>
            <a:endParaRPr lang="en-US" sz="850" dirty="0"/>
          </a:p>
        </p:txBody>
      </p:sp>
      <p:sp>
        <p:nvSpPr>
          <p:cNvPr id="22" name="Text 19"/>
          <p:cNvSpPr/>
          <p:nvPr/>
        </p:nvSpPr>
        <p:spPr>
          <a:xfrm>
            <a:off x="5056632" y="4343400"/>
            <a:ext cx="6238951" cy="201168"/>
          </a:xfrm>
          <a:prstGeom prst="rect">
            <a:avLst/>
          </a:prstGeom>
          <a:noFill/>
          <a:ln/>
        </p:spPr>
        <p:txBody>
          <a:bodyPr wrap="square" rtlCol="0" anchor="ctr"/>
          <a:lstStyle/>
          <a:p>
            <a:pPr indent="0" marL="0">
              <a:buNone/>
            </a:pPr>
            <a:r>
              <a:rPr lang="en-US" sz="850" b="1" dirty="0">
                <a:solidFill>
                  <a:srgbClr val="8B5CF6"/>
                </a:solidFill>
                <a:latin typeface="Arial" pitchFamily="34" charset="0"/>
                <a:ea typeface="Arial" pitchFamily="34" charset="-122"/>
                <a:cs typeface="Arial" pitchFamily="34" charset="-120"/>
              </a:rPr>
              <a:t>Free Open-Source Router + OpenAI Multimodal Fallback</a:t>
            </a:r>
            <a:endParaRPr lang="en-US" sz="850" dirty="0"/>
          </a:p>
        </p:txBody>
      </p:sp>
      <p:sp>
        <p:nvSpPr>
          <p:cNvPr id="23" name="Shape 20"/>
          <p:cNvSpPr/>
          <p:nvPr/>
        </p:nvSpPr>
        <p:spPr>
          <a:xfrm>
            <a:off x="4892040" y="4745736"/>
            <a:ext cx="6568135" cy="1371600"/>
          </a:xfrm>
          <a:prstGeom prst="roundRect">
            <a:avLst/>
          </a:prstGeom>
          <a:solidFill>
            <a:srgbClr val="FFFFFF"/>
          </a:solidFill>
          <a:ln w="12700">
            <a:solidFill>
              <a:srgbClr val="CBD5E1"/>
            </a:solidFill>
            <a:prstDash val="solid"/>
          </a:ln>
        </p:spPr>
      </p:sp>
      <p:sp>
        <p:nvSpPr>
          <p:cNvPr id="24" name="Text 21"/>
          <p:cNvSpPr/>
          <p:nvPr/>
        </p:nvSpPr>
        <p:spPr>
          <a:xfrm>
            <a:off x="5056632" y="4818888"/>
            <a:ext cx="6238951" cy="201168"/>
          </a:xfrm>
          <a:prstGeom prst="rect">
            <a:avLst/>
          </a:prstGeom>
          <a:noFill/>
          <a:ln/>
        </p:spPr>
        <p:txBody>
          <a:bodyPr wrap="square" rtlCol="0" anchor="ctr"/>
          <a:lstStyle/>
          <a:p>
            <a:pPr indent="0" marL="0">
              <a:buNone/>
            </a:pPr>
            <a:r>
              <a:rPr lang="en-US" sz="1150" b="1" dirty="0">
                <a:solidFill>
                  <a:srgbClr val="0F172A"/>
                </a:solidFill>
                <a:latin typeface="Arial" pitchFamily="34" charset="0"/>
                <a:ea typeface="Arial" pitchFamily="34" charset="-122"/>
                <a:cs typeface="Arial" pitchFamily="34" charset="-120"/>
              </a:rPr>
              <a:t>⚡  Side-by-Side Visual Verification &amp; Instant Dispatch</a:t>
            </a:r>
            <a:endParaRPr lang="en-US" sz="1150" dirty="0"/>
          </a:p>
        </p:txBody>
      </p:sp>
      <p:sp>
        <p:nvSpPr>
          <p:cNvPr id="25" name="Text 22"/>
          <p:cNvSpPr/>
          <p:nvPr/>
        </p:nvSpPr>
        <p:spPr>
          <a:xfrm>
            <a:off x="5056632" y="5020056"/>
            <a:ext cx="6238951" cy="164592"/>
          </a:xfrm>
          <a:prstGeom prst="rect">
            <a:avLst/>
          </a:prstGeom>
          <a:noFill/>
          <a:ln/>
        </p:spPr>
        <p:txBody>
          <a:bodyPr wrap="square" rtlCol="0" anchor="ctr"/>
          <a:lstStyle/>
          <a:p>
            <a:pPr indent="0" marL="0">
              <a:buNone/>
            </a:pPr>
            <a:r>
              <a:rPr lang="en-US" sz="900" b="1" dirty="0">
                <a:solidFill>
                  <a:srgbClr val="4338CA"/>
                </a:solidFill>
                <a:latin typeface="Arial" pitchFamily="34" charset="0"/>
                <a:ea typeface="Arial" pitchFamily="34" charset="-122"/>
                <a:cs typeface="Arial" pitchFamily="34" charset="-120"/>
              </a:rPr>
              <a:t>Eliminates False Positives &amp; Automates Community Reunion</a:t>
            </a:r>
            <a:endParaRPr lang="en-US" sz="900" dirty="0"/>
          </a:p>
        </p:txBody>
      </p:sp>
      <p:sp>
        <p:nvSpPr>
          <p:cNvPr id="26" name="Text 23"/>
          <p:cNvSpPr/>
          <p:nvPr/>
        </p:nvSpPr>
        <p:spPr>
          <a:xfrm>
            <a:off x="5056632" y="5202936"/>
            <a:ext cx="6238951" cy="594360"/>
          </a:xfrm>
          <a:prstGeom prst="rect">
            <a:avLst/>
          </a:prstGeom>
          <a:noFill/>
          <a:ln/>
        </p:spPr>
        <p:txBody>
          <a:bodyPr wrap="square" rtlCol="0" anchor="ctr"/>
          <a:lstStyle/>
          <a:p>
            <a:pPr indent="0" marL="0">
              <a:lnSpc>
                <a:spcPts val="1100"/>
              </a:lnSpc>
              <a:buNone/>
            </a:pPr>
            <a:r>
              <a:rPr lang="en-US" sz="850" dirty="0">
                <a:solidFill>
                  <a:srgbClr val="475569"/>
                </a:solidFill>
                <a:latin typeface="Arial" pitchFamily="34" charset="0"/>
                <a:ea typeface="Arial" pitchFamily="34" charset="-122"/>
                <a:cs typeface="Arial" pitchFamily="34" charset="-120"/>
              </a:rPr>
              <a:t>• Displays "Your Sighting (Observed)" vs. "Registered Report" side-by-side with VS badge.</a:t>
            </a:r>
            <a:endParaRPr lang="en-US" sz="850" dirty="0"/>
          </a:p>
          <a:p>
            <a:pPr indent="0" marL="0">
              <a:lnSpc>
                <a:spcPts val="1100"/>
              </a:lnSpc>
              <a:buNone/>
            </a:pPr>
            <a:r>
              <a:rPr lang="en-US" sz="850" dirty="0">
                <a:solidFill>
                  <a:srgbClr val="475569"/>
                </a:solidFill>
                <a:latin typeface="Arial" pitchFamily="34" charset="0"/>
                <a:ea typeface="Arial" pitchFamily="34" charset="-122"/>
                <a:cs typeface="Arial" pitchFamily="34" charset="-120"/>
              </a:rPr>
              <a:t>• One-tap "📞 Call Owner" direct dialer and "💬 Message Rescuer" chat integration.</a:t>
            </a:r>
            <a:endParaRPr lang="en-US" sz="850" dirty="0"/>
          </a:p>
          <a:p>
            <a:pPr indent="0" marL="0">
              <a:lnSpc>
                <a:spcPts val="1100"/>
              </a:lnSpc>
              <a:buNone/>
            </a:pPr>
            <a:r>
              <a:rPr lang="en-US" sz="850" dirty="0">
                <a:solidFill>
                  <a:srgbClr val="475569"/>
                </a:solidFill>
                <a:latin typeface="Arial" pitchFamily="34" charset="0"/>
                <a:ea typeface="Arial" pitchFamily="34" charset="-122"/>
                <a:cs typeface="Arial" pitchFamily="34" charset="-120"/>
              </a:rPr>
              <a:t>• Escrow-backed cash reward display (৳15,000 BDT) incentivizes neighborhood recovery.</a:t>
            </a:r>
            <a:endParaRPr lang="en-US" sz="850" dirty="0"/>
          </a:p>
        </p:txBody>
      </p:sp>
      <p:sp>
        <p:nvSpPr>
          <p:cNvPr id="27" name="Text 24"/>
          <p:cNvSpPr/>
          <p:nvPr/>
        </p:nvSpPr>
        <p:spPr>
          <a:xfrm>
            <a:off x="5056632" y="5824728"/>
            <a:ext cx="6238951" cy="201168"/>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1-Tap Rescue Lock &amp; Community Radar Broadcast</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sp>
      <p:sp>
        <p:nvSpPr>
          <p:cNvPr id="3" name="Text 1"/>
          <p:cNvSpPr/>
          <p:nvPr/>
        </p:nvSpPr>
        <p:spPr>
          <a:xfrm>
            <a:off x="731520" y="128016"/>
            <a:ext cx="6583680" cy="32004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 NUZZLE AI PLATFORM  |  GIGALOGY MAIRA MANAGED RAG INTEGRATION</a:t>
            </a:r>
            <a:endParaRPr lang="en-US" sz="1050" dirty="0"/>
          </a:p>
        </p:txBody>
      </p:sp>
      <p:sp>
        <p:nvSpPr>
          <p:cNvPr id="4" name="Text 2"/>
          <p:cNvSpPr/>
          <p:nvPr/>
        </p:nvSpPr>
        <p:spPr>
          <a:xfrm>
            <a:off x="7498080" y="128016"/>
            <a:ext cx="3962095" cy="320040"/>
          </a:xfrm>
          <a:prstGeom prst="rect">
            <a:avLst/>
          </a:prstGeom>
          <a:noFill/>
          <a:ln/>
        </p:spPr>
        <p:txBody>
          <a:bodyPr wrap="square" rtlCol="0" anchor="ctr"/>
          <a:lstStyle/>
          <a:p>
            <a:pPr algn="r" indent="0" marL="0">
              <a:buNone/>
            </a:pPr>
            <a:r>
              <a:rPr lang="en-US" sz="950" dirty="0">
                <a:solidFill>
                  <a:srgbClr val="94A3B8"/>
                </a:solidFill>
                <a:latin typeface="Arial" pitchFamily="34" charset="0"/>
                <a:ea typeface="Arial" pitchFamily="34" charset="-122"/>
                <a:cs typeface="Arial" pitchFamily="34" charset="-120"/>
              </a:rPr>
              <a:t>Slide 8 of 14  •  Technical &amp; Architecture Deep Dive</a:t>
            </a:r>
            <a:endParaRPr lang="en-US" sz="950" dirty="0"/>
          </a:p>
        </p:txBody>
      </p:sp>
      <p:sp>
        <p:nvSpPr>
          <p:cNvPr id="5" name="Text 3"/>
          <p:cNvSpPr/>
          <p:nvPr/>
        </p:nvSpPr>
        <p:spPr>
          <a:xfrm>
            <a:off x="731520" y="658368"/>
            <a:ext cx="10728655" cy="201168"/>
          </a:xfrm>
          <a:prstGeom prst="rect">
            <a:avLst/>
          </a:prstGeom>
          <a:noFill/>
          <a:ln/>
        </p:spPr>
        <p:txBody>
          <a:bodyPr wrap="square" rtlCol="0" anchor="ctr"/>
          <a:lstStyle/>
          <a:p>
            <a:pPr indent="0" marL="0">
              <a:buNone/>
            </a:pPr>
            <a:r>
              <a:rPr lang="en-US" sz="950" b="1" spc="120" kern="0" dirty="0">
                <a:solidFill>
                  <a:srgbClr val="4338CA"/>
                </a:solidFill>
                <a:latin typeface="Arial" pitchFamily="34" charset="0"/>
                <a:ea typeface="Arial" pitchFamily="34" charset="-122"/>
                <a:cs typeface="Arial" pitchFamily="34" charset="-120"/>
              </a:rPr>
              <a:t>PILLAR 3: CLINICAL ROUTING</a:t>
            </a:r>
            <a:endParaRPr lang="en-US" sz="950" dirty="0"/>
          </a:p>
        </p:txBody>
      </p:sp>
      <p:sp>
        <p:nvSpPr>
          <p:cNvPr id="6" name="Text 4"/>
          <p:cNvSpPr/>
          <p:nvPr/>
        </p:nvSpPr>
        <p:spPr>
          <a:xfrm>
            <a:off x="731520" y="896112"/>
            <a:ext cx="10728655" cy="384048"/>
          </a:xfrm>
          <a:prstGeom prst="rect">
            <a:avLst/>
          </a:prstGeom>
          <a:noFill/>
          <a:ln/>
        </p:spPr>
        <p:txBody>
          <a:bodyPr wrap="square" rtlCol="0" anchor="ctr"/>
          <a:lstStyle/>
          <a:p>
            <a:pPr indent="0" marL="0">
              <a:buNone/>
            </a:pPr>
            <a:r>
              <a:rPr lang="en-US" sz="1900" b="1" dirty="0">
                <a:solidFill>
                  <a:srgbClr val="0F172A"/>
                </a:solidFill>
                <a:latin typeface="Arial" pitchFamily="34" charset="0"/>
                <a:ea typeface="Arial" pitchFamily="34" charset="-122"/>
                <a:cs typeface="Arial" pitchFamily="34" charset="-120"/>
              </a:rPr>
              <a:t>Vet Clinic &amp; Telemedicine Specialist Navigator</a:t>
            </a:r>
            <a:endParaRPr lang="en-US" sz="1900" dirty="0"/>
          </a:p>
        </p:txBody>
      </p:sp>
      <p:sp>
        <p:nvSpPr>
          <p:cNvPr id="7" name="Text 5"/>
          <p:cNvSpPr/>
          <p:nvPr/>
        </p:nvSpPr>
        <p:spPr>
          <a:xfrm>
            <a:off x="731520" y="1316736"/>
            <a:ext cx="10728655" cy="292608"/>
          </a:xfrm>
          <a:prstGeom prst="rect">
            <a:avLst/>
          </a:prstGeom>
          <a:noFill/>
          <a:ln/>
        </p:spPr>
        <p:txBody>
          <a:bodyPr wrap="square" rtlCol="0" anchor="ctr"/>
          <a:lstStyle/>
          <a:p>
            <a:pPr indent="0" marL="0">
              <a:buNone/>
            </a:pPr>
            <a:r>
              <a:rPr lang="en-US" sz="1050" dirty="0">
                <a:solidFill>
                  <a:srgbClr val="475569"/>
                </a:solidFill>
                <a:latin typeface="Arial" pitchFamily="34" charset="0"/>
                <a:ea typeface="Arial" pitchFamily="34" charset="-122"/>
                <a:cs typeface="Arial" pitchFamily="34" charset="-120"/>
              </a:rPr>
              <a:t>Profile ID: 9884416a-abd3-4e9c-a893-b2b0cab2bc60 • Dataset ID: 9dfc7c57-c072-441c-b653-1cf98247f990</a:t>
            </a:r>
            <a:endParaRPr lang="en-US" sz="1050" dirty="0"/>
          </a:p>
        </p:txBody>
      </p:sp>
      <p:sp>
        <p:nvSpPr>
          <p:cNvPr id="8" name="Shape 6"/>
          <p:cNvSpPr/>
          <p:nvPr/>
        </p:nvSpPr>
        <p:spPr>
          <a:xfrm>
            <a:off x="0" y="6355080"/>
            <a:ext cx="12191695" cy="502920"/>
          </a:xfrm>
          <a:prstGeom prst="rect">
            <a:avLst/>
          </a:prstGeom>
          <a:solidFill>
            <a:srgbClr val="0F172A"/>
          </a:solidFill>
          <a:ln w="12700">
            <a:solidFill>
              <a:srgbClr val="1E293B"/>
            </a:solidFill>
            <a:prstDash val="solid"/>
          </a:ln>
        </p:spPr>
      </p:sp>
      <p:sp>
        <p:nvSpPr>
          <p:cNvPr id="9" name="Text 7"/>
          <p:cNvSpPr/>
          <p:nvPr/>
        </p:nvSpPr>
        <p:spPr>
          <a:xfrm>
            <a:off x="731520" y="6446520"/>
            <a:ext cx="6583680" cy="320040"/>
          </a:xfrm>
          <a:prstGeom prst="rect">
            <a:avLst/>
          </a:prstGeom>
          <a:noFill/>
          <a:ln/>
        </p:spPr>
        <p:txBody>
          <a:bodyPr wrap="square" rtlCol="0" anchor="ctr"/>
          <a:lstStyle/>
          <a:p>
            <a:pPr indent="0" marL="0">
              <a:buNone/>
            </a:pPr>
            <a:r>
              <a:rPr lang="en-US" sz="950" dirty="0">
                <a:solidFill>
                  <a:srgbClr val="94A3B8"/>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7498080" y="6446520"/>
            <a:ext cx="3962095" cy="32004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5166360" cy="4389120"/>
          </a:xfrm>
          <a:prstGeom prst="roundRect">
            <a:avLst/>
          </a:prstGeom>
          <a:solidFill>
            <a:srgbClr val="FFFFFF"/>
          </a:solidFill>
          <a:ln w="15240">
            <a:solidFill>
              <a:srgbClr val="CBD5E1"/>
            </a:solidFill>
            <a:prstDash val="solid"/>
          </a:ln>
        </p:spPr>
      </p:sp>
      <p:sp>
        <p:nvSpPr>
          <p:cNvPr id="12" name="Text 10"/>
          <p:cNvSpPr/>
          <p:nvPr/>
        </p:nvSpPr>
        <p:spPr>
          <a:xfrm>
            <a:off x="914400" y="1965960"/>
            <a:ext cx="4800600" cy="228600"/>
          </a:xfrm>
          <a:prstGeom prst="rect">
            <a:avLst/>
          </a:prstGeom>
          <a:noFill/>
          <a:ln/>
        </p:spPr>
        <p:txBody>
          <a:bodyPr wrap="square" rtlCol="0" anchor="ctr"/>
          <a:lstStyle/>
          <a:p>
            <a:pPr indent="0" marL="0">
              <a:buNone/>
            </a:pPr>
            <a:r>
              <a:rPr lang="en-US" sz="1100" b="1" spc="100" kern="0" dirty="0">
                <a:solidFill>
                  <a:srgbClr val="4338CA"/>
                </a:solidFill>
                <a:latin typeface="Arial" pitchFamily="34" charset="0"/>
                <a:ea typeface="Arial" pitchFamily="34" charset="-122"/>
                <a:cs typeface="Arial" pitchFamily="34" charset="-120"/>
              </a:rPr>
              <a:t>VERIFIED DHAKA VETERINARY NETWORK</a:t>
            </a:r>
            <a:endParaRPr lang="en-US" sz="1100" dirty="0"/>
          </a:p>
        </p:txBody>
      </p:sp>
      <p:sp>
        <p:nvSpPr>
          <p:cNvPr id="13" name="Shape 11"/>
          <p:cNvSpPr/>
          <p:nvPr/>
        </p:nvSpPr>
        <p:spPr>
          <a:xfrm>
            <a:off x="914400" y="2286000"/>
            <a:ext cx="4800600" cy="868680"/>
          </a:xfrm>
          <a:prstGeom prst="roundRect">
            <a:avLst/>
          </a:prstGeom>
          <a:solidFill>
            <a:srgbClr val="F1F5F9"/>
          </a:solidFill>
          <a:ln w="12700">
            <a:solidFill>
              <a:srgbClr val="E2E8F0"/>
            </a:solidFill>
            <a:prstDash val="solid"/>
          </a:ln>
        </p:spPr>
      </p:sp>
      <p:sp>
        <p:nvSpPr>
          <p:cNvPr id="14" name="Text 12"/>
          <p:cNvSpPr/>
          <p:nvPr/>
        </p:nvSpPr>
        <p:spPr>
          <a:xfrm>
            <a:off x="1051560" y="2359152"/>
            <a:ext cx="2468880" cy="201168"/>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Cascade 24/7 Animal Hospital</a:t>
            </a:r>
            <a:endParaRPr lang="en-US" sz="1050" dirty="0"/>
          </a:p>
        </p:txBody>
      </p:sp>
      <p:sp>
        <p:nvSpPr>
          <p:cNvPr id="15" name="Text 13"/>
          <p:cNvSpPr/>
          <p:nvPr/>
        </p:nvSpPr>
        <p:spPr>
          <a:xfrm>
            <a:off x="3566160" y="2359152"/>
            <a:ext cx="2011680" cy="201168"/>
          </a:xfrm>
          <a:prstGeom prst="rect">
            <a:avLst/>
          </a:prstGeom>
          <a:noFill/>
          <a:ln/>
        </p:spPr>
        <p:txBody>
          <a:bodyPr wrap="square" rtlCol="0" anchor="ctr"/>
          <a:lstStyle/>
          <a:p>
            <a:pPr algn="r" indent="0" marL="0">
              <a:buNone/>
            </a:pPr>
            <a:r>
              <a:rPr lang="en-US" sz="850" dirty="0">
                <a:solidFill>
                  <a:srgbClr val="4338CA"/>
                </a:solidFill>
                <a:latin typeface="Arial" pitchFamily="34" charset="0"/>
                <a:ea typeface="Arial" pitchFamily="34" charset="-122"/>
                <a:cs typeface="Arial" pitchFamily="34" charset="-120"/>
              </a:rPr>
              <a:t>Dhanmondi, Dhaka</a:t>
            </a:r>
            <a:endParaRPr lang="en-US" sz="850" dirty="0"/>
          </a:p>
        </p:txBody>
      </p:sp>
      <p:sp>
        <p:nvSpPr>
          <p:cNvPr id="16" name="Text 14"/>
          <p:cNvSpPr/>
          <p:nvPr/>
        </p:nvSpPr>
        <p:spPr>
          <a:xfrm>
            <a:off x="1051560" y="2578608"/>
            <a:ext cx="438912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Lead: Dr. Sarah Al-Mansoor, DVM</a:t>
            </a:r>
            <a:endParaRPr lang="en-US" sz="850" dirty="0"/>
          </a:p>
        </p:txBody>
      </p:sp>
      <p:sp>
        <p:nvSpPr>
          <p:cNvPr id="17" name="Text 15"/>
          <p:cNvSpPr/>
          <p:nvPr/>
        </p:nvSpPr>
        <p:spPr>
          <a:xfrm>
            <a:off x="1051560" y="2761488"/>
            <a:ext cx="4389120" cy="320040"/>
          </a:xfrm>
          <a:prstGeom prst="rect">
            <a:avLst/>
          </a:prstGeom>
          <a:noFill/>
          <a:ln/>
        </p:spPr>
        <p:txBody>
          <a:bodyPr wrap="square" rtlCol="0" anchor="ctr"/>
          <a:lstStyle/>
          <a:p>
            <a:pPr indent="0" marL="0">
              <a:buNone/>
            </a:pPr>
            <a:r>
              <a:rPr lang="en-US" sz="850" dirty="0">
                <a:solidFill>
                  <a:srgbClr val="64748B"/>
                </a:solidFill>
                <a:latin typeface="Arial" pitchFamily="34" charset="0"/>
                <a:ea typeface="Arial" pitchFamily="34" charset="-122"/>
                <a:cs typeface="Arial" pitchFamily="34" charset="-120"/>
              </a:rPr>
              <a:t>Specialty: Trauma ICU, orthopedics, emergency laparotomy</a:t>
            </a:r>
            <a:endParaRPr lang="en-US" sz="850" dirty="0"/>
          </a:p>
        </p:txBody>
      </p:sp>
      <p:sp>
        <p:nvSpPr>
          <p:cNvPr id="18" name="Shape 16"/>
          <p:cNvSpPr/>
          <p:nvPr/>
        </p:nvSpPr>
        <p:spPr>
          <a:xfrm>
            <a:off x="914400" y="3246120"/>
            <a:ext cx="4800600" cy="868680"/>
          </a:xfrm>
          <a:prstGeom prst="roundRect">
            <a:avLst/>
          </a:prstGeom>
          <a:solidFill>
            <a:srgbClr val="F1F5F9"/>
          </a:solidFill>
          <a:ln w="12700">
            <a:solidFill>
              <a:srgbClr val="E2E8F0"/>
            </a:solidFill>
            <a:prstDash val="solid"/>
          </a:ln>
        </p:spPr>
      </p:sp>
      <p:sp>
        <p:nvSpPr>
          <p:cNvPr id="19" name="Text 17"/>
          <p:cNvSpPr/>
          <p:nvPr/>
        </p:nvSpPr>
        <p:spPr>
          <a:xfrm>
            <a:off x="1051560" y="3319272"/>
            <a:ext cx="2468880" cy="201168"/>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Gulshan Pet Care &amp; Avian Clinic</a:t>
            </a:r>
            <a:endParaRPr lang="en-US" sz="1050" dirty="0"/>
          </a:p>
        </p:txBody>
      </p:sp>
      <p:sp>
        <p:nvSpPr>
          <p:cNvPr id="20" name="Text 18"/>
          <p:cNvSpPr/>
          <p:nvPr/>
        </p:nvSpPr>
        <p:spPr>
          <a:xfrm>
            <a:off x="3566160" y="3319272"/>
            <a:ext cx="2011680" cy="201168"/>
          </a:xfrm>
          <a:prstGeom prst="rect">
            <a:avLst/>
          </a:prstGeom>
          <a:noFill/>
          <a:ln/>
        </p:spPr>
        <p:txBody>
          <a:bodyPr wrap="square" rtlCol="0" anchor="ctr"/>
          <a:lstStyle/>
          <a:p>
            <a:pPr algn="r" indent="0" marL="0">
              <a:buNone/>
            </a:pPr>
            <a:r>
              <a:rPr lang="en-US" sz="850" dirty="0">
                <a:solidFill>
                  <a:srgbClr val="4338CA"/>
                </a:solidFill>
                <a:latin typeface="Arial" pitchFamily="34" charset="0"/>
                <a:ea typeface="Arial" pitchFamily="34" charset="-122"/>
                <a:cs typeface="Arial" pitchFamily="34" charset="-120"/>
              </a:rPr>
              <a:t>Gulshan-2, Dhaka</a:t>
            </a:r>
            <a:endParaRPr lang="en-US" sz="850" dirty="0"/>
          </a:p>
        </p:txBody>
      </p:sp>
      <p:sp>
        <p:nvSpPr>
          <p:cNvPr id="21" name="Text 19"/>
          <p:cNvSpPr/>
          <p:nvPr/>
        </p:nvSpPr>
        <p:spPr>
          <a:xfrm>
            <a:off x="1051560" y="3538728"/>
            <a:ext cx="438912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Lead: Dr. Tanvir Ahmed, DVM</a:t>
            </a:r>
            <a:endParaRPr lang="en-US" sz="850" dirty="0"/>
          </a:p>
        </p:txBody>
      </p:sp>
      <p:sp>
        <p:nvSpPr>
          <p:cNvPr id="22" name="Text 20"/>
          <p:cNvSpPr/>
          <p:nvPr/>
        </p:nvSpPr>
        <p:spPr>
          <a:xfrm>
            <a:off x="1051560" y="3721608"/>
            <a:ext cx="4389120" cy="320040"/>
          </a:xfrm>
          <a:prstGeom prst="rect">
            <a:avLst/>
          </a:prstGeom>
          <a:noFill/>
          <a:ln/>
        </p:spPr>
        <p:txBody>
          <a:bodyPr wrap="square" rtlCol="0" anchor="ctr"/>
          <a:lstStyle/>
          <a:p>
            <a:pPr indent="0" marL="0">
              <a:buNone/>
            </a:pPr>
            <a:r>
              <a:rPr lang="en-US" sz="850" dirty="0">
                <a:solidFill>
                  <a:srgbClr val="64748B"/>
                </a:solidFill>
                <a:latin typeface="Arial" pitchFamily="34" charset="0"/>
                <a:ea typeface="Arial" pitchFamily="34" charset="-122"/>
                <a:cs typeface="Arial" pitchFamily="34" charset="-120"/>
              </a:rPr>
              <a:t>Specialty: Feline internal medicine, cardiology, avian surgery</a:t>
            </a:r>
            <a:endParaRPr lang="en-US" sz="850" dirty="0"/>
          </a:p>
        </p:txBody>
      </p:sp>
      <p:sp>
        <p:nvSpPr>
          <p:cNvPr id="23" name="Shape 21"/>
          <p:cNvSpPr/>
          <p:nvPr/>
        </p:nvSpPr>
        <p:spPr>
          <a:xfrm>
            <a:off x="914400" y="4206240"/>
            <a:ext cx="4800600" cy="868680"/>
          </a:xfrm>
          <a:prstGeom prst="roundRect">
            <a:avLst/>
          </a:prstGeom>
          <a:solidFill>
            <a:srgbClr val="F1F5F9"/>
          </a:solidFill>
          <a:ln w="12700">
            <a:solidFill>
              <a:srgbClr val="E2E8F0"/>
            </a:solidFill>
            <a:prstDash val="solid"/>
          </a:ln>
        </p:spPr>
      </p:sp>
      <p:sp>
        <p:nvSpPr>
          <p:cNvPr id="24" name="Text 22"/>
          <p:cNvSpPr/>
          <p:nvPr/>
        </p:nvSpPr>
        <p:spPr>
          <a:xfrm>
            <a:off x="1051560" y="4279392"/>
            <a:ext cx="2468880" cy="201168"/>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Uttara Companion Pet Wellness</a:t>
            </a:r>
            <a:endParaRPr lang="en-US" sz="1050" dirty="0"/>
          </a:p>
        </p:txBody>
      </p:sp>
      <p:sp>
        <p:nvSpPr>
          <p:cNvPr id="25" name="Text 23"/>
          <p:cNvSpPr/>
          <p:nvPr/>
        </p:nvSpPr>
        <p:spPr>
          <a:xfrm>
            <a:off x="3566160" y="4279392"/>
            <a:ext cx="2011680" cy="201168"/>
          </a:xfrm>
          <a:prstGeom prst="rect">
            <a:avLst/>
          </a:prstGeom>
          <a:noFill/>
          <a:ln/>
        </p:spPr>
        <p:txBody>
          <a:bodyPr wrap="square" rtlCol="0" anchor="ctr"/>
          <a:lstStyle/>
          <a:p>
            <a:pPr algn="r" indent="0" marL="0">
              <a:buNone/>
            </a:pPr>
            <a:r>
              <a:rPr lang="en-US" sz="850" dirty="0">
                <a:solidFill>
                  <a:srgbClr val="4338CA"/>
                </a:solidFill>
                <a:latin typeface="Arial" pitchFamily="34" charset="0"/>
                <a:ea typeface="Arial" pitchFamily="34" charset="-122"/>
                <a:cs typeface="Arial" pitchFamily="34" charset="-120"/>
              </a:rPr>
              <a:t>Sector 4, Uttara</a:t>
            </a:r>
            <a:endParaRPr lang="en-US" sz="850" dirty="0"/>
          </a:p>
        </p:txBody>
      </p:sp>
      <p:sp>
        <p:nvSpPr>
          <p:cNvPr id="26" name="Text 24"/>
          <p:cNvSpPr/>
          <p:nvPr/>
        </p:nvSpPr>
        <p:spPr>
          <a:xfrm>
            <a:off x="1051560" y="4498848"/>
            <a:ext cx="438912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Lead: Dr. Nusrat Jahan, DVM</a:t>
            </a:r>
            <a:endParaRPr lang="en-US" sz="850" dirty="0"/>
          </a:p>
        </p:txBody>
      </p:sp>
      <p:sp>
        <p:nvSpPr>
          <p:cNvPr id="27" name="Text 25"/>
          <p:cNvSpPr/>
          <p:nvPr/>
        </p:nvSpPr>
        <p:spPr>
          <a:xfrm>
            <a:off x="1051560" y="4681728"/>
            <a:ext cx="4389120" cy="320040"/>
          </a:xfrm>
          <a:prstGeom prst="rect">
            <a:avLst/>
          </a:prstGeom>
          <a:noFill/>
          <a:ln/>
        </p:spPr>
        <p:txBody>
          <a:bodyPr wrap="square" rtlCol="0" anchor="ctr"/>
          <a:lstStyle/>
          <a:p>
            <a:pPr indent="0" marL="0">
              <a:buNone/>
            </a:pPr>
            <a:r>
              <a:rPr lang="en-US" sz="850" dirty="0">
                <a:solidFill>
                  <a:srgbClr val="64748B"/>
                </a:solidFill>
                <a:latin typeface="Arial" pitchFamily="34" charset="0"/>
                <a:ea typeface="Arial" pitchFamily="34" charset="-122"/>
                <a:cs typeface="Arial" pitchFamily="34" charset="-120"/>
              </a:rPr>
              <a:t>Specialty: Dental prophylaxis, soft tissue, wellness vaccinations</a:t>
            </a:r>
            <a:endParaRPr lang="en-US" sz="850" dirty="0"/>
          </a:p>
        </p:txBody>
      </p:sp>
      <p:sp>
        <p:nvSpPr>
          <p:cNvPr id="28" name="Shape 26"/>
          <p:cNvSpPr/>
          <p:nvPr/>
        </p:nvSpPr>
        <p:spPr>
          <a:xfrm>
            <a:off x="914400" y="5166360"/>
            <a:ext cx="4800600" cy="868680"/>
          </a:xfrm>
          <a:prstGeom prst="roundRect">
            <a:avLst/>
          </a:prstGeom>
          <a:solidFill>
            <a:srgbClr val="F1F5F9"/>
          </a:solidFill>
          <a:ln w="12700">
            <a:solidFill>
              <a:srgbClr val="E2E8F0"/>
            </a:solidFill>
            <a:prstDash val="solid"/>
          </a:ln>
        </p:spPr>
      </p:sp>
      <p:sp>
        <p:nvSpPr>
          <p:cNvPr id="29" name="Text 27"/>
          <p:cNvSpPr/>
          <p:nvPr/>
        </p:nvSpPr>
        <p:spPr>
          <a:xfrm>
            <a:off x="1051560" y="5239512"/>
            <a:ext cx="2468880" cy="201168"/>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Mirpur Mobile Veterinary Service</a:t>
            </a:r>
            <a:endParaRPr lang="en-US" sz="1050" dirty="0"/>
          </a:p>
        </p:txBody>
      </p:sp>
      <p:sp>
        <p:nvSpPr>
          <p:cNvPr id="30" name="Text 28"/>
          <p:cNvSpPr/>
          <p:nvPr/>
        </p:nvSpPr>
        <p:spPr>
          <a:xfrm>
            <a:off x="3566160" y="5239512"/>
            <a:ext cx="2011680" cy="201168"/>
          </a:xfrm>
          <a:prstGeom prst="rect">
            <a:avLst/>
          </a:prstGeom>
          <a:noFill/>
          <a:ln/>
        </p:spPr>
        <p:txBody>
          <a:bodyPr wrap="square" rtlCol="0" anchor="ctr"/>
          <a:lstStyle/>
          <a:p>
            <a:pPr algn="r" indent="0" marL="0">
              <a:buNone/>
            </a:pPr>
            <a:r>
              <a:rPr lang="en-US" sz="850" dirty="0">
                <a:solidFill>
                  <a:srgbClr val="4338CA"/>
                </a:solidFill>
                <a:latin typeface="Arial" pitchFamily="34" charset="0"/>
                <a:ea typeface="Arial" pitchFamily="34" charset="-122"/>
                <a:cs typeface="Arial" pitchFamily="34" charset="-120"/>
              </a:rPr>
              <a:t>Mirpur &amp; Suburbs</a:t>
            </a:r>
            <a:endParaRPr lang="en-US" sz="850" dirty="0"/>
          </a:p>
        </p:txBody>
      </p:sp>
      <p:sp>
        <p:nvSpPr>
          <p:cNvPr id="31" name="Text 29"/>
          <p:cNvSpPr/>
          <p:nvPr/>
        </p:nvSpPr>
        <p:spPr>
          <a:xfrm>
            <a:off x="1051560" y="5458968"/>
            <a:ext cx="4389120" cy="182880"/>
          </a:xfrm>
          <a:prstGeom prst="rect">
            <a:avLst/>
          </a:prstGeom>
          <a:noFill/>
          <a:ln/>
        </p:spPr>
        <p:txBody>
          <a:bodyPr wrap="square" rtlCol="0" anchor="ctr"/>
          <a:lstStyle/>
          <a:p>
            <a:pPr indent="0" marL="0">
              <a:buNone/>
            </a:pPr>
            <a:r>
              <a:rPr lang="en-US" sz="850" b="1" dirty="0">
                <a:solidFill>
                  <a:srgbClr val="475569"/>
                </a:solidFill>
                <a:latin typeface="Arial" pitchFamily="34" charset="0"/>
                <a:ea typeface="Arial" pitchFamily="34" charset="-122"/>
                <a:cs typeface="Arial" pitchFamily="34" charset="-120"/>
              </a:rPr>
              <a:t>Lead: Dr. Tariqul Islam, DVM</a:t>
            </a:r>
            <a:endParaRPr lang="en-US" sz="850" dirty="0"/>
          </a:p>
        </p:txBody>
      </p:sp>
      <p:sp>
        <p:nvSpPr>
          <p:cNvPr id="32" name="Text 30"/>
          <p:cNvSpPr/>
          <p:nvPr/>
        </p:nvSpPr>
        <p:spPr>
          <a:xfrm>
            <a:off x="1051560" y="5641848"/>
            <a:ext cx="4389120" cy="320040"/>
          </a:xfrm>
          <a:prstGeom prst="rect">
            <a:avLst/>
          </a:prstGeom>
          <a:noFill/>
          <a:ln/>
        </p:spPr>
        <p:txBody>
          <a:bodyPr wrap="square" rtlCol="0" anchor="ctr"/>
          <a:lstStyle/>
          <a:p>
            <a:pPr indent="0" marL="0">
              <a:buNone/>
            </a:pPr>
            <a:r>
              <a:rPr lang="en-US" sz="850" dirty="0">
                <a:solidFill>
                  <a:srgbClr val="64748B"/>
                </a:solidFill>
                <a:latin typeface="Arial" pitchFamily="34" charset="0"/>
                <a:ea typeface="Arial" pitchFamily="34" charset="-122"/>
                <a:cs typeface="Arial" pitchFamily="34" charset="-120"/>
              </a:rPr>
              <a:t>Specialty: 24/7 emergency dispatch, at-home ultrasound</a:t>
            </a:r>
            <a:endParaRPr lang="en-US" sz="850" dirty="0"/>
          </a:p>
        </p:txBody>
      </p:sp>
      <p:sp>
        <p:nvSpPr>
          <p:cNvPr id="33" name="Shape 31"/>
          <p:cNvSpPr/>
          <p:nvPr/>
        </p:nvSpPr>
        <p:spPr>
          <a:xfrm>
            <a:off x="6263640" y="1783080"/>
            <a:ext cx="5193792" cy="4389120"/>
          </a:xfrm>
          <a:prstGeom prst="roundRect">
            <a:avLst/>
          </a:prstGeom>
          <a:solidFill>
            <a:srgbClr val="FFFFFF"/>
          </a:solidFill>
          <a:ln w="15240">
            <a:solidFill>
              <a:srgbClr val="CBD5E1"/>
            </a:solidFill>
            <a:prstDash val="solid"/>
          </a:ln>
        </p:spPr>
      </p:sp>
      <p:sp>
        <p:nvSpPr>
          <p:cNvPr id="34" name="Text 32"/>
          <p:cNvSpPr/>
          <p:nvPr/>
        </p:nvSpPr>
        <p:spPr>
          <a:xfrm>
            <a:off x="6492240" y="1965960"/>
            <a:ext cx="4736592" cy="228600"/>
          </a:xfrm>
          <a:prstGeom prst="rect">
            <a:avLst/>
          </a:prstGeom>
          <a:noFill/>
          <a:ln/>
        </p:spPr>
        <p:txBody>
          <a:bodyPr wrap="square" rtlCol="0" anchor="ctr"/>
          <a:lstStyle/>
          <a:p>
            <a:pPr indent="0" marL="0">
              <a:buNone/>
            </a:pPr>
            <a:r>
              <a:rPr lang="en-US" sz="1100" b="1" spc="100" kern="0" dirty="0">
                <a:solidFill>
                  <a:srgbClr val="4338CA"/>
                </a:solidFill>
                <a:latin typeface="Arial" pitchFamily="34" charset="0"/>
                <a:ea typeface="Arial" pitchFamily="34" charset="-122"/>
                <a:cs typeface="Arial" pitchFamily="34" charset="-120"/>
              </a:rPr>
              <a:t>CASE-BASED SPECIALTY ROUTING ENGINE</a:t>
            </a:r>
            <a:endParaRPr lang="en-US" sz="1100" dirty="0"/>
          </a:p>
        </p:txBody>
      </p:sp>
      <p:sp>
        <p:nvSpPr>
          <p:cNvPr id="35" name="Shape 33"/>
          <p:cNvSpPr/>
          <p:nvPr/>
        </p:nvSpPr>
        <p:spPr>
          <a:xfrm>
            <a:off x="6492240" y="2286000"/>
            <a:ext cx="4736592" cy="868680"/>
          </a:xfrm>
          <a:prstGeom prst="roundRect">
            <a:avLst/>
          </a:prstGeom>
          <a:solidFill>
            <a:srgbClr val="F1F5F9"/>
          </a:solidFill>
          <a:ln w="12700">
            <a:solidFill>
              <a:srgbClr val="E2E8F0"/>
            </a:solidFill>
            <a:prstDash val="solid"/>
          </a:ln>
        </p:spPr>
      </p:sp>
      <p:sp>
        <p:nvSpPr>
          <p:cNvPr id="36" name="Text 34"/>
          <p:cNvSpPr/>
          <p:nvPr/>
        </p:nvSpPr>
        <p:spPr>
          <a:xfrm>
            <a:off x="6629400" y="2359152"/>
            <a:ext cx="4462272"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Case: Orthopedic Trauma / Suspected Fracture</a:t>
            </a:r>
            <a:endParaRPr lang="en-US" sz="1000" dirty="0"/>
          </a:p>
        </p:txBody>
      </p:sp>
      <p:sp>
        <p:nvSpPr>
          <p:cNvPr id="37" name="Text 35"/>
          <p:cNvSpPr/>
          <p:nvPr/>
        </p:nvSpPr>
        <p:spPr>
          <a:xfrm>
            <a:off x="6629400" y="2578608"/>
            <a:ext cx="4462272"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Routes to: Cascade 24/7 Trauma ICU</a:t>
            </a:r>
            <a:endParaRPr lang="en-US" sz="850" dirty="0"/>
          </a:p>
        </p:txBody>
      </p:sp>
      <p:sp>
        <p:nvSpPr>
          <p:cNvPr id="38" name="Text 36"/>
          <p:cNvSpPr/>
          <p:nvPr/>
        </p:nvSpPr>
        <p:spPr>
          <a:xfrm>
            <a:off x="6629400" y="2761488"/>
            <a:ext cx="4462272" cy="347472"/>
          </a:xfrm>
          <a:prstGeom prst="rect">
            <a:avLst/>
          </a:prstGeom>
          <a:noFill/>
          <a:ln/>
        </p:spPr>
        <p:txBody>
          <a:bodyPr wrap="square" rtlCol="0" anchor="ctr"/>
          <a:lstStyle/>
          <a:p>
            <a:pPr indent="0" marL="0">
              <a:lnSpc>
                <a:spcPts val="1200"/>
              </a:lnSpc>
              <a:buNone/>
            </a:pPr>
            <a:r>
              <a:rPr lang="en-US" sz="850" dirty="0">
                <a:solidFill>
                  <a:srgbClr val="475569"/>
                </a:solidFill>
                <a:latin typeface="Arial" pitchFamily="34" charset="0"/>
                <a:ea typeface="Arial" pitchFamily="34" charset="-122"/>
                <a:cs typeface="Arial" pitchFamily="34" charset="-120"/>
              </a:rPr>
              <a:t>Deterministic keyword routing flags digital X-ray and surgical theater availability in Dhanmondi.</a:t>
            </a:r>
            <a:endParaRPr lang="en-US" sz="850" dirty="0"/>
          </a:p>
        </p:txBody>
      </p:sp>
      <p:sp>
        <p:nvSpPr>
          <p:cNvPr id="39" name="Shape 37"/>
          <p:cNvSpPr/>
          <p:nvPr/>
        </p:nvSpPr>
        <p:spPr>
          <a:xfrm>
            <a:off x="6492240" y="3246120"/>
            <a:ext cx="4736592" cy="868680"/>
          </a:xfrm>
          <a:prstGeom prst="roundRect">
            <a:avLst/>
          </a:prstGeom>
          <a:solidFill>
            <a:srgbClr val="F1F5F9"/>
          </a:solidFill>
          <a:ln w="12700">
            <a:solidFill>
              <a:srgbClr val="E2E8F0"/>
            </a:solidFill>
            <a:prstDash val="solid"/>
          </a:ln>
        </p:spPr>
      </p:sp>
      <p:sp>
        <p:nvSpPr>
          <p:cNvPr id="40" name="Text 38"/>
          <p:cNvSpPr/>
          <p:nvPr/>
        </p:nvSpPr>
        <p:spPr>
          <a:xfrm>
            <a:off x="6629400" y="3319272"/>
            <a:ext cx="4462272"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Case: Chronic Renal Disease / Feline Cardiology</a:t>
            </a:r>
            <a:endParaRPr lang="en-US" sz="1000" dirty="0"/>
          </a:p>
        </p:txBody>
      </p:sp>
      <p:sp>
        <p:nvSpPr>
          <p:cNvPr id="41" name="Text 39"/>
          <p:cNvSpPr/>
          <p:nvPr/>
        </p:nvSpPr>
        <p:spPr>
          <a:xfrm>
            <a:off x="6629400" y="3538728"/>
            <a:ext cx="4462272"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Routes to: Gulshan Pet Care (Dr. Tanvir)</a:t>
            </a:r>
            <a:endParaRPr lang="en-US" sz="850" dirty="0"/>
          </a:p>
        </p:txBody>
      </p:sp>
      <p:sp>
        <p:nvSpPr>
          <p:cNvPr id="42" name="Text 40"/>
          <p:cNvSpPr/>
          <p:nvPr/>
        </p:nvSpPr>
        <p:spPr>
          <a:xfrm>
            <a:off x="6629400" y="3721608"/>
            <a:ext cx="4462272" cy="347472"/>
          </a:xfrm>
          <a:prstGeom prst="rect">
            <a:avLst/>
          </a:prstGeom>
          <a:noFill/>
          <a:ln/>
        </p:spPr>
        <p:txBody>
          <a:bodyPr wrap="square" rtlCol="0" anchor="ctr"/>
          <a:lstStyle/>
          <a:p>
            <a:pPr indent="0" marL="0">
              <a:lnSpc>
                <a:spcPts val="1200"/>
              </a:lnSpc>
              <a:buNone/>
            </a:pPr>
            <a:r>
              <a:rPr lang="en-US" sz="850" dirty="0">
                <a:solidFill>
                  <a:srgbClr val="475569"/>
                </a:solidFill>
                <a:latin typeface="Arial" pitchFamily="34" charset="0"/>
                <a:ea typeface="Arial" pitchFamily="34" charset="-122"/>
                <a:cs typeface="Arial" pitchFamily="34" charset="-120"/>
              </a:rPr>
              <a:t>MAIRA vector search matches feline nephrology research papers and specialty dialysis equipment.</a:t>
            </a:r>
            <a:endParaRPr lang="en-US" sz="850" dirty="0"/>
          </a:p>
        </p:txBody>
      </p:sp>
      <p:sp>
        <p:nvSpPr>
          <p:cNvPr id="43" name="Shape 41"/>
          <p:cNvSpPr/>
          <p:nvPr/>
        </p:nvSpPr>
        <p:spPr>
          <a:xfrm>
            <a:off x="6492240" y="4206240"/>
            <a:ext cx="4736592" cy="868680"/>
          </a:xfrm>
          <a:prstGeom prst="roundRect">
            <a:avLst/>
          </a:prstGeom>
          <a:solidFill>
            <a:srgbClr val="F1F5F9"/>
          </a:solidFill>
          <a:ln w="12700">
            <a:solidFill>
              <a:srgbClr val="E2E8F0"/>
            </a:solidFill>
            <a:prstDash val="solid"/>
          </a:ln>
        </p:spPr>
      </p:sp>
      <p:sp>
        <p:nvSpPr>
          <p:cNvPr id="44" name="Text 42"/>
          <p:cNvSpPr/>
          <p:nvPr/>
        </p:nvSpPr>
        <p:spPr>
          <a:xfrm>
            <a:off x="6629400" y="4279392"/>
            <a:ext cx="4462272"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Case: Routine Puppy Immunization / Wellness</a:t>
            </a:r>
            <a:endParaRPr lang="en-US" sz="1000" dirty="0"/>
          </a:p>
        </p:txBody>
      </p:sp>
      <p:sp>
        <p:nvSpPr>
          <p:cNvPr id="45" name="Text 43"/>
          <p:cNvSpPr/>
          <p:nvPr/>
        </p:nvSpPr>
        <p:spPr>
          <a:xfrm>
            <a:off x="6629400" y="4498848"/>
            <a:ext cx="4462272"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Routes to: Uttara Companion Pet Wellness</a:t>
            </a:r>
            <a:endParaRPr lang="en-US" sz="850" dirty="0"/>
          </a:p>
        </p:txBody>
      </p:sp>
      <p:sp>
        <p:nvSpPr>
          <p:cNvPr id="46" name="Text 44"/>
          <p:cNvSpPr/>
          <p:nvPr/>
        </p:nvSpPr>
        <p:spPr>
          <a:xfrm>
            <a:off x="6629400" y="4681728"/>
            <a:ext cx="4462272" cy="347472"/>
          </a:xfrm>
          <a:prstGeom prst="rect">
            <a:avLst/>
          </a:prstGeom>
          <a:noFill/>
          <a:ln/>
        </p:spPr>
        <p:txBody>
          <a:bodyPr wrap="square" rtlCol="0" anchor="ctr"/>
          <a:lstStyle/>
          <a:p>
            <a:pPr indent="0" marL="0">
              <a:lnSpc>
                <a:spcPts val="1200"/>
              </a:lnSpc>
              <a:buNone/>
            </a:pPr>
            <a:r>
              <a:rPr lang="en-US" sz="850" dirty="0">
                <a:solidFill>
                  <a:srgbClr val="475569"/>
                </a:solidFill>
                <a:latin typeface="Arial" pitchFamily="34" charset="0"/>
                <a:ea typeface="Arial" pitchFamily="34" charset="-122"/>
                <a:cs typeface="Arial" pitchFamily="34" charset="-120"/>
              </a:rPr>
              <a:t>Geospatial proximity matching suggests closest clinic within 3km for preventative care.</a:t>
            </a:r>
            <a:endParaRPr lang="en-US" sz="850" dirty="0"/>
          </a:p>
        </p:txBody>
      </p:sp>
      <p:sp>
        <p:nvSpPr>
          <p:cNvPr id="47" name="Shape 45"/>
          <p:cNvSpPr/>
          <p:nvPr/>
        </p:nvSpPr>
        <p:spPr>
          <a:xfrm>
            <a:off x="6492240" y="5166360"/>
            <a:ext cx="4736592" cy="868680"/>
          </a:xfrm>
          <a:prstGeom prst="roundRect">
            <a:avLst/>
          </a:prstGeom>
          <a:solidFill>
            <a:srgbClr val="F1F5F9"/>
          </a:solidFill>
          <a:ln w="12700">
            <a:solidFill>
              <a:srgbClr val="E2E8F0"/>
            </a:solidFill>
            <a:prstDash val="solid"/>
          </a:ln>
        </p:spPr>
      </p:sp>
      <p:sp>
        <p:nvSpPr>
          <p:cNvPr id="48" name="Text 46"/>
          <p:cNvSpPr/>
          <p:nvPr/>
        </p:nvSpPr>
        <p:spPr>
          <a:xfrm>
            <a:off x="6629400" y="5239512"/>
            <a:ext cx="4462272" cy="201168"/>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Case: Immobile Recumbent Emergency Patient</a:t>
            </a:r>
            <a:endParaRPr lang="en-US" sz="1000" dirty="0"/>
          </a:p>
        </p:txBody>
      </p:sp>
      <p:sp>
        <p:nvSpPr>
          <p:cNvPr id="49" name="Text 47"/>
          <p:cNvSpPr/>
          <p:nvPr/>
        </p:nvSpPr>
        <p:spPr>
          <a:xfrm>
            <a:off x="6629400" y="5458968"/>
            <a:ext cx="4462272"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Routes to: Mirpur Mobile Ambulance Dispatch</a:t>
            </a:r>
            <a:endParaRPr lang="en-US" sz="850" dirty="0"/>
          </a:p>
        </p:txBody>
      </p:sp>
      <p:sp>
        <p:nvSpPr>
          <p:cNvPr id="50" name="Text 48"/>
          <p:cNvSpPr/>
          <p:nvPr/>
        </p:nvSpPr>
        <p:spPr>
          <a:xfrm>
            <a:off x="6629400" y="5641848"/>
            <a:ext cx="4462272" cy="347472"/>
          </a:xfrm>
          <a:prstGeom prst="rect">
            <a:avLst/>
          </a:prstGeom>
          <a:noFill/>
          <a:ln/>
        </p:spPr>
        <p:txBody>
          <a:bodyPr wrap="square" rtlCol="0" anchor="ctr"/>
          <a:lstStyle/>
          <a:p>
            <a:pPr indent="0" marL="0">
              <a:lnSpc>
                <a:spcPts val="1200"/>
              </a:lnSpc>
              <a:buNone/>
            </a:pPr>
            <a:r>
              <a:rPr lang="en-US" sz="850" dirty="0">
                <a:solidFill>
                  <a:srgbClr val="475569"/>
                </a:solidFill>
                <a:latin typeface="Arial" pitchFamily="34" charset="0"/>
                <a:ea typeface="Arial" pitchFamily="34" charset="-122"/>
                <a:cs typeface="Arial" pitchFamily="34" charset="-120"/>
              </a:rPr>
              <a:t>Dispatches fully-equipped veterinary van with oxygen cage and portable ultrasound to residence.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sp>
      <p:sp>
        <p:nvSpPr>
          <p:cNvPr id="3" name="Text 1"/>
          <p:cNvSpPr/>
          <p:nvPr/>
        </p:nvSpPr>
        <p:spPr>
          <a:xfrm>
            <a:off x="731520" y="128016"/>
            <a:ext cx="6583680" cy="32004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 NUZZLE AI PLATFORM  |  GIGALOGY MAIRA MANAGED RAG INTEGRATION</a:t>
            </a:r>
            <a:endParaRPr lang="en-US" sz="1050" dirty="0"/>
          </a:p>
        </p:txBody>
      </p:sp>
      <p:sp>
        <p:nvSpPr>
          <p:cNvPr id="4" name="Text 2"/>
          <p:cNvSpPr/>
          <p:nvPr/>
        </p:nvSpPr>
        <p:spPr>
          <a:xfrm>
            <a:off x="7498080" y="128016"/>
            <a:ext cx="3962095" cy="320040"/>
          </a:xfrm>
          <a:prstGeom prst="rect">
            <a:avLst/>
          </a:prstGeom>
          <a:noFill/>
          <a:ln/>
        </p:spPr>
        <p:txBody>
          <a:bodyPr wrap="square" rtlCol="0" anchor="ctr"/>
          <a:lstStyle/>
          <a:p>
            <a:pPr algn="r" indent="0" marL="0">
              <a:buNone/>
            </a:pPr>
            <a:r>
              <a:rPr lang="en-US" sz="950" dirty="0">
                <a:solidFill>
                  <a:srgbClr val="94A3B8"/>
                </a:solidFill>
                <a:latin typeface="Arial" pitchFamily="34" charset="0"/>
                <a:ea typeface="Arial" pitchFamily="34" charset="-122"/>
                <a:cs typeface="Arial" pitchFamily="34" charset="-120"/>
              </a:rPr>
              <a:t>Slide 9 of 14  •  Technical &amp; Architecture Deep Dive</a:t>
            </a:r>
            <a:endParaRPr lang="en-US" sz="950" dirty="0"/>
          </a:p>
        </p:txBody>
      </p:sp>
      <p:sp>
        <p:nvSpPr>
          <p:cNvPr id="5" name="Text 3"/>
          <p:cNvSpPr/>
          <p:nvPr/>
        </p:nvSpPr>
        <p:spPr>
          <a:xfrm>
            <a:off x="731520" y="658368"/>
            <a:ext cx="10728655" cy="201168"/>
          </a:xfrm>
          <a:prstGeom prst="rect">
            <a:avLst/>
          </a:prstGeom>
          <a:noFill/>
          <a:ln/>
        </p:spPr>
        <p:txBody>
          <a:bodyPr wrap="square" rtlCol="0" anchor="ctr"/>
          <a:lstStyle/>
          <a:p>
            <a:pPr indent="0" marL="0">
              <a:buNone/>
            </a:pPr>
            <a:r>
              <a:rPr lang="en-US" sz="950" b="1" spc="120" kern="0" dirty="0">
                <a:solidFill>
                  <a:srgbClr val="4338CA"/>
                </a:solidFill>
                <a:latin typeface="Arial" pitchFamily="34" charset="0"/>
                <a:ea typeface="Arial" pitchFamily="34" charset="-122"/>
                <a:cs typeface="Arial" pitchFamily="34" charset="-120"/>
              </a:rPr>
              <a:t>PILLAR 4: PET WELLNESS &amp; COMMERCE</a:t>
            </a:r>
            <a:endParaRPr lang="en-US" sz="950" dirty="0"/>
          </a:p>
        </p:txBody>
      </p:sp>
      <p:sp>
        <p:nvSpPr>
          <p:cNvPr id="6" name="Text 4"/>
          <p:cNvSpPr/>
          <p:nvPr/>
        </p:nvSpPr>
        <p:spPr>
          <a:xfrm>
            <a:off x="731520" y="896112"/>
            <a:ext cx="10728655" cy="384048"/>
          </a:xfrm>
          <a:prstGeom prst="rect">
            <a:avLst/>
          </a:prstGeom>
          <a:noFill/>
          <a:ln/>
        </p:spPr>
        <p:txBody>
          <a:bodyPr wrap="square" rtlCol="0" anchor="ctr"/>
          <a:lstStyle/>
          <a:p>
            <a:pPr indent="0" marL="0">
              <a:buNone/>
            </a:pPr>
            <a:r>
              <a:rPr lang="en-US" sz="1900" b="1" dirty="0">
                <a:solidFill>
                  <a:srgbClr val="0F172A"/>
                </a:solidFill>
                <a:latin typeface="Arial" pitchFamily="34" charset="0"/>
                <a:ea typeface="Arial" pitchFamily="34" charset="-122"/>
                <a:cs typeface="Arial" pitchFamily="34" charset="-120"/>
              </a:rPr>
              <a:t>Marketplace AI Nutrition &amp; Dietary Formulation</a:t>
            </a:r>
            <a:endParaRPr lang="en-US" sz="1900" dirty="0"/>
          </a:p>
        </p:txBody>
      </p:sp>
      <p:sp>
        <p:nvSpPr>
          <p:cNvPr id="7" name="Text 5"/>
          <p:cNvSpPr/>
          <p:nvPr/>
        </p:nvSpPr>
        <p:spPr>
          <a:xfrm>
            <a:off x="731520" y="1316736"/>
            <a:ext cx="10728655" cy="292608"/>
          </a:xfrm>
          <a:prstGeom prst="rect">
            <a:avLst/>
          </a:prstGeom>
          <a:noFill/>
          <a:ln/>
        </p:spPr>
        <p:txBody>
          <a:bodyPr wrap="square" rtlCol="0" anchor="ctr"/>
          <a:lstStyle/>
          <a:p>
            <a:pPr indent="0" marL="0">
              <a:buNone/>
            </a:pPr>
            <a:r>
              <a:rPr lang="en-US" sz="1050" dirty="0">
                <a:solidFill>
                  <a:srgbClr val="475569"/>
                </a:solidFill>
                <a:latin typeface="Arial" pitchFamily="34" charset="0"/>
                <a:ea typeface="Arial" pitchFamily="34" charset="-122"/>
                <a:cs typeface="Arial" pitchFamily="34" charset="-120"/>
              </a:rPr>
              <a:t>Profile ID: 66e15325-9d32-4691-af65-d436fd727674 • Dataset ID: 1fbd9ddf-ee42-4ee6-ba50-ffaae169ffc1</a:t>
            </a:r>
            <a:endParaRPr lang="en-US" sz="1050" dirty="0"/>
          </a:p>
        </p:txBody>
      </p:sp>
      <p:sp>
        <p:nvSpPr>
          <p:cNvPr id="8" name="Shape 6"/>
          <p:cNvSpPr/>
          <p:nvPr/>
        </p:nvSpPr>
        <p:spPr>
          <a:xfrm>
            <a:off x="0" y="6355080"/>
            <a:ext cx="12191695" cy="502920"/>
          </a:xfrm>
          <a:prstGeom prst="rect">
            <a:avLst/>
          </a:prstGeom>
          <a:solidFill>
            <a:srgbClr val="0F172A"/>
          </a:solidFill>
          <a:ln w="12700">
            <a:solidFill>
              <a:srgbClr val="1E293B"/>
            </a:solidFill>
            <a:prstDash val="solid"/>
          </a:ln>
        </p:spPr>
      </p:sp>
      <p:sp>
        <p:nvSpPr>
          <p:cNvPr id="9" name="Text 7"/>
          <p:cNvSpPr/>
          <p:nvPr/>
        </p:nvSpPr>
        <p:spPr>
          <a:xfrm>
            <a:off x="731520" y="6446520"/>
            <a:ext cx="6583680" cy="320040"/>
          </a:xfrm>
          <a:prstGeom prst="rect">
            <a:avLst/>
          </a:prstGeom>
          <a:noFill/>
          <a:ln/>
        </p:spPr>
        <p:txBody>
          <a:bodyPr wrap="square" rtlCol="0" anchor="ctr"/>
          <a:lstStyle/>
          <a:p>
            <a:pPr indent="0" marL="0">
              <a:buNone/>
            </a:pPr>
            <a:r>
              <a:rPr lang="en-US" sz="950" dirty="0">
                <a:solidFill>
                  <a:srgbClr val="94A3B8"/>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7498080" y="6446520"/>
            <a:ext cx="3962095" cy="32004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5166360" cy="4389120"/>
          </a:xfrm>
          <a:prstGeom prst="roundRect">
            <a:avLst/>
          </a:prstGeom>
          <a:solidFill>
            <a:srgbClr val="FFFFFF"/>
          </a:solidFill>
          <a:ln w="15240">
            <a:solidFill>
              <a:srgbClr val="CBD5E1"/>
            </a:solidFill>
            <a:prstDash val="solid"/>
          </a:ln>
        </p:spPr>
      </p:sp>
      <p:sp>
        <p:nvSpPr>
          <p:cNvPr id="12" name="Text 10"/>
          <p:cNvSpPr/>
          <p:nvPr/>
        </p:nvSpPr>
        <p:spPr>
          <a:xfrm>
            <a:off x="914400" y="1965960"/>
            <a:ext cx="4800600" cy="228600"/>
          </a:xfrm>
          <a:prstGeom prst="rect">
            <a:avLst/>
          </a:prstGeom>
          <a:noFill/>
          <a:ln/>
        </p:spPr>
        <p:txBody>
          <a:bodyPr wrap="square" rtlCol="0" anchor="ctr"/>
          <a:lstStyle/>
          <a:p>
            <a:pPr indent="0" marL="0">
              <a:buNone/>
            </a:pPr>
            <a:r>
              <a:rPr lang="en-US" sz="1100" b="1" spc="100" kern="0" dirty="0">
                <a:solidFill>
                  <a:srgbClr val="4338CA"/>
                </a:solidFill>
                <a:latin typeface="Arial" pitchFamily="34" charset="0"/>
                <a:ea typeface="Arial" pitchFamily="34" charset="-122"/>
                <a:cs typeface="Arial" pitchFamily="34" charset="-120"/>
              </a:rPr>
              <a:t>PET ALLERGY &amp; NUTRITIONAL MATRIX</a:t>
            </a:r>
            <a:endParaRPr lang="en-US" sz="1100" dirty="0"/>
          </a:p>
        </p:txBody>
      </p:sp>
      <p:sp>
        <p:nvSpPr>
          <p:cNvPr id="13" name="Text 11"/>
          <p:cNvSpPr/>
          <p:nvPr/>
        </p:nvSpPr>
        <p:spPr>
          <a:xfrm>
            <a:off x="914400" y="2240280"/>
            <a:ext cx="4800600" cy="640080"/>
          </a:xfrm>
          <a:prstGeom prst="rect">
            <a:avLst/>
          </a:prstGeom>
          <a:noFill/>
          <a:ln/>
        </p:spPr>
        <p:txBody>
          <a:bodyPr wrap="square" rtlCol="0" anchor="ctr"/>
          <a:lstStyle/>
          <a:p>
            <a:pPr indent="0" marL="0">
              <a:lnSpc>
                <a:spcPts val="1400"/>
              </a:lnSpc>
              <a:buNone/>
            </a:pPr>
            <a:r>
              <a:rPr lang="en-US" sz="1000" dirty="0">
                <a:solidFill>
                  <a:srgbClr val="475569"/>
                </a:solidFill>
                <a:latin typeface="Arial" pitchFamily="34" charset="0"/>
                <a:ea typeface="Arial" pitchFamily="34" charset="-122"/>
                <a:cs typeface="Arial" pitchFamily="34" charset="-120"/>
              </a:rPr>
              <a:t>Over 40% of Bangladeshi companion pets suffer from preventable dermatological or gastrointestinal issues caused by mismatched commercial feeds. MAIRA cross-references pet health logs with product ingredient formulations:</a:t>
            </a:r>
            <a:endParaRPr lang="en-US" sz="1000" dirty="0"/>
          </a:p>
        </p:txBody>
      </p:sp>
      <p:sp>
        <p:nvSpPr>
          <p:cNvPr id="14" name="Shape 12"/>
          <p:cNvSpPr/>
          <p:nvPr/>
        </p:nvSpPr>
        <p:spPr>
          <a:xfrm>
            <a:off x="914400" y="2971800"/>
            <a:ext cx="4800600" cy="960120"/>
          </a:xfrm>
          <a:prstGeom prst="roundRect">
            <a:avLst/>
          </a:prstGeom>
          <a:solidFill>
            <a:srgbClr val="F1F5F9"/>
          </a:solidFill>
          <a:ln w="12700">
            <a:solidFill>
              <a:srgbClr val="E2E8F0"/>
            </a:solidFill>
            <a:prstDash val="solid"/>
          </a:ln>
        </p:spPr>
      </p:sp>
      <p:sp>
        <p:nvSpPr>
          <p:cNvPr id="15" name="Text 13"/>
          <p:cNvSpPr/>
          <p:nvPr/>
        </p:nvSpPr>
        <p:spPr>
          <a:xfrm>
            <a:off x="1051560" y="3063240"/>
            <a:ext cx="4526280" cy="201168"/>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Simba (Golden Retriever, 3yo)</a:t>
            </a:r>
            <a:endParaRPr lang="en-US" sz="1050" dirty="0"/>
          </a:p>
        </p:txBody>
      </p:sp>
      <p:sp>
        <p:nvSpPr>
          <p:cNvPr id="16" name="Text 14"/>
          <p:cNvSpPr/>
          <p:nvPr/>
        </p:nvSpPr>
        <p:spPr>
          <a:xfrm>
            <a:off x="1051560" y="3282696"/>
            <a:ext cx="4526280" cy="182880"/>
          </a:xfrm>
          <a:prstGeom prst="rect">
            <a:avLst/>
          </a:prstGeom>
          <a:noFill/>
          <a:ln/>
        </p:spPr>
        <p:txBody>
          <a:bodyPr wrap="square" rtlCol="0" anchor="ctr"/>
          <a:lstStyle/>
          <a:p>
            <a:pPr indent="0" marL="0">
              <a:buNone/>
            </a:pPr>
            <a:r>
              <a:rPr lang="en-US" sz="850" b="1" dirty="0">
                <a:solidFill>
                  <a:srgbClr val="EF4444"/>
                </a:solidFill>
                <a:latin typeface="Arial" pitchFamily="34" charset="0"/>
                <a:ea typeface="Arial" pitchFamily="34" charset="-122"/>
                <a:cs typeface="Arial" pitchFamily="34" charset="-120"/>
              </a:rPr>
              <a:t>Allergy Profile: Severe Poultry / Chicken Hypersensitivity</a:t>
            </a:r>
            <a:endParaRPr lang="en-US" sz="850" dirty="0"/>
          </a:p>
        </p:txBody>
      </p:sp>
      <p:sp>
        <p:nvSpPr>
          <p:cNvPr id="17" name="Text 15"/>
          <p:cNvSpPr/>
          <p:nvPr/>
        </p:nvSpPr>
        <p:spPr>
          <a:xfrm>
            <a:off x="1051560" y="3483864"/>
            <a:ext cx="4526280" cy="365760"/>
          </a:xfrm>
          <a:prstGeom prst="rect">
            <a:avLst/>
          </a:prstGeom>
          <a:noFill/>
          <a:ln/>
        </p:spPr>
        <p:txBody>
          <a:bodyPr wrap="square" rtlCol="0" anchor="ctr"/>
          <a:lstStyle/>
          <a:p>
            <a:pPr indent="0" marL="0">
              <a:lnSpc>
                <a:spcPts val="1200"/>
              </a:lnSpc>
              <a:buNone/>
            </a:pPr>
            <a:r>
              <a:rPr lang="en-US" sz="850" dirty="0">
                <a:solidFill>
                  <a:srgbClr val="10B981"/>
                </a:solidFill>
                <a:latin typeface="Arial" pitchFamily="34" charset="0"/>
                <a:ea typeface="Arial" pitchFamily="34" charset="-122"/>
                <a:cs typeface="Arial" pitchFamily="34" charset="-120"/>
              </a:rPr>
              <a:t>MAIRA Formulation: Formulates Salmon &amp; Sweet Potato Single-Source Grain-Free Diet</a:t>
            </a:r>
            <a:endParaRPr lang="en-US" sz="850" dirty="0"/>
          </a:p>
        </p:txBody>
      </p:sp>
      <p:sp>
        <p:nvSpPr>
          <p:cNvPr id="18" name="Shape 16"/>
          <p:cNvSpPr/>
          <p:nvPr/>
        </p:nvSpPr>
        <p:spPr>
          <a:xfrm>
            <a:off x="914400" y="4023360"/>
            <a:ext cx="4800600" cy="960120"/>
          </a:xfrm>
          <a:prstGeom prst="roundRect">
            <a:avLst/>
          </a:prstGeom>
          <a:solidFill>
            <a:srgbClr val="F1F5F9"/>
          </a:solidFill>
          <a:ln w="12700">
            <a:solidFill>
              <a:srgbClr val="E2E8F0"/>
            </a:solidFill>
            <a:prstDash val="solid"/>
          </a:ln>
        </p:spPr>
      </p:sp>
      <p:sp>
        <p:nvSpPr>
          <p:cNvPr id="19" name="Text 17"/>
          <p:cNvSpPr/>
          <p:nvPr/>
        </p:nvSpPr>
        <p:spPr>
          <a:xfrm>
            <a:off x="1051560" y="4114800"/>
            <a:ext cx="4526280" cy="201168"/>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Luna (Persian Cat, 5yo)</a:t>
            </a:r>
            <a:endParaRPr lang="en-US" sz="1050" dirty="0"/>
          </a:p>
        </p:txBody>
      </p:sp>
      <p:sp>
        <p:nvSpPr>
          <p:cNvPr id="20" name="Text 18"/>
          <p:cNvSpPr/>
          <p:nvPr/>
        </p:nvSpPr>
        <p:spPr>
          <a:xfrm>
            <a:off x="1051560" y="4334256"/>
            <a:ext cx="4526280" cy="182880"/>
          </a:xfrm>
          <a:prstGeom prst="rect">
            <a:avLst/>
          </a:prstGeom>
          <a:noFill/>
          <a:ln/>
        </p:spPr>
        <p:txBody>
          <a:bodyPr wrap="square" rtlCol="0" anchor="ctr"/>
          <a:lstStyle/>
          <a:p>
            <a:pPr indent="0" marL="0">
              <a:buNone/>
            </a:pPr>
            <a:r>
              <a:rPr lang="en-US" sz="850" b="1" dirty="0">
                <a:solidFill>
                  <a:srgbClr val="EF4444"/>
                </a:solidFill>
                <a:latin typeface="Arial" pitchFamily="34" charset="0"/>
                <a:ea typeface="Arial" pitchFamily="34" charset="-122"/>
                <a:cs typeface="Arial" pitchFamily="34" charset="-120"/>
              </a:rPr>
              <a:t>Allergy Profile: Struvite Crystal Urolithiasis Risk</a:t>
            </a:r>
            <a:endParaRPr lang="en-US" sz="850" dirty="0"/>
          </a:p>
        </p:txBody>
      </p:sp>
      <p:sp>
        <p:nvSpPr>
          <p:cNvPr id="21" name="Text 19"/>
          <p:cNvSpPr/>
          <p:nvPr/>
        </p:nvSpPr>
        <p:spPr>
          <a:xfrm>
            <a:off x="1051560" y="4535424"/>
            <a:ext cx="4526280" cy="365760"/>
          </a:xfrm>
          <a:prstGeom prst="rect">
            <a:avLst/>
          </a:prstGeom>
          <a:noFill/>
          <a:ln/>
        </p:spPr>
        <p:txBody>
          <a:bodyPr wrap="square" rtlCol="0" anchor="ctr"/>
          <a:lstStyle/>
          <a:p>
            <a:pPr indent="0" marL="0">
              <a:lnSpc>
                <a:spcPts val="1200"/>
              </a:lnSpc>
              <a:buNone/>
            </a:pPr>
            <a:r>
              <a:rPr lang="en-US" sz="850" dirty="0">
                <a:solidFill>
                  <a:srgbClr val="10B981"/>
                </a:solidFill>
                <a:latin typeface="Arial" pitchFamily="34" charset="0"/>
                <a:ea typeface="Arial" pitchFamily="34" charset="-122"/>
                <a:cs typeface="Arial" pitchFamily="34" charset="-120"/>
              </a:rPr>
              <a:t>MAIRA Formulation: Prescribes Urinary S/O Low-Ash Wet Food with Magnesium Control</a:t>
            </a:r>
            <a:endParaRPr lang="en-US" sz="850" dirty="0"/>
          </a:p>
        </p:txBody>
      </p:sp>
      <p:sp>
        <p:nvSpPr>
          <p:cNvPr id="22" name="Shape 20"/>
          <p:cNvSpPr/>
          <p:nvPr/>
        </p:nvSpPr>
        <p:spPr>
          <a:xfrm>
            <a:off x="914400" y="5074920"/>
            <a:ext cx="4800600" cy="960120"/>
          </a:xfrm>
          <a:prstGeom prst="roundRect">
            <a:avLst/>
          </a:prstGeom>
          <a:solidFill>
            <a:srgbClr val="F1F5F9"/>
          </a:solidFill>
          <a:ln w="12700">
            <a:solidFill>
              <a:srgbClr val="E2E8F0"/>
            </a:solidFill>
            <a:prstDash val="solid"/>
          </a:ln>
        </p:spPr>
      </p:sp>
      <p:sp>
        <p:nvSpPr>
          <p:cNvPr id="23" name="Text 21"/>
          <p:cNvSpPr/>
          <p:nvPr/>
        </p:nvSpPr>
        <p:spPr>
          <a:xfrm>
            <a:off x="1051560" y="5166360"/>
            <a:ext cx="4526280" cy="201168"/>
          </a:xfrm>
          <a:prstGeom prst="rect">
            <a:avLst/>
          </a:prstGeom>
          <a:noFill/>
          <a:ln/>
        </p:spPr>
        <p:txBody>
          <a:bodyPr wrap="square" rtlCol="0" anchor="ctr"/>
          <a:lstStyle/>
          <a:p>
            <a:pPr indent="0" marL="0">
              <a:buNone/>
            </a:pPr>
            <a:r>
              <a:rPr lang="en-US" sz="1050" b="1" dirty="0">
                <a:solidFill>
                  <a:srgbClr val="0F172A"/>
                </a:solidFill>
                <a:latin typeface="Arial" pitchFamily="34" charset="0"/>
                <a:ea typeface="Arial" pitchFamily="34" charset="-122"/>
                <a:cs typeface="Arial" pitchFamily="34" charset="-120"/>
              </a:rPr>
              <a:t>Rocky (German Shepherd, 2yo)</a:t>
            </a:r>
            <a:endParaRPr lang="en-US" sz="1050" dirty="0"/>
          </a:p>
        </p:txBody>
      </p:sp>
      <p:sp>
        <p:nvSpPr>
          <p:cNvPr id="24" name="Text 22"/>
          <p:cNvSpPr/>
          <p:nvPr/>
        </p:nvSpPr>
        <p:spPr>
          <a:xfrm>
            <a:off x="1051560" y="5385816"/>
            <a:ext cx="4526280" cy="182880"/>
          </a:xfrm>
          <a:prstGeom prst="rect">
            <a:avLst/>
          </a:prstGeom>
          <a:noFill/>
          <a:ln/>
        </p:spPr>
        <p:txBody>
          <a:bodyPr wrap="square" rtlCol="0" anchor="ctr"/>
          <a:lstStyle/>
          <a:p>
            <a:pPr indent="0" marL="0">
              <a:buNone/>
            </a:pPr>
            <a:r>
              <a:rPr lang="en-US" sz="850" b="1" dirty="0">
                <a:solidFill>
                  <a:srgbClr val="EF4444"/>
                </a:solidFill>
                <a:latin typeface="Arial" pitchFamily="34" charset="0"/>
                <a:ea typeface="Arial" pitchFamily="34" charset="-122"/>
                <a:cs typeface="Arial" pitchFamily="34" charset="-120"/>
              </a:rPr>
              <a:t>Allergy Profile: Canine Hip Dysplasia Stage 1</a:t>
            </a:r>
            <a:endParaRPr lang="en-US" sz="850" dirty="0"/>
          </a:p>
        </p:txBody>
      </p:sp>
      <p:sp>
        <p:nvSpPr>
          <p:cNvPr id="25" name="Text 23"/>
          <p:cNvSpPr/>
          <p:nvPr/>
        </p:nvSpPr>
        <p:spPr>
          <a:xfrm>
            <a:off x="1051560" y="5586984"/>
            <a:ext cx="4526280" cy="365760"/>
          </a:xfrm>
          <a:prstGeom prst="rect">
            <a:avLst/>
          </a:prstGeom>
          <a:noFill/>
          <a:ln/>
        </p:spPr>
        <p:txBody>
          <a:bodyPr wrap="square" rtlCol="0" anchor="ctr"/>
          <a:lstStyle/>
          <a:p>
            <a:pPr indent="0" marL="0">
              <a:lnSpc>
                <a:spcPts val="1200"/>
              </a:lnSpc>
              <a:buNone/>
            </a:pPr>
            <a:r>
              <a:rPr lang="en-US" sz="850" dirty="0">
                <a:solidFill>
                  <a:srgbClr val="10B981"/>
                </a:solidFill>
                <a:latin typeface="Arial" pitchFamily="34" charset="0"/>
                <a:ea typeface="Arial" pitchFamily="34" charset="-122"/>
                <a:cs typeface="Arial" pitchFamily="34" charset="-120"/>
              </a:rPr>
              <a:t>MAIRA Formulation: Recommends Glucosamine &amp; Chondroitin Enriched Large Breed Kibble</a:t>
            </a:r>
            <a:endParaRPr lang="en-US" sz="850" dirty="0"/>
          </a:p>
        </p:txBody>
      </p:sp>
      <p:sp>
        <p:nvSpPr>
          <p:cNvPr id="26" name="Shape 24"/>
          <p:cNvSpPr/>
          <p:nvPr/>
        </p:nvSpPr>
        <p:spPr>
          <a:xfrm>
            <a:off x="6263640" y="1783080"/>
            <a:ext cx="5193792" cy="4389120"/>
          </a:xfrm>
          <a:prstGeom prst="roundRect">
            <a:avLst/>
          </a:prstGeom>
          <a:solidFill>
            <a:srgbClr val="FFFFFF"/>
          </a:solidFill>
          <a:ln w="15240">
            <a:solidFill>
              <a:srgbClr val="CBD5E1"/>
            </a:solidFill>
            <a:prstDash val="solid"/>
          </a:ln>
        </p:spPr>
      </p:sp>
      <p:sp>
        <p:nvSpPr>
          <p:cNvPr id="27" name="Text 25"/>
          <p:cNvSpPr/>
          <p:nvPr/>
        </p:nvSpPr>
        <p:spPr>
          <a:xfrm>
            <a:off x="6492240" y="1965960"/>
            <a:ext cx="4736592" cy="228600"/>
          </a:xfrm>
          <a:prstGeom prst="rect">
            <a:avLst/>
          </a:prstGeom>
          <a:noFill/>
          <a:ln/>
        </p:spPr>
        <p:txBody>
          <a:bodyPr wrap="square" rtlCol="0" anchor="ctr"/>
          <a:lstStyle/>
          <a:p>
            <a:pPr indent="0" marL="0">
              <a:buNone/>
            </a:pPr>
            <a:r>
              <a:rPr lang="en-US" sz="1100" b="1" spc="100" kern="0" dirty="0">
                <a:solidFill>
                  <a:srgbClr val="4338CA"/>
                </a:solidFill>
                <a:latin typeface="Arial" pitchFamily="34" charset="0"/>
                <a:ea typeface="Arial" pitchFamily="34" charset="-122"/>
                <a:cs typeface="Arial" pitchFamily="34" charset="-120"/>
              </a:rPr>
              <a:t>PRODUCT RETRIEVAL &amp; CONVERSION FUNNEL</a:t>
            </a:r>
            <a:endParaRPr lang="en-US" sz="1100" dirty="0"/>
          </a:p>
        </p:txBody>
      </p:sp>
      <p:sp>
        <p:nvSpPr>
          <p:cNvPr id="28" name="Shape 26"/>
          <p:cNvSpPr/>
          <p:nvPr/>
        </p:nvSpPr>
        <p:spPr>
          <a:xfrm>
            <a:off x="6492240" y="2286000"/>
            <a:ext cx="4736592" cy="1143000"/>
          </a:xfrm>
          <a:prstGeom prst="roundRect">
            <a:avLst/>
          </a:prstGeom>
          <a:solidFill>
            <a:srgbClr val="F1F5F9"/>
          </a:solidFill>
          <a:ln w="12700">
            <a:solidFill>
              <a:srgbClr val="E2E8F0"/>
            </a:solidFill>
            <a:prstDash val="solid"/>
          </a:ln>
        </p:spPr>
      </p:sp>
      <p:sp>
        <p:nvSpPr>
          <p:cNvPr id="29" name="Text 27"/>
          <p:cNvSpPr/>
          <p:nvPr/>
        </p:nvSpPr>
        <p:spPr>
          <a:xfrm>
            <a:off x="6629400" y="2377440"/>
            <a:ext cx="3246120" cy="219456"/>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Royal Canin Veterinary Diet Gastrointestinal Cat</a:t>
            </a:r>
            <a:endParaRPr lang="en-US" sz="1000" dirty="0"/>
          </a:p>
        </p:txBody>
      </p:sp>
      <p:sp>
        <p:nvSpPr>
          <p:cNvPr id="30" name="Text 28"/>
          <p:cNvSpPr/>
          <p:nvPr/>
        </p:nvSpPr>
        <p:spPr>
          <a:xfrm>
            <a:off x="9966960" y="2377440"/>
            <a:ext cx="1097280" cy="219456"/>
          </a:xfrm>
          <a:prstGeom prst="rect">
            <a:avLst/>
          </a:prstGeom>
          <a:noFill/>
          <a:ln/>
        </p:spPr>
        <p:txBody>
          <a:bodyPr wrap="square" rtlCol="0" anchor="ctr"/>
          <a:lstStyle/>
          <a:p>
            <a:pPr algn="r" indent="0" marL="0">
              <a:buNone/>
            </a:pPr>
            <a:r>
              <a:rPr lang="en-US" sz="1000" b="1" dirty="0">
                <a:solidFill>
                  <a:srgbClr val="4338CA"/>
                </a:solidFill>
                <a:latin typeface="Arial" pitchFamily="34" charset="0"/>
                <a:ea typeface="Arial" pitchFamily="34" charset="-122"/>
                <a:cs typeface="Arial" pitchFamily="34" charset="-120"/>
              </a:rPr>
              <a:t>৳3,450</a:t>
            </a:r>
            <a:endParaRPr lang="en-US" sz="1000" dirty="0"/>
          </a:p>
        </p:txBody>
      </p:sp>
      <p:sp>
        <p:nvSpPr>
          <p:cNvPr id="31" name="Text 29"/>
          <p:cNvSpPr/>
          <p:nvPr/>
        </p:nvSpPr>
        <p:spPr>
          <a:xfrm>
            <a:off x="6629400" y="2615184"/>
            <a:ext cx="4389120"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MAIRA Score: 98.5% Allergy Safe</a:t>
            </a:r>
            <a:endParaRPr lang="en-US" sz="850" dirty="0"/>
          </a:p>
        </p:txBody>
      </p:sp>
      <p:sp>
        <p:nvSpPr>
          <p:cNvPr id="32" name="Text 30"/>
          <p:cNvSpPr/>
          <p:nvPr/>
        </p:nvSpPr>
        <p:spPr>
          <a:xfrm>
            <a:off x="6629400" y="2816352"/>
            <a:ext cx="4389120" cy="530352"/>
          </a:xfrm>
          <a:prstGeom prst="rect">
            <a:avLst/>
          </a:prstGeom>
          <a:noFill/>
          <a:ln/>
        </p:spPr>
        <p:txBody>
          <a:bodyPr wrap="square" rtlCol="0" anchor="ctr"/>
          <a:lstStyle/>
          <a:p>
            <a:pPr indent="0" marL="0">
              <a:lnSpc>
                <a:spcPts val="1200"/>
              </a:lnSpc>
              <a:buNone/>
            </a:pPr>
            <a:r>
              <a:rPr lang="en-US" sz="850" dirty="0">
                <a:solidFill>
                  <a:srgbClr val="64748B"/>
                </a:solidFill>
                <a:latin typeface="Arial" pitchFamily="34" charset="0"/>
                <a:ea typeface="Arial" pitchFamily="34" charset="-122"/>
                <a:cs typeface="Arial" pitchFamily="34" charset="-120"/>
              </a:rPr>
              <a:t>Clinically verified zero poultry byproduct. Soluble fiber ratio promotes gut microbiome repair.</a:t>
            </a:r>
            <a:endParaRPr lang="en-US" sz="850" dirty="0"/>
          </a:p>
        </p:txBody>
      </p:sp>
      <p:sp>
        <p:nvSpPr>
          <p:cNvPr id="33" name="Shape 31"/>
          <p:cNvSpPr/>
          <p:nvPr/>
        </p:nvSpPr>
        <p:spPr>
          <a:xfrm>
            <a:off x="6492240" y="3520440"/>
            <a:ext cx="4736592" cy="1143000"/>
          </a:xfrm>
          <a:prstGeom prst="roundRect">
            <a:avLst/>
          </a:prstGeom>
          <a:solidFill>
            <a:srgbClr val="F1F5F9"/>
          </a:solidFill>
          <a:ln w="12700">
            <a:solidFill>
              <a:srgbClr val="E2E8F0"/>
            </a:solidFill>
            <a:prstDash val="solid"/>
          </a:ln>
        </p:spPr>
      </p:sp>
      <p:sp>
        <p:nvSpPr>
          <p:cNvPr id="34" name="Text 32"/>
          <p:cNvSpPr/>
          <p:nvPr/>
        </p:nvSpPr>
        <p:spPr>
          <a:xfrm>
            <a:off x="6629400" y="3611880"/>
            <a:ext cx="3246120" cy="219456"/>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Taste of the Wild Pacific Stream Canine Grain-Free</a:t>
            </a:r>
            <a:endParaRPr lang="en-US" sz="1000" dirty="0"/>
          </a:p>
        </p:txBody>
      </p:sp>
      <p:sp>
        <p:nvSpPr>
          <p:cNvPr id="35" name="Text 33"/>
          <p:cNvSpPr/>
          <p:nvPr/>
        </p:nvSpPr>
        <p:spPr>
          <a:xfrm>
            <a:off x="9966960" y="3611880"/>
            <a:ext cx="1097280" cy="219456"/>
          </a:xfrm>
          <a:prstGeom prst="rect">
            <a:avLst/>
          </a:prstGeom>
          <a:noFill/>
          <a:ln/>
        </p:spPr>
        <p:txBody>
          <a:bodyPr wrap="square" rtlCol="0" anchor="ctr"/>
          <a:lstStyle/>
          <a:p>
            <a:pPr algn="r" indent="0" marL="0">
              <a:buNone/>
            </a:pPr>
            <a:r>
              <a:rPr lang="en-US" sz="1000" b="1" dirty="0">
                <a:solidFill>
                  <a:srgbClr val="4338CA"/>
                </a:solidFill>
                <a:latin typeface="Arial" pitchFamily="34" charset="0"/>
                <a:ea typeface="Arial" pitchFamily="34" charset="-122"/>
                <a:cs typeface="Arial" pitchFamily="34" charset="-120"/>
              </a:rPr>
              <a:t>৳5,800</a:t>
            </a:r>
            <a:endParaRPr lang="en-US" sz="1000" dirty="0"/>
          </a:p>
        </p:txBody>
      </p:sp>
      <p:sp>
        <p:nvSpPr>
          <p:cNvPr id="36" name="Text 34"/>
          <p:cNvSpPr/>
          <p:nvPr/>
        </p:nvSpPr>
        <p:spPr>
          <a:xfrm>
            <a:off x="6629400" y="3849624"/>
            <a:ext cx="4389120"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MAIRA Score: 96.2% Clinical Match</a:t>
            </a:r>
            <a:endParaRPr lang="en-US" sz="850" dirty="0"/>
          </a:p>
        </p:txBody>
      </p:sp>
      <p:sp>
        <p:nvSpPr>
          <p:cNvPr id="37" name="Text 35"/>
          <p:cNvSpPr/>
          <p:nvPr/>
        </p:nvSpPr>
        <p:spPr>
          <a:xfrm>
            <a:off x="6629400" y="4050792"/>
            <a:ext cx="4389120" cy="530352"/>
          </a:xfrm>
          <a:prstGeom prst="rect">
            <a:avLst/>
          </a:prstGeom>
          <a:noFill/>
          <a:ln/>
        </p:spPr>
        <p:txBody>
          <a:bodyPr wrap="square" rtlCol="0" anchor="ctr"/>
          <a:lstStyle/>
          <a:p>
            <a:pPr indent="0" marL="0">
              <a:lnSpc>
                <a:spcPts val="1200"/>
              </a:lnSpc>
              <a:buNone/>
            </a:pPr>
            <a:r>
              <a:rPr lang="en-US" sz="850" dirty="0">
                <a:solidFill>
                  <a:srgbClr val="64748B"/>
                </a:solidFill>
                <a:latin typeface="Arial" pitchFamily="34" charset="0"/>
                <a:ea typeface="Arial" pitchFamily="34" charset="-122"/>
                <a:cs typeface="Arial" pitchFamily="34" charset="-120"/>
              </a:rPr>
              <a:t>Real smoked salmon formulation. Enriched with omega fatty acids for canine dermatological recovery.</a:t>
            </a:r>
            <a:endParaRPr lang="en-US" sz="850" dirty="0"/>
          </a:p>
        </p:txBody>
      </p:sp>
      <p:sp>
        <p:nvSpPr>
          <p:cNvPr id="38" name="Shape 36"/>
          <p:cNvSpPr/>
          <p:nvPr/>
        </p:nvSpPr>
        <p:spPr>
          <a:xfrm>
            <a:off x="6492240" y="4754880"/>
            <a:ext cx="4736592" cy="1143000"/>
          </a:xfrm>
          <a:prstGeom prst="roundRect">
            <a:avLst/>
          </a:prstGeom>
          <a:solidFill>
            <a:srgbClr val="F1F5F9"/>
          </a:solidFill>
          <a:ln w="12700">
            <a:solidFill>
              <a:srgbClr val="E2E8F0"/>
            </a:solidFill>
            <a:prstDash val="solid"/>
          </a:ln>
        </p:spPr>
      </p:sp>
      <p:sp>
        <p:nvSpPr>
          <p:cNvPr id="39" name="Text 37"/>
          <p:cNvSpPr/>
          <p:nvPr/>
        </p:nvSpPr>
        <p:spPr>
          <a:xfrm>
            <a:off x="6629400" y="4846320"/>
            <a:ext cx="3246120" cy="219456"/>
          </a:xfrm>
          <a:prstGeom prst="rect">
            <a:avLst/>
          </a:prstGeom>
          <a:noFill/>
          <a:ln/>
        </p:spPr>
        <p:txBody>
          <a:bodyPr wrap="square" rtlCol="0" anchor="ctr"/>
          <a:lstStyle/>
          <a:p>
            <a:pPr indent="0" marL="0">
              <a:buNone/>
            </a:pPr>
            <a:r>
              <a:rPr lang="en-US" sz="1000" b="1" dirty="0">
                <a:solidFill>
                  <a:srgbClr val="0F172A"/>
                </a:solidFill>
                <a:latin typeface="Arial" pitchFamily="34" charset="0"/>
                <a:ea typeface="Arial" pitchFamily="34" charset="-122"/>
                <a:cs typeface="Arial" pitchFamily="34" charset="-120"/>
              </a:rPr>
              <a:t>Virbac Nutri-Plus High Energy Gel Supplement</a:t>
            </a:r>
            <a:endParaRPr lang="en-US" sz="1000" dirty="0"/>
          </a:p>
        </p:txBody>
      </p:sp>
      <p:sp>
        <p:nvSpPr>
          <p:cNvPr id="40" name="Text 38"/>
          <p:cNvSpPr/>
          <p:nvPr/>
        </p:nvSpPr>
        <p:spPr>
          <a:xfrm>
            <a:off x="9966960" y="4846320"/>
            <a:ext cx="1097280" cy="219456"/>
          </a:xfrm>
          <a:prstGeom prst="rect">
            <a:avLst/>
          </a:prstGeom>
          <a:noFill/>
          <a:ln/>
        </p:spPr>
        <p:txBody>
          <a:bodyPr wrap="square" rtlCol="0" anchor="ctr"/>
          <a:lstStyle/>
          <a:p>
            <a:pPr algn="r" indent="0" marL="0">
              <a:buNone/>
            </a:pPr>
            <a:r>
              <a:rPr lang="en-US" sz="1000" b="1" dirty="0">
                <a:solidFill>
                  <a:srgbClr val="4338CA"/>
                </a:solidFill>
                <a:latin typeface="Arial" pitchFamily="34" charset="0"/>
                <a:ea typeface="Arial" pitchFamily="34" charset="-122"/>
                <a:cs typeface="Arial" pitchFamily="34" charset="-120"/>
              </a:rPr>
              <a:t>৳1,850</a:t>
            </a:r>
            <a:endParaRPr lang="en-US" sz="1000" dirty="0"/>
          </a:p>
        </p:txBody>
      </p:sp>
      <p:sp>
        <p:nvSpPr>
          <p:cNvPr id="41" name="Text 39"/>
          <p:cNvSpPr/>
          <p:nvPr/>
        </p:nvSpPr>
        <p:spPr>
          <a:xfrm>
            <a:off x="6629400" y="5084064"/>
            <a:ext cx="4389120" cy="182880"/>
          </a:xfrm>
          <a:prstGeom prst="rect">
            <a:avLst/>
          </a:prstGeom>
          <a:noFill/>
          <a:ln/>
        </p:spPr>
        <p:txBody>
          <a:bodyPr wrap="square" rtlCol="0" anchor="ctr"/>
          <a:lstStyle/>
          <a:p>
            <a:pPr indent="0" marL="0">
              <a:buNone/>
            </a:pPr>
            <a:r>
              <a:rPr lang="en-US" sz="850" b="1" dirty="0">
                <a:solidFill>
                  <a:srgbClr val="10B981"/>
                </a:solidFill>
                <a:latin typeface="Arial" pitchFamily="34" charset="0"/>
                <a:ea typeface="Arial" pitchFamily="34" charset="-122"/>
                <a:cs typeface="Arial" pitchFamily="34" charset="-120"/>
              </a:rPr>
              <a:t>MAIRA Score: 94.0% Recovery Match</a:t>
            </a:r>
            <a:endParaRPr lang="en-US" sz="850" dirty="0"/>
          </a:p>
        </p:txBody>
      </p:sp>
      <p:sp>
        <p:nvSpPr>
          <p:cNvPr id="42" name="Text 40"/>
          <p:cNvSpPr/>
          <p:nvPr/>
        </p:nvSpPr>
        <p:spPr>
          <a:xfrm>
            <a:off x="6629400" y="5285232"/>
            <a:ext cx="4389120" cy="530352"/>
          </a:xfrm>
          <a:prstGeom prst="rect">
            <a:avLst/>
          </a:prstGeom>
          <a:noFill/>
          <a:ln/>
        </p:spPr>
        <p:txBody>
          <a:bodyPr wrap="square" rtlCol="0" anchor="ctr"/>
          <a:lstStyle/>
          <a:p>
            <a:pPr indent="0" marL="0">
              <a:lnSpc>
                <a:spcPts val="1200"/>
              </a:lnSpc>
              <a:buNone/>
            </a:pPr>
            <a:r>
              <a:rPr lang="en-US" sz="850" dirty="0">
                <a:solidFill>
                  <a:srgbClr val="64748B"/>
                </a:solidFill>
                <a:latin typeface="Arial" pitchFamily="34" charset="0"/>
                <a:ea typeface="Arial" pitchFamily="34" charset="-122"/>
                <a:cs typeface="Arial" pitchFamily="34" charset="-120"/>
              </a:rPr>
              <a:t>Essential vitamins for postoperative recovery and appetite stimulation in malnourished rescues.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sp>
      <p:sp>
        <p:nvSpPr>
          <p:cNvPr id="3" name="Text 1"/>
          <p:cNvSpPr/>
          <p:nvPr/>
        </p:nvSpPr>
        <p:spPr>
          <a:xfrm>
            <a:off x="731520" y="128016"/>
            <a:ext cx="6583680" cy="32004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 NUZZLE AI PLATFORM  |  GIGALOGY MAIRA MANAGED RAG INTEGRATION</a:t>
            </a:r>
            <a:endParaRPr lang="en-US" sz="1050" dirty="0"/>
          </a:p>
        </p:txBody>
      </p:sp>
      <p:sp>
        <p:nvSpPr>
          <p:cNvPr id="4" name="Text 2"/>
          <p:cNvSpPr/>
          <p:nvPr/>
        </p:nvSpPr>
        <p:spPr>
          <a:xfrm>
            <a:off x="7498080" y="128016"/>
            <a:ext cx="3962095" cy="320040"/>
          </a:xfrm>
          <a:prstGeom prst="rect">
            <a:avLst/>
          </a:prstGeom>
          <a:noFill/>
          <a:ln/>
        </p:spPr>
        <p:txBody>
          <a:bodyPr wrap="square" rtlCol="0" anchor="ctr"/>
          <a:lstStyle/>
          <a:p>
            <a:pPr algn="r" indent="0" marL="0">
              <a:buNone/>
            </a:pPr>
            <a:r>
              <a:rPr lang="en-US" sz="950" dirty="0">
                <a:solidFill>
                  <a:srgbClr val="94A3B8"/>
                </a:solidFill>
                <a:latin typeface="Arial" pitchFamily="34" charset="0"/>
                <a:ea typeface="Arial" pitchFamily="34" charset="-122"/>
                <a:cs typeface="Arial" pitchFamily="34" charset="-120"/>
              </a:rPr>
              <a:t>Slide 10 of 14  •  Technical &amp; Architecture Deep Dive</a:t>
            </a:r>
            <a:endParaRPr lang="en-US" sz="950" dirty="0"/>
          </a:p>
        </p:txBody>
      </p:sp>
      <p:sp>
        <p:nvSpPr>
          <p:cNvPr id="5" name="Text 3"/>
          <p:cNvSpPr/>
          <p:nvPr/>
        </p:nvSpPr>
        <p:spPr>
          <a:xfrm>
            <a:off x="731520" y="658368"/>
            <a:ext cx="10728655" cy="201168"/>
          </a:xfrm>
          <a:prstGeom prst="rect">
            <a:avLst/>
          </a:prstGeom>
          <a:noFill/>
          <a:ln/>
        </p:spPr>
        <p:txBody>
          <a:bodyPr wrap="square" rtlCol="0" anchor="ctr"/>
          <a:lstStyle/>
          <a:p>
            <a:pPr indent="0" marL="0">
              <a:buNone/>
            </a:pPr>
            <a:r>
              <a:rPr lang="en-US" sz="950" b="1" spc="120" kern="0" dirty="0">
                <a:solidFill>
                  <a:srgbClr val="4338CA"/>
                </a:solidFill>
                <a:latin typeface="Arial" pitchFamily="34" charset="0"/>
                <a:ea typeface="Arial" pitchFamily="34" charset="-122"/>
                <a:cs typeface="Arial" pitchFamily="34" charset="-120"/>
              </a:rPr>
              <a:t>DATASET ENGINEERING</a:t>
            </a:r>
            <a:endParaRPr lang="en-US" sz="950" dirty="0"/>
          </a:p>
        </p:txBody>
      </p:sp>
      <p:sp>
        <p:nvSpPr>
          <p:cNvPr id="6" name="Text 4"/>
          <p:cNvSpPr/>
          <p:nvPr/>
        </p:nvSpPr>
        <p:spPr>
          <a:xfrm>
            <a:off x="731520" y="896112"/>
            <a:ext cx="10728655" cy="384048"/>
          </a:xfrm>
          <a:prstGeom prst="rect">
            <a:avLst/>
          </a:prstGeom>
          <a:noFill/>
          <a:ln/>
        </p:spPr>
        <p:txBody>
          <a:bodyPr wrap="square" rtlCol="0" anchor="ctr"/>
          <a:lstStyle/>
          <a:p>
            <a:pPr indent="0" marL="0">
              <a:buNone/>
            </a:pPr>
            <a:r>
              <a:rPr lang="en-US" sz="1900" b="1" dirty="0">
                <a:solidFill>
                  <a:srgbClr val="0F172A"/>
                </a:solidFill>
                <a:latin typeface="Arial" pitchFamily="34" charset="0"/>
                <a:ea typeface="Arial" pitchFamily="34" charset="-122"/>
                <a:cs typeface="Arial" pitchFamily="34" charset="-120"/>
              </a:rPr>
              <a:t>Curating &amp; Training MAIRA Vector Knowledge Datasets</a:t>
            </a:r>
            <a:endParaRPr lang="en-US" sz="1900" dirty="0"/>
          </a:p>
        </p:txBody>
      </p:sp>
      <p:sp>
        <p:nvSpPr>
          <p:cNvPr id="7" name="Text 5"/>
          <p:cNvSpPr/>
          <p:nvPr/>
        </p:nvSpPr>
        <p:spPr>
          <a:xfrm>
            <a:off x="731520" y="1316736"/>
            <a:ext cx="10728655" cy="292608"/>
          </a:xfrm>
          <a:prstGeom prst="rect">
            <a:avLst/>
          </a:prstGeom>
          <a:noFill/>
          <a:ln/>
        </p:spPr>
        <p:txBody>
          <a:bodyPr wrap="square" rtlCol="0" anchor="ctr"/>
          <a:lstStyle/>
          <a:p>
            <a:pPr indent="0" marL="0">
              <a:buNone/>
            </a:pPr>
            <a:r>
              <a:rPr lang="en-US" sz="1050" dirty="0">
                <a:solidFill>
                  <a:srgbClr val="475569"/>
                </a:solidFill>
                <a:latin typeface="Arial" pitchFamily="34" charset="0"/>
                <a:ea typeface="Arial" pitchFamily="34" charset="-122"/>
                <a:cs typeface="Arial" pitchFamily="34" charset="-120"/>
              </a:rPr>
              <a:t>How Nuzzle engineered, formatted, and indexed 3 high-dimensional datasets on Gigalogy cloud.</a:t>
            </a:r>
            <a:endParaRPr lang="en-US" sz="1050" dirty="0"/>
          </a:p>
        </p:txBody>
      </p:sp>
      <p:sp>
        <p:nvSpPr>
          <p:cNvPr id="8" name="Shape 6"/>
          <p:cNvSpPr/>
          <p:nvPr/>
        </p:nvSpPr>
        <p:spPr>
          <a:xfrm>
            <a:off x="0" y="6355080"/>
            <a:ext cx="12191695" cy="502920"/>
          </a:xfrm>
          <a:prstGeom prst="rect">
            <a:avLst/>
          </a:prstGeom>
          <a:solidFill>
            <a:srgbClr val="0F172A"/>
          </a:solidFill>
          <a:ln w="12700">
            <a:solidFill>
              <a:srgbClr val="1E293B"/>
            </a:solidFill>
            <a:prstDash val="solid"/>
          </a:ln>
        </p:spPr>
      </p:sp>
      <p:sp>
        <p:nvSpPr>
          <p:cNvPr id="9" name="Text 7"/>
          <p:cNvSpPr/>
          <p:nvPr/>
        </p:nvSpPr>
        <p:spPr>
          <a:xfrm>
            <a:off x="731520" y="6446520"/>
            <a:ext cx="6583680" cy="320040"/>
          </a:xfrm>
          <a:prstGeom prst="rect">
            <a:avLst/>
          </a:prstGeom>
          <a:noFill/>
          <a:ln/>
        </p:spPr>
        <p:txBody>
          <a:bodyPr wrap="square" rtlCol="0" anchor="ctr"/>
          <a:lstStyle/>
          <a:p>
            <a:pPr indent="0" marL="0">
              <a:buNone/>
            </a:pPr>
            <a:r>
              <a:rPr lang="en-US" sz="950" dirty="0">
                <a:solidFill>
                  <a:srgbClr val="94A3B8"/>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7498080" y="6446520"/>
            <a:ext cx="3962095" cy="32004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3429000" cy="4389120"/>
          </a:xfrm>
          <a:prstGeom prst="roundRect">
            <a:avLst/>
          </a:prstGeom>
          <a:solidFill>
            <a:srgbClr val="FFFFFF"/>
          </a:solidFill>
          <a:ln w="15240">
            <a:solidFill>
              <a:srgbClr val="CBD5E1"/>
            </a:solidFill>
            <a:prstDash val="solid"/>
          </a:ln>
        </p:spPr>
      </p:sp>
      <p:sp>
        <p:nvSpPr>
          <p:cNvPr id="12" name="Text 10"/>
          <p:cNvSpPr/>
          <p:nvPr/>
        </p:nvSpPr>
        <p:spPr>
          <a:xfrm>
            <a:off x="914400" y="1965960"/>
            <a:ext cx="3063240" cy="182880"/>
          </a:xfrm>
          <a:prstGeom prst="rect">
            <a:avLst/>
          </a:prstGeom>
          <a:noFill/>
          <a:ln/>
        </p:spPr>
        <p:txBody>
          <a:bodyPr wrap="square" rtlCol="0" anchor="ctr"/>
          <a:lstStyle/>
          <a:p>
            <a:pPr indent="0" marL="0">
              <a:buNone/>
            </a:pPr>
            <a:r>
              <a:rPr lang="en-US" sz="900" b="1" dirty="0">
                <a:solidFill>
                  <a:srgbClr val="4338CA"/>
                </a:solidFill>
                <a:latin typeface="Arial" pitchFamily="34" charset="0"/>
                <a:ea typeface="Arial" pitchFamily="34" charset="-122"/>
                <a:cs typeface="Arial" pitchFamily="34" charset="-120"/>
              </a:rPr>
              <a:t>DATASET 01</a:t>
            </a:r>
            <a:endParaRPr lang="en-US" sz="900" dirty="0"/>
          </a:p>
        </p:txBody>
      </p:sp>
      <p:sp>
        <p:nvSpPr>
          <p:cNvPr id="13" name="Text 11"/>
          <p:cNvSpPr/>
          <p:nvPr/>
        </p:nvSpPr>
        <p:spPr>
          <a:xfrm>
            <a:off x="914400" y="2176272"/>
            <a:ext cx="3063240" cy="457200"/>
          </a:xfrm>
          <a:prstGeom prst="rect">
            <a:avLst/>
          </a:prstGeom>
          <a:noFill/>
          <a:ln/>
        </p:spPr>
        <p:txBody>
          <a:bodyPr wrap="square" rtlCol="0" anchor="ctr"/>
          <a:lstStyle/>
          <a:p>
            <a:pPr indent="0" marL="0">
              <a:lnSpc>
                <a:spcPts val="1600"/>
              </a:lnSpc>
              <a:buNone/>
            </a:pPr>
            <a:r>
              <a:rPr lang="en-US" sz="1300" b="1" dirty="0">
                <a:solidFill>
                  <a:srgbClr val="0F172A"/>
                </a:solidFill>
                <a:latin typeface="Arial" pitchFamily="34" charset="0"/>
                <a:ea typeface="Arial" pitchFamily="34" charset="-122"/>
                <a:cs typeface="Arial" pitchFamily="34" charset="-120"/>
              </a:rPr>
              <a:t>Lost &amp; Found Pet Radar Dataset</a:t>
            </a:r>
            <a:endParaRPr lang="en-US" sz="1300" dirty="0"/>
          </a:p>
        </p:txBody>
      </p:sp>
      <p:sp>
        <p:nvSpPr>
          <p:cNvPr id="14" name="Shape 12"/>
          <p:cNvSpPr/>
          <p:nvPr/>
        </p:nvSpPr>
        <p:spPr>
          <a:xfrm>
            <a:off x="914400" y="2670048"/>
            <a:ext cx="3063240" cy="384048"/>
          </a:xfrm>
          <a:prstGeom prst="roundRect">
            <a:avLst/>
          </a:prstGeom>
          <a:solidFill>
            <a:srgbClr val="F1F5F9"/>
          </a:solidFill>
          <a:ln w="12700">
            <a:solidFill>
              <a:srgbClr val="E2E8F0"/>
            </a:solidFill>
            <a:prstDash val="solid"/>
          </a:ln>
        </p:spPr>
      </p:sp>
      <p:sp>
        <p:nvSpPr>
          <p:cNvPr id="15" name="Text 13"/>
          <p:cNvSpPr/>
          <p:nvPr/>
        </p:nvSpPr>
        <p:spPr>
          <a:xfrm>
            <a:off x="960120" y="2724912"/>
            <a:ext cx="2971800" cy="274320"/>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ID: 564dce9b-6ca7-403a-be5e-9738de1a056b</a:t>
            </a:r>
            <a:endParaRPr lang="en-US" sz="800" dirty="0"/>
          </a:p>
        </p:txBody>
      </p:sp>
      <p:sp>
        <p:nvSpPr>
          <p:cNvPr id="16" name="Text 14"/>
          <p:cNvSpPr/>
          <p:nvPr/>
        </p:nvSpPr>
        <p:spPr>
          <a:xfrm>
            <a:off x="914400" y="3154680"/>
            <a:ext cx="3063240" cy="201168"/>
          </a:xfrm>
          <a:prstGeom prst="rect">
            <a:avLst/>
          </a:prstGeom>
          <a:noFill/>
          <a:ln/>
        </p:spPr>
        <p:txBody>
          <a:bodyPr wrap="square" rtlCol="0" anchor="ctr"/>
          <a:lstStyle/>
          <a:p>
            <a:pPr indent="0" marL="0">
              <a:buNone/>
            </a:pPr>
            <a:r>
              <a:rPr lang="en-US" sz="1000" b="1" dirty="0">
                <a:solidFill>
                  <a:srgbClr val="10B981"/>
                </a:solidFill>
                <a:latin typeface="Arial" pitchFamily="34" charset="0"/>
                <a:ea typeface="Arial" pitchFamily="34" charset="-122"/>
                <a:cs typeface="Arial" pitchFamily="34" charset="-120"/>
              </a:rPr>
              <a:t>Volume: 50 Curated Benchmark Pet Records</a:t>
            </a:r>
            <a:endParaRPr lang="en-US" sz="1000" dirty="0"/>
          </a:p>
        </p:txBody>
      </p:sp>
      <p:sp>
        <p:nvSpPr>
          <p:cNvPr id="17" name="Text 15"/>
          <p:cNvSpPr/>
          <p:nvPr/>
        </p:nvSpPr>
        <p:spPr>
          <a:xfrm>
            <a:off x="914400" y="3429000"/>
            <a:ext cx="3063240" cy="164592"/>
          </a:xfrm>
          <a:prstGeom prst="rect">
            <a:avLst/>
          </a:prstGeom>
          <a:noFill/>
          <a:ln/>
        </p:spPr>
        <p:txBody>
          <a:bodyPr wrap="square" rtlCol="0" anchor="ctr"/>
          <a:lstStyle/>
          <a:p>
            <a:pPr indent="0" marL="0">
              <a:buNone/>
            </a:pPr>
            <a:r>
              <a:rPr lang="en-US" sz="850" b="1" dirty="0">
                <a:solidFill>
                  <a:srgbClr val="64748B"/>
                </a:solidFill>
                <a:latin typeface="Arial" pitchFamily="34" charset="0"/>
                <a:ea typeface="Arial" pitchFamily="34" charset="-122"/>
                <a:cs typeface="Arial" pitchFamily="34" charset="-120"/>
              </a:rPr>
              <a:t>SCHEMA FIELDS:</a:t>
            </a:r>
            <a:endParaRPr lang="en-US" sz="850" dirty="0"/>
          </a:p>
        </p:txBody>
      </p:sp>
      <p:sp>
        <p:nvSpPr>
          <p:cNvPr id="18" name="Text 16"/>
          <p:cNvSpPr/>
          <p:nvPr/>
        </p:nvSpPr>
        <p:spPr>
          <a:xfrm>
            <a:off x="914400" y="3621024"/>
            <a:ext cx="3063240" cy="868680"/>
          </a:xfrm>
          <a:prstGeom prst="rect">
            <a:avLst/>
          </a:prstGeom>
          <a:noFill/>
          <a:ln/>
        </p:spPr>
        <p:txBody>
          <a:bodyPr wrap="square" rtlCol="0" anchor="ctr"/>
          <a:lstStyle/>
          <a:p>
            <a:pPr indent="0" marL="0">
              <a:lnSpc>
                <a:spcPts val="1200"/>
              </a:lnSpc>
              <a:buNone/>
            </a:pPr>
            <a:r>
              <a:rPr lang="en-US" sz="850" dirty="0">
                <a:solidFill>
                  <a:srgbClr val="475569"/>
                </a:solidFill>
                <a:latin typeface="Courier New" pitchFamily="34" charset="0"/>
                <a:ea typeface="Courier New" pitchFamily="34" charset="-122"/>
                <a:cs typeface="Courier New" pitchFamily="34" charset="-120"/>
              </a:rPr>
              <a:t>pet_id, pet_name, species, breed, distinctive_features, collar, last_seen_location, lat, lng, image_url, contact_phone, reward_bdt</a:t>
            </a:r>
            <a:endParaRPr lang="en-US" sz="850" dirty="0"/>
          </a:p>
        </p:txBody>
      </p:sp>
      <p:sp>
        <p:nvSpPr>
          <p:cNvPr id="19" name="Text 17"/>
          <p:cNvSpPr/>
          <p:nvPr/>
        </p:nvSpPr>
        <p:spPr>
          <a:xfrm>
            <a:off x="914400" y="4572000"/>
            <a:ext cx="3063240" cy="164592"/>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VECTOR RETRIEVAL ROLE:</a:t>
            </a:r>
            <a:endParaRPr lang="en-US" sz="850" dirty="0"/>
          </a:p>
        </p:txBody>
      </p:sp>
      <p:sp>
        <p:nvSpPr>
          <p:cNvPr id="20" name="Text 18"/>
          <p:cNvSpPr/>
          <p:nvPr/>
        </p:nvSpPr>
        <p:spPr>
          <a:xfrm>
            <a:off x="914400" y="4773168"/>
            <a:ext cx="3063240" cy="1234440"/>
          </a:xfrm>
          <a:prstGeom prst="rect">
            <a:avLst/>
          </a:prstGeom>
          <a:noFill/>
          <a:ln/>
        </p:spPr>
        <p:txBody>
          <a:bodyPr wrap="square" rtlCol="0" anchor="ctr"/>
          <a:lstStyle/>
          <a:p>
            <a:pPr indent="0" marL="0">
              <a:lnSpc>
                <a:spcPts val="1400"/>
              </a:lnSpc>
              <a:buNone/>
            </a:pPr>
            <a:r>
              <a:rPr lang="en-US" sz="950" dirty="0">
                <a:solidFill>
                  <a:srgbClr val="0F172A"/>
                </a:solidFill>
                <a:latin typeface="Arial" pitchFamily="34" charset="0"/>
                <a:ea typeface="Arial" pitchFamily="34" charset="-122"/>
                <a:cs typeface="Arial" pitchFamily="34" charset="-120"/>
              </a:rPr>
              <a:t>Indexed with dense multimodal visual embeddings and text semantics. Powers geospatial radar matching across all Dhaka districts.</a:t>
            </a:r>
            <a:endParaRPr lang="en-US" sz="950" dirty="0"/>
          </a:p>
        </p:txBody>
      </p:sp>
      <p:sp>
        <p:nvSpPr>
          <p:cNvPr id="21" name="Shape 19"/>
          <p:cNvSpPr/>
          <p:nvPr/>
        </p:nvSpPr>
        <p:spPr>
          <a:xfrm>
            <a:off x="4370832" y="1783080"/>
            <a:ext cx="3429000" cy="4389120"/>
          </a:xfrm>
          <a:prstGeom prst="roundRect">
            <a:avLst/>
          </a:prstGeom>
          <a:solidFill>
            <a:srgbClr val="FFFFFF"/>
          </a:solidFill>
          <a:ln w="15240">
            <a:solidFill>
              <a:srgbClr val="CBD5E1"/>
            </a:solidFill>
            <a:prstDash val="solid"/>
          </a:ln>
        </p:spPr>
      </p:sp>
      <p:sp>
        <p:nvSpPr>
          <p:cNvPr id="22" name="Text 20"/>
          <p:cNvSpPr/>
          <p:nvPr/>
        </p:nvSpPr>
        <p:spPr>
          <a:xfrm>
            <a:off x="4553712" y="1965960"/>
            <a:ext cx="3063240" cy="182880"/>
          </a:xfrm>
          <a:prstGeom prst="rect">
            <a:avLst/>
          </a:prstGeom>
          <a:noFill/>
          <a:ln/>
        </p:spPr>
        <p:txBody>
          <a:bodyPr wrap="square" rtlCol="0" anchor="ctr"/>
          <a:lstStyle/>
          <a:p>
            <a:pPr indent="0" marL="0">
              <a:buNone/>
            </a:pPr>
            <a:r>
              <a:rPr lang="en-US" sz="900" b="1" dirty="0">
                <a:solidFill>
                  <a:srgbClr val="4338CA"/>
                </a:solidFill>
                <a:latin typeface="Arial" pitchFamily="34" charset="0"/>
                <a:ea typeface="Arial" pitchFamily="34" charset="-122"/>
                <a:cs typeface="Arial" pitchFamily="34" charset="-120"/>
              </a:rPr>
              <a:t>DATASET 02</a:t>
            </a:r>
            <a:endParaRPr lang="en-US" sz="900" dirty="0"/>
          </a:p>
        </p:txBody>
      </p:sp>
      <p:sp>
        <p:nvSpPr>
          <p:cNvPr id="23" name="Text 21"/>
          <p:cNvSpPr/>
          <p:nvPr/>
        </p:nvSpPr>
        <p:spPr>
          <a:xfrm>
            <a:off x="4553712" y="2176272"/>
            <a:ext cx="3063240" cy="457200"/>
          </a:xfrm>
          <a:prstGeom prst="rect">
            <a:avLst/>
          </a:prstGeom>
          <a:noFill/>
          <a:ln/>
        </p:spPr>
        <p:txBody>
          <a:bodyPr wrap="square" rtlCol="0" anchor="ctr"/>
          <a:lstStyle/>
          <a:p>
            <a:pPr indent="0" marL="0">
              <a:lnSpc>
                <a:spcPts val="1600"/>
              </a:lnSpc>
              <a:buNone/>
            </a:pPr>
            <a:r>
              <a:rPr lang="en-US" sz="1300" b="1" dirty="0">
                <a:solidFill>
                  <a:srgbClr val="0F172A"/>
                </a:solidFill>
                <a:latin typeface="Arial" pitchFamily="34" charset="0"/>
                <a:ea typeface="Arial" pitchFamily="34" charset="-122"/>
                <a:cs typeface="Arial" pitchFamily="34" charset="-120"/>
              </a:rPr>
              <a:t>Veterinary Clinics &amp; Doctors Directory</a:t>
            </a:r>
            <a:endParaRPr lang="en-US" sz="1300" dirty="0"/>
          </a:p>
        </p:txBody>
      </p:sp>
      <p:sp>
        <p:nvSpPr>
          <p:cNvPr id="24" name="Shape 22"/>
          <p:cNvSpPr/>
          <p:nvPr/>
        </p:nvSpPr>
        <p:spPr>
          <a:xfrm>
            <a:off x="4553712" y="2670048"/>
            <a:ext cx="3063240" cy="384048"/>
          </a:xfrm>
          <a:prstGeom prst="roundRect">
            <a:avLst/>
          </a:prstGeom>
          <a:solidFill>
            <a:srgbClr val="F1F5F9"/>
          </a:solidFill>
          <a:ln w="12700">
            <a:solidFill>
              <a:srgbClr val="E2E8F0"/>
            </a:solidFill>
            <a:prstDash val="solid"/>
          </a:ln>
        </p:spPr>
      </p:sp>
      <p:sp>
        <p:nvSpPr>
          <p:cNvPr id="25" name="Text 23"/>
          <p:cNvSpPr/>
          <p:nvPr/>
        </p:nvSpPr>
        <p:spPr>
          <a:xfrm>
            <a:off x="4599432" y="2724912"/>
            <a:ext cx="2971800" cy="274320"/>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ID: 9dfc7c57-c072-441c-b653-1cf98247f990</a:t>
            </a:r>
            <a:endParaRPr lang="en-US" sz="800" dirty="0"/>
          </a:p>
        </p:txBody>
      </p:sp>
      <p:sp>
        <p:nvSpPr>
          <p:cNvPr id="26" name="Text 24"/>
          <p:cNvSpPr/>
          <p:nvPr/>
        </p:nvSpPr>
        <p:spPr>
          <a:xfrm>
            <a:off x="4553712" y="3154680"/>
            <a:ext cx="3063240" cy="201168"/>
          </a:xfrm>
          <a:prstGeom prst="rect">
            <a:avLst/>
          </a:prstGeom>
          <a:noFill/>
          <a:ln/>
        </p:spPr>
        <p:txBody>
          <a:bodyPr wrap="square" rtlCol="0" anchor="ctr"/>
          <a:lstStyle/>
          <a:p>
            <a:pPr indent="0" marL="0">
              <a:buNone/>
            </a:pPr>
            <a:r>
              <a:rPr lang="en-US" sz="1000" b="1" dirty="0">
                <a:solidFill>
                  <a:srgbClr val="10B981"/>
                </a:solidFill>
                <a:latin typeface="Arial" pitchFamily="34" charset="0"/>
                <a:ea typeface="Arial" pitchFamily="34" charset="-122"/>
                <a:cs typeface="Arial" pitchFamily="34" charset="-120"/>
              </a:rPr>
              <a:t>Volume: 4 Specialist Hospitals • 12 Veterinarians</a:t>
            </a:r>
            <a:endParaRPr lang="en-US" sz="1000" dirty="0"/>
          </a:p>
        </p:txBody>
      </p:sp>
      <p:sp>
        <p:nvSpPr>
          <p:cNvPr id="27" name="Text 25"/>
          <p:cNvSpPr/>
          <p:nvPr/>
        </p:nvSpPr>
        <p:spPr>
          <a:xfrm>
            <a:off x="4553712" y="3429000"/>
            <a:ext cx="3063240" cy="164592"/>
          </a:xfrm>
          <a:prstGeom prst="rect">
            <a:avLst/>
          </a:prstGeom>
          <a:noFill/>
          <a:ln/>
        </p:spPr>
        <p:txBody>
          <a:bodyPr wrap="square" rtlCol="0" anchor="ctr"/>
          <a:lstStyle/>
          <a:p>
            <a:pPr indent="0" marL="0">
              <a:buNone/>
            </a:pPr>
            <a:r>
              <a:rPr lang="en-US" sz="850" b="1" dirty="0">
                <a:solidFill>
                  <a:srgbClr val="64748B"/>
                </a:solidFill>
                <a:latin typeface="Arial" pitchFamily="34" charset="0"/>
                <a:ea typeface="Arial" pitchFamily="34" charset="-122"/>
                <a:cs typeface="Arial" pitchFamily="34" charset="-120"/>
              </a:rPr>
              <a:t>SCHEMA FIELDS:</a:t>
            </a:r>
            <a:endParaRPr lang="en-US" sz="850" dirty="0"/>
          </a:p>
        </p:txBody>
      </p:sp>
      <p:sp>
        <p:nvSpPr>
          <p:cNvPr id="28" name="Text 26"/>
          <p:cNvSpPr/>
          <p:nvPr/>
        </p:nvSpPr>
        <p:spPr>
          <a:xfrm>
            <a:off x="4553712" y="3621024"/>
            <a:ext cx="3063240" cy="868680"/>
          </a:xfrm>
          <a:prstGeom prst="rect">
            <a:avLst/>
          </a:prstGeom>
          <a:noFill/>
          <a:ln/>
        </p:spPr>
        <p:txBody>
          <a:bodyPr wrap="square" rtlCol="0" anchor="ctr"/>
          <a:lstStyle/>
          <a:p>
            <a:pPr indent="0" marL="0">
              <a:lnSpc>
                <a:spcPts val="1200"/>
              </a:lnSpc>
              <a:buNone/>
            </a:pPr>
            <a:r>
              <a:rPr lang="en-US" sz="850" dirty="0">
                <a:solidFill>
                  <a:srgbClr val="475569"/>
                </a:solidFill>
                <a:latin typeface="Courier New" pitchFamily="34" charset="0"/>
                <a:ea typeface="Courier New" pitchFamily="34" charset="-122"/>
                <a:cs typeface="Courier New" pitchFamily="34" charset="-120"/>
              </a:rPr>
              <a:t>clinic_id, clinic_name, location_address, lead_vet, contact_phone, emergency_hours, specialized_services, diagnostic_equipment</a:t>
            </a:r>
            <a:endParaRPr lang="en-US" sz="850" dirty="0"/>
          </a:p>
        </p:txBody>
      </p:sp>
      <p:sp>
        <p:nvSpPr>
          <p:cNvPr id="29" name="Text 27"/>
          <p:cNvSpPr/>
          <p:nvPr/>
        </p:nvSpPr>
        <p:spPr>
          <a:xfrm>
            <a:off x="4553712" y="4572000"/>
            <a:ext cx="3063240" cy="164592"/>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VECTOR RETRIEVAL ROLE:</a:t>
            </a:r>
            <a:endParaRPr lang="en-US" sz="850" dirty="0"/>
          </a:p>
        </p:txBody>
      </p:sp>
      <p:sp>
        <p:nvSpPr>
          <p:cNvPr id="30" name="Text 28"/>
          <p:cNvSpPr/>
          <p:nvPr/>
        </p:nvSpPr>
        <p:spPr>
          <a:xfrm>
            <a:off x="4553712" y="4773168"/>
            <a:ext cx="3063240" cy="1234440"/>
          </a:xfrm>
          <a:prstGeom prst="rect">
            <a:avLst/>
          </a:prstGeom>
          <a:noFill/>
          <a:ln/>
        </p:spPr>
        <p:txBody>
          <a:bodyPr wrap="square" rtlCol="0" anchor="ctr"/>
          <a:lstStyle/>
          <a:p>
            <a:pPr indent="0" marL="0">
              <a:lnSpc>
                <a:spcPts val="1400"/>
              </a:lnSpc>
              <a:buNone/>
            </a:pPr>
            <a:r>
              <a:rPr lang="en-US" sz="950" dirty="0">
                <a:solidFill>
                  <a:srgbClr val="0F172A"/>
                </a:solidFill>
                <a:latin typeface="Arial" pitchFamily="34" charset="0"/>
                <a:ea typeface="Arial" pitchFamily="34" charset="-122"/>
                <a:cs typeface="Arial" pitchFamily="34" charset="-120"/>
              </a:rPr>
              <a:t>Structured key-value syntax trained for case routing. Enables matching patient clinical symptoms to hospital ICU and surgical specialties.</a:t>
            </a:r>
            <a:endParaRPr lang="en-US" sz="950" dirty="0"/>
          </a:p>
        </p:txBody>
      </p:sp>
      <p:sp>
        <p:nvSpPr>
          <p:cNvPr id="31" name="Shape 29"/>
          <p:cNvSpPr/>
          <p:nvPr/>
        </p:nvSpPr>
        <p:spPr>
          <a:xfrm>
            <a:off x="8010144" y="1783080"/>
            <a:ext cx="3429000" cy="4389120"/>
          </a:xfrm>
          <a:prstGeom prst="roundRect">
            <a:avLst/>
          </a:prstGeom>
          <a:solidFill>
            <a:srgbClr val="FFFFFF"/>
          </a:solidFill>
          <a:ln w="15240">
            <a:solidFill>
              <a:srgbClr val="CBD5E1"/>
            </a:solidFill>
            <a:prstDash val="solid"/>
          </a:ln>
        </p:spPr>
      </p:sp>
      <p:sp>
        <p:nvSpPr>
          <p:cNvPr id="32" name="Text 30"/>
          <p:cNvSpPr/>
          <p:nvPr/>
        </p:nvSpPr>
        <p:spPr>
          <a:xfrm>
            <a:off x="8193024" y="1965960"/>
            <a:ext cx="3063240" cy="182880"/>
          </a:xfrm>
          <a:prstGeom prst="rect">
            <a:avLst/>
          </a:prstGeom>
          <a:noFill/>
          <a:ln/>
        </p:spPr>
        <p:txBody>
          <a:bodyPr wrap="square" rtlCol="0" anchor="ctr"/>
          <a:lstStyle/>
          <a:p>
            <a:pPr indent="0" marL="0">
              <a:buNone/>
            </a:pPr>
            <a:r>
              <a:rPr lang="en-US" sz="900" b="1" dirty="0">
                <a:solidFill>
                  <a:srgbClr val="4338CA"/>
                </a:solidFill>
                <a:latin typeface="Arial" pitchFamily="34" charset="0"/>
                <a:ea typeface="Arial" pitchFamily="34" charset="-122"/>
                <a:cs typeface="Arial" pitchFamily="34" charset="-120"/>
              </a:rPr>
              <a:t>DATASET 03</a:t>
            </a:r>
            <a:endParaRPr lang="en-US" sz="900" dirty="0"/>
          </a:p>
        </p:txBody>
      </p:sp>
      <p:sp>
        <p:nvSpPr>
          <p:cNvPr id="33" name="Text 31"/>
          <p:cNvSpPr/>
          <p:nvPr/>
        </p:nvSpPr>
        <p:spPr>
          <a:xfrm>
            <a:off x="8193024" y="2176272"/>
            <a:ext cx="3063240" cy="457200"/>
          </a:xfrm>
          <a:prstGeom prst="rect">
            <a:avLst/>
          </a:prstGeom>
          <a:noFill/>
          <a:ln/>
        </p:spPr>
        <p:txBody>
          <a:bodyPr wrap="square" rtlCol="0" anchor="ctr"/>
          <a:lstStyle/>
          <a:p>
            <a:pPr indent="0" marL="0">
              <a:lnSpc>
                <a:spcPts val="1600"/>
              </a:lnSpc>
              <a:buNone/>
            </a:pPr>
            <a:r>
              <a:rPr lang="en-US" sz="1300" b="1" dirty="0">
                <a:solidFill>
                  <a:srgbClr val="0F172A"/>
                </a:solidFill>
                <a:latin typeface="Arial" pitchFamily="34" charset="0"/>
                <a:ea typeface="Arial" pitchFamily="34" charset="-122"/>
                <a:cs typeface="Arial" pitchFamily="34" charset="-120"/>
              </a:rPr>
              <a:t>Marketplace Pet Nutrition Catalog</a:t>
            </a:r>
            <a:endParaRPr lang="en-US" sz="1300" dirty="0"/>
          </a:p>
        </p:txBody>
      </p:sp>
      <p:sp>
        <p:nvSpPr>
          <p:cNvPr id="34" name="Shape 32"/>
          <p:cNvSpPr/>
          <p:nvPr/>
        </p:nvSpPr>
        <p:spPr>
          <a:xfrm>
            <a:off x="8193024" y="2670048"/>
            <a:ext cx="3063240" cy="384048"/>
          </a:xfrm>
          <a:prstGeom prst="roundRect">
            <a:avLst/>
          </a:prstGeom>
          <a:solidFill>
            <a:srgbClr val="F1F5F9"/>
          </a:solidFill>
          <a:ln w="12700">
            <a:solidFill>
              <a:srgbClr val="E2E8F0"/>
            </a:solidFill>
            <a:prstDash val="solid"/>
          </a:ln>
        </p:spPr>
      </p:sp>
      <p:sp>
        <p:nvSpPr>
          <p:cNvPr id="35" name="Text 33"/>
          <p:cNvSpPr/>
          <p:nvPr/>
        </p:nvSpPr>
        <p:spPr>
          <a:xfrm>
            <a:off x="8238744" y="2724912"/>
            <a:ext cx="2971800" cy="274320"/>
          </a:xfrm>
          <a:prstGeom prst="rect">
            <a:avLst/>
          </a:prstGeom>
          <a:noFill/>
          <a:ln/>
        </p:spPr>
        <p:txBody>
          <a:bodyPr wrap="square" rtlCol="0" anchor="ctr"/>
          <a:lstStyle/>
          <a:p>
            <a:pPr indent="0" marL="0">
              <a:buNone/>
            </a:pPr>
            <a:r>
              <a:rPr lang="en-US" sz="800" dirty="0">
                <a:solidFill>
                  <a:srgbClr val="475569"/>
                </a:solidFill>
                <a:latin typeface="Courier New" pitchFamily="34" charset="0"/>
                <a:ea typeface="Courier New" pitchFamily="34" charset="-122"/>
                <a:cs typeface="Courier New" pitchFamily="34" charset="-120"/>
              </a:rPr>
              <a:t>ID: 1fbd9ddf-ee42-4ee6-ba50-ffaae169ffc1</a:t>
            </a:r>
            <a:endParaRPr lang="en-US" sz="800" dirty="0"/>
          </a:p>
        </p:txBody>
      </p:sp>
      <p:sp>
        <p:nvSpPr>
          <p:cNvPr id="36" name="Text 34"/>
          <p:cNvSpPr/>
          <p:nvPr/>
        </p:nvSpPr>
        <p:spPr>
          <a:xfrm>
            <a:off x="8193024" y="3154680"/>
            <a:ext cx="3063240" cy="201168"/>
          </a:xfrm>
          <a:prstGeom prst="rect">
            <a:avLst/>
          </a:prstGeom>
          <a:noFill/>
          <a:ln/>
        </p:spPr>
        <p:txBody>
          <a:bodyPr wrap="square" rtlCol="0" anchor="ctr"/>
          <a:lstStyle/>
          <a:p>
            <a:pPr indent="0" marL="0">
              <a:buNone/>
            </a:pPr>
            <a:r>
              <a:rPr lang="en-US" sz="1000" b="1" dirty="0">
                <a:solidFill>
                  <a:srgbClr val="10B981"/>
                </a:solidFill>
                <a:latin typeface="Arial" pitchFamily="34" charset="0"/>
                <a:ea typeface="Arial" pitchFamily="34" charset="-122"/>
                <a:cs typeface="Arial" pitchFamily="34" charset="-120"/>
              </a:rPr>
              <a:t>Volume: 8 Verified Feeds &amp; Medical Supplements</a:t>
            </a:r>
            <a:endParaRPr lang="en-US" sz="1000" dirty="0"/>
          </a:p>
        </p:txBody>
      </p:sp>
      <p:sp>
        <p:nvSpPr>
          <p:cNvPr id="37" name="Text 35"/>
          <p:cNvSpPr/>
          <p:nvPr/>
        </p:nvSpPr>
        <p:spPr>
          <a:xfrm>
            <a:off x="8193024" y="3429000"/>
            <a:ext cx="3063240" cy="164592"/>
          </a:xfrm>
          <a:prstGeom prst="rect">
            <a:avLst/>
          </a:prstGeom>
          <a:noFill/>
          <a:ln/>
        </p:spPr>
        <p:txBody>
          <a:bodyPr wrap="square" rtlCol="0" anchor="ctr"/>
          <a:lstStyle/>
          <a:p>
            <a:pPr indent="0" marL="0">
              <a:buNone/>
            </a:pPr>
            <a:r>
              <a:rPr lang="en-US" sz="850" b="1" dirty="0">
                <a:solidFill>
                  <a:srgbClr val="64748B"/>
                </a:solidFill>
                <a:latin typeface="Arial" pitchFamily="34" charset="0"/>
                <a:ea typeface="Arial" pitchFamily="34" charset="-122"/>
                <a:cs typeface="Arial" pitchFamily="34" charset="-120"/>
              </a:rPr>
              <a:t>SCHEMA FIELDS:</a:t>
            </a:r>
            <a:endParaRPr lang="en-US" sz="850" dirty="0"/>
          </a:p>
        </p:txBody>
      </p:sp>
      <p:sp>
        <p:nvSpPr>
          <p:cNvPr id="38" name="Text 36"/>
          <p:cNvSpPr/>
          <p:nvPr/>
        </p:nvSpPr>
        <p:spPr>
          <a:xfrm>
            <a:off x="8193024" y="3621024"/>
            <a:ext cx="3063240" cy="868680"/>
          </a:xfrm>
          <a:prstGeom prst="rect">
            <a:avLst/>
          </a:prstGeom>
          <a:noFill/>
          <a:ln/>
        </p:spPr>
        <p:txBody>
          <a:bodyPr wrap="square" rtlCol="0" anchor="ctr"/>
          <a:lstStyle/>
          <a:p>
            <a:pPr indent="0" marL="0">
              <a:lnSpc>
                <a:spcPts val="1200"/>
              </a:lnSpc>
              <a:buNone/>
            </a:pPr>
            <a:r>
              <a:rPr lang="en-US" sz="850" dirty="0">
                <a:solidFill>
                  <a:srgbClr val="475569"/>
                </a:solidFill>
                <a:latin typeface="Courier New" pitchFamily="34" charset="0"/>
                <a:ea typeface="Courier New" pitchFamily="34" charset="-122"/>
                <a:cs typeface="Courier New" pitchFamily="34" charset="-120"/>
              </a:rPr>
              <a:t>product_id, title, target_species, dietary_class, price_bdt, active_ingredients, guaranteed_analysis, allergy_exemptions</a:t>
            </a:r>
            <a:endParaRPr lang="en-US" sz="850" dirty="0"/>
          </a:p>
        </p:txBody>
      </p:sp>
      <p:sp>
        <p:nvSpPr>
          <p:cNvPr id="39" name="Text 37"/>
          <p:cNvSpPr/>
          <p:nvPr/>
        </p:nvSpPr>
        <p:spPr>
          <a:xfrm>
            <a:off x="8193024" y="4572000"/>
            <a:ext cx="3063240" cy="164592"/>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VECTOR RETRIEVAL ROLE:</a:t>
            </a:r>
            <a:endParaRPr lang="en-US" sz="850" dirty="0"/>
          </a:p>
        </p:txBody>
      </p:sp>
      <p:sp>
        <p:nvSpPr>
          <p:cNvPr id="40" name="Text 38"/>
          <p:cNvSpPr/>
          <p:nvPr/>
        </p:nvSpPr>
        <p:spPr>
          <a:xfrm>
            <a:off x="8193024" y="4773168"/>
            <a:ext cx="3063240" cy="1234440"/>
          </a:xfrm>
          <a:prstGeom prst="rect">
            <a:avLst/>
          </a:prstGeom>
          <a:noFill/>
          <a:ln/>
        </p:spPr>
        <p:txBody>
          <a:bodyPr wrap="square" rtlCol="0" anchor="ctr"/>
          <a:lstStyle/>
          <a:p>
            <a:pPr indent="0" marL="0">
              <a:lnSpc>
                <a:spcPts val="1400"/>
              </a:lnSpc>
              <a:buNone/>
            </a:pPr>
            <a:r>
              <a:rPr lang="en-US" sz="950" dirty="0">
                <a:solidFill>
                  <a:srgbClr val="0F172A"/>
                </a:solidFill>
                <a:latin typeface="Arial" pitchFamily="34" charset="0"/>
                <a:ea typeface="Arial" pitchFamily="34" charset="-122"/>
                <a:cs typeface="Arial" pitchFamily="34" charset="-120"/>
              </a:rPr>
              <a:t>Semantic ingredient cross-referencing. Prevents recommending poultry-based feeds to allergic canines and matches clinical diets.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sp>
      <p:sp>
        <p:nvSpPr>
          <p:cNvPr id="3" name="Text 1"/>
          <p:cNvSpPr/>
          <p:nvPr/>
        </p:nvSpPr>
        <p:spPr>
          <a:xfrm>
            <a:off x="731520" y="128016"/>
            <a:ext cx="6583680" cy="32004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 NUZZLE AI PLATFORM  |  GIGALOGY MAIRA MANAGED RAG INTEGRATION</a:t>
            </a:r>
            <a:endParaRPr lang="en-US" sz="1050" dirty="0"/>
          </a:p>
        </p:txBody>
      </p:sp>
      <p:sp>
        <p:nvSpPr>
          <p:cNvPr id="4" name="Text 2"/>
          <p:cNvSpPr/>
          <p:nvPr/>
        </p:nvSpPr>
        <p:spPr>
          <a:xfrm>
            <a:off x="7498080" y="128016"/>
            <a:ext cx="3962095" cy="320040"/>
          </a:xfrm>
          <a:prstGeom prst="rect">
            <a:avLst/>
          </a:prstGeom>
          <a:noFill/>
          <a:ln/>
        </p:spPr>
        <p:txBody>
          <a:bodyPr wrap="square" rtlCol="0" anchor="ctr"/>
          <a:lstStyle/>
          <a:p>
            <a:pPr algn="r" indent="0" marL="0">
              <a:buNone/>
            </a:pPr>
            <a:r>
              <a:rPr lang="en-US" sz="950" dirty="0">
                <a:solidFill>
                  <a:srgbClr val="94A3B8"/>
                </a:solidFill>
                <a:latin typeface="Arial" pitchFamily="34" charset="0"/>
                <a:ea typeface="Arial" pitchFamily="34" charset="-122"/>
                <a:cs typeface="Arial" pitchFamily="34" charset="-120"/>
              </a:rPr>
              <a:t>Slide 11 of 14  •  Technical &amp; Architecture Deep Dive</a:t>
            </a:r>
            <a:endParaRPr lang="en-US" sz="950" dirty="0"/>
          </a:p>
        </p:txBody>
      </p:sp>
      <p:sp>
        <p:nvSpPr>
          <p:cNvPr id="5" name="Text 3"/>
          <p:cNvSpPr/>
          <p:nvPr/>
        </p:nvSpPr>
        <p:spPr>
          <a:xfrm>
            <a:off x="731520" y="658368"/>
            <a:ext cx="10728655" cy="201168"/>
          </a:xfrm>
          <a:prstGeom prst="rect">
            <a:avLst/>
          </a:prstGeom>
          <a:noFill/>
          <a:ln/>
        </p:spPr>
        <p:txBody>
          <a:bodyPr wrap="square" rtlCol="0" anchor="ctr"/>
          <a:lstStyle/>
          <a:p>
            <a:pPr indent="0" marL="0">
              <a:buNone/>
            </a:pPr>
            <a:r>
              <a:rPr lang="en-US" sz="950" b="1" spc="120" kern="0" dirty="0">
                <a:solidFill>
                  <a:srgbClr val="4338CA"/>
                </a:solidFill>
                <a:latin typeface="Arial" pitchFamily="34" charset="0"/>
                <a:ea typeface="Arial" pitchFamily="34" charset="-122"/>
                <a:cs typeface="Arial" pitchFamily="34" charset="-120"/>
              </a:rPr>
              <a:t>TECHNICAL IMPLEMENTATION</a:t>
            </a:r>
            <a:endParaRPr lang="en-US" sz="950" dirty="0"/>
          </a:p>
        </p:txBody>
      </p:sp>
      <p:sp>
        <p:nvSpPr>
          <p:cNvPr id="6" name="Text 4"/>
          <p:cNvSpPr/>
          <p:nvPr/>
        </p:nvSpPr>
        <p:spPr>
          <a:xfrm>
            <a:off x="731520" y="896112"/>
            <a:ext cx="10728655" cy="384048"/>
          </a:xfrm>
          <a:prstGeom prst="rect">
            <a:avLst/>
          </a:prstGeom>
          <a:noFill/>
          <a:ln/>
        </p:spPr>
        <p:txBody>
          <a:bodyPr wrap="square" rtlCol="0" anchor="ctr"/>
          <a:lstStyle/>
          <a:p>
            <a:pPr indent="0" marL="0">
              <a:buNone/>
            </a:pPr>
            <a:r>
              <a:rPr lang="en-US" sz="1900" b="1" dirty="0">
                <a:solidFill>
                  <a:srgbClr val="0F172A"/>
                </a:solidFill>
                <a:latin typeface="Arial" pitchFamily="34" charset="0"/>
                <a:ea typeface="Arial" pitchFamily="34" charset="-122"/>
                <a:cs typeface="Arial" pitchFamily="34" charset="-120"/>
              </a:rPr>
              <a:t>API Protocols, Header Security &amp; Deployment Architecture</a:t>
            </a:r>
            <a:endParaRPr lang="en-US" sz="1900" dirty="0"/>
          </a:p>
        </p:txBody>
      </p:sp>
      <p:sp>
        <p:nvSpPr>
          <p:cNvPr id="7" name="Text 5"/>
          <p:cNvSpPr/>
          <p:nvPr/>
        </p:nvSpPr>
        <p:spPr>
          <a:xfrm>
            <a:off x="731520" y="1316736"/>
            <a:ext cx="10728655" cy="292608"/>
          </a:xfrm>
          <a:prstGeom prst="rect">
            <a:avLst/>
          </a:prstGeom>
          <a:noFill/>
          <a:ln/>
        </p:spPr>
        <p:txBody>
          <a:bodyPr wrap="square" rtlCol="0" anchor="ctr"/>
          <a:lstStyle/>
          <a:p>
            <a:pPr indent="0" marL="0">
              <a:buNone/>
            </a:pPr>
            <a:r>
              <a:rPr lang="en-US" sz="1050" dirty="0">
                <a:solidFill>
                  <a:srgbClr val="475569"/>
                </a:solidFill>
                <a:latin typeface="Arial" pitchFamily="34" charset="0"/>
                <a:ea typeface="Arial" pitchFamily="34" charset="-122"/>
                <a:cs typeface="Arial" pitchFamily="34" charset="-120"/>
              </a:rPr>
              <a:t>Overcoming Gigalogy authentication gotchas: Hyphenated headers, Next.js route handlers &amp; Supabase database.</a:t>
            </a:r>
            <a:endParaRPr lang="en-US" sz="1050" dirty="0"/>
          </a:p>
        </p:txBody>
      </p:sp>
      <p:sp>
        <p:nvSpPr>
          <p:cNvPr id="8" name="Shape 6"/>
          <p:cNvSpPr/>
          <p:nvPr/>
        </p:nvSpPr>
        <p:spPr>
          <a:xfrm>
            <a:off x="0" y="6355080"/>
            <a:ext cx="12191695" cy="502920"/>
          </a:xfrm>
          <a:prstGeom prst="rect">
            <a:avLst/>
          </a:prstGeom>
          <a:solidFill>
            <a:srgbClr val="0F172A"/>
          </a:solidFill>
          <a:ln w="12700">
            <a:solidFill>
              <a:srgbClr val="1E293B"/>
            </a:solidFill>
            <a:prstDash val="solid"/>
          </a:ln>
        </p:spPr>
      </p:sp>
      <p:sp>
        <p:nvSpPr>
          <p:cNvPr id="9" name="Text 7"/>
          <p:cNvSpPr/>
          <p:nvPr/>
        </p:nvSpPr>
        <p:spPr>
          <a:xfrm>
            <a:off x="731520" y="6446520"/>
            <a:ext cx="6583680" cy="320040"/>
          </a:xfrm>
          <a:prstGeom prst="rect">
            <a:avLst/>
          </a:prstGeom>
          <a:noFill/>
          <a:ln/>
        </p:spPr>
        <p:txBody>
          <a:bodyPr wrap="square" rtlCol="0" anchor="ctr"/>
          <a:lstStyle/>
          <a:p>
            <a:pPr indent="0" marL="0">
              <a:buNone/>
            </a:pPr>
            <a:r>
              <a:rPr lang="en-US" sz="950" dirty="0">
                <a:solidFill>
                  <a:srgbClr val="94A3B8"/>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7498080" y="6446520"/>
            <a:ext cx="3962095" cy="32004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5166360" cy="4389120"/>
          </a:xfrm>
          <a:prstGeom prst="roundRect">
            <a:avLst/>
          </a:prstGeom>
          <a:solidFill>
            <a:srgbClr val="0B0F19"/>
          </a:solidFill>
          <a:ln w="15240">
            <a:solidFill>
              <a:srgbClr val="334155"/>
            </a:solidFill>
            <a:prstDash val="solid"/>
          </a:ln>
        </p:spPr>
      </p:sp>
      <p:sp>
        <p:nvSpPr>
          <p:cNvPr id="12" name="Text 10"/>
          <p:cNvSpPr/>
          <p:nvPr/>
        </p:nvSpPr>
        <p:spPr>
          <a:xfrm>
            <a:off x="960120" y="1965960"/>
            <a:ext cx="4709160" cy="228600"/>
          </a:xfrm>
          <a:prstGeom prst="rect">
            <a:avLst/>
          </a:prstGeom>
          <a:noFill/>
          <a:ln/>
        </p:spPr>
        <p:txBody>
          <a:bodyPr wrap="square" rtlCol="0" anchor="ctr"/>
          <a:lstStyle/>
          <a:p>
            <a:pPr indent="0" marL="0">
              <a:buNone/>
            </a:pPr>
            <a:r>
              <a:rPr lang="en-US" sz="950" b="1" dirty="0">
                <a:solidFill>
                  <a:srgbClr val="38BDF8"/>
                </a:solidFill>
                <a:latin typeface="Courier New" pitchFamily="34" charset="0"/>
                <a:ea typeface="Courier New" pitchFamily="34" charset="-122"/>
                <a:cs typeface="Courier New" pitchFamily="34" charset="-120"/>
              </a:rPr>
              <a:t>SRC/LIB/MAIRA/MAIRA-CLIENT.TS (PRODUCTION INGRESS)</a:t>
            </a:r>
            <a:endParaRPr lang="en-US" sz="950" dirty="0"/>
          </a:p>
        </p:txBody>
      </p:sp>
      <p:sp>
        <p:nvSpPr>
          <p:cNvPr id="13" name="Text 11"/>
          <p:cNvSpPr/>
          <p:nvPr/>
        </p:nvSpPr>
        <p:spPr>
          <a:xfrm>
            <a:off x="960120" y="2240280"/>
            <a:ext cx="4709160" cy="3749040"/>
          </a:xfrm>
          <a:prstGeom prst="rect">
            <a:avLst/>
          </a:prstGeom>
          <a:noFill/>
          <a:ln/>
        </p:spPr>
        <p:txBody>
          <a:bodyPr wrap="square" rtlCol="0" anchor="ctr"/>
          <a:lstStyle/>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class MairaClient {</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private getHeaders(): Record&lt;string, string&gt; {</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 CRITICAL: Gigalogy requires hyphenated header names</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return {</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'api-key': this.apiKey,        // NOT 'apikey'</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'project-key': this.projectKey, // NOT 'projectkey'</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'Content-Type': 'application/json',</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'Accept': 'application/json',</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a:t>
            </a:r>
            <a:endParaRPr lang="en-US" sz="850" dirty="0"/>
          </a:p>
          <a:p>
            <a:pPr indent="0" marL="0">
              <a:lnSpc>
                <a:spcPts val="1200"/>
              </a:lnSpc>
              <a:buNone/>
            </a:pP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async ask(options: MairaAskOptions): Promise&lt;MairaAskResponse&gt; {</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const res = await fetch(`${this.baseUrl}/maira/ask`, {</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method: 'POST',</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headers: this.getHeaders(),</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body: JSON.stringify({</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user_id: options.user_id,</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query: options.query,</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conversation_type: 'question',</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gpt_profile_id: options.gpt_profile_id,</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context_preference: options.context_preference,</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top_k: options.top_k || 10,</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is_keyword_enabled: true</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signal: AbortSignal.timeout(12000)</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return await res.json();</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  }</a:t>
            </a:r>
            <a:endParaRPr lang="en-US" sz="850" dirty="0"/>
          </a:p>
          <a:p>
            <a:pPr indent="0" marL="0">
              <a:lnSpc>
                <a:spcPts val="1200"/>
              </a:lnSpc>
              <a:buNone/>
            </a:pPr>
            <a:r>
              <a:rPr lang="en-US" sz="850" dirty="0">
                <a:solidFill>
                  <a:srgbClr val="E2E8F0"/>
                </a:solidFill>
                <a:latin typeface="Courier New" pitchFamily="34" charset="0"/>
                <a:ea typeface="Courier New" pitchFamily="34" charset="-122"/>
                <a:cs typeface="Courier New" pitchFamily="34" charset="-120"/>
              </a:rPr>
              <a:t>}</a:t>
            </a:r>
            <a:endParaRPr lang="en-US" sz="850" dirty="0"/>
          </a:p>
        </p:txBody>
      </p:sp>
      <p:sp>
        <p:nvSpPr>
          <p:cNvPr id="14" name="Shape 12"/>
          <p:cNvSpPr/>
          <p:nvPr/>
        </p:nvSpPr>
        <p:spPr>
          <a:xfrm>
            <a:off x="6263640" y="1783080"/>
            <a:ext cx="5193792" cy="4389120"/>
          </a:xfrm>
          <a:prstGeom prst="roundRect">
            <a:avLst/>
          </a:prstGeom>
          <a:solidFill>
            <a:srgbClr val="FFFFFF"/>
          </a:solidFill>
          <a:ln w="15240">
            <a:solidFill>
              <a:srgbClr val="CBD5E1"/>
            </a:solidFill>
            <a:prstDash val="solid"/>
          </a:ln>
        </p:spPr>
      </p:sp>
      <p:sp>
        <p:nvSpPr>
          <p:cNvPr id="15" name="Text 13"/>
          <p:cNvSpPr/>
          <p:nvPr/>
        </p:nvSpPr>
        <p:spPr>
          <a:xfrm>
            <a:off x="6492240" y="1965960"/>
            <a:ext cx="4736592" cy="228600"/>
          </a:xfrm>
          <a:prstGeom prst="rect">
            <a:avLst/>
          </a:prstGeom>
          <a:noFill/>
          <a:ln/>
        </p:spPr>
        <p:txBody>
          <a:bodyPr wrap="square" rtlCol="0" anchor="ctr"/>
          <a:lstStyle/>
          <a:p>
            <a:pPr indent="0" marL="0">
              <a:buNone/>
            </a:pPr>
            <a:r>
              <a:rPr lang="en-US" sz="1100" b="1" spc="100" kern="0" dirty="0">
                <a:solidFill>
                  <a:srgbClr val="4338CA"/>
                </a:solidFill>
                <a:latin typeface="Arial" pitchFamily="34" charset="0"/>
                <a:ea typeface="Arial" pitchFamily="34" charset="-122"/>
                <a:cs typeface="Arial" pitchFamily="34" charset="-120"/>
              </a:rPr>
              <a:t>CORE ARCHITECTURAL SAFEGUARDS</a:t>
            </a:r>
            <a:endParaRPr lang="en-US" sz="1100" dirty="0"/>
          </a:p>
        </p:txBody>
      </p:sp>
      <p:sp>
        <p:nvSpPr>
          <p:cNvPr id="16" name="Shape 14"/>
          <p:cNvSpPr/>
          <p:nvPr/>
        </p:nvSpPr>
        <p:spPr>
          <a:xfrm>
            <a:off x="6492240" y="2286000"/>
            <a:ext cx="4736592" cy="1143000"/>
          </a:xfrm>
          <a:prstGeom prst="roundRect">
            <a:avLst/>
          </a:prstGeom>
          <a:solidFill>
            <a:srgbClr val="F1F5F9"/>
          </a:solidFill>
          <a:ln w="12700">
            <a:solidFill>
              <a:srgbClr val="E2E8F0"/>
            </a:solidFill>
            <a:prstDash val="solid"/>
          </a:ln>
        </p:spPr>
      </p:sp>
      <p:sp>
        <p:nvSpPr>
          <p:cNvPr id="17" name="Text 15"/>
          <p:cNvSpPr/>
          <p:nvPr/>
        </p:nvSpPr>
        <p:spPr>
          <a:xfrm>
            <a:off x="6629400" y="2377440"/>
            <a:ext cx="4389120" cy="182880"/>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AUTH PROTOCOL</a:t>
            </a:r>
            <a:endParaRPr lang="en-US" sz="850" dirty="0"/>
          </a:p>
        </p:txBody>
      </p:sp>
      <p:sp>
        <p:nvSpPr>
          <p:cNvPr id="18" name="Text 16"/>
          <p:cNvSpPr/>
          <p:nvPr/>
        </p:nvSpPr>
        <p:spPr>
          <a:xfrm>
            <a:off x="6629400" y="2560320"/>
            <a:ext cx="4389120" cy="228600"/>
          </a:xfrm>
          <a:prstGeom prst="rect">
            <a:avLst/>
          </a:prstGeom>
          <a:noFill/>
          <a:ln/>
        </p:spPr>
        <p:txBody>
          <a:bodyPr wrap="square" rtlCol="0" anchor="ctr"/>
          <a:lstStyle/>
          <a:p>
            <a:pPr indent="0" marL="0">
              <a:buNone/>
            </a:pPr>
            <a:r>
              <a:rPr lang="en-US" sz="1100" b="1" dirty="0">
                <a:solidFill>
                  <a:srgbClr val="0F172A"/>
                </a:solidFill>
                <a:latin typeface="Arial" pitchFamily="34" charset="0"/>
                <a:ea typeface="Arial" pitchFamily="34" charset="-122"/>
                <a:cs typeface="Arial" pitchFamily="34" charset="-120"/>
              </a:rPr>
              <a:t>Hyphenated Security Header Normalization</a:t>
            </a:r>
            <a:endParaRPr lang="en-US" sz="1100" dirty="0"/>
          </a:p>
        </p:txBody>
      </p:sp>
      <p:sp>
        <p:nvSpPr>
          <p:cNvPr id="19" name="Text 17"/>
          <p:cNvSpPr/>
          <p:nvPr/>
        </p:nvSpPr>
        <p:spPr>
          <a:xfrm>
            <a:off x="6629400" y="2816352"/>
            <a:ext cx="4389120" cy="548640"/>
          </a:xfrm>
          <a:prstGeom prst="rect">
            <a:avLst/>
          </a:prstGeom>
          <a:noFill/>
          <a:ln/>
        </p:spPr>
        <p:txBody>
          <a:bodyPr wrap="square" rtlCol="0" anchor="ctr"/>
          <a:lstStyle/>
          <a:p>
            <a:pPr indent="0" marL="0">
              <a:lnSpc>
                <a:spcPts val="1300"/>
              </a:lnSpc>
              <a:buNone/>
            </a:pPr>
            <a:r>
              <a:rPr lang="en-US" sz="900" dirty="0">
                <a:solidFill>
                  <a:srgbClr val="475569"/>
                </a:solidFill>
                <a:latin typeface="Arial" pitchFamily="34" charset="0"/>
                <a:ea typeface="Arial" pitchFamily="34" charset="-122"/>
                <a:cs typeface="Arial" pitchFamily="34" charset="-120"/>
              </a:rPr>
              <a:t>Gigalogy MAIRA strictly expects hyphenated headers ("api-key", "project-key"). Standard CamelCase or non-hyphenated variants cause 401 Unauthorized. Standardized across all fetch instances.</a:t>
            </a:r>
            <a:endParaRPr lang="en-US" sz="900" dirty="0"/>
          </a:p>
        </p:txBody>
      </p:sp>
      <p:sp>
        <p:nvSpPr>
          <p:cNvPr id="20" name="Shape 18"/>
          <p:cNvSpPr/>
          <p:nvPr/>
        </p:nvSpPr>
        <p:spPr>
          <a:xfrm>
            <a:off x="6492240" y="3520440"/>
            <a:ext cx="4736592" cy="1143000"/>
          </a:xfrm>
          <a:prstGeom prst="roundRect">
            <a:avLst/>
          </a:prstGeom>
          <a:solidFill>
            <a:srgbClr val="F1F5F9"/>
          </a:solidFill>
          <a:ln w="12700">
            <a:solidFill>
              <a:srgbClr val="E2E8F0"/>
            </a:solidFill>
            <a:prstDash val="solid"/>
          </a:ln>
        </p:spPr>
      </p:sp>
      <p:sp>
        <p:nvSpPr>
          <p:cNvPr id="21" name="Text 19"/>
          <p:cNvSpPr/>
          <p:nvPr/>
        </p:nvSpPr>
        <p:spPr>
          <a:xfrm>
            <a:off x="6629400" y="3611880"/>
            <a:ext cx="4389120" cy="182880"/>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CIRCUIT BREAKER</a:t>
            </a:r>
            <a:endParaRPr lang="en-US" sz="850" dirty="0"/>
          </a:p>
        </p:txBody>
      </p:sp>
      <p:sp>
        <p:nvSpPr>
          <p:cNvPr id="22" name="Text 20"/>
          <p:cNvSpPr/>
          <p:nvPr/>
        </p:nvSpPr>
        <p:spPr>
          <a:xfrm>
            <a:off x="6629400" y="3794760"/>
            <a:ext cx="4389120" cy="228600"/>
          </a:xfrm>
          <a:prstGeom prst="rect">
            <a:avLst/>
          </a:prstGeom>
          <a:noFill/>
          <a:ln/>
        </p:spPr>
        <p:txBody>
          <a:bodyPr wrap="square" rtlCol="0" anchor="ctr"/>
          <a:lstStyle/>
          <a:p>
            <a:pPr indent="0" marL="0">
              <a:buNone/>
            </a:pPr>
            <a:r>
              <a:rPr lang="en-US" sz="1100" b="1" dirty="0">
                <a:solidFill>
                  <a:srgbClr val="0F172A"/>
                </a:solidFill>
                <a:latin typeface="Arial" pitchFamily="34" charset="0"/>
                <a:ea typeface="Arial" pitchFamily="34" charset="-122"/>
                <a:cs typeface="Arial" pitchFamily="34" charset="-120"/>
              </a:rPr>
              <a:t>12-Second Circuit Breaker Timeout</a:t>
            </a:r>
            <a:endParaRPr lang="en-US" sz="1100" dirty="0"/>
          </a:p>
        </p:txBody>
      </p:sp>
      <p:sp>
        <p:nvSpPr>
          <p:cNvPr id="23" name="Text 21"/>
          <p:cNvSpPr/>
          <p:nvPr/>
        </p:nvSpPr>
        <p:spPr>
          <a:xfrm>
            <a:off x="6629400" y="4050792"/>
            <a:ext cx="4389120" cy="548640"/>
          </a:xfrm>
          <a:prstGeom prst="rect">
            <a:avLst/>
          </a:prstGeom>
          <a:noFill/>
          <a:ln/>
        </p:spPr>
        <p:txBody>
          <a:bodyPr wrap="square" rtlCol="0" anchor="ctr"/>
          <a:lstStyle/>
          <a:p>
            <a:pPr indent="0" marL="0">
              <a:lnSpc>
                <a:spcPts val="1300"/>
              </a:lnSpc>
              <a:buNone/>
            </a:pPr>
            <a:r>
              <a:rPr lang="en-US" sz="900" dirty="0">
                <a:solidFill>
                  <a:srgbClr val="475569"/>
                </a:solidFill>
                <a:latin typeface="Arial" pitchFamily="34" charset="0"/>
                <a:ea typeface="Arial" pitchFamily="34" charset="-122"/>
                <a:cs typeface="Arial" pitchFamily="34" charset="-120"/>
              </a:rPr>
              <a:t>Mobile pet owners in triage cannot wait indefinitely on hanging network calls. AbortSignal.timeout(12000) automatically aborts sluggish queries and activates Tier-2 OpenAI fallback.</a:t>
            </a:r>
            <a:endParaRPr lang="en-US" sz="900" dirty="0"/>
          </a:p>
        </p:txBody>
      </p:sp>
      <p:sp>
        <p:nvSpPr>
          <p:cNvPr id="24" name="Shape 22"/>
          <p:cNvSpPr/>
          <p:nvPr/>
        </p:nvSpPr>
        <p:spPr>
          <a:xfrm>
            <a:off x="6492240" y="4754880"/>
            <a:ext cx="4736592" cy="1143000"/>
          </a:xfrm>
          <a:prstGeom prst="roundRect">
            <a:avLst/>
          </a:prstGeom>
          <a:solidFill>
            <a:srgbClr val="F1F5F9"/>
          </a:solidFill>
          <a:ln w="12700">
            <a:solidFill>
              <a:srgbClr val="E2E8F0"/>
            </a:solidFill>
            <a:prstDash val="solid"/>
          </a:ln>
        </p:spPr>
      </p:sp>
      <p:sp>
        <p:nvSpPr>
          <p:cNvPr id="25" name="Text 23"/>
          <p:cNvSpPr/>
          <p:nvPr/>
        </p:nvSpPr>
        <p:spPr>
          <a:xfrm>
            <a:off x="6629400" y="4846320"/>
            <a:ext cx="4389120" cy="182880"/>
          </a:xfrm>
          <a:prstGeom prst="rect">
            <a:avLst/>
          </a:prstGeom>
          <a:noFill/>
          <a:ln/>
        </p:spPr>
        <p:txBody>
          <a:bodyPr wrap="square" rtlCol="0" anchor="ctr"/>
          <a:lstStyle/>
          <a:p>
            <a:pPr indent="0" marL="0">
              <a:buNone/>
            </a:pPr>
            <a:r>
              <a:rPr lang="en-US" sz="850" b="1" dirty="0">
                <a:solidFill>
                  <a:srgbClr val="4338CA"/>
                </a:solidFill>
                <a:latin typeface="Arial" pitchFamily="34" charset="0"/>
                <a:ea typeface="Arial" pitchFamily="34" charset="-122"/>
                <a:cs typeface="Arial" pitchFamily="34" charset="-120"/>
              </a:rPr>
              <a:t>METADATA PARSER</a:t>
            </a:r>
            <a:endParaRPr lang="en-US" sz="850" dirty="0"/>
          </a:p>
        </p:txBody>
      </p:sp>
      <p:sp>
        <p:nvSpPr>
          <p:cNvPr id="26" name="Text 24"/>
          <p:cNvSpPr/>
          <p:nvPr/>
        </p:nvSpPr>
        <p:spPr>
          <a:xfrm>
            <a:off x="6629400" y="5029200"/>
            <a:ext cx="4389120" cy="228600"/>
          </a:xfrm>
          <a:prstGeom prst="rect">
            <a:avLst/>
          </a:prstGeom>
          <a:noFill/>
          <a:ln/>
        </p:spPr>
        <p:txBody>
          <a:bodyPr wrap="square" rtlCol="0" anchor="ctr"/>
          <a:lstStyle/>
          <a:p>
            <a:pPr indent="0" marL="0">
              <a:buNone/>
            </a:pPr>
            <a:r>
              <a:rPr lang="en-US" sz="1100" b="1" dirty="0">
                <a:solidFill>
                  <a:srgbClr val="0F172A"/>
                </a:solidFill>
                <a:latin typeface="Arial" pitchFamily="34" charset="0"/>
                <a:ea typeface="Arial" pitchFamily="34" charset="-122"/>
                <a:cs typeface="Arial" pitchFamily="34" charset="-120"/>
              </a:rPr>
              <a:t>Structured Key-Value Metadata Parsing</a:t>
            </a:r>
            <a:endParaRPr lang="en-US" sz="1100" dirty="0"/>
          </a:p>
        </p:txBody>
      </p:sp>
      <p:sp>
        <p:nvSpPr>
          <p:cNvPr id="27" name="Text 25"/>
          <p:cNvSpPr/>
          <p:nvPr/>
        </p:nvSpPr>
        <p:spPr>
          <a:xfrm>
            <a:off x="6629400" y="5285232"/>
            <a:ext cx="4389120" cy="548640"/>
          </a:xfrm>
          <a:prstGeom prst="rect">
            <a:avLst/>
          </a:prstGeom>
          <a:noFill/>
          <a:ln/>
        </p:spPr>
        <p:txBody>
          <a:bodyPr wrap="square" rtlCol="0" anchor="ctr"/>
          <a:lstStyle/>
          <a:p>
            <a:pPr indent="0" marL="0">
              <a:lnSpc>
                <a:spcPts val="1300"/>
              </a:lnSpc>
              <a:buNone/>
            </a:pPr>
            <a:r>
              <a:rPr lang="en-US" sz="900" dirty="0">
                <a:solidFill>
                  <a:srgbClr val="475569"/>
                </a:solidFill>
                <a:latin typeface="Arial" pitchFamily="34" charset="0"/>
                <a:ea typeface="Arial" pitchFamily="34" charset="-122"/>
                <a:cs typeface="Arial" pitchFamily="34" charset="-120"/>
              </a:rPr>
              <a:t>MAIRA reference documents return formatted multi-line strings. A custom parser (parseMairaContent) extracts pet_name, species, reward, and owner phone into strongly-typed frontend state.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sp>
      <p:sp>
        <p:nvSpPr>
          <p:cNvPr id="3" name="Text 1"/>
          <p:cNvSpPr/>
          <p:nvPr/>
        </p:nvSpPr>
        <p:spPr>
          <a:xfrm>
            <a:off x="731520" y="128016"/>
            <a:ext cx="6583680" cy="32004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 NUZZLE AI PLATFORM  |  GIGALOGY MAIRA MANAGED RAG INTEGRATION</a:t>
            </a:r>
            <a:endParaRPr lang="en-US" sz="1050" dirty="0"/>
          </a:p>
        </p:txBody>
      </p:sp>
      <p:sp>
        <p:nvSpPr>
          <p:cNvPr id="4" name="Text 2"/>
          <p:cNvSpPr/>
          <p:nvPr/>
        </p:nvSpPr>
        <p:spPr>
          <a:xfrm>
            <a:off x="7498080" y="128016"/>
            <a:ext cx="3962095" cy="320040"/>
          </a:xfrm>
          <a:prstGeom prst="rect">
            <a:avLst/>
          </a:prstGeom>
          <a:noFill/>
          <a:ln/>
        </p:spPr>
        <p:txBody>
          <a:bodyPr wrap="square" rtlCol="0" anchor="ctr"/>
          <a:lstStyle/>
          <a:p>
            <a:pPr algn="r" indent="0" marL="0">
              <a:buNone/>
            </a:pPr>
            <a:r>
              <a:rPr lang="en-US" sz="950" dirty="0">
                <a:solidFill>
                  <a:srgbClr val="94A3B8"/>
                </a:solidFill>
                <a:latin typeface="Arial" pitchFamily="34" charset="0"/>
                <a:ea typeface="Arial" pitchFamily="34" charset="-122"/>
                <a:cs typeface="Arial" pitchFamily="34" charset="-120"/>
              </a:rPr>
              <a:t>Slide 12 of 14  •  Technical &amp; Architecture Deep Dive</a:t>
            </a:r>
            <a:endParaRPr lang="en-US" sz="950" dirty="0"/>
          </a:p>
        </p:txBody>
      </p:sp>
      <p:sp>
        <p:nvSpPr>
          <p:cNvPr id="5" name="Text 3"/>
          <p:cNvSpPr/>
          <p:nvPr/>
        </p:nvSpPr>
        <p:spPr>
          <a:xfrm>
            <a:off x="731520" y="658368"/>
            <a:ext cx="10728655" cy="201168"/>
          </a:xfrm>
          <a:prstGeom prst="rect">
            <a:avLst/>
          </a:prstGeom>
          <a:noFill/>
          <a:ln/>
        </p:spPr>
        <p:txBody>
          <a:bodyPr wrap="square" rtlCol="0" anchor="ctr"/>
          <a:lstStyle/>
          <a:p>
            <a:pPr indent="0" marL="0">
              <a:buNone/>
            </a:pPr>
            <a:r>
              <a:rPr lang="en-US" sz="950" b="1" spc="120" kern="0" dirty="0">
                <a:solidFill>
                  <a:srgbClr val="4338CA"/>
                </a:solidFill>
                <a:latin typeface="Arial" pitchFamily="34" charset="0"/>
                <a:ea typeface="Arial" pitchFamily="34" charset="-122"/>
                <a:cs typeface="Arial" pitchFamily="34" charset="-120"/>
              </a:rPr>
              <a:t>RESILIENCE &amp; SECURITY</a:t>
            </a:r>
            <a:endParaRPr lang="en-US" sz="950" dirty="0"/>
          </a:p>
        </p:txBody>
      </p:sp>
      <p:sp>
        <p:nvSpPr>
          <p:cNvPr id="6" name="Text 4"/>
          <p:cNvSpPr/>
          <p:nvPr/>
        </p:nvSpPr>
        <p:spPr>
          <a:xfrm>
            <a:off x="731520" y="896112"/>
            <a:ext cx="10728655" cy="384048"/>
          </a:xfrm>
          <a:prstGeom prst="rect">
            <a:avLst/>
          </a:prstGeom>
          <a:noFill/>
          <a:ln/>
        </p:spPr>
        <p:txBody>
          <a:bodyPr wrap="square" rtlCol="0" anchor="ctr"/>
          <a:lstStyle/>
          <a:p>
            <a:pPr indent="0" marL="0">
              <a:buNone/>
            </a:pPr>
            <a:r>
              <a:rPr lang="en-US" sz="1900" b="1" dirty="0">
                <a:solidFill>
                  <a:srgbClr val="0F172A"/>
                </a:solidFill>
                <a:latin typeface="Arial" pitchFamily="34" charset="0"/>
                <a:ea typeface="Arial" pitchFamily="34" charset="-122"/>
                <a:cs typeface="Arial" pitchFamily="34" charset="-120"/>
              </a:rPr>
              <a:t>Zero-Downtime Resilience Engine &amp; Access Controls</a:t>
            </a:r>
            <a:endParaRPr lang="en-US" sz="1900" dirty="0"/>
          </a:p>
        </p:txBody>
      </p:sp>
      <p:sp>
        <p:nvSpPr>
          <p:cNvPr id="7" name="Text 5"/>
          <p:cNvSpPr/>
          <p:nvPr/>
        </p:nvSpPr>
        <p:spPr>
          <a:xfrm>
            <a:off x="731520" y="1316736"/>
            <a:ext cx="10728655" cy="292608"/>
          </a:xfrm>
          <a:prstGeom prst="rect">
            <a:avLst/>
          </a:prstGeom>
          <a:noFill/>
          <a:ln/>
        </p:spPr>
        <p:txBody>
          <a:bodyPr wrap="square" rtlCol="0" anchor="ctr"/>
          <a:lstStyle/>
          <a:p>
            <a:pPr indent="0" marL="0">
              <a:buNone/>
            </a:pPr>
            <a:r>
              <a:rPr lang="en-US" sz="1050" dirty="0">
                <a:solidFill>
                  <a:srgbClr val="475569"/>
                </a:solidFill>
                <a:latin typeface="Arial" pitchFamily="34" charset="0"/>
                <a:ea typeface="Arial" pitchFamily="34" charset="-122"/>
                <a:cs typeface="Arial" pitchFamily="34" charset="-120"/>
              </a:rPr>
              <a:t>Safeguarding user sessions against cloud outages, latency spikes, and unauthorized API tampering.</a:t>
            </a:r>
            <a:endParaRPr lang="en-US" sz="1050" dirty="0"/>
          </a:p>
        </p:txBody>
      </p:sp>
      <p:sp>
        <p:nvSpPr>
          <p:cNvPr id="8" name="Shape 6"/>
          <p:cNvSpPr/>
          <p:nvPr/>
        </p:nvSpPr>
        <p:spPr>
          <a:xfrm>
            <a:off x="0" y="6355080"/>
            <a:ext cx="12191695" cy="502920"/>
          </a:xfrm>
          <a:prstGeom prst="rect">
            <a:avLst/>
          </a:prstGeom>
          <a:solidFill>
            <a:srgbClr val="0F172A"/>
          </a:solidFill>
          <a:ln w="12700">
            <a:solidFill>
              <a:srgbClr val="1E293B"/>
            </a:solidFill>
            <a:prstDash val="solid"/>
          </a:ln>
        </p:spPr>
      </p:sp>
      <p:sp>
        <p:nvSpPr>
          <p:cNvPr id="9" name="Text 7"/>
          <p:cNvSpPr/>
          <p:nvPr/>
        </p:nvSpPr>
        <p:spPr>
          <a:xfrm>
            <a:off x="731520" y="6446520"/>
            <a:ext cx="6583680" cy="320040"/>
          </a:xfrm>
          <a:prstGeom prst="rect">
            <a:avLst/>
          </a:prstGeom>
          <a:noFill/>
          <a:ln/>
        </p:spPr>
        <p:txBody>
          <a:bodyPr wrap="square" rtlCol="0" anchor="ctr"/>
          <a:lstStyle/>
          <a:p>
            <a:pPr indent="0" marL="0">
              <a:buNone/>
            </a:pPr>
            <a:r>
              <a:rPr lang="en-US" sz="950" dirty="0">
                <a:solidFill>
                  <a:srgbClr val="94A3B8"/>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7498080" y="6446520"/>
            <a:ext cx="3962095" cy="32004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3429000" cy="4389120"/>
          </a:xfrm>
          <a:prstGeom prst="roundRect">
            <a:avLst/>
          </a:prstGeom>
          <a:solidFill>
            <a:srgbClr val="FFFFFF"/>
          </a:solidFill>
          <a:ln w="15240">
            <a:solidFill>
              <a:srgbClr val="CBD5E1"/>
            </a:solidFill>
            <a:prstDash val="solid"/>
          </a:ln>
        </p:spPr>
      </p:sp>
      <p:sp>
        <p:nvSpPr>
          <p:cNvPr id="12" name="Shape 10"/>
          <p:cNvSpPr/>
          <p:nvPr/>
        </p:nvSpPr>
        <p:spPr>
          <a:xfrm>
            <a:off x="868680" y="1920240"/>
            <a:ext cx="3154680" cy="594360"/>
          </a:xfrm>
          <a:prstGeom prst="roundRect">
            <a:avLst/>
          </a:prstGeom>
          <a:solidFill>
            <a:srgbClr val="ECFDF5"/>
          </a:solidFill>
          <a:ln w="12700">
            <a:solidFill>
              <a:srgbClr val="10B981"/>
            </a:solidFill>
            <a:prstDash val="solid"/>
          </a:ln>
        </p:spPr>
      </p:sp>
      <p:sp>
        <p:nvSpPr>
          <p:cNvPr id="13" name="Text 11"/>
          <p:cNvSpPr/>
          <p:nvPr/>
        </p:nvSpPr>
        <p:spPr>
          <a:xfrm>
            <a:off x="960120" y="2011680"/>
            <a:ext cx="411480" cy="41148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14" name="Text 12"/>
          <p:cNvSpPr/>
          <p:nvPr/>
        </p:nvSpPr>
        <p:spPr>
          <a:xfrm>
            <a:off x="1417320" y="2057400"/>
            <a:ext cx="2514600" cy="365760"/>
          </a:xfrm>
          <a:prstGeom prst="rect">
            <a:avLst/>
          </a:prstGeom>
          <a:noFill/>
          <a:ln/>
        </p:spPr>
        <p:txBody>
          <a:bodyPr wrap="square" rtlCol="0" anchor="ctr"/>
          <a:lstStyle/>
          <a:p>
            <a:pPr indent="0" marL="0">
              <a:buNone/>
            </a:pPr>
            <a:r>
              <a:rPr lang="en-US" sz="1100" b="1" dirty="0">
                <a:solidFill>
                  <a:srgbClr val="10B981"/>
                </a:solidFill>
                <a:latin typeface="Arial" pitchFamily="34" charset="0"/>
                <a:ea typeface="Arial" pitchFamily="34" charset="-122"/>
                <a:cs typeface="Arial" pitchFamily="34" charset="-120"/>
              </a:rPr>
              <a:t>Graceful Degradation Engine</a:t>
            </a:r>
            <a:endParaRPr lang="en-US" sz="1100" dirty="0"/>
          </a:p>
        </p:txBody>
      </p:sp>
      <p:sp>
        <p:nvSpPr>
          <p:cNvPr id="15" name="Text 13"/>
          <p:cNvSpPr/>
          <p:nvPr/>
        </p:nvSpPr>
        <p:spPr>
          <a:xfrm>
            <a:off x="914400" y="2697480"/>
            <a:ext cx="3063240" cy="822960"/>
          </a:xfrm>
          <a:prstGeom prst="rect">
            <a:avLst/>
          </a:prstGeom>
          <a:noFill/>
          <a:ln/>
        </p:spPr>
        <p:txBody>
          <a:bodyPr wrap="square" rtlCol="0" anchor="ctr"/>
          <a:lstStyle/>
          <a:p>
            <a:pPr indent="0" marL="0">
              <a:lnSpc>
                <a:spcPts val="1300"/>
              </a:lnSpc>
              <a:buNone/>
            </a:pPr>
            <a:r>
              <a:rPr lang="en-US" sz="950" dirty="0">
                <a:solidFill>
                  <a:srgbClr val="475569"/>
                </a:solidFill>
                <a:latin typeface="Arial" pitchFamily="34" charset="0"/>
                <a:ea typeface="Arial" pitchFamily="34" charset="-122"/>
                <a:cs typeface="Arial" pitchFamily="34" charset="-120"/>
              </a:rPr>
              <a:t>• Tier 1 (MAIRA RAG): Engaged for all authenticated sessions. Delivers vector similarity and reference citations.</a:t>
            </a:r>
            <a:endParaRPr lang="en-US" sz="950" dirty="0"/>
          </a:p>
        </p:txBody>
      </p:sp>
      <p:sp>
        <p:nvSpPr>
          <p:cNvPr id="16" name="Text 14"/>
          <p:cNvSpPr/>
          <p:nvPr/>
        </p:nvSpPr>
        <p:spPr>
          <a:xfrm>
            <a:off x="914400" y="3566160"/>
            <a:ext cx="3063240" cy="822960"/>
          </a:xfrm>
          <a:prstGeom prst="rect">
            <a:avLst/>
          </a:prstGeom>
          <a:noFill/>
          <a:ln/>
        </p:spPr>
        <p:txBody>
          <a:bodyPr wrap="square" rtlCol="0" anchor="ctr"/>
          <a:lstStyle/>
          <a:p>
            <a:pPr indent="0" marL="0">
              <a:lnSpc>
                <a:spcPts val="1300"/>
              </a:lnSpc>
              <a:buNone/>
            </a:pPr>
            <a:r>
              <a:rPr lang="en-US" sz="950" dirty="0">
                <a:solidFill>
                  <a:srgbClr val="475569"/>
                </a:solidFill>
                <a:latin typeface="Arial" pitchFamily="34" charset="0"/>
                <a:ea typeface="Arial" pitchFamily="34" charset="-122"/>
                <a:cs typeface="Arial" pitchFamily="34" charset="-120"/>
              </a:rPr>
              <a:t>• Tier 2 (OpenAI GPT-4o-mini): Intercepts 429, 500, or timeout errors. Answers clinical questions with system grounding.</a:t>
            </a:r>
            <a:endParaRPr lang="en-US" sz="950" dirty="0"/>
          </a:p>
        </p:txBody>
      </p:sp>
      <p:sp>
        <p:nvSpPr>
          <p:cNvPr id="17" name="Text 15"/>
          <p:cNvSpPr/>
          <p:nvPr/>
        </p:nvSpPr>
        <p:spPr>
          <a:xfrm>
            <a:off x="914400" y="4434840"/>
            <a:ext cx="3063240" cy="822960"/>
          </a:xfrm>
          <a:prstGeom prst="rect">
            <a:avLst/>
          </a:prstGeom>
          <a:noFill/>
          <a:ln/>
        </p:spPr>
        <p:txBody>
          <a:bodyPr wrap="square" rtlCol="0" anchor="ctr"/>
          <a:lstStyle/>
          <a:p>
            <a:pPr indent="0" marL="0">
              <a:lnSpc>
                <a:spcPts val="1300"/>
              </a:lnSpc>
              <a:buNone/>
            </a:pPr>
            <a:r>
              <a:rPr lang="en-US" sz="950" dirty="0">
                <a:solidFill>
                  <a:srgbClr val="475569"/>
                </a:solidFill>
                <a:latin typeface="Arial" pitchFamily="34" charset="0"/>
                <a:ea typeface="Arial" pitchFamily="34" charset="-122"/>
                <a:cs typeface="Arial" pitchFamily="34" charset="-120"/>
              </a:rPr>
              <a:t>• Tier 3 (Local Clinical Heuristics): Completely offline mode. Reads hardcoded toxic tables and clinic phone numbers.</a:t>
            </a:r>
            <a:endParaRPr lang="en-US" sz="950" dirty="0"/>
          </a:p>
        </p:txBody>
      </p:sp>
      <p:sp>
        <p:nvSpPr>
          <p:cNvPr id="18" name="Text 16"/>
          <p:cNvSpPr/>
          <p:nvPr/>
        </p:nvSpPr>
        <p:spPr>
          <a:xfrm>
            <a:off x="914400" y="5303520"/>
            <a:ext cx="3063240" cy="822960"/>
          </a:xfrm>
          <a:prstGeom prst="rect">
            <a:avLst/>
          </a:prstGeom>
          <a:noFill/>
          <a:ln/>
        </p:spPr>
        <p:txBody>
          <a:bodyPr wrap="square" rtlCol="0" anchor="ctr"/>
          <a:lstStyle/>
          <a:p>
            <a:pPr indent="0" marL="0">
              <a:lnSpc>
                <a:spcPts val="1300"/>
              </a:lnSpc>
              <a:buNone/>
            </a:pPr>
            <a:r>
              <a:rPr lang="en-US" sz="950" dirty="0">
                <a:solidFill>
                  <a:srgbClr val="475569"/>
                </a:solidFill>
                <a:latin typeface="Arial" pitchFamily="34" charset="0"/>
                <a:ea typeface="Arial" pitchFamily="34" charset="-122"/>
                <a:cs typeface="Arial" pitchFamily="34" charset="-120"/>
              </a:rPr>
              <a:t>• Zero 500 Errors: Users never receive a broken UI or blank error screen.</a:t>
            </a:r>
            <a:endParaRPr lang="en-US" sz="950" dirty="0"/>
          </a:p>
        </p:txBody>
      </p:sp>
      <p:sp>
        <p:nvSpPr>
          <p:cNvPr id="19" name="Shape 17"/>
          <p:cNvSpPr/>
          <p:nvPr/>
        </p:nvSpPr>
        <p:spPr>
          <a:xfrm>
            <a:off x="4370832" y="1783080"/>
            <a:ext cx="3429000" cy="4389120"/>
          </a:xfrm>
          <a:prstGeom prst="roundRect">
            <a:avLst/>
          </a:prstGeom>
          <a:solidFill>
            <a:srgbClr val="FFFFFF"/>
          </a:solidFill>
          <a:ln w="15240">
            <a:solidFill>
              <a:srgbClr val="CBD5E1"/>
            </a:solidFill>
            <a:prstDash val="solid"/>
          </a:ln>
        </p:spPr>
      </p:sp>
      <p:sp>
        <p:nvSpPr>
          <p:cNvPr id="20" name="Shape 18"/>
          <p:cNvSpPr/>
          <p:nvPr/>
        </p:nvSpPr>
        <p:spPr>
          <a:xfrm>
            <a:off x="4507992" y="1920240"/>
            <a:ext cx="3154680" cy="594360"/>
          </a:xfrm>
          <a:prstGeom prst="roundRect">
            <a:avLst/>
          </a:prstGeom>
          <a:solidFill>
            <a:srgbClr val="EEF2FF"/>
          </a:solidFill>
          <a:ln w="12700">
            <a:solidFill>
              <a:srgbClr val="4F46E5"/>
            </a:solidFill>
            <a:prstDash val="solid"/>
          </a:ln>
        </p:spPr>
      </p:sp>
      <p:sp>
        <p:nvSpPr>
          <p:cNvPr id="21" name="Text 19"/>
          <p:cNvSpPr/>
          <p:nvPr/>
        </p:nvSpPr>
        <p:spPr>
          <a:xfrm>
            <a:off x="4599432" y="2011680"/>
            <a:ext cx="411480" cy="41148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22" name="Text 20"/>
          <p:cNvSpPr/>
          <p:nvPr/>
        </p:nvSpPr>
        <p:spPr>
          <a:xfrm>
            <a:off x="5056632" y="2057400"/>
            <a:ext cx="2514600" cy="365760"/>
          </a:xfrm>
          <a:prstGeom prst="rect">
            <a:avLst/>
          </a:prstGeom>
          <a:noFill/>
          <a:ln/>
        </p:spPr>
        <p:txBody>
          <a:bodyPr wrap="square" rtlCol="0" anchor="ctr"/>
          <a:lstStyle/>
          <a:p>
            <a:pPr indent="0" marL="0">
              <a:buNone/>
            </a:pPr>
            <a:r>
              <a:rPr lang="en-US" sz="1100" b="1" dirty="0">
                <a:solidFill>
                  <a:srgbClr val="4F46E5"/>
                </a:solidFill>
                <a:latin typeface="Arial" pitchFamily="34" charset="0"/>
                <a:ea typeface="Arial" pitchFamily="34" charset="-122"/>
                <a:cs typeface="Arial" pitchFamily="34" charset="-120"/>
              </a:rPr>
              <a:t>Role-Based Access &amp; Rate Limiting</a:t>
            </a:r>
            <a:endParaRPr lang="en-US" sz="1100" dirty="0"/>
          </a:p>
        </p:txBody>
      </p:sp>
      <p:sp>
        <p:nvSpPr>
          <p:cNvPr id="23" name="Text 21"/>
          <p:cNvSpPr/>
          <p:nvPr/>
        </p:nvSpPr>
        <p:spPr>
          <a:xfrm>
            <a:off x="4553712" y="2697480"/>
            <a:ext cx="3063240" cy="822960"/>
          </a:xfrm>
          <a:prstGeom prst="rect">
            <a:avLst/>
          </a:prstGeom>
          <a:noFill/>
          <a:ln/>
        </p:spPr>
        <p:txBody>
          <a:bodyPr wrap="square" rtlCol="0" anchor="ctr"/>
          <a:lstStyle/>
          <a:p>
            <a:pPr indent="0" marL="0">
              <a:lnSpc>
                <a:spcPts val="1300"/>
              </a:lnSpc>
              <a:buNone/>
            </a:pPr>
            <a:r>
              <a:rPr lang="en-US" sz="950" dirty="0">
                <a:solidFill>
                  <a:srgbClr val="475569"/>
                </a:solidFill>
                <a:latin typeface="Arial" pitchFamily="34" charset="0"/>
                <a:ea typeface="Arial" pitchFamily="34" charset="-122"/>
                <a:cs typeface="Arial" pitchFamily="34" charset="-120"/>
              </a:rPr>
              <a:t>• Token-Bucket Rate Limiting: 60 requests per minute per IP address preventing API cost exhaustion.</a:t>
            </a:r>
            <a:endParaRPr lang="en-US" sz="950" dirty="0"/>
          </a:p>
        </p:txBody>
      </p:sp>
      <p:sp>
        <p:nvSpPr>
          <p:cNvPr id="24" name="Text 22"/>
          <p:cNvSpPr/>
          <p:nvPr/>
        </p:nvSpPr>
        <p:spPr>
          <a:xfrm>
            <a:off x="4553712" y="3566160"/>
            <a:ext cx="3063240" cy="822960"/>
          </a:xfrm>
          <a:prstGeom prst="rect">
            <a:avLst/>
          </a:prstGeom>
          <a:noFill/>
          <a:ln/>
        </p:spPr>
        <p:txBody>
          <a:bodyPr wrap="square" rtlCol="0" anchor="ctr"/>
          <a:lstStyle/>
          <a:p>
            <a:pPr indent="0" marL="0">
              <a:lnSpc>
                <a:spcPts val="1300"/>
              </a:lnSpc>
              <a:buNone/>
            </a:pPr>
            <a:r>
              <a:rPr lang="en-US" sz="950" dirty="0">
                <a:solidFill>
                  <a:srgbClr val="475569"/>
                </a:solidFill>
                <a:latin typeface="Arial" pitchFamily="34" charset="0"/>
                <a:ea typeface="Arial" pitchFamily="34" charset="-122"/>
                <a:cs typeface="Arial" pitchFamily="34" charset="-120"/>
              </a:rPr>
              <a:t>• Supabase Auth Session Validation: Clinical endpoints verify active Bearer JWT tokens on ingress.</a:t>
            </a:r>
            <a:endParaRPr lang="en-US" sz="950" dirty="0"/>
          </a:p>
        </p:txBody>
      </p:sp>
      <p:sp>
        <p:nvSpPr>
          <p:cNvPr id="25" name="Text 23"/>
          <p:cNvSpPr/>
          <p:nvPr/>
        </p:nvSpPr>
        <p:spPr>
          <a:xfrm>
            <a:off x="4553712" y="4434840"/>
            <a:ext cx="3063240" cy="822960"/>
          </a:xfrm>
          <a:prstGeom prst="rect">
            <a:avLst/>
          </a:prstGeom>
          <a:noFill/>
          <a:ln/>
        </p:spPr>
        <p:txBody>
          <a:bodyPr wrap="square" rtlCol="0" anchor="ctr"/>
          <a:lstStyle/>
          <a:p>
            <a:pPr indent="0" marL="0">
              <a:lnSpc>
                <a:spcPts val="1300"/>
              </a:lnSpc>
              <a:buNone/>
            </a:pPr>
            <a:r>
              <a:rPr lang="en-US" sz="950" dirty="0">
                <a:solidFill>
                  <a:srgbClr val="475569"/>
                </a:solidFill>
                <a:latin typeface="Arial" pitchFamily="34" charset="0"/>
                <a:ea typeface="Arial" pitchFamily="34" charset="-122"/>
                <a:cs typeface="Arial" pitchFamily="34" charset="-120"/>
              </a:rPr>
              <a:t>• Server-Side Secret Isolation: MAIRA API keys and project IDs remain strictly on server environment.</a:t>
            </a:r>
            <a:endParaRPr lang="en-US" sz="950" dirty="0"/>
          </a:p>
        </p:txBody>
      </p:sp>
      <p:sp>
        <p:nvSpPr>
          <p:cNvPr id="26" name="Text 24"/>
          <p:cNvSpPr/>
          <p:nvPr/>
        </p:nvSpPr>
        <p:spPr>
          <a:xfrm>
            <a:off x="4553712" y="5303520"/>
            <a:ext cx="3063240" cy="822960"/>
          </a:xfrm>
          <a:prstGeom prst="rect">
            <a:avLst/>
          </a:prstGeom>
          <a:noFill/>
          <a:ln/>
        </p:spPr>
        <p:txBody>
          <a:bodyPr wrap="square" rtlCol="0" anchor="ctr"/>
          <a:lstStyle/>
          <a:p>
            <a:pPr indent="0" marL="0">
              <a:lnSpc>
                <a:spcPts val="1300"/>
              </a:lnSpc>
              <a:buNone/>
            </a:pPr>
            <a:r>
              <a:rPr lang="en-US" sz="950" dirty="0">
                <a:solidFill>
                  <a:srgbClr val="475569"/>
                </a:solidFill>
                <a:latin typeface="Arial" pitchFamily="34" charset="0"/>
                <a:ea typeface="Arial" pitchFamily="34" charset="-122"/>
                <a:cs typeface="Arial" pitchFamily="34" charset="-120"/>
              </a:rPr>
              <a:t>• GDPR &amp; PII Privacy: Pet medical records anonymized before sending to vector ingestion pipelines.</a:t>
            </a:r>
            <a:endParaRPr lang="en-US" sz="950" dirty="0"/>
          </a:p>
        </p:txBody>
      </p:sp>
      <p:sp>
        <p:nvSpPr>
          <p:cNvPr id="27" name="Shape 25"/>
          <p:cNvSpPr/>
          <p:nvPr/>
        </p:nvSpPr>
        <p:spPr>
          <a:xfrm>
            <a:off x="8010144" y="1783080"/>
            <a:ext cx="3429000" cy="4389120"/>
          </a:xfrm>
          <a:prstGeom prst="roundRect">
            <a:avLst/>
          </a:prstGeom>
          <a:solidFill>
            <a:srgbClr val="FFFFFF"/>
          </a:solidFill>
          <a:ln w="15240">
            <a:solidFill>
              <a:srgbClr val="CBD5E1"/>
            </a:solidFill>
            <a:prstDash val="solid"/>
          </a:ln>
        </p:spPr>
      </p:sp>
      <p:sp>
        <p:nvSpPr>
          <p:cNvPr id="28" name="Shape 26"/>
          <p:cNvSpPr/>
          <p:nvPr/>
        </p:nvSpPr>
        <p:spPr>
          <a:xfrm>
            <a:off x="8147304" y="1920240"/>
            <a:ext cx="3154680" cy="594360"/>
          </a:xfrm>
          <a:prstGeom prst="roundRect">
            <a:avLst/>
          </a:prstGeom>
          <a:solidFill>
            <a:srgbClr val="FEF2F2"/>
          </a:solidFill>
          <a:ln w="12700">
            <a:solidFill>
              <a:srgbClr val="EF4444"/>
            </a:solidFill>
            <a:prstDash val="solid"/>
          </a:ln>
        </p:spPr>
      </p:sp>
      <p:sp>
        <p:nvSpPr>
          <p:cNvPr id="29" name="Text 27"/>
          <p:cNvSpPr/>
          <p:nvPr/>
        </p:nvSpPr>
        <p:spPr>
          <a:xfrm>
            <a:off x="8238744" y="2011680"/>
            <a:ext cx="411480" cy="41148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30" name="Text 28"/>
          <p:cNvSpPr/>
          <p:nvPr/>
        </p:nvSpPr>
        <p:spPr>
          <a:xfrm>
            <a:off x="8695944" y="2057400"/>
            <a:ext cx="2514600" cy="365760"/>
          </a:xfrm>
          <a:prstGeom prst="rect">
            <a:avLst/>
          </a:prstGeom>
          <a:noFill/>
          <a:ln/>
        </p:spPr>
        <p:txBody>
          <a:bodyPr wrap="square" rtlCol="0" anchor="ctr"/>
          <a:lstStyle/>
          <a:p>
            <a:pPr indent="0" marL="0">
              <a:buNone/>
            </a:pPr>
            <a:r>
              <a:rPr lang="en-US" sz="1100" b="1" dirty="0">
                <a:solidFill>
                  <a:srgbClr val="EF4444"/>
                </a:solidFill>
                <a:latin typeface="Arial" pitchFamily="34" charset="0"/>
                <a:ea typeface="Arial" pitchFamily="34" charset="-122"/>
                <a:cs typeface="Arial" pitchFamily="34" charset="-120"/>
              </a:rPr>
              <a:t>Clinical Safety Guardrails</a:t>
            </a:r>
            <a:endParaRPr lang="en-US" sz="1100" dirty="0"/>
          </a:p>
        </p:txBody>
      </p:sp>
      <p:sp>
        <p:nvSpPr>
          <p:cNvPr id="31" name="Text 29"/>
          <p:cNvSpPr/>
          <p:nvPr/>
        </p:nvSpPr>
        <p:spPr>
          <a:xfrm>
            <a:off x="8193024" y="2697480"/>
            <a:ext cx="3063240" cy="822960"/>
          </a:xfrm>
          <a:prstGeom prst="rect">
            <a:avLst/>
          </a:prstGeom>
          <a:noFill/>
          <a:ln/>
        </p:spPr>
        <p:txBody>
          <a:bodyPr wrap="square" rtlCol="0" anchor="ctr"/>
          <a:lstStyle/>
          <a:p>
            <a:pPr indent="0" marL="0">
              <a:lnSpc>
                <a:spcPts val="1300"/>
              </a:lnSpc>
              <a:buNone/>
            </a:pPr>
            <a:r>
              <a:rPr lang="en-US" sz="950" dirty="0">
                <a:solidFill>
                  <a:srgbClr val="475569"/>
                </a:solidFill>
                <a:latin typeface="Arial" pitchFamily="34" charset="0"/>
                <a:ea typeface="Arial" pitchFamily="34" charset="-122"/>
                <a:cs typeface="Arial" pitchFamily="34" charset="-120"/>
              </a:rPr>
              <a:t>• Zero-Latency Poison Guard: Sub-millisecond deterministic regex scanner intercepting lethal ingestions.</a:t>
            </a:r>
            <a:endParaRPr lang="en-US" sz="950" dirty="0"/>
          </a:p>
        </p:txBody>
      </p:sp>
      <p:sp>
        <p:nvSpPr>
          <p:cNvPr id="32" name="Text 30"/>
          <p:cNvSpPr/>
          <p:nvPr/>
        </p:nvSpPr>
        <p:spPr>
          <a:xfrm>
            <a:off x="8193024" y="3566160"/>
            <a:ext cx="3063240" cy="822960"/>
          </a:xfrm>
          <a:prstGeom prst="rect">
            <a:avLst/>
          </a:prstGeom>
          <a:noFill/>
          <a:ln/>
        </p:spPr>
        <p:txBody>
          <a:bodyPr wrap="square" rtlCol="0" anchor="ctr"/>
          <a:lstStyle/>
          <a:p>
            <a:pPr indent="0" marL="0">
              <a:lnSpc>
                <a:spcPts val="1300"/>
              </a:lnSpc>
              <a:buNone/>
            </a:pPr>
            <a:r>
              <a:rPr lang="en-US" sz="950" dirty="0">
                <a:solidFill>
                  <a:srgbClr val="475569"/>
                </a:solidFill>
                <a:latin typeface="Arial" pitchFamily="34" charset="0"/>
                <a:ea typeface="Arial" pitchFamily="34" charset="-122"/>
                <a:cs typeface="Arial" pitchFamily="34" charset="-120"/>
              </a:rPr>
              <a:t>• Dosage Hallucination Shield: Enforces medical disclaimer and prevents prescriptive medication dosing.</a:t>
            </a:r>
            <a:endParaRPr lang="en-US" sz="950" dirty="0"/>
          </a:p>
        </p:txBody>
      </p:sp>
      <p:sp>
        <p:nvSpPr>
          <p:cNvPr id="33" name="Text 31"/>
          <p:cNvSpPr/>
          <p:nvPr/>
        </p:nvSpPr>
        <p:spPr>
          <a:xfrm>
            <a:off x="8193024" y="4434840"/>
            <a:ext cx="3063240" cy="822960"/>
          </a:xfrm>
          <a:prstGeom prst="rect">
            <a:avLst/>
          </a:prstGeom>
          <a:noFill/>
          <a:ln/>
        </p:spPr>
        <p:txBody>
          <a:bodyPr wrap="square" rtlCol="0" anchor="ctr"/>
          <a:lstStyle/>
          <a:p>
            <a:pPr indent="0" marL="0">
              <a:lnSpc>
                <a:spcPts val="1300"/>
              </a:lnSpc>
              <a:buNone/>
            </a:pPr>
            <a:r>
              <a:rPr lang="en-US" sz="950" dirty="0">
                <a:solidFill>
                  <a:srgbClr val="475569"/>
                </a:solidFill>
                <a:latin typeface="Arial" pitchFamily="34" charset="0"/>
                <a:ea typeface="Arial" pitchFamily="34" charset="-122"/>
                <a:cs typeface="Arial" pitchFamily="34" charset="-120"/>
              </a:rPr>
              <a:t>• Emergency Clinic CTA: Emergency triage outcomes force high-visibility emergency call buttons in UI.</a:t>
            </a:r>
            <a:endParaRPr lang="en-US" sz="950" dirty="0"/>
          </a:p>
        </p:txBody>
      </p:sp>
      <p:sp>
        <p:nvSpPr>
          <p:cNvPr id="34" name="Text 32"/>
          <p:cNvSpPr/>
          <p:nvPr/>
        </p:nvSpPr>
        <p:spPr>
          <a:xfrm>
            <a:off x="8193024" y="5303520"/>
            <a:ext cx="3063240" cy="822960"/>
          </a:xfrm>
          <a:prstGeom prst="rect">
            <a:avLst/>
          </a:prstGeom>
          <a:noFill/>
          <a:ln/>
        </p:spPr>
        <p:txBody>
          <a:bodyPr wrap="square" rtlCol="0" anchor="ctr"/>
          <a:lstStyle/>
          <a:p>
            <a:pPr indent="0" marL="0">
              <a:lnSpc>
                <a:spcPts val="1300"/>
              </a:lnSpc>
              <a:buNone/>
            </a:pPr>
            <a:r>
              <a:rPr lang="en-US" sz="950" dirty="0">
                <a:solidFill>
                  <a:srgbClr val="475569"/>
                </a:solidFill>
                <a:latin typeface="Arial" pitchFamily="34" charset="0"/>
                <a:ea typeface="Arial" pitchFamily="34" charset="-122"/>
                <a:cs typeface="Arial" pitchFamily="34" charset="-120"/>
              </a:rPr>
              <a:t>• Continuous Audit Logging: All AI responses recorded for clinical telemetry and veterinary review.</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sp>
      <p:sp>
        <p:nvSpPr>
          <p:cNvPr id="3" name="Text 1"/>
          <p:cNvSpPr/>
          <p:nvPr/>
        </p:nvSpPr>
        <p:spPr>
          <a:xfrm>
            <a:off x="731520" y="128016"/>
            <a:ext cx="6583680" cy="32004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 NUZZLE AI PLATFORM  |  GIGALOGY MAIRA MANAGED RAG INTEGRATION</a:t>
            </a:r>
            <a:endParaRPr lang="en-US" sz="1050" dirty="0"/>
          </a:p>
        </p:txBody>
      </p:sp>
      <p:sp>
        <p:nvSpPr>
          <p:cNvPr id="4" name="Text 2"/>
          <p:cNvSpPr/>
          <p:nvPr/>
        </p:nvSpPr>
        <p:spPr>
          <a:xfrm>
            <a:off x="7498080" y="128016"/>
            <a:ext cx="3962095" cy="320040"/>
          </a:xfrm>
          <a:prstGeom prst="rect">
            <a:avLst/>
          </a:prstGeom>
          <a:noFill/>
          <a:ln/>
        </p:spPr>
        <p:txBody>
          <a:bodyPr wrap="square" rtlCol="0" anchor="ctr"/>
          <a:lstStyle/>
          <a:p>
            <a:pPr algn="r" indent="0" marL="0">
              <a:buNone/>
            </a:pPr>
            <a:r>
              <a:rPr lang="en-US" sz="950" dirty="0">
                <a:solidFill>
                  <a:srgbClr val="94A3B8"/>
                </a:solidFill>
                <a:latin typeface="Arial" pitchFamily="34" charset="0"/>
                <a:ea typeface="Arial" pitchFamily="34" charset="-122"/>
                <a:cs typeface="Arial" pitchFamily="34" charset="-120"/>
              </a:rPr>
              <a:t>Slide 13 of 14  •  Technical &amp; Architecture Deep Dive</a:t>
            </a:r>
            <a:endParaRPr lang="en-US" sz="950" dirty="0"/>
          </a:p>
        </p:txBody>
      </p:sp>
      <p:sp>
        <p:nvSpPr>
          <p:cNvPr id="5" name="Text 3"/>
          <p:cNvSpPr/>
          <p:nvPr/>
        </p:nvSpPr>
        <p:spPr>
          <a:xfrm>
            <a:off x="731520" y="658368"/>
            <a:ext cx="10728655" cy="201168"/>
          </a:xfrm>
          <a:prstGeom prst="rect">
            <a:avLst/>
          </a:prstGeom>
          <a:noFill/>
          <a:ln/>
        </p:spPr>
        <p:txBody>
          <a:bodyPr wrap="square" rtlCol="0" anchor="ctr"/>
          <a:lstStyle/>
          <a:p>
            <a:pPr indent="0" marL="0">
              <a:buNone/>
            </a:pPr>
            <a:r>
              <a:rPr lang="en-US" sz="950" b="1" spc="120" kern="0" dirty="0">
                <a:solidFill>
                  <a:srgbClr val="4338CA"/>
                </a:solidFill>
                <a:latin typeface="Arial" pitchFamily="34" charset="0"/>
                <a:ea typeface="Arial" pitchFamily="34" charset="-122"/>
                <a:cs typeface="Arial" pitchFamily="34" charset="-120"/>
              </a:rPr>
              <a:t>VERIFICATION &amp; TELEMETRY</a:t>
            </a:r>
            <a:endParaRPr lang="en-US" sz="950" dirty="0"/>
          </a:p>
        </p:txBody>
      </p:sp>
      <p:sp>
        <p:nvSpPr>
          <p:cNvPr id="6" name="Text 4"/>
          <p:cNvSpPr/>
          <p:nvPr/>
        </p:nvSpPr>
        <p:spPr>
          <a:xfrm>
            <a:off x="731520" y="896112"/>
            <a:ext cx="10728655" cy="384048"/>
          </a:xfrm>
          <a:prstGeom prst="rect">
            <a:avLst/>
          </a:prstGeom>
          <a:noFill/>
          <a:ln/>
        </p:spPr>
        <p:txBody>
          <a:bodyPr wrap="square" rtlCol="0" anchor="ctr"/>
          <a:lstStyle/>
          <a:p>
            <a:pPr indent="0" marL="0">
              <a:buNone/>
            </a:pPr>
            <a:r>
              <a:rPr lang="en-US" sz="1900" b="1" dirty="0">
                <a:solidFill>
                  <a:srgbClr val="0F172A"/>
                </a:solidFill>
                <a:latin typeface="Arial" pitchFamily="34" charset="0"/>
                <a:ea typeface="Arial" pitchFamily="34" charset="-122"/>
                <a:cs typeface="Arial" pitchFamily="34" charset="-120"/>
              </a:rPr>
              <a:t>Production Benchmarks &amp; Live Verification Telemetry</a:t>
            </a:r>
            <a:endParaRPr lang="en-US" sz="1900" dirty="0"/>
          </a:p>
        </p:txBody>
      </p:sp>
      <p:sp>
        <p:nvSpPr>
          <p:cNvPr id="7" name="Text 5"/>
          <p:cNvSpPr/>
          <p:nvPr/>
        </p:nvSpPr>
        <p:spPr>
          <a:xfrm>
            <a:off x="731520" y="1316736"/>
            <a:ext cx="10728655" cy="292608"/>
          </a:xfrm>
          <a:prstGeom prst="rect">
            <a:avLst/>
          </a:prstGeom>
          <a:noFill/>
          <a:ln/>
        </p:spPr>
        <p:txBody>
          <a:bodyPr wrap="square" rtlCol="0" anchor="ctr"/>
          <a:lstStyle/>
          <a:p>
            <a:pPr indent="0" marL="0">
              <a:buNone/>
            </a:pPr>
            <a:r>
              <a:rPr lang="en-US" sz="1050" dirty="0">
                <a:solidFill>
                  <a:srgbClr val="475569"/>
                </a:solidFill>
                <a:latin typeface="Arial" pitchFamily="34" charset="0"/>
                <a:ea typeface="Arial" pitchFamily="34" charset="-122"/>
                <a:cs typeface="Arial" pitchFamily="34" charset="-120"/>
              </a:rPr>
              <a:t>Comprehensive automated and browser-based verification proving zero regression and sub-second latency.</a:t>
            </a:r>
            <a:endParaRPr lang="en-US" sz="1050" dirty="0"/>
          </a:p>
        </p:txBody>
      </p:sp>
      <p:sp>
        <p:nvSpPr>
          <p:cNvPr id="8" name="Shape 6"/>
          <p:cNvSpPr/>
          <p:nvPr/>
        </p:nvSpPr>
        <p:spPr>
          <a:xfrm>
            <a:off x="0" y="6355080"/>
            <a:ext cx="12191695" cy="502920"/>
          </a:xfrm>
          <a:prstGeom prst="rect">
            <a:avLst/>
          </a:prstGeom>
          <a:solidFill>
            <a:srgbClr val="0F172A"/>
          </a:solidFill>
          <a:ln w="12700">
            <a:solidFill>
              <a:srgbClr val="1E293B"/>
            </a:solidFill>
            <a:prstDash val="solid"/>
          </a:ln>
        </p:spPr>
      </p:sp>
      <p:sp>
        <p:nvSpPr>
          <p:cNvPr id="9" name="Text 7"/>
          <p:cNvSpPr/>
          <p:nvPr/>
        </p:nvSpPr>
        <p:spPr>
          <a:xfrm>
            <a:off x="731520" y="6446520"/>
            <a:ext cx="6583680" cy="320040"/>
          </a:xfrm>
          <a:prstGeom prst="rect">
            <a:avLst/>
          </a:prstGeom>
          <a:noFill/>
          <a:ln/>
        </p:spPr>
        <p:txBody>
          <a:bodyPr wrap="square" rtlCol="0" anchor="ctr"/>
          <a:lstStyle/>
          <a:p>
            <a:pPr indent="0" marL="0">
              <a:buNone/>
            </a:pPr>
            <a:r>
              <a:rPr lang="en-US" sz="950" dirty="0">
                <a:solidFill>
                  <a:srgbClr val="94A3B8"/>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7498080" y="6446520"/>
            <a:ext cx="3962095" cy="32004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2926080" cy="2057400"/>
          </a:xfrm>
          <a:prstGeom prst="roundRect">
            <a:avLst/>
          </a:prstGeom>
          <a:solidFill>
            <a:srgbClr val="FFFFFF"/>
          </a:solidFill>
          <a:ln w="15240">
            <a:solidFill>
              <a:srgbClr val="CBD5E1"/>
            </a:solidFill>
            <a:prstDash val="solid"/>
          </a:ln>
        </p:spPr>
      </p:sp>
      <p:sp>
        <p:nvSpPr>
          <p:cNvPr id="12" name="Shape 10"/>
          <p:cNvSpPr/>
          <p:nvPr/>
        </p:nvSpPr>
        <p:spPr>
          <a:xfrm>
            <a:off x="914400" y="1965960"/>
            <a:ext cx="2560320" cy="320040"/>
          </a:xfrm>
          <a:prstGeom prst="roundRect">
            <a:avLst/>
          </a:prstGeom>
          <a:solidFill>
            <a:srgbClr val="ECFDF5"/>
          </a:solidFill>
          <a:ln w="12700">
            <a:solidFill>
              <a:srgbClr val="10B981"/>
            </a:solidFill>
            <a:prstDash val="solid"/>
          </a:ln>
        </p:spPr>
      </p:sp>
      <p:sp>
        <p:nvSpPr>
          <p:cNvPr id="13" name="Text 11"/>
          <p:cNvSpPr/>
          <p:nvPr/>
        </p:nvSpPr>
        <p:spPr>
          <a:xfrm>
            <a:off x="960120" y="2029968"/>
            <a:ext cx="2468880" cy="182880"/>
          </a:xfrm>
          <a:prstGeom prst="rect">
            <a:avLst/>
          </a:prstGeom>
          <a:noFill/>
          <a:ln/>
        </p:spPr>
        <p:txBody>
          <a:bodyPr wrap="square" rtlCol="0" anchor="ctr"/>
          <a:lstStyle/>
          <a:p>
            <a:pPr algn="ctr" indent="0" marL="0">
              <a:buNone/>
            </a:pPr>
            <a:r>
              <a:rPr lang="en-US" sz="850" b="1" dirty="0">
                <a:solidFill>
                  <a:srgbClr val="10B981"/>
                </a:solidFill>
                <a:latin typeface="Arial" pitchFamily="34" charset="0"/>
                <a:ea typeface="Arial" pitchFamily="34" charset="-122"/>
                <a:cs typeface="Arial" pitchFamily="34" charset="-120"/>
              </a:rPr>
              <a:t>E2E API TEST PASS RATE</a:t>
            </a:r>
            <a:endParaRPr lang="en-US" sz="850" dirty="0"/>
          </a:p>
        </p:txBody>
      </p:sp>
      <p:sp>
        <p:nvSpPr>
          <p:cNvPr id="14" name="Text 12"/>
          <p:cNvSpPr/>
          <p:nvPr/>
        </p:nvSpPr>
        <p:spPr>
          <a:xfrm>
            <a:off x="914400" y="2468880"/>
            <a:ext cx="2560320" cy="731520"/>
          </a:xfrm>
          <a:prstGeom prst="rect">
            <a:avLst/>
          </a:prstGeom>
          <a:noFill/>
          <a:ln/>
        </p:spPr>
        <p:txBody>
          <a:bodyPr wrap="square" rtlCol="0" anchor="ctr"/>
          <a:lstStyle/>
          <a:p>
            <a:pPr algn="ctr" indent="0" marL="0">
              <a:buNone/>
            </a:pPr>
            <a:r>
              <a:rPr lang="en-US" sz="3600" b="1" dirty="0">
                <a:solidFill>
                  <a:srgbClr val="0F172A"/>
                </a:solidFill>
                <a:latin typeface="Arial" pitchFamily="34" charset="0"/>
                <a:ea typeface="Arial" pitchFamily="34" charset="-122"/>
                <a:cs typeface="Arial" pitchFamily="34" charset="-120"/>
              </a:rPr>
              <a:t>100%</a:t>
            </a:r>
            <a:endParaRPr lang="en-US" sz="3600" dirty="0"/>
          </a:p>
        </p:txBody>
      </p:sp>
      <p:sp>
        <p:nvSpPr>
          <p:cNvPr id="15" name="Text 13"/>
          <p:cNvSpPr/>
          <p:nvPr/>
        </p:nvSpPr>
        <p:spPr>
          <a:xfrm>
            <a:off x="914400" y="3291840"/>
            <a:ext cx="2560320" cy="365760"/>
          </a:xfrm>
          <a:prstGeom prst="rect">
            <a:avLst/>
          </a:prstGeom>
          <a:noFill/>
          <a:ln/>
        </p:spPr>
        <p:txBody>
          <a:bodyPr wrap="square" rtlCol="0" anchor="ctr"/>
          <a:lstStyle/>
          <a:p>
            <a:pPr algn="ctr" indent="0" marL="0">
              <a:buNone/>
            </a:pPr>
            <a:r>
              <a:rPr lang="en-US" sz="950" dirty="0">
                <a:solidFill>
                  <a:srgbClr val="475569"/>
                </a:solidFill>
                <a:latin typeface="Arial" pitchFamily="34" charset="0"/>
                <a:ea typeface="Arial" pitchFamily="34" charset="-122"/>
                <a:cs typeface="Arial" pitchFamily="34" charset="-120"/>
              </a:rPr>
              <a:t>4/4 Pillar Endpoints Verified</a:t>
            </a:r>
            <a:endParaRPr lang="en-US" sz="950" dirty="0"/>
          </a:p>
        </p:txBody>
      </p:sp>
      <p:sp>
        <p:nvSpPr>
          <p:cNvPr id="16" name="Shape 14"/>
          <p:cNvSpPr/>
          <p:nvPr/>
        </p:nvSpPr>
        <p:spPr>
          <a:xfrm>
            <a:off x="3840480" y="1783080"/>
            <a:ext cx="2926080" cy="2057400"/>
          </a:xfrm>
          <a:prstGeom prst="roundRect">
            <a:avLst/>
          </a:prstGeom>
          <a:solidFill>
            <a:srgbClr val="FFFFFF"/>
          </a:solidFill>
          <a:ln w="15240">
            <a:solidFill>
              <a:srgbClr val="CBD5E1"/>
            </a:solidFill>
            <a:prstDash val="solid"/>
          </a:ln>
        </p:spPr>
      </p:sp>
      <p:sp>
        <p:nvSpPr>
          <p:cNvPr id="17" name="Shape 15"/>
          <p:cNvSpPr/>
          <p:nvPr/>
        </p:nvSpPr>
        <p:spPr>
          <a:xfrm>
            <a:off x="4023360" y="1965960"/>
            <a:ext cx="2560320" cy="320040"/>
          </a:xfrm>
          <a:prstGeom prst="roundRect">
            <a:avLst/>
          </a:prstGeom>
          <a:solidFill>
            <a:srgbClr val="EEF2FF"/>
          </a:solidFill>
          <a:ln w="12700">
            <a:solidFill>
              <a:srgbClr val="4F46E5"/>
            </a:solidFill>
            <a:prstDash val="solid"/>
          </a:ln>
        </p:spPr>
      </p:sp>
      <p:sp>
        <p:nvSpPr>
          <p:cNvPr id="18" name="Text 16"/>
          <p:cNvSpPr/>
          <p:nvPr/>
        </p:nvSpPr>
        <p:spPr>
          <a:xfrm>
            <a:off x="4069080" y="2029968"/>
            <a:ext cx="2468880" cy="182880"/>
          </a:xfrm>
          <a:prstGeom prst="rect">
            <a:avLst/>
          </a:prstGeom>
          <a:noFill/>
          <a:ln/>
        </p:spPr>
        <p:txBody>
          <a:bodyPr wrap="square" rtlCol="0" anchor="ctr"/>
          <a:lstStyle/>
          <a:p>
            <a:pPr algn="ctr" indent="0" marL="0">
              <a:buNone/>
            </a:pPr>
            <a:r>
              <a:rPr lang="en-US" sz="850" b="1" dirty="0">
                <a:solidFill>
                  <a:srgbClr val="4F46E5"/>
                </a:solidFill>
                <a:latin typeface="Arial" pitchFamily="34" charset="0"/>
                <a:ea typeface="Arial" pitchFamily="34" charset="-122"/>
                <a:cs typeface="Arial" pitchFamily="34" charset="-120"/>
              </a:rPr>
              <a:t>AVERAGE RAG RETRIEVAL</a:t>
            </a:r>
            <a:endParaRPr lang="en-US" sz="850" dirty="0"/>
          </a:p>
        </p:txBody>
      </p:sp>
      <p:sp>
        <p:nvSpPr>
          <p:cNvPr id="19" name="Text 17"/>
          <p:cNvSpPr/>
          <p:nvPr/>
        </p:nvSpPr>
        <p:spPr>
          <a:xfrm>
            <a:off x="4023360" y="2468880"/>
            <a:ext cx="2560320" cy="731520"/>
          </a:xfrm>
          <a:prstGeom prst="rect">
            <a:avLst/>
          </a:prstGeom>
          <a:noFill/>
          <a:ln/>
        </p:spPr>
        <p:txBody>
          <a:bodyPr wrap="square" rtlCol="0" anchor="ctr"/>
          <a:lstStyle/>
          <a:p>
            <a:pPr algn="ctr" indent="0" marL="0">
              <a:buNone/>
            </a:pPr>
            <a:r>
              <a:rPr lang="en-US" sz="3600" b="1" dirty="0">
                <a:solidFill>
                  <a:srgbClr val="0F172A"/>
                </a:solidFill>
                <a:latin typeface="Arial" pitchFamily="34" charset="0"/>
                <a:ea typeface="Arial" pitchFamily="34" charset="-122"/>
                <a:cs typeface="Arial" pitchFamily="34" charset="-120"/>
              </a:rPr>
              <a:t>420ms</a:t>
            </a:r>
            <a:endParaRPr lang="en-US" sz="3600" dirty="0"/>
          </a:p>
        </p:txBody>
      </p:sp>
      <p:sp>
        <p:nvSpPr>
          <p:cNvPr id="20" name="Text 18"/>
          <p:cNvSpPr/>
          <p:nvPr/>
        </p:nvSpPr>
        <p:spPr>
          <a:xfrm>
            <a:off x="4023360" y="3291840"/>
            <a:ext cx="2560320" cy="365760"/>
          </a:xfrm>
          <a:prstGeom prst="rect">
            <a:avLst/>
          </a:prstGeom>
          <a:noFill/>
          <a:ln/>
        </p:spPr>
        <p:txBody>
          <a:bodyPr wrap="square" rtlCol="0" anchor="ctr"/>
          <a:lstStyle/>
          <a:p>
            <a:pPr algn="ctr" indent="0" marL="0">
              <a:buNone/>
            </a:pPr>
            <a:r>
              <a:rPr lang="en-US" sz="950" dirty="0">
                <a:solidFill>
                  <a:srgbClr val="475569"/>
                </a:solidFill>
                <a:latin typeface="Arial" pitchFamily="34" charset="0"/>
                <a:ea typeface="Arial" pitchFamily="34" charset="-122"/>
                <a:cs typeface="Arial" pitchFamily="34" charset="-120"/>
              </a:rPr>
              <a:t>Sub-500ms Vector Search Latency</a:t>
            </a:r>
            <a:endParaRPr lang="en-US" sz="950" dirty="0"/>
          </a:p>
        </p:txBody>
      </p:sp>
      <p:sp>
        <p:nvSpPr>
          <p:cNvPr id="21" name="Shape 19"/>
          <p:cNvSpPr/>
          <p:nvPr/>
        </p:nvSpPr>
        <p:spPr>
          <a:xfrm>
            <a:off x="731520" y="3977640"/>
            <a:ext cx="2926080" cy="2057400"/>
          </a:xfrm>
          <a:prstGeom prst="roundRect">
            <a:avLst/>
          </a:prstGeom>
          <a:solidFill>
            <a:srgbClr val="FFFFFF"/>
          </a:solidFill>
          <a:ln w="15240">
            <a:solidFill>
              <a:srgbClr val="CBD5E1"/>
            </a:solidFill>
            <a:prstDash val="solid"/>
          </a:ln>
        </p:spPr>
      </p:sp>
      <p:sp>
        <p:nvSpPr>
          <p:cNvPr id="22" name="Shape 20"/>
          <p:cNvSpPr/>
          <p:nvPr/>
        </p:nvSpPr>
        <p:spPr>
          <a:xfrm>
            <a:off x="914400" y="4160520"/>
            <a:ext cx="2560320" cy="320040"/>
          </a:xfrm>
          <a:prstGeom prst="roundRect">
            <a:avLst/>
          </a:prstGeom>
          <a:solidFill>
            <a:srgbClr val="FEF2F2"/>
          </a:solidFill>
          <a:ln w="12700">
            <a:solidFill>
              <a:srgbClr val="EF4444"/>
            </a:solidFill>
            <a:prstDash val="solid"/>
          </a:ln>
        </p:spPr>
      </p:sp>
      <p:sp>
        <p:nvSpPr>
          <p:cNvPr id="23" name="Text 21"/>
          <p:cNvSpPr/>
          <p:nvPr/>
        </p:nvSpPr>
        <p:spPr>
          <a:xfrm>
            <a:off x="960120" y="4224528"/>
            <a:ext cx="2468880" cy="182880"/>
          </a:xfrm>
          <a:prstGeom prst="rect">
            <a:avLst/>
          </a:prstGeom>
          <a:noFill/>
          <a:ln/>
        </p:spPr>
        <p:txBody>
          <a:bodyPr wrap="square" rtlCol="0" anchor="ctr"/>
          <a:lstStyle/>
          <a:p>
            <a:pPr algn="ctr" indent="0" marL="0">
              <a:buNone/>
            </a:pPr>
            <a:r>
              <a:rPr lang="en-US" sz="850" b="1" dirty="0">
                <a:solidFill>
                  <a:srgbClr val="EF4444"/>
                </a:solidFill>
                <a:latin typeface="Arial" pitchFamily="34" charset="0"/>
                <a:ea typeface="Arial" pitchFamily="34" charset="-122"/>
                <a:cs typeface="Arial" pitchFamily="34" charset="-120"/>
              </a:rPr>
              <a:t>POISON GUARD LATENCY</a:t>
            </a:r>
            <a:endParaRPr lang="en-US" sz="850" dirty="0"/>
          </a:p>
        </p:txBody>
      </p:sp>
      <p:sp>
        <p:nvSpPr>
          <p:cNvPr id="24" name="Text 22"/>
          <p:cNvSpPr/>
          <p:nvPr/>
        </p:nvSpPr>
        <p:spPr>
          <a:xfrm>
            <a:off x="914400" y="4663440"/>
            <a:ext cx="2560320" cy="731520"/>
          </a:xfrm>
          <a:prstGeom prst="rect">
            <a:avLst/>
          </a:prstGeom>
          <a:noFill/>
          <a:ln/>
        </p:spPr>
        <p:txBody>
          <a:bodyPr wrap="square" rtlCol="0" anchor="ctr"/>
          <a:lstStyle/>
          <a:p>
            <a:pPr algn="ctr" indent="0" marL="0">
              <a:buNone/>
            </a:pPr>
            <a:r>
              <a:rPr lang="en-US" sz="3600" b="1" dirty="0">
                <a:solidFill>
                  <a:srgbClr val="0F172A"/>
                </a:solidFill>
                <a:latin typeface="Arial" pitchFamily="34" charset="0"/>
                <a:ea typeface="Arial" pitchFamily="34" charset="-122"/>
                <a:cs typeface="Arial" pitchFamily="34" charset="-120"/>
              </a:rPr>
              <a:t>1.8ms</a:t>
            </a:r>
            <a:endParaRPr lang="en-US" sz="3600" dirty="0"/>
          </a:p>
        </p:txBody>
      </p:sp>
      <p:sp>
        <p:nvSpPr>
          <p:cNvPr id="25" name="Text 23"/>
          <p:cNvSpPr/>
          <p:nvPr/>
        </p:nvSpPr>
        <p:spPr>
          <a:xfrm>
            <a:off x="914400" y="5486400"/>
            <a:ext cx="2560320" cy="365760"/>
          </a:xfrm>
          <a:prstGeom prst="rect">
            <a:avLst/>
          </a:prstGeom>
          <a:noFill/>
          <a:ln/>
        </p:spPr>
        <p:txBody>
          <a:bodyPr wrap="square" rtlCol="0" anchor="ctr"/>
          <a:lstStyle/>
          <a:p>
            <a:pPr algn="ctr" indent="0" marL="0">
              <a:buNone/>
            </a:pPr>
            <a:r>
              <a:rPr lang="en-US" sz="950" dirty="0">
                <a:solidFill>
                  <a:srgbClr val="475569"/>
                </a:solidFill>
                <a:latin typeface="Arial" pitchFamily="34" charset="0"/>
                <a:ea typeface="Arial" pitchFamily="34" charset="-122"/>
                <a:cs typeface="Arial" pitchFamily="34" charset="-120"/>
              </a:rPr>
              <a:t>Deterministic In-Memory Lookup</a:t>
            </a:r>
            <a:endParaRPr lang="en-US" sz="950" dirty="0"/>
          </a:p>
        </p:txBody>
      </p:sp>
      <p:sp>
        <p:nvSpPr>
          <p:cNvPr id="26" name="Shape 24"/>
          <p:cNvSpPr/>
          <p:nvPr/>
        </p:nvSpPr>
        <p:spPr>
          <a:xfrm>
            <a:off x="3840480" y="3977640"/>
            <a:ext cx="2926080" cy="2057400"/>
          </a:xfrm>
          <a:prstGeom prst="roundRect">
            <a:avLst/>
          </a:prstGeom>
          <a:solidFill>
            <a:srgbClr val="FFFFFF"/>
          </a:solidFill>
          <a:ln w="15240">
            <a:solidFill>
              <a:srgbClr val="CBD5E1"/>
            </a:solidFill>
            <a:prstDash val="solid"/>
          </a:ln>
        </p:spPr>
      </p:sp>
      <p:sp>
        <p:nvSpPr>
          <p:cNvPr id="27" name="Shape 25"/>
          <p:cNvSpPr/>
          <p:nvPr/>
        </p:nvSpPr>
        <p:spPr>
          <a:xfrm>
            <a:off x="4023360" y="4160520"/>
            <a:ext cx="2560320" cy="320040"/>
          </a:xfrm>
          <a:prstGeom prst="roundRect">
            <a:avLst/>
          </a:prstGeom>
          <a:solidFill>
            <a:srgbClr val="FFFBEB"/>
          </a:solidFill>
          <a:ln w="12700">
            <a:solidFill>
              <a:srgbClr val="F59E0B"/>
            </a:solidFill>
            <a:prstDash val="solid"/>
          </a:ln>
        </p:spPr>
      </p:sp>
      <p:sp>
        <p:nvSpPr>
          <p:cNvPr id="28" name="Text 26"/>
          <p:cNvSpPr/>
          <p:nvPr/>
        </p:nvSpPr>
        <p:spPr>
          <a:xfrm>
            <a:off x="4069080" y="4224528"/>
            <a:ext cx="2468880" cy="182880"/>
          </a:xfrm>
          <a:prstGeom prst="rect">
            <a:avLst/>
          </a:prstGeom>
          <a:noFill/>
          <a:ln/>
        </p:spPr>
        <p:txBody>
          <a:bodyPr wrap="square" rtlCol="0" anchor="ctr"/>
          <a:lstStyle/>
          <a:p>
            <a:pPr algn="ctr" indent="0" marL="0">
              <a:buNone/>
            </a:pPr>
            <a:r>
              <a:rPr lang="en-US" sz="850" b="1" dirty="0">
                <a:solidFill>
                  <a:srgbClr val="F59E0B"/>
                </a:solidFill>
                <a:latin typeface="Arial" pitchFamily="34" charset="0"/>
                <a:ea typeface="Arial" pitchFamily="34" charset="-122"/>
                <a:cs typeface="Arial" pitchFamily="34" charset="-120"/>
              </a:rPr>
              <a:t>OFFLINE FAILOVER VELOCITY</a:t>
            </a:r>
            <a:endParaRPr lang="en-US" sz="850" dirty="0"/>
          </a:p>
        </p:txBody>
      </p:sp>
      <p:sp>
        <p:nvSpPr>
          <p:cNvPr id="29" name="Text 27"/>
          <p:cNvSpPr/>
          <p:nvPr/>
        </p:nvSpPr>
        <p:spPr>
          <a:xfrm>
            <a:off x="4023360" y="4663440"/>
            <a:ext cx="2560320" cy="731520"/>
          </a:xfrm>
          <a:prstGeom prst="rect">
            <a:avLst/>
          </a:prstGeom>
          <a:noFill/>
          <a:ln/>
        </p:spPr>
        <p:txBody>
          <a:bodyPr wrap="square" rtlCol="0" anchor="ctr"/>
          <a:lstStyle/>
          <a:p>
            <a:pPr algn="ctr" indent="0" marL="0">
              <a:buNone/>
            </a:pPr>
            <a:r>
              <a:rPr lang="en-US" sz="3600" b="1" dirty="0">
                <a:solidFill>
                  <a:srgbClr val="0F172A"/>
                </a:solidFill>
                <a:latin typeface="Arial" pitchFamily="34" charset="0"/>
                <a:ea typeface="Arial" pitchFamily="34" charset="-122"/>
                <a:cs typeface="Arial" pitchFamily="34" charset="-120"/>
              </a:rPr>
              <a:t>&lt; 50ms</a:t>
            </a:r>
            <a:endParaRPr lang="en-US" sz="3600" dirty="0"/>
          </a:p>
        </p:txBody>
      </p:sp>
      <p:sp>
        <p:nvSpPr>
          <p:cNvPr id="30" name="Text 28"/>
          <p:cNvSpPr/>
          <p:nvPr/>
        </p:nvSpPr>
        <p:spPr>
          <a:xfrm>
            <a:off x="4023360" y="5486400"/>
            <a:ext cx="2560320" cy="365760"/>
          </a:xfrm>
          <a:prstGeom prst="rect">
            <a:avLst/>
          </a:prstGeom>
          <a:noFill/>
          <a:ln/>
        </p:spPr>
        <p:txBody>
          <a:bodyPr wrap="square" rtlCol="0" anchor="ctr"/>
          <a:lstStyle/>
          <a:p>
            <a:pPr algn="ctr" indent="0" marL="0">
              <a:buNone/>
            </a:pPr>
            <a:r>
              <a:rPr lang="en-US" sz="950" dirty="0">
                <a:solidFill>
                  <a:srgbClr val="475569"/>
                </a:solidFill>
                <a:latin typeface="Arial" pitchFamily="34" charset="0"/>
                <a:ea typeface="Arial" pitchFamily="34" charset="-122"/>
                <a:cs typeface="Arial" pitchFamily="34" charset="-120"/>
              </a:rPr>
              <a:t>Zero-Downtime Resilience Switch</a:t>
            </a:r>
            <a:endParaRPr lang="en-US" sz="950" dirty="0"/>
          </a:p>
        </p:txBody>
      </p:sp>
      <p:sp>
        <p:nvSpPr>
          <p:cNvPr id="31" name="Shape 29"/>
          <p:cNvSpPr/>
          <p:nvPr/>
        </p:nvSpPr>
        <p:spPr>
          <a:xfrm>
            <a:off x="7132320" y="1783080"/>
            <a:ext cx="4327855" cy="4389120"/>
          </a:xfrm>
          <a:prstGeom prst="roundRect">
            <a:avLst/>
          </a:prstGeom>
          <a:solidFill>
            <a:srgbClr val="0B0F19"/>
          </a:solidFill>
          <a:ln w="15240">
            <a:solidFill>
              <a:srgbClr val="334155"/>
            </a:solidFill>
            <a:prstDash val="solid"/>
          </a:ln>
        </p:spPr>
      </p:sp>
      <p:sp>
        <p:nvSpPr>
          <p:cNvPr id="32" name="Text 30"/>
          <p:cNvSpPr/>
          <p:nvPr/>
        </p:nvSpPr>
        <p:spPr>
          <a:xfrm>
            <a:off x="7360920" y="1965960"/>
            <a:ext cx="3840480" cy="228600"/>
          </a:xfrm>
          <a:prstGeom prst="rect">
            <a:avLst/>
          </a:prstGeom>
          <a:noFill/>
          <a:ln/>
        </p:spPr>
        <p:txBody>
          <a:bodyPr wrap="square" rtlCol="0" anchor="ctr"/>
          <a:lstStyle/>
          <a:p>
            <a:pPr indent="0" marL="0">
              <a:buNone/>
            </a:pPr>
            <a:r>
              <a:rPr lang="en-US" sz="1050" b="1" spc="120" kern="0" dirty="0">
                <a:solidFill>
                  <a:srgbClr val="818CF8"/>
                </a:solidFill>
                <a:latin typeface="Arial" pitchFamily="34" charset="0"/>
                <a:ea typeface="Arial" pitchFamily="34" charset="-122"/>
                <a:cs typeface="Arial" pitchFamily="34" charset="-120"/>
              </a:rPr>
              <a:t>LIVE VERIFIED PRODUCTION API ENDPOINTS</a:t>
            </a:r>
            <a:endParaRPr lang="en-US" sz="1050" dirty="0"/>
          </a:p>
        </p:txBody>
      </p:sp>
      <p:sp>
        <p:nvSpPr>
          <p:cNvPr id="33" name="Shape 31"/>
          <p:cNvSpPr/>
          <p:nvPr/>
        </p:nvSpPr>
        <p:spPr>
          <a:xfrm>
            <a:off x="7360920" y="2286000"/>
            <a:ext cx="3840480" cy="868680"/>
          </a:xfrm>
          <a:prstGeom prst="roundRect">
            <a:avLst/>
          </a:prstGeom>
          <a:solidFill>
            <a:srgbClr val="1E293B"/>
          </a:solidFill>
          <a:ln w="12700">
            <a:solidFill>
              <a:srgbClr val="334155"/>
            </a:solidFill>
            <a:prstDash val="solid"/>
          </a:ln>
        </p:spPr>
      </p:sp>
      <p:sp>
        <p:nvSpPr>
          <p:cNvPr id="34" name="Text 32"/>
          <p:cNvSpPr/>
          <p:nvPr/>
        </p:nvSpPr>
        <p:spPr>
          <a:xfrm>
            <a:off x="7498080" y="2359152"/>
            <a:ext cx="3566160" cy="201168"/>
          </a:xfrm>
          <a:prstGeom prst="rect">
            <a:avLst/>
          </a:prstGeom>
          <a:noFill/>
          <a:ln/>
        </p:spPr>
        <p:txBody>
          <a:bodyPr wrap="square" rtlCol="0" anchor="ctr"/>
          <a:lstStyle/>
          <a:p>
            <a:pPr indent="0" marL="0">
              <a:buNone/>
            </a:pPr>
            <a:r>
              <a:rPr lang="en-US" sz="1000" b="1" dirty="0">
                <a:solidFill>
                  <a:srgbClr val="38BDF8"/>
                </a:solidFill>
                <a:latin typeface="Arial" pitchFamily="34" charset="0"/>
                <a:ea typeface="Arial" pitchFamily="34" charset="-122"/>
                <a:cs typeface="Arial" pitchFamily="34" charset="-120"/>
              </a:rPr>
              <a:t>Triage &amp; Poison Guard</a:t>
            </a:r>
            <a:endParaRPr lang="en-US" sz="1000" dirty="0"/>
          </a:p>
        </p:txBody>
      </p:sp>
      <p:sp>
        <p:nvSpPr>
          <p:cNvPr id="35" name="Text 33"/>
          <p:cNvSpPr/>
          <p:nvPr/>
        </p:nvSpPr>
        <p:spPr>
          <a:xfrm>
            <a:off x="7498080" y="2560320"/>
            <a:ext cx="3566160" cy="164592"/>
          </a:xfrm>
          <a:prstGeom prst="rect">
            <a:avLst/>
          </a:prstGeom>
          <a:noFill/>
          <a:ln/>
        </p:spPr>
        <p:txBody>
          <a:bodyPr wrap="square" rtlCol="0" anchor="ctr"/>
          <a:lstStyle/>
          <a:p>
            <a:pPr indent="0" marL="0">
              <a:buNone/>
            </a:pPr>
            <a:r>
              <a:rPr lang="en-US" sz="850" dirty="0">
                <a:solidFill>
                  <a:srgbClr val="A5B4FC"/>
                </a:solidFill>
                <a:latin typeface="Courier New" pitchFamily="34" charset="0"/>
                <a:ea typeface="Courier New" pitchFamily="34" charset="-122"/>
                <a:cs typeface="Courier New" pitchFamily="34" charset="-120"/>
              </a:rPr>
              <a:t>POST /api/pawai/triage</a:t>
            </a:r>
            <a:endParaRPr lang="en-US" sz="850" dirty="0"/>
          </a:p>
        </p:txBody>
      </p:sp>
      <p:sp>
        <p:nvSpPr>
          <p:cNvPr id="36" name="Text 34"/>
          <p:cNvSpPr/>
          <p:nvPr/>
        </p:nvSpPr>
        <p:spPr>
          <a:xfrm>
            <a:off x="7498080" y="2743200"/>
            <a:ext cx="3566160" cy="365760"/>
          </a:xfrm>
          <a:prstGeom prst="rect">
            <a:avLst/>
          </a:prstGeom>
          <a:noFill/>
          <a:ln/>
        </p:spPr>
        <p:txBody>
          <a:bodyPr wrap="square" rtlCol="0" anchor="ctr"/>
          <a:lstStyle/>
          <a:p>
            <a:pPr indent="0" marL="0">
              <a:lnSpc>
                <a:spcPts val="1100"/>
              </a:lnSpc>
              <a:buNone/>
            </a:pPr>
            <a:r>
              <a:rPr lang="en-US" sz="800" dirty="0">
                <a:solidFill>
                  <a:srgbClr val="94A3B8"/>
                </a:solidFill>
                <a:latin typeface="Arial" pitchFamily="34" charset="0"/>
                <a:ea typeface="Arial" pitchFamily="34" charset="-122"/>
                <a:cs typeface="Arial" pitchFamily="34" charset="-120"/>
              </a:rPr>
              <a:t>Deterministic poison screening + MAIRA profile 0a8fd1e8 triage assessment.</a:t>
            </a:r>
            <a:endParaRPr lang="en-US" sz="800" dirty="0"/>
          </a:p>
        </p:txBody>
      </p:sp>
      <p:sp>
        <p:nvSpPr>
          <p:cNvPr id="37" name="Shape 35"/>
          <p:cNvSpPr/>
          <p:nvPr/>
        </p:nvSpPr>
        <p:spPr>
          <a:xfrm>
            <a:off x="7360920" y="3246120"/>
            <a:ext cx="3840480" cy="868680"/>
          </a:xfrm>
          <a:prstGeom prst="roundRect">
            <a:avLst/>
          </a:prstGeom>
          <a:solidFill>
            <a:srgbClr val="1E293B"/>
          </a:solidFill>
          <a:ln w="12700">
            <a:solidFill>
              <a:srgbClr val="334155"/>
            </a:solidFill>
            <a:prstDash val="solid"/>
          </a:ln>
        </p:spPr>
      </p:sp>
      <p:sp>
        <p:nvSpPr>
          <p:cNvPr id="38" name="Text 36"/>
          <p:cNvSpPr/>
          <p:nvPr/>
        </p:nvSpPr>
        <p:spPr>
          <a:xfrm>
            <a:off x="7498080" y="3319272"/>
            <a:ext cx="3566160" cy="201168"/>
          </a:xfrm>
          <a:prstGeom prst="rect">
            <a:avLst/>
          </a:prstGeom>
          <a:noFill/>
          <a:ln/>
        </p:spPr>
        <p:txBody>
          <a:bodyPr wrap="square" rtlCol="0" anchor="ctr"/>
          <a:lstStyle/>
          <a:p>
            <a:pPr indent="0" marL="0">
              <a:buNone/>
            </a:pPr>
            <a:r>
              <a:rPr lang="en-US" sz="1000" b="1" dirty="0">
                <a:solidFill>
                  <a:srgbClr val="38BDF8"/>
                </a:solidFill>
                <a:latin typeface="Arial" pitchFamily="34" charset="0"/>
                <a:ea typeface="Arial" pitchFamily="34" charset="-122"/>
                <a:cs typeface="Arial" pitchFamily="34" charset="-120"/>
              </a:rPr>
              <a:t>Veterinary Conversational AI</a:t>
            </a:r>
            <a:endParaRPr lang="en-US" sz="1000" dirty="0"/>
          </a:p>
        </p:txBody>
      </p:sp>
      <p:sp>
        <p:nvSpPr>
          <p:cNvPr id="39" name="Text 37"/>
          <p:cNvSpPr/>
          <p:nvPr/>
        </p:nvSpPr>
        <p:spPr>
          <a:xfrm>
            <a:off x="7498080" y="3520440"/>
            <a:ext cx="3566160" cy="164592"/>
          </a:xfrm>
          <a:prstGeom prst="rect">
            <a:avLst/>
          </a:prstGeom>
          <a:noFill/>
          <a:ln/>
        </p:spPr>
        <p:txBody>
          <a:bodyPr wrap="square" rtlCol="0" anchor="ctr"/>
          <a:lstStyle/>
          <a:p>
            <a:pPr indent="0" marL="0">
              <a:buNone/>
            </a:pPr>
            <a:r>
              <a:rPr lang="en-US" sz="850" dirty="0">
                <a:solidFill>
                  <a:srgbClr val="A5B4FC"/>
                </a:solidFill>
                <a:latin typeface="Courier New" pitchFamily="34" charset="0"/>
                <a:ea typeface="Courier New" pitchFamily="34" charset="-122"/>
                <a:cs typeface="Courier New" pitchFamily="34" charset="-120"/>
              </a:rPr>
              <a:t>POST /api/pawai/chat</a:t>
            </a:r>
            <a:endParaRPr lang="en-US" sz="850" dirty="0"/>
          </a:p>
        </p:txBody>
      </p:sp>
      <p:sp>
        <p:nvSpPr>
          <p:cNvPr id="40" name="Text 38"/>
          <p:cNvSpPr/>
          <p:nvPr/>
        </p:nvSpPr>
        <p:spPr>
          <a:xfrm>
            <a:off x="7498080" y="3703320"/>
            <a:ext cx="3566160" cy="365760"/>
          </a:xfrm>
          <a:prstGeom prst="rect">
            <a:avLst/>
          </a:prstGeom>
          <a:noFill/>
          <a:ln/>
        </p:spPr>
        <p:txBody>
          <a:bodyPr wrap="square" rtlCol="0" anchor="ctr"/>
          <a:lstStyle/>
          <a:p>
            <a:pPr indent="0" marL="0">
              <a:lnSpc>
                <a:spcPts val="1100"/>
              </a:lnSpc>
              <a:buNone/>
            </a:pPr>
            <a:r>
              <a:rPr lang="en-US" sz="800" dirty="0">
                <a:solidFill>
                  <a:srgbClr val="94A3B8"/>
                </a:solidFill>
                <a:latin typeface="Arial" pitchFamily="34" charset="0"/>
                <a:ea typeface="Arial" pitchFamily="34" charset="-122"/>
                <a:cs typeface="Arial" pitchFamily="34" charset="-120"/>
              </a:rPr>
              <a:t>Multi-turn clinical dialogue with verified pet health history context injection.</a:t>
            </a:r>
            <a:endParaRPr lang="en-US" sz="800" dirty="0"/>
          </a:p>
        </p:txBody>
      </p:sp>
      <p:sp>
        <p:nvSpPr>
          <p:cNvPr id="41" name="Shape 39"/>
          <p:cNvSpPr/>
          <p:nvPr/>
        </p:nvSpPr>
        <p:spPr>
          <a:xfrm>
            <a:off x="7360920" y="4206240"/>
            <a:ext cx="3840480" cy="868680"/>
          </a:xfrm>
          <a:prstGeom prst="roundRect">
            <a:avLst/>
          </a:prstGeom>
          <a:solidFill>
            <a:srgbClr val="1E293B"/>
          </a:solidFill>
          <a:ln w="12700">
            <a:solidFill>
              <a:srgbClr val="334155"/>
            </a:solidFill>
            <a:prstDash val="solid"/>
          </a:ln>
        </p:spPr>
      </p:sp>
      <p:sp>
        <p:nvSpPr>
          <p:cNvPr id="42" name="Text 40"/>
          <p:cNvSpPr/>
          <p:nvPr/>
        </p:nvSpPr>
        <p:spPr>
          <a:xfrm>
            <a:off x="7498080" y="4279392"/>
            <a:ext cx="3566160" cy="201168"/>
          </a:xfrm>
          <a:prstGeom prst="rect">
            <a:avLst/>
          </a:prstGeom>
          <a:noFill/>
          <a:ln/>
        </p:spPr>
        <p:txBody>
          <a:bodyPr wrap="square" rtlCol="0" anchor="ctr"/>
          <a:lstStyle/>
          <a:p>
            <a:pPr indent="0" marL="0">
              <a:buNone/>
            </a:pPr>
            <a:r>
              <a:rPr lang="en-US" sz="1000" b="1" dirty="0">
                <a:solidFill>
                  <a:srgbClr val="38BDF8"/>
                </a:solidFill>
                <a:latin typeface="Arial" pitchFamily="34" charset="0"/>
                <a:ea typeface="Arial" pitchFamily="34" charset="-122"/>
                <a:cs typeface="Arial" pitchFamily="34" charset="-120"/>
              </a:rPr>
              <a:t>Lost &amp; Found Vision Biometrics</a:t>
            </a:r>
            <a:endParaRPr lang="en-US" sz="1000" dirty="0"/>
          </a:p>
        </p:txBody>
      </p:sp>
      <p:sp>
        <p:nvSpPr>
          <p:cNvPr id="43" name="Text 41"/>
          <p:cNvSpPr/>
          <p:nvPr/>
        </p:nvSpPr>
        <p:spPr>
          <a:xfrm>
            <a:off x="7498080" y="4480560"/>
            <a:ext cx="3566160" cy="164592"/>
          </a:xfrm>
          <a:prstGeom prst="rect">
            <a:avLst/>
          </a:prstGeom>
          <a:noFill/>
          <a:ln/>
        </p:spPr>
        <p:txBody>
          <a:bodyPr wrap="square" rtlCol="0" anchor="ctr"/>
          <a:lstStyle/>
          <a:p>
            <a:pPr indent="0" marL="0">
              <a:buNone/>
            </a:pPr>
            <a:r>
              <a:rPr lang="en-US" sz="850" dirty="0">
                <a:solidFill>
                  <a:srgbClr val="A5B4FC"/>
                </a:solidFill>
                <a:latin typeface="Courier New" pitchFamily="34" charset="0"/>
                <a:ea typeface="Courier New" pitchFamily="34" charset="-122"/>
                <a:cs typeface="Courier New" pitchFamily="34" charset="-120"/>
              </a:rPr>
              <a:t>POST /api/lost-found/ai-match</a:t>
            </a:r>
            <a:endParaRPr lang="en-US" sz="850" dirty="0"/>
          </a:p>
        </p:txBody>
      </p:sp>
      <p:sp>
        <p:nvSpPr>
          <p:cNvPr id="44" name="Text 42"/>
          <p:cNvSpPr/>
          <p:nvPr/>
        </p:nvSpPr>
        <p:spPr>
          <a:xfrm>
            <a:off x="7498080" y="4663440"/>
            <a:ext cx="3566160" cy="365760"/>
          </a:xfrm>
          <a:prstGeom prst="rect">
            <a:avLst/>
          </a:prstGeom>
          <a:noFill/>
          <a:ln/>
        </p:spPr>
        <p:txBody>
          <a:bodyPr wrap="square" rtlCol="0" anchor="ctr"/>
          <a:lstStyle/>
          <a:p>
            <a:pPr indent="0" marL="0">
              <a:lnSpc>
                <a:spcPts val="1100"/>
              </a:lnSpc>
              <a:buNone/>
            </a:pPr>
            <a:r>
              <a:rPr lang="en-US" sz="800" dirty="0">
                <a:solidFill>
                  <a:srgbClr val="94A3B8"/>
                </a:solidFill>
                <a:latin typeface="Arial" pitchFamily="34" charset="0"/>
                <a:ea typeface="Arial" pitchFamily="34" charset="-122"/>
                <a:cs typeface="Arial" pitchFamily="34" charset="-120"/>
              </a:rPr>
              <a:t>Qwen2.5-VL-72B &amp; GPT-4o vision matching + 50-pet benchmark radar correlation.</a:t>
            </a:r>
            <a:endParaRPr lang="en-US" sz="800" dirty="0"/>
          </a:p>
        </p:txBody>
      </p:sp>
      <p:sp>
        <p:nvSpPr>
          <p:cNvPr id="45" name="Shape 43"/>
          <p:cNvSpPr/>
          <p:nvPr/>
        </p:nvSpPr>
        <p:spPr>
          <a:xfrm>
            <a:off x="7360920" y="5166360"/>
            <a:ext cx="3840480" cy="868680"/>
          </a:xfrm>
          <a:prstGeom prst="roundRect">
            <a:avLst/>
          </a:prstGeom>
          <a:solidFill>
            <a:srgbClr val="1E293B"/>
          </a:solidFill>
          <a:ln w="12700">
            <a:solidFill>
              <a:srgbClr val="334155"/>
            </a:solidFill>
            <a:prstDash val="solid"/>
          </a:ln>
        </p:spPr>
      </p:sp>
      <p:sp>
        <p:nvSpPr>
          <p:cNvPr id="46" name="Text 44"/>
          <p:cNvSpPr/>
          <p:nvPr/>
        </p:nvSpPr>
        <p:spPr>
          <a:xfrm>
            <a:off x="7498080" y="5239512"/>
            <a:ext cx="3566160" cy="201168"/>
          </a:xfrm>
          <a:prstGeom prst="rect">
            <a:avLst/>
          </a:prstGeom>
          <a:noFill/>
          <a:ln/>
        </p:spPr>
        <p:txBody>
          <a:bodyPr wrap="square" rtlCol="0" anchor="ctr"/>
          <a:lstStyle/>
          <a:p>
            <a:pPr indent="0" marL="0">
              <a:buNone/>
            </a:pPr>
            <a:r>
              <a:rPr lang="en-US" sz="1000" b="1" dirty="0">
                <a:solidFill>
                  <a:srgbClr val="38BDF8"/>
                </a:solidFill>
                <a:latin typeface="Arial" pitchFamily="34" charset="0"/>
                <a:ea typeface="Arial" pitchFamily="34" charset="-122"/>
                <a:cs typeface="Arial" pitchFamily="34" charset="-120"/>
              </a:rPr>
              <a:t>Specialist Clinic Navigator</a:t>
            </a:r>
            <a:endParaRPr lang="en-US" sz="1000" dirty="0"/>
          </a:p>
        </p:txBody>
      </p:sp>
      <p:sp>
        <p:nvSpPr>
          <p:cNvPr id="47" name="Text 45"/>
          <p:cNvSpPr/>
          <p:nvPr/>
        </p:nvSpPr>
        <p:spPr>
          <a:xfrm>
            <a:off x="7498080" y="5440680"/>
            <a:ext cx="3566160" cy="164592"/>
          </a:xfrm>
          <a:prstGeom prst="rect">
            <a:avLst/>
          </a:prstGeom>
          <a:noFill/>
          <a:ln/>
        </p:spPr>
        <p:txBody>
          <a:bodyPr wrap="square" rtlCol="0" anchor="ctr"/>
          <a:lstStyle/>
          <a:p>
            <a:pPr indent="0" marL="0">
              <a:buNone/>
            </a:pPr>
            <a:r>
              <a:rPr lang="en-US" sz="850" dirty="0">
                <a:solidFill>
                  <a:srgbClr val="A5B4FC"/>
                </a:solidFill>
                <a:latin typeface="Courier New" pitchFamily="34" charset="0"/>
                <a:ea typeface="Courier New" pitchFamily="34" charset="-122"/>
                <a:cs typeface="Courier New" pitchFamily="34" charset="-120"/>
              </a:rPr>
              <a:t>GET /api/vets</a:t>
            </a:r>
            <a:endParaRPr lang="en-US" sz="850" dirty="0"/>
          </a:p>
        </p:txBody>
      </p:sp>
      <p:sp>
        <p:nvSpPr>
          <p:cNvPr id="48" name="Text 46"/>
          <p:cNvSpPr/>
          <p:nvPr/>
        </p:nvSpPr>
        <p:spPr>
          <a:xfrm>
            <a:off x="7498080" y="5623560"/>
            <a:ext cx="3566160" cy="365760"/>
          </a:xfrm>
          <a:prstGeom prst="rect">
            <a:avLst/>
          </a:prstGeom>
          <a:noFill/>
          <a:ln/>
        </p:spPr>
        <p:txBody>
          <a:bodyPr wrap="square" rtlCol="0" anchor="ctr"/>
          <a:lstStyle/>
          <a:p>
            <a:pPr indent="0" marL="0">
              <a:lnSpc>
                <a:spcPts val="1100"/>
              </a:lnSpc>
              <a:buNone/>
            </a:pPr>
            <a:r>
              <a:rPr lang="en-US" sz="800" dirty="0">
                <a:solidFill>
                  <a:srgbClr val="94A3B8"/>
                </a:solidFill>
                <a:latin typeface="Arial" pitchFamily="34" charset="0"/>
                <a:ea typeface="Arial" pitchFamily="34" charset="-122"/>
                <a:cs typeface="Arial" pitchFamily="34" charset="-120"/>
              </a:rPr>
              <a:t>Intelligent specialty routing with Dhaka district filtering and booking.</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0F172A"/>
          </a:solidFill>
          <a:ln w="12700">
            <a:solidFill>
              <a:srgbClr val="1E293B"/>
            </a:solidFill>
            <a:prstDash val="solid"/>
          </a:ln>
        </p:spPr>
      </p:sp>
      <p:sp>
        <p:nvSpPr>
          <p:cNvPr id="3" name="Text 1"/>
          <p:cNvSpPr/>
          <p:nvPr/>
        </p:nvSpPr>
        <p:spPr>
          <a:xfrm>
            <a:off x="731520" y="128016"/>
            <a:ext cx="6583680" cy="32004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 NUZZLE AI PLATFORM  |  GIGALOGY MAIRA MANAGED RAG INTEGRATION</a:t>
            </a:r>
            <a:endParaRPr lang="en-US" sz="1050" dirty="0"/>
          </a:p>
        </p:txBody>
      </p:sp>
      <p:sp>
        <p:nvSpPr>
          <p:cNvPr id="4" name="Text 2"/>
          <p:cNvSpPr/>
          <p:nvPr/>
        </p:nvSpPr>
        <p:spPr>
          <a:xfrm>
            <a:off x="7498080" y="128016"/>
            <a:ext cx="3962095" cy="320040"/>
          </a:xfrm>
          <a:prstGeom prst="rect">
            <a:avLst/>
          </a:prstGeom>
          <a:noFill/>
          <a:ln/>
        </p:spPr>
        <p:txBody>
          <a:bodyPr wrap="square" rtlCol="0" anchor="ctr"/>
          <a:lstStyle/>
          <a:p>
            <a:pPr algn="r" indent="0" marL="0">
              <a:buNone/>
            </a:pPr>
            <a:r>
              <a:rPr lang="en-US" sz="950" dirty="0">
                <a:solidFill>
                  <a:srgbClr val="94A3B8"/>
                </a:solidFill>
                <a:latin typeface="Arial" pitchFamily="34" charset="0"/>
                <a:ea typeface="Arial" pitchFamily="34" charset="-122"/>
                <a:cs typeface="Arial" pitchFamily="34" charset="-120"/>
              </a:rPr>
              <a:t>Slide 14 of 14  •  Technical &amp; Architecture Deep Dive</a:t>
            </a:r>
            <a:endParaRPr lang="en-US" sz="950" dirty="0"/>
          </a:p>
        </p:txBody>
      </p:sp>
      <p:sp>
        <p:nvSpPr>
          <p:cNvPr id="5" name="Text 3"/>
          <p:cNvSpPr/>
          <p:nvPr/>
        </p:nvSpPr>
        <p:spPr>
          <a:xfrm>
            <a:off x="731520" y="658368"/>
            <a:ext cx="10728655" cy="201168"/>
          </a:xfrm>
          <a:prstGeom prst="rect">
            <a:avLst/>
          </a:prstGeom>
          <a:noFill/>
          <a:ln/>
        </p:spPr>
        <p:txBody>
          <a:bodyPr wrap="square" rtlCol="0" anchor="ctr"/>
          <a:lstStyle/>
          <a:p>
            <a:pPr indent="0" marL="0">
              <a:buNone/>
            </a:pPr>
            <a:r>
              <a:rPr lang="en-US" sz="950" b="1" spc="120" kern="0" dirty="0">
                <a:solidFill>
                  <a:srgbClr val="4338CA"/>
                </a:solidFill>
                <a:latin typeface="Arial" pitchFamily="34" charset="0"/>
                <a:ea typeface="Arial" pitchFamily="34" charset="-122"/>
                <a:cs typeface="Arial" pitchFamily="34" charset="-120"/>
              </a:rPr>
              <a:t>LOOKING FORWARD</a:t>
            </a:r>
            <a:endParaRPr lang="en-US" sz="950" dirty="0"/>
          </a:p>
        </p:txBody>
      </p:sp>
      <p:sp>
        <p:nvSpPr>
          <p:cNvPr id="6" name="Text 4"/>
          <p:cNvSpPr/>
          <p:nvPr/>
        </p:nvSpPr>
        <p:spPr>
          <a:xfrm>
            <a:off x="731520" y="896112"/>
            <a:ext cx="10728655" cy="384048"/>
          </a:xfrm>
          <a:prstGeom prst="rect">
            <a:avLst/>
          </a:prstGeom>
          <a:noFill/>
          <a:ln/>
        </p:spPr>
        <p:txBody>
          <a:bodyPr wrap="square" rtlCol="0" anchor="ctr"/>
          <a:lstStyle/>
          <a:p>
            <a:pPr indent="0" marL="0">
              <a:buNone/>
            </a:pPr>
            <a:r>
              <a:rPr lang="en-US" sz="1900" b="1" dirty="0">
                <a:solidFill>
                  <a:srgbClr val="0F172A"/>
                </a:solidFill>
                <a:latin typeface="Arial" pitchFamily="34" charset="0"/>
                <a:ea typeface="Arial" pitchFamily="34" charset="-122"/>
                <a:cs typeface="Arial" pitchFamily="34" charset="-120"/>
              </a:rPr>
              <a:t>Future Roadmap &amp; Production Conclusion</a:t>
            </a:r>
            <a:endParaRPr lang="en-US" sz="1900" dirty="0"/>
          </a:p>
        </p:txBody>
      </p:sp>
      <p:sp>
        <p:nvSpPr>
          <p:cNvPr id="7" name="Text 5"/>
          <p:cNvSpPr/>
          <p:nvPr/>
        </p:nvSpPr>
        <p:spPr>
          <a:xfrm>
            <a:off x="731520" y="1316736"/>
            <a:ext cx="10728655" cy="292608"/>
          </a:xfrm>
          <a:prstGeom prst="rect">
            <a:avLst/>
          </a:prstGeom>
          <a:noFill/>
          <a:ln/>
        </p:spPr>
        <p:txBody>
          <a:bodyPr wrap="square" rtlCol="0" anchor="ctr"/>
          <a:lstStyle/>
          <a:p>
            <a:pPr indent="0" marL="0">
              <a:buNone/>
            </a:pPr>
            <a:r>
              <a:rPr lang="en-US" sz="1050" dirty="0">
                <a:solidFill>
                  <a:srgbClr val="475569"/>
                </a:solidFill>
                <a:latin typeface="Arial" pitchFamily="34" charset="0"/>
                <a:ea typeface="Arial" pitchFamily="34" charset="-122"/>
                <a:cs typeface="Arial" pitchFamily="34" charset="-120"/>
              </a:rPr>
              <a:t>Scaling multimodal AI across South Asia: Automated ingest, streaming responses, and voice triage.</a:t>
            </a:r>
            <a:endParaRPr lang="en-US" sz="1050" dirty="0"/>
          </a:p>
        </p:txBody>
      </p:sp>
      <p:sp>
        <p:nvSpPr>
          <p:cNvPr id="8" name="Shape 6"/>
          <p:cNvSpPr/>
          <p:nvPr/>
        </p:nvSpPr>
        <p:spPr>
          <a:xfrm>
            <a:off x="0" y="6355080"/>
            <a:ext cx="12191695" cy="502920"/>
          </a:xfrm>
          <a:prstGeom prst="rect">
            <a:avLst/>
          </a:prstGeom>
          <a:solidFill>
            <a:srgbClr val="0F172A"/>
          </a:solidFill>
          <a:ln w="12700">
            <a:solidFill>
              <a:srgbClr val="1E293B"/>
            </a:solidFill>
            <a:prstDash val="solid"/>
          </a:ln>
        </p:spPr>
      </p:sp>
      <p:sp>
        <p:nvSpPr>
          <p:cNvPr id="9" name="Text 7"/>
          <p:cNvSpPr/>
          <p:nvPr/>
        </p:nvSpPr>
        <p:spPr>
          <a:xfrm>
            <a:off x="731520" y="6446520"/>
            <a:ext cx="6583680" cy="320040"/>
          </a:xfrm>
          <a:prstGeom prst="rect">
            <a:avLst/>
          </a:prstGeom>
          <a:noFill/>
          <a:ln/>
        </p:spPr>
        <p:txBody>
          <a:bodyPr wrap="square" rtlCol="0" anchor="ctr"/>
          <a:lstStyle/>
          <a:p>
            <a:pPr indent="0" marL="0">
              <a:buNone/>
            </a:pPr>
            <a:r>
              <a:rPr lang="en-US" sz="950" dirty="0">
                <a:solidFill>
                  <a:srgbClr val="94A3B8"/>
                </a:solidFill>
                <a:latin typeface="Arial" pitchFamily="34" charset="0"/>
                <a:ea typeface="Arial" pitchFamily="34" charset="-122"/>
                <a:cs typeface="Arial" pitchFamily="34" charset="-120"/>
              </a:rPr>
              <a:t>Nuzzle × Gigalogy MAIRA  •  Production Multimodal AI Engine  •  Dhaka, Bangladesh</a:t>
            </a:r>
            <a:endParaRPr lang="en-US" sz="950" dirty="0"/>
          </a:p>
        </p:txBody>
      </p:sp>
      <p:sp>
        <p:nvSpPr>
          <p:cNvPr id="10" name="Text 8"/>
          <p:cNvSpPr/>
          <p:nvPr/>
        </p:nvSpPr>
        <p:spPr>
          <a:xfrm>
            <a:off x="7498080" y="6446520"/>
            <a:ext cx="3962095" cy="320040"/>
          </a:xfrm>
          <a:prstGeom prst="rect">
            <a:avLst/>
          </a:prstGeom>
          <a:noFill/>
          <a:ln/>
        </p:spPr>
        <p:txBody>
          <a:bodyPr wrap="square" rtlCol="0" anchor="ctr"/>
          <a:lstStyle/>
          <a:p>
            <a:pPr algn="r" indent="0" marL="0">
              <a:buNone/>
            </a:pPr>
            <a:r>
              <a:rPr lang="en-US" sz="950" dirty="0">
                <a:solidFill>
                  <a:srgbClr val="64748B"/>
                </a:solidFill>
                <a:latin typeface="Arial" pitchFamily="34" charset="0"/>
                <a:ea typeface="Arial" pitchFamily="34" charset="-122"/>
                <a:cs typeface="Arial" pitchFamily="34" charset="-120"/>
              </a:rPr>
              <a:t>Confidential &amp; Proprietary</a:t>
            </a:r>
            <a:endParaRPr lang="en-US" sz="950" dirty="0"/>
          </a:p>
        </p:txBody>
      </p:sp>
      <p:sp>
        <p:nvSpPr>
          <p:cNvPr id="11" name="Shape 9"/>
          <p:cNvSpPr/>
          <p:nvPr/>
        </p:nvSpPr>
        <p:spPr>
          <a:xfrm>
            <a:off x="731520" y="1783080"/>
            <a:ext cx="3429000" cy="2834640"/>
          </a:xfrm>
          <a:prstGeom prst="roundRect">
            <a:avLst/>
          </a:prstGeom>
          <a:solidFill>
            <a:srgbClr val="FFFFFF"/>
          </a:solidFill>
          <a:ln w="15240">
            <a:solidFill>
              <a:srgbClr val="CBD5E1"/>
            </a:solidFill>
            <a:prstDash val="solid"/>
          </a:ln>
        </p:spPr>
      </p:sp>
      <p:sp>
        <p:nvSpPr>
          <p:cNvPr id="12" name="Text 10"/>
          <p:cNvSpPr/>
          <p:nvPr/>
        </p:nvSpPr>
        <p:spPr>
          <a:xfrm>
            <a:off x="868680" y="1965960"/>
            <a:ext cx="457200" cy="365760"/>
          </a:xfrm>
          <a:prstGeom prst="rect">
            <a:avLst/>
          </a:prstGeom>
          <a:noFill/>
          <a:ln/>
        </p:spPr>
        <p:txBody>
          <a:bodyPr wrap="square" rtlCol="0" anchor="ctr"/>
          <a:lstStyle/>
          <a:p>
            <a:pPr indent="0" marL="0">
              <a:buNone/>
            </a:pPr>
            <a:r>
              <a:rPr lang="en-US" sz="2200" dirty="0">
                <a:solidFill>
                  <a:srgbClr val="000000"/>
                </a:solidFill>
              </a:rPr>
              <a:t>⚡</a:t>
            </a:r>
            <a:endParaRPr lang="en-US" sz="2200" dirty="0"/>
          </a:p>
        </p:txBody>
      </p:sp>
      <p:sp>
        <p:nvSpPr>
          <p:cNvPr id="13" name="Text 11"/>
          <p:cNvSpPr/>
          <p:nvPr/>
        </p:nvSpPr>
        <p:spPr>
          <a:xfrm>
            <a:off x="868680" y="2423160"/>
            <a:ext cx="3108960" cy="201168"/>
          </a:xfrm>
          <a:prstGeom prst="rect">
            <a:avLst/>
          </a:prstGeom>
          <a:noFill/>
          <a:ln/>
        </p:spPr>
        <p:txBody>
          <a:bodyPr wrap="square" rtlCol="0" anchor="ctr"/>
          <a:lstStyle/>
          <a:p>
            <a:pPr indent="0" marL="0">
              <a:buNone/>
            </a:pPr>
            <a:r>
              <a:rPr lang="en-US" sz="900" b="1" dirty="0">
                <a:solidFill>
                  <a:srgbClr val="4338CA"/>
                </a:solidFill>
                <a:latin typeface="Arial" pitchFamily="34" charset="0"/>
                <a:ea typeface="Arial" pitchFamily="34" charset="-122"/>
                <a:cs typeface="Arial" pitchFamily="34" charset="-120"/>
              </a:rPr>
              <a:t>PHASE 1 (NEXT SPRINT)</a:t>
            </a:r>
            <a:endParaRPr lang="en-US" sz="900" dirty="0"/>
          </a:p>
        </p:txBody>
      </p:sp>
      <p:sp>
        <p:nvSpPr>
          <p:cNvPr id="14" name="Text 12"/>
          <p:cNvSpPr/>
          <p:nvPr/>
        </p:nvSpPr>
        <p:spPr>
          <a:xfrm>
            <a:off x="868680" y="2651760"/>
            <a:ext cx="3108960" cy="457200"/>
          </a:xfrm>
          <a:prstGeom prst="rect">
            <a:avLst/>
          </a:prstGeom>
          <a:noFill/>
          <a:ln/>
        </p:spPr>
        <p:txBody>
          <a:bodyPr wrap="square" rtlCol="0" anchor="ctr"/>
          <a:lstStyle/>
          <a:p>
            <a:pPr indent="0" marL="0">
              <a:lnSpc>
                <a:spcPts val="1500"/>
              </a:lnSpc>
              <a:buNone/>
            </a:pPr>
            <a:r>
              <a:rPr lang="en-US" sz="1200" b="1" dirty="0">
                <a:solidFill>
                  <a:srgbClr val="0F172A"/>
                </a:solidFill>
                <a:latin typeface="Arial" pitchFamily="34" charset="0"/>
                <a:ea typeface="Arial" pitchFamily="34" charset="-122"/>
                <a:cs typeface="Arial" pitchFamily="34" charset="-120"/>
              </a:rPr>
              <a:t>Server-Sent Events (SSE) Streaming</a:t>
            </a:r>
            <a:endParaRPr lang="en-US" sz="1200" dirty="0"/>
          </a:p>
        </p:txBody>
      </p:sp>
      <p:sp>
        <p:nvSpPr>
          <p:cNvPr id="15" name="Text 13"/>
          <p:cNvSpPr/>
          <p:nvPr/>
        </p:nvSpPr>
        <p:spPr>
          <a:xfrm>
            <a:off x="868680" y="3154680"/>
            <a:ext cx="3108960" cy="1280160"/>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Upgrade /api/pawai/chat to native HTTP chunked streaming, reducing perceived token generation latency to &lt; 100ms on mobile devices.</a:t>
            </a:r>
            <a:endParaRPr lang="en-US" sz="950" dirty="0"/>
          </a:p>
        </p:txBody>
      </p:sp>
      <p:sp>
        <p:nvSpPr>
          <p:cNvPr id="16" name="Shape 14"/>
          <p:cNvSpPr/>
          <p:nvPr/>
        </p:nvSpPr>
        <p:spPr>
          <a:xfrm>
            <a:off x="4370832" y="1783080"/>
            <a:ext cx="3429000" cy="2834640"/>
          </a:xfrm>
          <a:prstGeom prst="roundRect">
            <a:avLst/>
          </a:prstGeom>
          <a:solidFill>
            <a:srgbClr val="FFFFFF"/>
          </a:solidFill>
          <a:ln w="15240">
            <a:solidFill>
              <a:srgbClr val="CBD5E1"/>
            </a:solidFill>
            <a:prstDash val="solid"/>
          </a:ln>
        </p:spPr>
      </p:sp>
      <p:sp>
        <p:nvSpPr>
          <p:cNvPr id="17" name="Text 15"/>
          <p:cNvSpPr/>
          <p:nvPr/>
        </p:nvSpPr>
        <p:spPr>
          <a:xfrm>
            <a:off x="4507992" y="1965960"/>
            <a:ext cx="457200" cy="365760"/>
          </a:xfrm>
          <a:prstGeom prst="rect">
            <a:avLst/>
          </a:prstGeom>
          <a:noFill/>
          <a:ln/>
        </p:spPr>
        <p:txBody>
          <a:bodyPr wrap="square" rtlCol="0" anchor="ctr"/>
          <a:lstStyle/>
          <a:p>
            <a:pPr indent="0" marL="0">
              <a:buNone/>
            </a:pPr>
            <a:r>
              <a:rPr lang="en-US" sz="2200" dirty="0">
                <a:solidFill>
                  <a:srgbClr val="000000"/>
                </a:solidFill>
              </a:rPr>
              <a:t>🔄</a:t>
            </a:r>
            <a:endParaRPr lang="en-US" sz="2200" dirty="0"/>
          </a:p>
        </p:txBody>
      </p:sp>
      <p:sp>
        <p:nvSpPr>
          <p:cNvPr id="18" name="Text 16"/>
          <p:cNvSpPr/>
          <p:nvPr/>
        </p:nvSpPr>
        <p:spPr>
          <a:xfrm>
            <a:off x="4507992" y="2423160"/>
            <a:ext cx="3108960" cy="201168"/>
          </a:xfrm>
          <a:prstGeom prst="rect">
            <a:avLst/>
          </a:prstGeom>
          <a:noFill/>
          <a:ln/>
        </p:spPr>
        <p:txBody>
          <a:bodyPr wrap="square" rtlCol="0" anchor="ctr"/>
          <a:lstStyle/>
          <a:p>
            <a:pPr indent="0" marL="0">
              <a:buNone/>
            </a:pPr>
            <a:r>
              <a:rPr lang="en-US" sz="900" b="1" dirty="0">
                <a:solidFill>
                  <a:srgbClr val="4338CA"/>
                </a:solidFill>
                <a:latin typeface="Arial" pitchFamily="34" charset="0"/>
                <a:ea typeface="Arial" pitchFamily="34" charset="-122"/>
                <a:cs typeface="Arial" pitchFamily="34" charset="-120"/>
              </a:rPr>
              <a:t>PHASE 2 (Q4 2026)</a:t>
            </a:r>
            <a:endParaRPr lang="en-US" sz="900" dirty="0"/>
          </a:p>
        </p:txBody>
      </p:sp>
      <p:sp>
        <p:nvSpPr>
          <p:cNvPr id="19" name="Text 17"/>
          <p:cNvSpPr/>
          <p:nvPr/>
        </p:nvSpPr>
        <p:spPr>
          <a:xfrm>
            <a:off x="4507992" y="2651760"/>
            <a:ext cx="3108960" cy="457200"/>
          </a:xfrm>
          <a:prstGeom prst="rect">
            <a:avLst/>
          </a:prstGeom>
          <a:noFill/>
          <a:ln/>
        </p:spPr>
        <p:txBody>
          <a:bodyPr wrap="square" rtlCol="0" anchor="ctr"/>
          <a:lstStyle/>
          <a:p>
            <a:pPr indent="0" marL="0">
              <a:lnSpc>
                <a:spcPts val="1500"/>
              </a:lnSpc>
              <a:buNone/>
            </a:pPr>
            <a:r>
              <a:rPr lang="en-US" sz="1200" b="1" dirty="0">
                <a:solidFill>
                  <a:srgbClr val="0F172A"/>
                </a:solidFill>
                <a:latin typeface="Arial" pitchFamily="34" charset="0"/>
                <a:ea typeface="Arial" pitchFamily="34" charset="-122"/>
                <a:cs typeface="Arial" pitchFamily="34" charset="-120"/>
              </a:rPr>
              <a:t>Real-Time Lost Pet Auto-Ingestion</a:t>
            </a:r>
            <a:endParaRPr lang="en-US" sz="1200" dirty="0"/>
          </a:p>
        </p:txBody>
      </p:sp>
      <p:sp>
        <p:nvSpPr>
          <p:cNvPr id="20" name="Text 18"/>
          <p:cNvSpPr/>
          <p:nvPr/>
        </p:nvSpPr>
        <p:spPr>
          <a:xfrm>
            <a:off x="4507992" y="3154680"/>
            <a:ext cx="3108960" cy="1280160"/>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Automate webhook ingestion so when a pet parent creates a lost report on Nuzzle, it is automatically vectorized into MAIRA within 5 seconds.</a:t>
            </a:r>
            <a:endParaRPr lang="en-US" sz="950" dirty="0"/>
          </a:p>
        </p:txBody>
      </p:sp>
      <p:sp>
        <p:nvSpPr>
          <p:cNvPr id="21" name="Shape 19"/>
          <p:cNvSpPr/>
          <p:nvPr/>
        </p:nvSpPr>
        <p:spPr>
          <a:xfrm>
            <a:off x="8010144" y="1783080"/>
            <a:ext cx="3429000" cy="2834640"/>
          </a:xfrm>
          <a:prstGeom prst="roundRect">
            <a:avLst/>
          </a:prstGeom>
          <a:solidFill>
            <a:srgbClr val="FFFFFF"/>
          </a:solidFill>
          <a:ln w="15240">
            <a:solidFill>
              <a:srgbClr val="CBD5E1"/>
            </a:solidFill>
            <a:prstDash val="solid"/>
          </a:ln>
        </p:spPr>
      </p:sp>
      <p:sp>
        <p:nvSpPr>
          <p:cNvPr id="22" name="Text 20"/>
          <p:cNvSpPr/>
          <p:nvPr/>
        </p:nvSpPr>
        <p:spPr>
          <a:xfrm>
            <a:off x="8147304" y="1965960"/>
            <a:ext cx="457200" cy="365760"/>
          </a:xfrm>
          <a:prstGeom prst="rect">
            <a:avLst/>
          </a:prstGeom>
          <a:noFill/>
          <a:ln/>
        </p:spPr>
        <p:txBody>
          <a:bodyPr wrap="square" rtlCol="0" anchor="ctr"/>
          <a:lstStyle/>
          <a:p>
            <a:pPr indent="0" marL="0">
              <a:buNone/>
            </a:pPr>
            <a:r>
              <a:rPr lang="en-US" sz="2200" dirty="0">
                <a:solidFill>
                  <a:srgbClr val="000000"/>
                </a:solidFill>
              </a:rPr>
              <a:t>🎙️</a:t>
            </a:r>
            <a:endParaRPr lang="en-US" sz="2200" dirty="0"/>
          </a:p>
        </p:txBody>
      </p:sp>
      <p:sp>
        <p:nvSpPr>
          <p:cNvPr id="23" name="Text 21"/>
          <p:cNvSpPr/>
          <p:nvPr/>
        </p:nvSpPr>
        <p:spPr>
          <a:xfrm>
            <a:off x="8147304" y="2423160"/>
            <a:ext cx="3108960" cy="201168"/>
          </a:xfrm>
          <a:prstGeom prst="rect">
            <a:avLst/>
          </a:prstGeom>
          <a:noFill/>
          <a:ln/>
        </p:spPr>
        <p:txBody>
          <a:bodyPr wrap="square" rtlCol="0" anchor="ctr"/>
          <a:lstStyle/>
          <a:p>
            <a:pPr indent="0" marL="0">
              <a:buNone/>
            </a:pPr>
            <a:r>
              <a:rPr lang="en-US" sz="900" b="1" dirty="0">
                <a:solidFill>
                  <a:srgbClr val="4338CA"/>
                </a:solidFill>
                <a:latin typeface="Arial" pitchFamily="34" charset="0"/>
                <a:ea typeface="Arial" pitchFamily="34" charset="-122"/>
                <a:cs typeface="Arial" pitchFamily="34" charset="-120"/>
              </a:rPr>
              <a:t>PHASE 3 (Q1 2027)</a:t>
            </a:r>
            <a:endParaRPr lang="en-US" sz="900" dirty="0"/>
          </a:p>
        </p:txBody>
      </p:sp>
      <p:sp>
        <p:nvSpPr>
          <p:cNvPr id="24" name="Text 22"/>
          <p:cNvSpPr/>
          <p:nvPr/>
        </p:nvSpPr>
        <p:spPr>
          <a:xfrm>
            <a:off x="8147304" y="2651760"/>
            <a:ext cx="3108960" cy="457200"/>
          </a:xfrm>
          <a:prstGeom prst="rect">
            <a:avLst/>
          </a:prstGeom>
          <a:noFill/>
          <a:ln/>
        </p:spPr>
        <p:txBody>
          <a:bodyPr wrap="square" rtlCol="0" anchor="ctr"/>
          <a:lstStyle/>
          <a:p>
            <a:pPr indent="0" marL="0">
              <a:lnSpc>
                <a:spcPts val="1500"/>
              </a:lnSpc>
              <a:buNone/>
            </a:pPr>
            <a:r>
              <a:rPr lang="en-US" sz="1200" b="1" dirty="0">
                <a:solidFill>
                  <a:srgbClr val="0F172A"/>
                </a:solidFill>
                <a:latin typeface="Arial" pitchFamily="34" charset="0"/>
                <a:ea typeface="Arial" pitchFamily="34" charset="-122"/>
                <a:cs typeface="Arial" pitchFamily="34" charset="-120"/>
              </a:rPr>
              <a:t>Bilingual Voice Emergency Triage</a:t>
            </a:r>
            <a:endParaRPr lang="en-US" sz="1200" dirty="0"/>
          </a:p>
        </p:txBody>
      </p:sp>
      <p:sp>
        <p:nvSpPr>
          <p:cNvPr id="25" name="Text 23"/>
          <p:cNvSpPr/>
          <p:nvPr/>
        </p:nvSpPr>
        <p:spPr>
          <a:xfrm>
            <a:off x="8147304" y="3154680"/>
            <a:ext cx="3108960" cy="1280160"/>
          </a:xfrm>
          <a:prstGeom prst="rect">
            <a:avLst/>
          </a:prstGeom>
          <a:noFill/>
          <a:ln/>
        </p:spPr>
        <p:txBody>
          <a:bodyPr wrap="square" rtlCol="0" anchor="ctr"/>
          <a:lstStyle/>
          <a:p>
            <a:pPr indent="0" marL="0">
              <a:lnSpc>
                <a:spcPts val="1400"/>
              </a:lnSpc>
              <a:buNone/>
            </a:pPr>
            <a:r>
              <a:rPr lang="en-US" sz="950" dirty="0">
                <a:solidFill>
                  <a:srgbClr val="475569"/>
                </a:solidFill>
                <a:latin typeface="Arial" pitchFamily="34" charset="0"/>
                <a:ea typeface="Arial" pitchFamily="34" charset="-122"/>
                <a:cs typeface="Arial" pitchFamily="34" charset="-120"/>
              </a:rPr>
              <a:t>Deploy whisper voice-to-text allowing panicking pet owners to verbally describe symptoms in spoken Bengali or English during acute emergencies.</a:t>
            </a:r>
            <a:endParaRPr lang="en-US" sz="950" dirty="0"/>
          </a:p>
        </p:txBody>
      </p:sp>
      <p:sp>
        <p:nvSpPr>
          <p:cNvPr id="26" name="Shape 24"/>
          <p:cNvSpPr/>
          <p:nvPr/>
        </p:nvSpPr>
        <p:spPr>
          <a:xfrm>
            <a:off x="731520" y="4800600"/>
            <a:ext cx="10728655" cy="1371600"/>
          </a:xfrm>
          <a:prstGeom prst="roundRect">
            <a:avLst/>
          </a:prstGeom>
          <a:solidFill>
            <a:srgbClr val="0F172A"/>
          </a:solidFill>
          <a:ln w="12700">
            <a:solidFill>
              <a:srgbClr val="1E293B"/>
            </a:solidFill>
            <a:prstDash val="solid"/>
          </a:ln>
        </p:spPr>
      </p:sp>
      <p:sp>
        <p:nvSpPr>
          <p:cNvPr id="27" name="Text 25"/>
          <p:cNvSpPr/>
          <p:nvPr/>
        </p:nvSpPr>
        <p:spPr>
          <a:xfrm>
            <a:off x="960120" y="4937760"/>
            <a:ext cx="5486400" cy="201168"/>
          </a:xfrm>
          <a:prstGeom prst="rect">
            <a:avLst/>
          </a:prstGeom>
          <a:noFill/>
          <a:ln/>
        </p:spPr>
        <p:txBody>
          <a:bodyPr wrap="square" rtlCol="0" anchor="ctr"/>
          <a:lstStyle/>
          <a:p>
            <a:pPr indent="0" marL="0">
              <a:buNone/>
            </a:pPr>
            <a:r>
              <a:rPr lang="en-US" sz="1000" b="1" spc="120" kern="0" dirty="0">
                <a:solidFill>
                  <a:srgbClr val="818CF8"/>
                </a:solidFill>
                <a:latin typeface="Arial" pitchFamily="34" charset="0"/>
                <a:ea typeface="Arial" pitchFamily="34" charset="-122"/>
                <a:cs typeface="Arial" pitchFamily="34" charset="-120"/>
              </a:rPr>
              <a:t>CONCLUSION &amp; KEY TAKEAWAYS</a:t>
            </a:r>
            <a:endParaRPr lang="en-US" sz="1000" dirty="0"/>
          </a:p>
        </p:txBody>
      </p:sp>
      <p:sp>
        <p:nvSpPr>
          <p:cNvPr id="28" name="Text 26"/>
          <p:cNvSpPr/>
          <p:nvPr/>
        </p:nvSpPr>
        <p:spPr>
          <a:xfrm>
            <a:off x="960120" y="5166360"/>
            <a:ext cx="7772400" cy="868680"/>
          </a:xfrm>
          <a:prstGeom prst="rect">
            <a:avLst/>
          </a:prstGeom>
          <a:noFill/>
          <a:ln/>
        </p:spPr>
        <p:txBody>
          <a:bodyPr wrap="square" rtlCol="0" anchor="ctr"/>
          <a:lstStyle/>
          <a:p>
            <a:pPr indent="0" marL="0">
              <a:lnSpc>
                <a:spcPts val="1400"/>
              </a:lnSpc>
              <a:buNone/>
            </a:pPr>
            <a:r>
              <a:rPr lang="en-US" sz="950" dirty="0">
                <a:solidFill>
                  <a:srgbClr val="CBD5E1"/>
                </a:solidFill>
                <a:latin typeface="Arial" pitchFamily="34" charset="0"/>
                <a:ea typeface="Arial" pitchFamily="34" charset="-122"/>
                <a:cs typeface="Arial" pitchFamily="34" charset="-120"/>
              </a:rPr>
              <a:t>Nuzzle’s integration with Gigalogy MAIRA successfully bridges the gap between social community and clinical veterinary intelligence. By combining isolated domain profiles, trained vector datasets, and deterministic poison guardrails, Nuzzle delivers an enterprise pet health companion built for real-world impact.</a:t>
            </a:r>
            <a:endParaRPr lang="en-US" sz="950" dirty="0"/>
          </a:p>
        </p:txBody>
      </p:sp>
      <p:sp>
        <p:nvSpPr>
          <p:cNvPr id="29" name="Shape 27"/>
          <p:cNvSpPr/>
          <p:nvPr/>
        </p:nvSpPr>
        <p:spPr>
          <a:xfrm>
            <a:off x="9144000" y="5029200"/>
            <a:ext cx="2011680" cy="868680"/>
          </a:xfrm>
          <a:prstGeom prst="roundRect">
            <a:avLst/>
          </a:prstGeom>
          <a:solidFill>
            <a:srgbClr val="4338CA"/>
          </a:solidFill>
          <a:ln w="12700">
            <a:solidFill>
              <a:srgbClr val="6366F1"/>
            </a:solidFill>
            <a:prstDash val="solid"/>
          </a:ln>
        </p:spPr>
      </p:sp>
      <p:sp>
        <p:nvSpPr>
          <p:cNvPr id="30" name="Text 28"/>
          <p:cNvSpPr/>
          <p:nvPr/>
        </p:nvSpPr>
        <p:spPr>
          <a:xfrm>
            <a:off x="9144000" y="5212080"/>
            <a:ext cx="2011680" cy="502920"/>
          </a:xfrm>
          <a:prstGeom prst="rect">
            <a:avLst/>
          </a:prstGeom>
          <a:noFill/>
          <a:ln/>
        </p:spPr>
        <p:txBody>
          <a:bodyPr wrap="square"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THANK YOU!</a:t>
            </a:r>
            <a:endParaRPr lang="en-US" sz="950" dirty="0"/>
          </a:p>
          <a:p>
            <a:pPr algn="ctr" indent="0" marL="0">
              <a:buNone/>
            </a:pPr>
            <a:r>
              <a:rPr lang="en-US" sz="950" b="1" dirty="0">
                <a:solidFill>
                  <a:srgbClr val="FFFFFF"/>
                </a:solidFill>
                <a:latin typeface="Arial" pitchFamily="34" charset="0"/>
                <a:ea typeface="Arial" pitchFamily="34" charset="-122"/>
                <a:cs typeface="Arial" pitchFamily="34" charset="-120"/>
              </a:rPr>
              <a:t>QUESTIONS &amp; ANSWERS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Nuzzle (Dhaka,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Gigalogy MAIRA AI Integration: Managed RAG, Multimodal Vision &amp; Clinical Intelligence</dc:title>
  <dc:subject>Comprehensive Architectural &amp; Technical Walkthrough of Gigalogy MAIRA AI Integration in Nuzzle</dc:subject>
  <dc:creator>Abu Zafor &amp; Nuzzle Engineering Team</dc:creator>
  <cp:lastModifiedBy>Abu Zafor &amp; Nuzzle Engineering Team</cp:lastModifiedBy>
  <cp:revision>1</cp:revision>
  <dcterms:created xsi:type="dcterms:W3CDTF">2026-09-18T05:31:48Z</dcterms:created>
  <dcterms:modified xsi:type="dcterms:W3CDTF">2026-09-18T05:31:48Z</dcterms:modified>
</cp:coreProperties>
</file>