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6366F1"/>
          </a:solidFill>
          <a:ln/>
        </p:spPr>
      </p:sp>
      <p:sp>
        <p:nvSpPr>
          <p:cNvPr id="3" name="Shape 1"/>
          <p:cNvSpPr/>
          <p:nvPr/>
        </p:nvSpPr>
        <p:spPr>
          <a:xfrm>
            <a:off x="914400" y="1051560"/>
            <a:ext cx="4389120" cy="347472"/>
          </a:xfrm>
          <a:prstGeom prst="roundRect">
            <a:avLst/>
          </a:prstGeom>
          <a:solidFill>
            <a:srgbClr val="1E1B4B"/>
          </a:solidFill>
          <a:ln w="12700">
            <a:solidFill>
              <a:srgbClr val="6366F1"/>
            </a:solidFill>
            <a:prstDash val="solid"/>
          </a:ln>
        </p:spPr>
      </p:sp>
      <p:sp>
        <p:nvSpPr>
          <p:cNvPr id="4" name="Text 2"/>
          <p:cNvSpPr/>
          <p:nvPr/>
        </p:nvSpPr>
        <p:spPr>
          <a:xfrm>
            <a:off x="914400" y="1115568"/>
            <a:ext cx="4389120" cy="228600"/>
          </a:xfrm>
          <a:prstGeom prst="rect">
            <a:avLst/>
          </a:prstGeom>
          <a:noFill/>
          <a:ln/>
        </p:spPr>
        <p:txBody>
          <a:bodyPr wrap="square" rtlCol="0" anchor="ctr"/>
          <a:lstStyle/>
          <a:p>
            <a:pPr algn="ctr" indent="0" marL="0">
              <a:buNone/>
            </a:pPr>
            <a:r>
              <a:rPr lang="en-US" sz="1000" b="1" dirty="0">
                <a:solidFill>
                  <a:srgbClr val="A5B4FC"/>
                </a:solidFill>
                <a:latin typeface="Arial" pitchFamily="34" charset="0"/>
                <a:ea typeface="Arial" pitchFamily="34" charset="-122"/>
                <a:cs typeface="Arial" pitchFamily="34" charset="-120"/>
              </a:rPr>
              <a:t>ENTERPRISE MULTIMODAL AI &amp; MANAGED RAG</a:t>
            </a:r>
            <a:endParaRPr lang="en-US" sz="1000" dirty="0"/>
          </a:p>
        </p:txBody>
      </p:sp>
      <p:sp>
        <p:nvSpPr>
          <p:cNvPr id="5" name="Text 3"/>
          <p:cNvSpPr/>
          <p:nvPr/>
        </p:nvSpPr>
        <p:spPr>
          <a:xfrm>
            <a:off x="914400" y="1600200"/>
            <a:ext cx="6949440" cy="1463040"/>
          </a:xfrm>
          <a:prstGeom prst="rect">
            <a:avLst/>
          </a:prstGeom>
          <a:noFill/>
          <a:ln/>
        </p:spPr>
        <p:txBody>
          <a:bodyPr wrap="square" rtlCol="0" anchor="ctr"/>
          <a:lstStyle/>
          <a:p>
            <a:pPr indent="0" marL="0">
              <a:lnSpc>
                <a:spcPts val="3800"/>
              </a:lnSpc>
              <a:buNone/>
            </a:pPr>
            <a:r>
              <a:rPr lang="en-US" sz="3200" b="1" dirty="0">
                <a:solidFill>
                  <a:srgbClr val="FFFFFF"/>
                </a:solidFill>
                <a:latin typeface="Arial" pitchFamily="34" charset="0"/>
                <a:ea typeface="Arial" pitchFamily="34" charset="-122"/>
                <a:cs typeface="Arial" pitchFamily="34" charset="-120"/>
              </a:rPr>
              <a:t>Gigalogy MAIRA AI Integration</a:t>
            </a:r>
            <a:endParaRPr lang="en-US" sz="3200" dirty="0"/>
          </a:p>
          <a:p>
            <a:pPr indent="0" marL="0">
              <a:lnSpc>
                <a:spcPts val="3800"/>
              </a:lnSpc>
              <a:buNone/>
            </a:pPr>
            <a:r>
              <a:rPr lang="en-US" sz="3200" b="1" dirty="0">
                <a:solidFill>
                  <a:srgbClr val="FFFFFF"/>
                </a:solidFill>
                <a:latin typeface="Arial" pitchFamily="34" charset="0"/>
                <a:ea typeface="Arial" pitchFamily="34" charset="-122"/>
                <a:cs typeface="Arial" pitchFamily="34" charset="-120"/>
              </a:rPr>
              <a:t>in Nuzzle Pet Social Media</a:t>
            </a:r>
            <a:endParaRPr lang="en-US" sz="3200" dirty="0"/>
          </a:p>
        </p:txBody>
      </p:sp>
      <p:sp>
        <p:nvSpPr>
          <p:cNvPr id="6" name="Text 4"/>
          <p:cNvSpPr/>
          <p:nvPr/>
        </p:nvSpPr>
        <p:spPr>
          <a:xfrm>
            <a:off x="914400" y="3200400"/>
            <a:ext cx="6766560" cy="731520"/>
          </a:xfrm>
          <a:prstGeom prst="rect">
            <a:avLst/>
          </a:prstGeom>
          <a:noFill/>
          <a:ln/>
        </p:spPr>
        <p:txBody>
          <a:bodyPr wrap="square" rtlCol="0" anchor="ctr"/>
          <a:lstStyle/>
          <a:p>
            <a:pPr indent="0" marL="0">
              <a:lnSpc>
                <a:spcPts val="1800"/>
              </a:lnSpc>
              <a:buNone/>
            </a:pPr>
            <a:r>
              <a:rPr lang="en-US" sz="1300" dirty="0">
                <a:solidFill>
                  <a:srgbClr val="94A3B8"/>
                </a:solidFill>
                <a:latin typeface="Arial" pitchFamily="34" charset="0"/>
                <a:ea typeface="Arial" pitchFamily="34" charset="-122"/>
                <a:cs typeface="Arial" pitchFamily="34" charset="-120"/>
              </a:rPr>
              <a:t>Comprehensive technical walkthrough of deploying Gigalogy MAIRA Managed RAG, fine-tuned multimodal vector datasets, and zero-downtime clinical AI intelligence across 4 core pillars.</a:t>
            </a:r>
            <a:endParaRPr lang="en-US" sz="1300" dirty="0"/>
          </a:p>
        </p:txBody>
      </p:sp>
      <p:sp>
        <p:nvSpPr>
          <p:cNvPr id="7" name="Shape 5"/>
          <p:cNvSpPr/>
          <p:nvPr/>
        </p:nvSpPr>
        <p:spPr>
          <a:xfrm>
            <a:off x="914400" y="4160520"/>
            <a:ext cx="1627632" cy="1645920"/>
          </a:xfrm>
          <a:prstGeom prst="roundRect">
            <a:avLst/>
          </a:prstGeom>
          <a:solidFill>
            <a:srgbClr val="111827"/>
          </a:solidFill>
          <a:ln w="12700">
            <a:solidFill>
              <a:srgbClr val="374151"/>
            </a:solidFill>
            <a:prstDash val="solid"/>
          </a:ln>
        </p:spPr>
      </p:sp>
      <p:sp>
        <p:nvSpPr>
          <p:cNvPr id="8" name="Text 6"/>
          <p:cNvSpPr/>
          <p:nvPr/>
        </p:nvSpPr>
        <p:spPr>
          <a:xfrm>
            <a:off x="1051560" y="429768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9" name="Text 7"/>
          <p:cNvSpPr/>
          <p:nvPr/>
        </p:nvSpPr>
        <p:spPr>
          <a:xfrm>
            <a:off x="1051560" y="4709160"/>
            <a:ext cx="1371600" cy="41148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PawDoctor Triage</a:t>
            </a:r>
            <a:endParaRPr lang="en-US" sz="1100" dirty="0"/>
          </a:p>
        </p:txBody>
      </p:sp>
      <p:sp>
        <p:nvSpPr>
          <p:cNvPr id="10" name="Text 8"/>
          <p:cNvSpPr/>
          <p:nvPr/>
        </p:nvSpPr>
        <p:spPr>
          <a:xfrm>
            <a:off x="1051560" y="5138928"/>
            <a:ext cx="1371600" cy="201168"/>
          </a:xfrm>
          <a:prstGeom prst="rect">
            <a:avLst/>
          </a:prstGeom>
          <a:noFill/>
          <a:ln/>
        </p:spPr>
        <p:txBody>
          <a:bodyPr wrap="square" rtlCol="0" anchor="ctr"/>
          <a:lstStyle/>
          <a:p>
            <a:pPr indent="0" marL="0">
              <a:buNone/>
            </a:pPr>
            <a:r>
              <a:rPr lang="en-US" sz="950" b="1" dirty="0">
                <a:solidFill>
                  <a:srgbClr val="818CF8"/>
                </a:solidFill>
                <a:latin typeface="Arial" pitchFamily="34" charset="0"/>
                <a:ea typeface="Arial" pitchFamily="34" charset="-122"/>
                <a:cs typeface="Arial" pitchFamily="34" charset="-120"/>
              </a:rPr>
              <a:t>ID: 0a8fd1e8</a:t>
            </a:r>
            <a:endParaRPr lang="en-US" sz="950" dirty="0"/>
          </a:p>
        </p:txBody>
      </p:sp>
      <p:sp>
        <p:nvSpPr>
          <p:cNvPr id="11" name="Text 9"/>
          <p:cNvSpPr/>
          <p:nvPr/>
        </p:nvSpPr>
        <p:spPr>
          <a:xfrm>
            <a:off x="1051560" y="5358384"/>
            <a:ext cx="1371600" cy="347472"/>
          </a:xfrm>
          <a:prstGeom prst="rect">
            <a:avLst/>
          </a:prstGeom>
          <a:noFill/>
          <a:ln/>
        </p:spPr>
        <p:txBody>
          <a:bodyPr wrap="square" rtlCol="0" anchor="ctr"/>
          <a:lstStyle/>
          <a:p>
            <a:pPr indent="0" marL="0">
              <a:buNone/>
            </a:pPr>
            <a:r>
              <a:rPr lang="en-US" sz="900" dirty="0">
                <a:solidFill>
                  <a:srgbClr val="9CA3AF"/>
                </a:solidFill>
                <a:latin typeface="Arial" pitchFamily="34" charset="0"/>
                <a:ea typeface="Arial" pitchFamily="34" charset="-122"/>
                <a:cs typeface="Arial" pitchFamily="34" charset="-120"/>
              </a:rPr>
              <a:t>24/7 Clinical Emergency AI</a:t>
            </a:r>
            <a:endParaRPr lang="en-US" sz="900" dirty="0"/>
          </a:p>
        </p:txBody>
      </p:sp>
      <p:sp>
        <p:nvSpPr>
          <p:cNvPr id="12" name="Shape 10"/>
          <p:cNvSpPr/>
          <p:nvPr/>
        </p:nvSpPr>
        <p:spPr>
          <a:xfrm>
            <a:off x="2633472" y="4160520"/>
            <a:ext cx="1627632" cy="1645920"/>
          </a:xfrm>
          <a:prstGeom prst="roundRect">
            <a:avLst/>
          </a:prstGeom>
          <a:solidFill>
            <a:srgbClr val="111827"/>
          </a:solidFill>
          <a:ln w="12700">
            <a:solidFill>
              <a:srgbClr val="374151"/>
            </a:solidFill>
            <a:prstDash val="solid"/>
          </a:ln>
        </p:spPr>
      </p:sp>
      <p:sp>
        <p:nvSpPr>
          <p:cNvPr id="13" name="Text 11"/>
          <p:cNvSpPr/>
          <p:nvPr/>
        </p:nvSpPr>
        <p:spPr>
          <a:xfrm>
            <a:off x="2770632" y="429768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14" name="Text 12"/>
          <p:cNvSpPr/>
          <p:nvPr/>
        </p:nvSpPr>
        <p:spPr>
          <a:xfrm>
            <a:off x="2770632" y="4709160"/>
            <a:ext cx="1371600" cy="41148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Lost &amp; Found Radar</a:t>
            </a:r>
            <a:endParaRPr lang="en-US" sz="1100" dirty="0"/>
          </a:p>
        </p:txBody>
      </p:sp>
      <p:sp>
        <p:nvSpPr>
          <p:cNvPr id="15" name="Text 13"/>
          <p:cNvSpPr/>
          <p:nvPr/>
        </p:nvSpPr>
        <p:spPr>
          <a:xfrm>
            <a:off x="2770632" y="5138928"/>
            <a:ext cx="1371600" cy="201168"/>
          </a:xfrm>
          <a:prstGeom prst="rect">
            <a:avLst/>
          </a:prstGeom>
          <a:noFill/>
          <a:ln/>
        </p:spPr>
        <p:txBody>
          <a:bodyPr wrap="square" rtlCol="0" anchor="ctr"/>
          <a:lstStyle/>
          <a:p>
            <a:pPr indent="0" marL="0">
              <a:buNone/>
            </a:pPr>
            <a:r>
              <a:rPr lang="en-US" sz="950" b="1" dirty="0">
                <a:solidFill>
                  <a:srgbClr val="818CF8"/>
                </a:solidFill>
                <a:latin typeface="Arial" pitchFamily="34" charset="0"/>
                <a:ea typeface="Arial" pitchFamily="34" charset="-122"/>
                <a:cs typeface="Arial" pitchFamily="34" charset="-120"/>
              </a:rPr>
              <a:t>ID: a10e6172</a:t>
            </a:r>
            <a:endParaRPr lang="en-US" sz="950" dirty="0"/>
          </a:p>
        </p:txBody>
      </p:sp>
      <p:sp>
        <p:nvSpPr>
          <p:cNvPr id="16" name="Text 14"/>
          <p:cNvSpPr/>
          <p:nvPr/>
        </p:nvSpPr>
        <p:spPr>
          <a:xfrm>
            <a:off x="2770632" y="5358384"/>
            <a:ext cx="1371600" cy="347472"/>
          </a:xfrm>
          <a:prstGeom prst="rect">
            <a:avLst/>
          </a:prstGeom>
          <a:noFill/>
          <a:ln/>
        </p:spPr>
        <p:txBody>
          <a:bodyPr wrap="square" rtlCol="0" anchor="ctr"/>
          <a:lstStyle/>
          <a:p>
            <a:pPr indent="0" marL="0">
              <a:buNone/>
            </a:pPr>
            <a:r>
              <a:rPr lang="en-US" sz="900" dirty="0">
                <a:solidFill>
                  <a:srgbClr val="9CA3AF"/>
                </a:solidFill>
                <a:latin typeface="Arial" pitchFamily="34" charset="0"/>
                <a:ea typeface="Arial" pitchFamily="34" charset="-122"/>
                <a:cs typeface="Arial" pitchFamily="34" charset="-120"/>
              </a:rPr>
              <a:t>Vision + RAG Pet Matcher</a:t>
            </a:r>
            <a:endParaRPr lang="en-US" sz="900" dirty="0"/>
          </a:p>
        </p:txBody>
      </p:sp>
      <p:sp>
        <p:nvSpPr>
          <p:cNvPr id="17" name="Shape 15"/>
          <p:cNvSpPr/>
          <p:nvPr/>
        </p:nvSpPr>
        <p:spPr>
          <a:xfrm>
            <a:off x="4352544" y="4160520"/>
            <a:ext cx="1627632" cy="1645920"/>
          </a:xfrm>
          <a:prstGeom prst="roundRect">
            <a:avLst/>
          </a:prstGeom>
          <a:solidFill>
            <a:srgbClr val="111827"/>
          </a:solidFill>
          <a:ln w="12700">
            <a:solidFill>
              <a:srgbClr val="374151"/>
            </a:solidFill>
            <a:prstDash val="solid"/>
          </a:ln>
        </p:spPr>
      </p:sp>
      <p:sp>
        <p:nvSpPr>
          <p:cNvPr id="18" name="Text 16"/>
          <p:cNvSpPr/>
          <p:nvPr/>
        </p:nvSpPr>
        <p:spPr>
          <a:xfrm>
            <a:off x="4489704" y="429768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19" name="Text 17"/>
          <p:cNvSpPr/>
          <p:nvPr/>
        </p:nvSpPr>
        <p:spPr>
          <a:xfrm>
            <a:off x="4489704" y="4709160"/>
            <a:ext cx="1371600" cy="41148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Vet Clinic Routing</a:t>
            </a:r>
            <a:endParaRPr lang="en-US" sz="1100" dirty="0"/>
          </a:p>
        </p:txBody>
      </p:sp>
      <p:sp>
        <p:nvSpPr>
          <p:cNvPr id="20" name="Text 18"/>
          <p:cNvSpPr/>
          <p:nvPr/>
        </p:nvSpPr>
        <p:spPr>
          <a:xfrm>
            <a:off x="4489704" y="5138928"/>
            <a:ext cx="1371600" cy="201168"/>
          </a:xfrm>
          <a:prstGeom prst="rect">
            <a:avLst/>
          </a:prstGeom>
          <a:noFill/>
          <a:ln/>
        </p:spPr>
        <p:txBody>
          <a:bodyPr wrap="square" rtlCol="0" anchor="ctr"/>
          <a:lstStyle/>
          <a:p>
            <a:pPr indent="0" marL="0">
              <a:buNone/>
            </a:pPr>
            <a:r>
              <a:rPr lang="en-US" sz="950" b="1" dirty="0">
                <a:solidFill>
                  <a:srgbClr val="818CF8"/>
                </a:solidFill>
                <a:latin typeface="Arial" pitchFamily="34" charset="0"/>
                <a:ea typeface="Arial" pitchFamily="34" charset="-122"/>
                <a:cs typeface="Arial" pitchFamily="34" charset="-120"/>
              </a:rPr>
              <a:t>ID: 9884416a</a:t>
            </a:r>
            <a:endParaRPr lang="en-US" sz="950" dirty="0"/>
          </a:p>
        </p:txBody>
      </p:sp>
      <p:sp>
        <p:nvSpPr>
          <p:cNvPr id="21" name="Text 19"/>
          <p:cNvSpPr/>
          <p:nvPr/>
        </p:nvSpPr>
        <p:spPr>
          <a:xfrm>
            <a:off x="4489704" y="5358384"/>
            <a:ext cx="1371600" cy="347472"/>
          </a:xfrm>
          <a:prstGeom prst="rect">
            <a:avLst/>
          </a:prstGeom>
          <a:noFill/>
          <a:ln/>
        </p:spPr>
        <p:txBody>
          <a:bodyPr wrap="square" rtlCol="0" anchor="ctr"/>
          <a:lstStyle/>
          <a:p>
            <a:pPr indent="0" marL="0">
              <a:buNone/>
            </a:pPr>
            <a:r>
              <a:rPr lang="en-US" sz="900" dirty="0">
                <a:solidFill>
                  <a:srgbClr val="9CA3AF"/>
                </a:solidFill>
                <a:latin typeface="Arial" pitchFamily="34" charset="0"/>
                <a:ea typeface="Arial" pitchFamily="34" charset="-122"/>
                <a:cs typeface="Arial" pitchFamily="34" charset="-120"/>
              </a:rPr>
              <a:t>Dhaka Specialist Navigator</a:t>
            </a:r>
            <a:endParaRPr lang="en-US" sz="900" dirty="0"/>
          </a:p>
        </p:txBody>
      </p:sp>
      <p:sp>
        <p:nvSpPr>
          <p:cNvPr id="22" name="Shape 20"/>
          <p:cNvSpPr/>
          <p:nvPr/>
        </p:nvSpPr>
        <p:spPr>
          <a:xfrm>
            <a:off x="6071616" y="4160520"/>
            <a:ext cx="1627632" cy="1645920"/>
          </a:xfrm>
          <a:prstGeom prst="roundRect">
            <a:avLst/>
          </a:prstGeom>
          <a:solidFill>
            <a:srgbClr val="111827"/>
          </a:solidFill>
          <a:ln w="12700">
            <a:solidFill>
              <a:srgbClr val="374151"/>
            </a:solidFill>
            <a:prstDash val="solid"/>
          </a:ln>
        </p:spPr>
      </p:sp>
      <p:sp>
        <p:nvSpPr>
          <p:cNvPr id="23" name="Text 21"/>
          <p:cNvSpPr/>
          <p:nvPr/>
        </p:nvSpPr>
        <p:spPr>
          <a:xfrm>
            <a:off x="6208776" y="429768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24" name="Text 22"/>
          <p:cNvSpPr/>
          <p:nvPr/>
        </p:nvSpPr>
        <p:spPr>
          <a:xfrm>
            <a:off x="6208776" y="4709160"/>
            <a:ext cx="1371600" cy="41148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Marketplace Nutrition</a:t>
            </a:r>
            <a:endParaRPr lang="en-US" sz="1100" dirty="0"/>
          </a:p>
        </p:txBody>
      </p:sp>
      <p:sp>
        <p:nvSpPr>
          <p:cNvPr id="25" name="Text 23"/>
          <p:cNvSpPr/>
          <p:nvPr/>
        </p:nvSpPr>
        <p:spPr>
          <a:xfrm>
            <a:off x="6208776" y="5138928"/>
            <a:ext cx="1371600" cy="201168"/>
          </a:xfrm>
          <a:prstGeom prst="rect">
            <a:avLst/>
          </a:prstGeom>
          <a:noFill/>
          <a:ln/>
        </p:spPr>
        <p:txBody>
          <a:bodyPr wrap="square" rtlCol="0" anchor="ctr"/>
          <a:lstStyle/>
          <a:p>
            <a:pPr indent="0" marL="0">
              <a:buNone/>
            </a:pPr>
            <a:r>
              <a:rPr lang="en-US" sz="950" b="1" dirty="0">
                <a:solidFill>
                  <a:srgbClr val="818CF8"/>
                </a:solidFill>
                <a:latin typeface="Arial" pitchFamily="34" charset="0"/>
                <a:ea typeface="Arial" pitchFamily="34" charset="-122"/>
                <a:cs typeface="Arial" pitchFamily="34" charset="-120"/>
              </a:rPr>
              <a:t>ID: 66e15325</a:t>
            </a:r>
            <a:endParaRPr lang="en-US" sz="950" dirty="0"/>
          </a:p>
        </p:txBody>
      </p:sp>
      <p:sp>
        <p:nvSpPr>
          <p:cNvPr id="26" name="Text 24"/>
          <p:cNvSpPr/>
          <p:nvPr/>
        </p:nvSpPr>
        <p:spPr>
          <a:xfrm>
            <a:off x="6208776" y="5358384"/>
            <a:ext cx="1371600" cy="347472"/>
          </a:xfrm>
          <a:prstGeom prst="rect">
            <a:avLst/>
          </a:prstGeom>
          <a:noFill/>
          <a:ln/>
        </p:spPr>
        <p:txBody>
          <a:bodyPr wrap="square" rtlCol="0" anchor="ctr"/>
          <a:lstStyle/>
          <a:p>
            <a:pPr indent="0" marL="0">
              <a:buNone/>
            </a:pPr>
            <a:r>
              <a:rPr lang="en-US" sz="900" dirty="0">
                <a:solidFill>
                  <a:srgbClr val="9CA3AF"/>
                </a:solidFill>
                <a:latin typeface="Arial" pitchFamily="34" charset="0"/>
                <a:ea typeface="Arial" pitchFamily="34" charset="-122"/>
                <a:cs typeface="Arial" pitchFamily="34" charset="-120"/>
              </a:rPr>
              <a:t>Diet &amp; Allergy Formulation</a:t>
            </a:r>
            <a:endParaRPr lang="en-US" sz="900" dirty="0"/>
          </a:p>
        </p:txBody>
      </p:sp>
      <p:sp>
        <p:nvSpPr>
          <p:cNvPr id="27" name="Shape 25"/>
          <p:cNvSpPr/>
          <p:nvPr/>
        </p:nvSpPr>
        <p:spPr>
          <a:xfrm>
            <a:off x="8092440" y="1051560"/>
            <a:ext cx="3200400" cy="4754880"/>
          </a:xfrm>
          <a:prstGeom prst="roundRect">
            <a:avLst/>
          </a:prstGeom>
          <a:solidFill>
            <a:srgbClr val="0F172A"/>
          </a:solidFill>
          <a:ln w="19050">
            <a:solidFill>
              <a:srgbClr val="334155"/>
            </a:solidFill>
            <a:prstDash val="solid"/>
          </a:ln>
        </p:spPr>
      </p:sp>
      <p:sp>
        <p:nvSpPr>
          <p:cNvPr id="28" name="Text 26"/>
          <p:cNvSpPr/>
          <p:nvPr/>
        </p:nvSpPr>
        <p:spPr>
          <a:xfrm>
            <a:off x="8366760" y="1325880"/>
            <a:ext cx="2651760" cy="228600"/>
          </a:xfrm>
          <a:prstGeom prst="rect">
            <a:avLst/>
          </a:prstGeom>
          <a:noFill/>
          <a:ln/>
        </p:spPr>
        <p:txBody>
          <a:bodyPr wrap="square" rtlCol="0" anchor="ctr"/>
          <a:lstStyle/>
          <a:p>
            <a:pPr indent="0" marL="0">
              <a:buNone/>
            </a:pPr>
            <a:r>
              <a:rPr lang="en-US" sz="1050" b="1" spc="120" kern="0" dirty="0">
                <a:solidFill>
                  <a:srgbClr val="818CF8"/>
                </a:solidFill>
                <a:latin typeface="Arial" pitchFamily="34" charset="0"/>
                <a:ea typeface="Arial" pitchFamily="34" charset="-122"/>
                <a:cs typeface="Arial" pitchFamily="34" charset="-120"/>
              </a:rPr>
              <a:t>DEPLOYMENT SUMMARY</a:t>
            </a:r>
            <a:endParaRPr lang="en-US" sz="1050" dirty="0"/>
          </a:p>
        </p:txBody>
      </p:sp>
      <p:sp>
        <p:nvSpPr>
          <p:cNvPr id="29" name="Shape 27"/>
          <p:cNvSpPr/>
          <p:nvPr/>
        </p:nvSpPr>
        <p:spPr>
          <a:xfrm>
            <a:off x="8321040" y="1691640"/>
            <a:ext cx="2743200" cy="658368"/>
          </a:xfrm>
          <a:prstGeom prst="roundRect">
            <a:avLst/>
          </a:prstGeom>
          <a:solidFill>
            <a:srgbClr val="1E293B"/>
          </a:solidFill>
          <a:ln w="12700">
            <a:solidFill>
              <a:srgbClr val="334155"/>
            </a:solidFill>
            <a:prstDash val="solid"/>
          </a:ln>
        </p:spPr>
      </p:sp>
      <p:sp>
        <p:nvSpPr>
          <p:cNvPr id="30" name="Text 28"/>
          <p:cNvSpPr/>
          <p:nvPr/>
        </p:nvSpPr>
        <p:spPr>
          <a:xfrm>
            <a:off x="8458200" y="1764792"/>
            <a:ext cx="2468880" cy="182880"/>
          </a:xfrm>
          <a:prstGeom prst="rect">
            <a:avLst/>
          </a:prstGeom>
          <a:noFill/>
          <a:ln/>
        </p:spPr>
        <p:txBody>
          <a:bodyPr wrap="square" rtlCol="0" anchor="ctr"/>
          <a:lstStyle/>
          <a:p>
            <a:pPr indent="0" marL="0">
              <a:buNone/>
            </a:pPr>
            <a:r>
              <a:rPr lang="en-US" sz="850" b="1" dirty="0">
                <a:solidFill>
                  <a:srgbClr val="94A3B8"/>
                </a:solidFill>
                <a:latin typeface="Arial" pitchFamily="34" charset="0"/>
                <a:ea typeface="Arial" pitchFamily="34" charset="-122"/>
                <a:cs typeface="Arial" pitchFamily="34" charset="-120"/>
              </a:rPr>
              <a:t>MAIRA PROFILES</a:t>
            </a:r>
            <a:endParaRPr lang="en-US" sz="850" dirty="0"/>
          </a:p>
        </p:txBody>
      </p:sp>
      <p:sp>
        <p:nvSpPr>
          <p:cNvPr id="31" name="Text 29"/>
          <p:cNvSpPr/>
          <p:nvPr/>
        </p:nvSpPr>
        <p:spPr>
          <a:xfrm>
            <a:off x="8458200" y="1938528"/>
            <a:ext cx="2468880" cy="219456"/>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4 Live Profiles</a:t>
            </a:r>
            <a:endParaRPr lang="en-US" sz="1200" dirty="0"/>
          </a:p>
        </p:txBody>
      </p:sp>
      <p:sp>
        <p:nvSpPr>
          <p:cNvPr id="32" name="Text 30"/>
          <p:cNvSpPr/>
          <p:nvPr/>
        </p:nvSpPr>
        <p:spPr>
          <a:xfrm>
            <a:off x="8458200" y="2148840"/>
            <a:ext cx="2468880" cy="164592"/>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UUID-bound custom system prompts</a:t>
            </a:r>
            <a:endParaRPr lang="en-US" sz="850" dirty="0"/>
          </a:p>
        </p:txBody>
      </p:sp>
      <p:sp>
        <p:nvSpPr>
          <p:cNvPr id="33" name="Shape 31"/>
          <p:cNvSpPr/>
          <p:nvPr/>
        </p:nvSpPr>
        <p:spPr>
          <a:xfrm>
            <a:off x="8321040" y="2468880"/>
            <a:ext cx="2743200" cy="658368"/>
          </a:xfrm>
          <a:prstGeom prst="roundRect">
            <a:avLst/>
          </a:prstGeom>
          <a:solidFill>
            <a:srgbClr val="1E293B"/>
          </a:solidFill>
          <a:ln w="12700">
            <a:solidFill>
              <a:srgbClr val="334155"/>
            </a:solidFill>
            <a:prstDash val="solid"/>
          </a:ln>
        </p:spPr>
      </p:sp>
      <p:sp>
        <p:nvSpPr>
          <p:cNvPr id="34" name="Text 32"/>
          <p:cNvSpPr/>
          <p:nvPr/>
        </p:nvSpPr>
        <p:spPr>
          <a:xfrm>
            <a:off x="8458200" y="2542032"/>
            <a:ext cx="2468880" cy="182880"/>
          </a:xfrm>
          <a:prstGeom prst="rect">
            <a:avLst/>
          </a:prstGeom>
          <a:noFill/>
          <a:ln/>
        </p:spPr>
        <p:txBody>
          <a:bodyPr wrap="square" rtlCol="0" anchor="ctr"/>
          <a:lstStyle/>
          <a:p>
            <a:pPr indent="0" marL="0">
              <a:buNone/>
            </a:pPr>
            <a:r>
              <a:rPr lang="en-US" sz="850" b="1" dirty="0">
                <a:solidFill>
                  <a:srgbClr val="94A3B8"/>
                </a:solidFill>
                <a:latin typeface="Arial" pitchFamily="34" charset="0"/>
                <a:ea typeface="Arial" pitchFamily="34" charset="-122"/>
                <a:cs typeface="Arial" pitchFamily="34" charset="-120"/>
              </a:rPr>
              <a:t>TRAINED DATASETS</a:t>
            </a:r>
            <a:endParaRPr lang="en-US" sz="850" dirty="0"/>
          </a:p>
        </p:txBody>
      </p:sp>
      <p:sp>
        <p:nvSpPr>
          <p:cNvPr id="35" name="Text 33"/>
          <p:cNvSpPr/>
          <p:nvPr/>
        </p:nvSpPr>
        <p:spPr>
          <a:xfrm>
            <a:off x="8458200" y="2715768"/>
            <a:ext cx="2468880" cy="219456"/>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3 Vector Indices</a:t>
            </a:r>
            <a:endParaRPr lang="en-US" sz="1200" dirty="0"/>
          </a:p>
        </p:txBody>
      </p:sp>
      <p:sp>
        <p:nvSpPr>
          <p:cNvPr id="36" name="Text 34"/>
          <p:cNvSpPr/>
          <p:nvPr/>
        </p:nvSpPr>
        <p:spPr>
          <a:xfrm>
            <a:off x="8458200" y="2926080"/>
            <a:ext cx="2468880" cy="164592"/>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Lost pets, clinics, catalog</a:t>
            </a:r>
            <a:endParaRPr lang="en-US" sz="850" dirty="0"/>
          </a:p>
        </p:txBody>
      </p:sp>
      <p:sp>
        <p:nvSpPr>
          <p:cNvPr id="37" name="Shape 35"/>
          <p:cNvSpPr/>
          <p:nvPr/>
        </p:nvSpPr>
        <p:spPr>
          <a:xfrm>
            <a:off x="8321040" y="3246120"/>
            <a:ext cx="2743200" cy="658368"/>
          </a:xfrm>
          <a:prstGeom prst="roundRect">
            <a:avLst/>
          </a:prstGeom>
          <a:solidFill>
            <a:srgbClr val="1E293B"/>
          </a:solidFill>
          <a:ln w="12700">
            <a:solidFill>
              <a:srgbClr val="334155"/>
            </a:solidFill>
            <a:prstDash val="solid"/>
          </a:ln>
        </p:spPr>
      </p:sp>
      <p:sp>
        <p:nvSpPr>
          <p:cNvPr id="38" name="Text 36"/>
          <p:cNvSpPr/>
          <p:nvPr/>
        </p:nvSpPr>
        <p:spPr>
          <a:xfrm>
            <a:off x="8458200" y="3319272"/>
            <a:ext cx="2468880" cy="182880"/>
          </a:xfrm>
          <a:prstGeom prst="rect">
            <a:avLst/>
          </a:prstGeom>
          <a:noFill/>
          <a:ln/>
        </p:spPr>
        <p:txBody>
          <a:bodyPr wrap="square" rtlCol="0" anchor="ctr"/>
          <a:lstStyle/>
          <a:p>
            <a:pPr indent="0" marL="0">
              <a:buNone/>
            </a:pPr>
            <a:r>
              <a:rPr lang="en-US" sz="850" b="1" dirty="0">
                <a:solidFill>
                  <a:srgbClr val="94A3B8"/>
                </a:solidFill>
                <a:latin typeface="Arial" pitchFamily="34" charset="0"/>
                <a:ea typeface="Arial" pitchFamily="34" charset="-122"/>
                <a:cs typeface="Arial" pitchFamily="34" charset="-120"/>
              </a:rPr>
              <a:t>MULTIMODAL VISION</a:t>
            </a:r>
            <a:endParaRPr lang="en-US" sz="850" dirty="0"/>
          </a:p>
        </p:txBody>
      </p:sp>
      <p:sp>
        <p:nvSpPr>
          <p:cNvPr id="39" name="Text 37"/>
          <p:cNvSpPr/>
          <p:nvPr/>
        </p:nvSpPr>
        <p:spPr>
          <a:xfrm>
            <a:off x="8458200" y="3493008"/>
            <a:ext cx="2468880" cy="219456"/>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GPT-4o Vision</a:t>
            </a:r>
            <a:endParaRPr lang="en-US" sz="1200" dirty="0"/>
          </a:p>
        </p:txBody>
      </p:sp>
      <p:sp>
        <p:nvSpPr>
          <p:cNvPr id="40" name="Text 38"/>
          <p:cNvSpPr/>
          <p:nvPr/>
        </p:nvSpPr>
        <p:spPr>
          <a:xfrm>
            <a:off x="8458200" y="3703320"/>
            <a:ext cx="2468880" cy="164592"/>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Visual sighting correlation</a:t>
            </a:r>
            <a:endParaRPr lang="en-US" sz="850" dirty="0"/>
          </a:p>
        </p:txBody>
      </p:sp>
      <p:sp>
        <p:nvSpPr>
          <p:cNvPr id="41" name="Shape 39"/>
          <p:cNvSpPr/>
          <p:nvPr/>
        </p:nvSpPr>
        <p:spPr>
          <a:xfrm>
            <a:off x="8321040" y="4023360"/>
            <a:ext cx="2743200" cy="658368"/>
          </a:xfrm>
          <a:prstGeom prst="roundRect">
            <a:avLst/>
          </a:prstGeom>
          <a:solidFill>
            <a:srgbClr val="1E293B"/>
          </a:solidFill>
          <a:ln w="12700">
            <a:solidFill>
              <a:srgbClr val="334155"/>
            </a:solidFill>
            <a:prstDash val="solid"/>
          </a:ln>
        </p:spPr>
      </p:sp>
      <p:sp>
        <p:nvSpPr>
          <p:cNvPr id="42" name="Text 40"/>
          <p:cNvSpPr/>
          <p:nvPr/>
        </p:nvSpPr>
        <p:spPr>
          <a:xfrm>
            <a:off x="8458200" y="4096512"/>
            <a:ext cx="2468880" cy="182880"/>
          </a:xfrm>
          <a:prstGeom prst="rect">
            <a:avLst/>
          </a:prstGeom>
          <a:noFill/>
          <a:ln/>
        </p:spPr>
        <p:txBody>
          <a:bodyPr wrap="square" rtlCol="0" anchor="ctr"/>
          <a:lstStyle/>
          <a:p>
            <a:pPr indent="0" marL="0">
              <a:buNone/>
            </a:pPr>
            <a:r>
              <a:rPr lang="en-US" sz="850" b="1" dirty="0">
                <a:solidFill>
                  <a:srgbClr val="94A3B8"/>
                </a:solidFill>
                <a:latin typeface="Arial" pitchFamily="34" charset="0"/>
                <a:ea typeface="Arial" pitchFamily="34" charset="-122"/>
                <a:cs typeface="Arial" pitchFamily="34" charset="-120"/>
              </a:rPr>
              <a:t>EMERGENCY GUARD</a:t>
            </a:r>
            <a:endParaRPr lang="en-US" sz="850" dirty="0"/>
          </a:p>
        </p:txBody>
      </p:sp>
      <p:sp>
        <p:nvSpPr>
          <p:cNvPr id="43" name="Text 41"/>
          <p:cNvSpPr/>
          <p:nvPr/>
        </p:nvSpPr>
        <p:spPr>
          <a:xfrm>
            <a:off x="8458200" y="4270248"/>
            <a:ext cx="2468880" cy="219456"/>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2ms Latency</a:t>
            </a:r>
            <a:endParaRPr lang="en-US" sz="1200" dirty="0"/>
          </a:p>
        </p:txBody>
      </p:sp>
      <p:sp>
        <p:nvSpPr>
          <p:cNvPr id="44" name="Text 42"/>
          <p:cNvSpPr/>
          <p:nvPr/>
        </p:nvSpPr>
        <p:spPr>
          <a:xfrm>
            <a:off x="8458200" y="4480560"/>
            <a:ext cx="2468880" cy="164592"/>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Zero-hallucination poison guardrail</a:t>
            </a:r>
            <a:endParaRPr lang="en-US" sz="850" dirty="0"/>
          </a:p>
        </p:txBody>
      </p:sp>
      <p:sp>
        <p:nvSpPr>
          <p:cNvPr id="45" name="Shape 43"/>
          <p:cNvSpPr/>
          <p:nvPr/>
        </p:nvSpPr>
        <p:spPr>
          <a:xfrm>
            <a:off x="8321040" y="4800600"/>
            <a:ext cx="2743200" cy="658368"/>
          </a:xfrm>
          <a:prstGeom prst="roundRect">
            <a:avLst/>
          </a:prstGeom>
          <a:solidFill>
            <a:srgbClr val="1E293B"/>
          </a:solidFill>
          <a:ln w="12700">
            <a:solidFill>
              <a:srgbClr val="334155"/>
            </a:solidFill>
            <a:prstDash val="solid"/>
          </a:ln>
        </p:spPr>
      </p:sp>
      <p:sp>
        <p:nvSpPr>
          <p:cNvPr id="46" name="Text 44"/>
          <p:cNvSpPr/>
          <p:nvPr/>
        </p:nvSpPr>
        <p:spPr>
          <a:xfrm>
            <a:off x="8458200" y="4873752"/>
            <a:ext cx="2468880" cy="182880"/>
          </a:xfrm>
          <a:prstGeom prst="rect">
            <a:avLst/>
          </a:prstGeom>
          <a:noFill/>
          <a:ln/>
        </p:spPr>
        <p:txBody>
          <a:bodyPr wrap="square" rtlCol="0" anchor="ctr"/>
          <a:lstStyle/>
          <a:p>
            <a:pPr indent="0" marL="0">
              <a:buNone/>
            </a:pPr>
            <a:r>
              <a:rPr lang="en-US" sz="850" b="1" dirty="0">
                <a:solidFill>
                  <a:srgbClr val="94A3B8"/>
                </a:solidFill>
                <a:latin typeface="Arial" pitchFamily="34" charset="0"/>
                <a:ea typeface="Arial" pitchFamily="34" charset="-122"/>
                <a:cs typeface="Arial" pitchFamily="34" charset="-120"/>
              </a:rPr>
              <a:t>RESILIENCE LAYER</a:t>
            </a:r>
            <a:endParaRPr lang="en-US" sz="850" dirty="0"/>
          </a:p>
        </p:txBody>
      </p:sp>
      <p:sp>
        <p:nvSpPr>
          <p:cNvPr id="47" name="Text 45"/>
          <p:cNvSpPr/>
          <p:nvPr/>
        </p:nvSpPr>
        <p:spPr>
          <a:xfrm>
            <a:off x="8458200" y="5047488"/>
            <a:ext cx="2468880" cy="219456"/>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100% Uptime</a:t>
            </a:r>
            <a:endParaRPr lang="en-US" sz="1200" dirty="0"/>
          </a:p>
        </p:txBody>
      </p:sp>
      <p:sp>
        <p:nvSpPr>
          <p:cNvPr id="48" name="Text 46"/>
          <p:cNvSpPr/>
          <p:nvPr/>
        </p:nvSpPr>
        <p:spPr>
          <a:xfrm>
            <a:off x="8458200" y="5257800"/>
            <a:ext cx="2468880" cy="164592"/>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Triple-tier offline failover engine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858000" cy="3200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NUZZLE AI PLATFORM  |  GIGALOGY MAIRA MANAGED RAG INTEGRATION</a:t>
            </a:r>
            <a:endParaRPr lang="en-US" sz="1100" dirty="0"/>
          </a:p>
        </p:txBody>
      </p:sp>
      <p:sp>
        <p:nvSpPr>
          <p:cNvPr id="4" name="Text 2"/>
          <p:cNvSpPr/>
          <p:nvPr/>
        </p:nvSpPr>
        <p:spPr>
          <a:xfrm>
            <a:off x="7315200" y="128016"/>
            <a:ext cx="4144975" cy="32004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Slide 2 of 12  •  Technical &amp; Architecture Deep Dive</a:t>
            </a:r>
            <a:endParaRPr lang="en-US" sz="1000" dirty="0"/>
          </a:p>
        </p:txBody>
      </p:sp>
      <p:sp>
        <p:nvSpPr>
          <p:cNvPr id="5" name="Text 3"/>
          <p:cNvSpPr/>
          <p:nvPr/>
        </p:nvSpPr>
        <p:spPr>
          <a:xfrm>
            <a:off x="731520" y="713232"/>
            <a:ext cx="10728655" cy="228600"/>
          </a:xfrm>
          <a:prstGeom prst="rect">
            <a:avLst/>
          </a:prstGeom>
          <a:noFill/>
          <a:ln/>
        </p:spPr>
        <p:txBody>
          <a:bodyPr wrap="square" rtlCol="0" anchor="ctr"/>
          <a:lstStyle/>
          <a:p>
            <a:pPr indent="0" marL="0">
              <a:buNone/>
            </a:pPr>
            <a:r>
              <a:rPr lang="en-US" sz="1000" b="1" spc="120" kern="0" dirty="0">
                <a:solidFill>
                  <a:srgbClr val="4338CA"/>
                </a:solidFill>
                <a:latin typeface="Arial" pitchFamily="34" charset="0"/>
                <a:ea typeface="Arial" pitchFamily="34" charset="-122"/>
                <a:cs typeface="Arial" pitchFamily="34" charset="-120"/>
              </a:rPr>
              <a:t>STRATEGIC MOTIVATION</a:t>
            </a:r>
            <a:endParaRPr lang="en-US" sz="1000" dirty="0"/>
          </a:p>
        </p:txBody>
      </p:sp>
      <p:sp>
        <p:nvSpPr>
          <p:cNvPr id="6" name="Text 4"/>
          <p:cNvSpPr/>
          <p:nvPr/>
        </p:nvSpPr>
        <p:spPr>
          <a:xfrm>
            <a:off x="731520" y="932688"/>
            <a:ext cx="10728655" cy="438912"/>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Why Gigalogy MAIRA? Moving Beyond Generic LLMs</a:t>
            </a:r>
            <a:endParaRPr lang="en-US" sz="2100" dirty="0"/>
          </a:p>
        </p:txBody>
      </p:sp>
      <p:sp>
        <p:nvSpPr>
          <p:cNvPr id="7" name="Text 5"/>
          <p:cNvSpPr/>
          <p:nvPr/>
        </p:nvSpPr>
        <p:spPr>
          <a:xfrm>
            <a:off x="731520" y="1353312"/>
            <a:ext cx="10728655" cy="292608"/>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Traditional LLM prompts suffer from hallucinations, high latency, and lack local Dhaka veterinary grounding.</a:t>
            </a:r>
            <a:endParaRPr lang="en-US" sz="1200" dirty="0"/>
          </a:p>
        </p:txBody>
      </p:sp>
      <p:sp>
        <p:nvSpPr>
          <p:cNvPr id="8" name="Shape 6"/>
          <p:cNvSpPr/>
          <p:nvPr/>
        </p:nvSpPr>
        <p:spPr>
          <a:xfrm>
            <a:off x="731520" y="6355080"/>
            <a:ext cx="10728655" cy="0"/>
          </a:xfrm>
          <a:prstGeom prst="line">
            <a:avLst/>
          </a:prstGeom>
          <a:noFill/>
          <a:ln w="12700">
            <a:solidFill>
              <a:srgbClr val="E2E8F0"/>
            </a:solidFill>
            <a:prstDash val="solid"/>
          </a:ln>
        </p:spPr>
      </p:sp>
      <p:sp>
        <p:nvSpPr>
          <p:cNvPr id="9" name="Text 7"/>
          <p:cNvSpPr/>
          <p:nvPr/>
        </p:nvSpPr>
        <p:spPr>
          <a:xfrm>
            <a:off x="731520" y="6446520"/>
            <a:ext cx="7315200" cy="27432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8229600" y="6446520"/>
            <a:ext cx="3230575" cy="27432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Text 9"/>
          <p:cNvSpPr/>
          <p:nvPr/>
        </p:nvSpPr>
        <p:spPr>
          <a:xfrm>
            <a:off x="731520" y="1783080"/>
            <a:ext cx="5120640" cy="228600"/>
          </a:xfrm>
          <a:prstGeom prst="rect">
            <a:avLst/>
          </a:prstGeom>
          <a:noFill/>
          <a:ln/>
        </p:spPr>
        <p:txBody>
          <a:bodyPr wrap="square" rtlCol="0" anchor="ctr"/>
          <a:lstStyle/>
          <a:p>
            <a:pPr indent="0" marL="0">
              <a:buNone/>
            </a:pPr>
            <a:r>
              <a:rPr lang="en-US" sz="1100" b="1" spc="100" kern="0" dirty="0">
                <a:solidFill>
                  <a:srgbClr val="EF4444"/>
                </a:solidFill>
                <a:latin typeface="Arial" pitchFamily="34" charset="0"/>
                <a:ea typeface="Arial" pitchFamily="34" charset="-122"/>
                <a:cs typeface="Arial" pitchFamily="34" charset="-120"/>
              </a:rPr>
              <a:t>CHALLENGES OF RAW / GENERIC LLMs</a:t>
            </a:r>
            <a:endParaRPr lang="en-US" sz="1100" dirty="0"/>
          </a:p>
        </p:txBody>
      </p:sp>
      <p:sp>
        <p:nvSpPr>
          <p:cNvPr id="12" name="Shape 10"/>
          <p:cNvSpPr/>
          <p:nvPr/>
        </p:nvSpPr>
        <p:spPr>
          <a:xfrm>
            <a:off x="731520" y="2103120"/>
            <a:ext cx="5120640" cy="1207008"/>
          </a:xfrm>
          <a:prstGeom prst="roundRect">
            <a:avLst/>
          </a:prstGeom>
          <a:solidFill>
            <a:srgbClr val="FEF2F2"/>
          </a:solidFill>
          <a:ln w="15240">
            <a:solidFill>
              <a:srgbClr val="FECACA"/>
            </a:solidFill>
            <a:prstDash val="solid"/>
          </a:ln>
        </p:spPr>
      </p:sp>
      <p:sp>
        <p:nvSpPr>
          <p:cNvPr id="13" name="Text 11"/>
          <p:cNvSpPr/>
          <p:nvPr/>
        </p:nvSpPr>
        <p:spPr>
          <a:xfrm>
            <a:off x="914400" y="2212848"/>
            <a:ext cx="4754880" cy="274320"/>
          </a:xfrm>
          <a:prstGeom prst="rect">
            <a:avLst/>
          </a:prstGeom>
          <a:noFill/>
          <a:ln/>
        </p:spPr>
        <p:txBody>
          <a:bodyPr wrap="square" rtlCol="0" anchor="ctr"/>
          <a:lstStyle/>
          <a:p>
            <a:pPr indent="0" marL="0">
              <a:buNone/>
            </a:pPr>
            <a:r>
              <a:rPr lang="en-US" sz="1200" b="1" dirty="0">
                <a:solidFill>
                  <a:srgbClr val="991B1B"/>
                </a:solidFill>
                <a:latin typeface="Arial" pitchFamily="34" charset="0"/>
                <a:ea typeface="Arial" pitchFamily="34" charset="-122"/>
                <a:cs typeface="Arial" pitchFamily="34" charset="-120"/>
              </a:rPr>
              <a:t>⚠️ Clinical Hallucination Risks</a:t>
            </a:r>
            <a:endParaRPr lang="en-US" sz="1200" dirty="0"/>
          </a:p>
        </p:txBody>
      </p:sp>
      <p:sp>
        <p:nvSpPr>
          <p:cNvPr id="14" name="Text 12"/>
          <p:cNvSpPr/>
          <p:nvPr/>
        </p:nvSpPr>
        <p:spPr>
          <a:xfrm>
            <a:off x="914400" y="2505456"/>
            <a:ext cx="4754880" cy="713232"/>
          </a:xfrm>
          <a:prstGeom prst="rect">
            <a:avLst/>
          </a:prstGeom>
          <a:noFill/>
          <a:ln/>
        </p:spPr>
        <p:txBody>
          <a:bodyPr wrap="square" rtlCol="0" anchor="ctr"/>
          <a:lstStyle/>
          <a:p>
            <a:pPr indent="0" marL="0">
              <a:lnSpc>
                <a:spcPts val="1400"/>
              </a:lnSpc>
              <a:buNone/>
            </a:pPr>
            <a:r>
              <a:rPr lang="en-US" sz="1000" dirty="0">
                <a:solidFill>
                  <a:srgbClr val="7F1D1D"/>
                </a:solidFill>
                <a:latin typeface="Arial" pitchFamily="34" charset="0"/>
                <a:ea typeface="Arial" pitchFamily="34" charset="-122"/>
                <a:cs typeface="Arial" pitchFamily="34" charset="-120"/>
              </a:rPr>
              <a:t>Generic models often invent dosages or fail to urgently flag lethal pet toxins (like lilies for cats or xylitol for dogs), creating severe liability risks.</a:t>
            </a:r>
            <a:endParaRPr lang="en-US" sz="1000" dirty="0"/>
          </a:p>
        </p:txBody>
      </p:sp>
      <p:sp>
        <p:nvSpPr>
          <p:cNvPr id="15" name="Shape 13"/>
          <p:cNvSpPr/>
          <p:nvPr/>
        </p:nvSpPr>
        <p:spPr>
          <a:xfrm>
            <a:off x="731520" y="3429000"/>
            <a:ext cx="5120640" cy="1207008"/>
          </a:xfrm>
          <a:prstGeom prst="roundRect">
            <a:avLst/>
          </a:prstGeom>
          <a:solidFill>
            <a:srgbClr val="FEF2F2"/>
          </a:solidFill>
          <a:ln w="15240">
            <a:solidFill>
              <a:srgbClr val="FECACA"/>
            </a:solidFill>
            <a:prstDash val="solid"/>
          </a:ln>
        </p:spPr>
      </p:sp>
      <p:sp>
        <p:nvSpPr>
          <p:cNvPr id="16" name="Text 14"/>
          <p:cNvSpPr/>
          <p:nvPr/>
        </p:nvSpPr>
        <p:spPr>
          <a:xfrm>
            <a:off x="914400" y="3538728"/>
            <a:ext cx="4754880" cy="274320"/>
          </a:xfrm>
          <a:prstGeom prst="rect">
            <a:avLst/>
          </a:prstGeom>
          <a:noFill/>
          <a:ln/>
        </p:spPr>
        <p:txBody>
          <a:bodyPr wrap="square" rtlCol="0" anchor="ctr"/>
          <a:lstStyle/>
          <a:p>
            <a:pPr indent="0" marL="0">
              <a:buNone/>
            </a:pPr>
            <a:r>
              <a:rPr lang="en-US" sz="1200" b="1" dirty="0">
                <a:solidFill>
                  <a:srgbClr val="991B1B"/>
                </a:solidFill>
                <a:latin typeface="Arial" pitchFamily="34" charset="0"/>
                <a:ea typeface="Arial" pitchFamily="34" charset="-122"/>
                <a:cs typeface="Arial" pitchFamily="34" charset="-120"/>
              </a:rPr>
              <a:t>⚠️ Zero Local Context Grounding</a:t>
            </a:r>
            <a:endParaRPr lang="en-US" sz="1200" dirty="0"/>
          </a:p>
        </p:txBody>
      </p:sp>
      <p:sp>
        <p:nvSpPr>
          <p:cNvPr id="17" name="Text 15"/>
          <p:cNvSpPr/>
          <p:nvPr/>
        </p:nvSpPr>
        <p:spPr>
          <a:xfrm>
            <a:off x="914400" y="3831336"/>
            <a:ext cx="4754880" cy="713232"/>
          </a:xfrm>
          <a:prstGeom prst="rect">
            <a:avLst/>
          </a:prstGeom>
          <a:noFill/>
          <a:ln/>
        </p:spPr>
        <p:txBody>
          <a:bodyPr wrap="square" rtlCol="0" anchor="ctr"/>
          <a:lstStyle/>
          <a:p>
            <a:pPr indent="0" marL="0">
              <a:lnSpc>
                <a:spcPts val="1400"/>
              </a:lnSpc>
              <a:buNone/>
            </a:pPr>
            <a:r>
              <a:rPr lang="en-US" sz="1000" dirty="0">
                <a:solidFill>
                  <a:srgbClr val="7F1D1D"/>
                </a:solidFill>
                <a:latin typeface="Arial" pitchFamily="34" charset="0"/>
                <a:ea typeface="Arial" pitchFamily="34" charset="-122"/>
                <a:cs typeface="Arial" pitchFamily="34" charset="-120"/>
              </a:rPr>
              <a:t>Models have no knowledge of local Dhaka vet hospitals, Banani lost pet sightings, or Bangladeshi marketplace pet nutritional supply chains.</a:t>
            </a:r>
            <a:endParaRPr lang="en-US" sz="1000" dirty="0"/>
          </a:p>
        </p:txBody>
      </p:sp>
      <p:sp>
        <p:nvSpPr>
          <p:cNvPr id="18" name="Shape 16"/>
          <p:cNvSpPr/>
          <p:nvPr/>
        </p:nvSpPr>
        <p:spPr>
          <a:xfrm>
            <a:off x="731520" y="4754880"/>
            <a:ext cx="5120640" cy="1207008"/>
          </a:xfrm>
          <a:prstGeom prst="roundRect">
            <a:avLst/>
          </a:prstGeom>
          <a:solidFill>
            <a:srgbClr val="FEF2F2"/>
          </a:solidFill>
          <a:ln w="15240">
            <a:solidFill>
              <a:srgbClr val="FECACA"/>
            </a:solidFill>
            <a:prstDash val="solid"/>
          </a:ln>
        </p:spPr>
      </p:sp>
      <p:sp>
        <p:nvSpPr>
          <p:cNvPr id="19" name="Text 17"/>
          <p:cNvSpPr/>
          <p:nvPr/>
        </p:nvSpPr>
        <p:spPr>
          <a:xfrm>
            <a:off x="914400" y="4864608"/>
            <a:ext cx="4754880" cy="274320"/>
          </a:xfrm>
          <a:prstGeom prst="rect">
            <a:avLst/>
          </a:prstGeom>
          <a:noFill/>
          <a:ln/>
        </p:spPr>
        <p:txBody>
          <a:bodyPr wrap="square" rtlCol="0" anchor="ctr"/>
          <a:lstStyle/>
          <a:p>
            <a:pPr indent="0" marL="0">
              <a:buNone/>
            </a:pPr>
            <a:r>
              <a:rPr lang="en-US" sz="1200" b="1" dirty="0">
                <a:solidFill>
                  <a:srgbClr val="991B1B"/>
                </a:solidFill>
                <a:latin typeface="Arial" pitchFamily="34" charset="0"/>
                <a:ea typeface="Arial" pitchFamily="34" charset="-122"/>
                <a:cs typeface="Arial" pitchFamily="34" charset="-120"/>
              </a:rPr>
              <a:t>⚠️ High Latency &amp; Heavy Ops Overhead</a:t>
            </a:r>
            <a:endParaRPr lang="en-US" sz="1200" dirty="0"/>
          </a:p>
        </p:txBody>
      </p:sp>
      <p:sp>
        <p:nvSpPr>
          <p:cNvPr id="20" name="Text 18"/>
          <p:cNvSpPr/>
          <p:nvPr/>
        </p:nvSpPr>
        <p:spPr>
          <a:xfrm>
            <a:off x="914400" y="5157216"/>
            <a:ext cx="4754880" cy="713232"/>
          </a:xfrm>
          <a:prstGeom prst="rect">
            <a:avLst/>
          </a:prstGeom>
          <a:noFill/>
          <a:ln/>
        </p:spPr>
        <p:txBody>
          <a:bodyPr wrap="square" rtlCol="0" anchor="ctr"/>
          <a:lstStyle/>
          <a:p>
            <a:pPr indent="0" marL="0">
              <a:lnSpc>
                <a:spcPts val="1400"/>
              </a:lnSpc>
              <a:buNone/>
            </a:pPr>
            <a:r>
              <a:rPr lang="en-US" sz="1000" dirty="0">
                <a:solidFill>
                  <a:srgbClr val="7F1D1D"/>
                </a:solidFill>
                <a:latin typeface="Arial" pitchFamily="34" charset="0"/>
                <a:ea typeface="Arial" pitchFamily="34" charset="-122"/>
                <a:cs typeface="Arial" pitchFamily="34" charset="-120"/>
              </a:rPr>
              <a:t>Building custom vector databases, embedding chunkers, and ingestion pipelines manually requires massive dev time and ongoing infrastructure maintenance.</a:t>
            </a:r>
            <a:endParaRPr lang="en-US" sz="1000" dirty="0"/>
          </a:p>
        </p:txBody>
      </p:sp>
      <p:sp>
        <p:nvSpPr>
          <p:cNvPr id="21" name="Text 19"/>
          <p:cNvSpPr/>
          <p:nvPr/>
        </p:nvSpPr>
        <p:spPr>
          <a:xfrm>
            <a:off x="6339535" y="1783080"/>
            <a:ext cx="5120640" cy="228600"/>
          </a:xfrm>
          <a:prstGeom prst="rect">
            <a:avLst/>
          </a:prstGeom>
          <a:noFill/>
          <a:ln/>
        </p:spPr>
        <p:txBody>
          <a:bodyPr wrap="square" rtlCol="0" anchor="ctr"/>
          <a:lstStyle/>
          <a:p>
            <a:pPr indent="0" marL="0">
              <a:buNone/>
            </a:pPr>
            <a:r>
              <a:rPr lang="en-US" sz="1100" b="1" spc="100" kern="0" dirty="0">
                <a:solidFill>
                  <a:srgbClr val="10B981"/>
                </a:solidFill>
                <a:latin typeface="Arial" pitchFamily="34" charset="0"/>
                <a:ea typeface="Arial" pitchFamily="34" charset="-122"/>
                <a:cs typeface="Arial" pitchFamily="34" charset="-120"/>
              </a:rPr>
              <a:t>GIGALOGY MAIRA MANAGED RAG ADVANTAGES</a:t>
            </a:r>
            <a:endParaRPr lang="en-US" sz="1100" dirty="0"/>
          </a:p>
        </p:txBody>
      </p:sp>
      <p:sp>
        <p:nvSpPr>
          <p:cNvPr id="22" name="Shape 20"/>
          <p:cNvSpPr/>
          <p:nvPr/>
        </p:nvSpPr>
        <p:spPr>
          <a:xfrm>
            <a:off x="6339535" y="2103120"/>
            <a:ext cx="5120640" cy="1207008"/>
          </a:xfrm>
          <a:prstGeom prst="roundRect">
            <a:avLst/>
          </a:prstGeom>
          <a:solidFill>
            <a:srgbClr val="ECFDF5"/>
          </a:solidFill>
          <a:ln w="15240">
            <a:solidFill>
              <a:srgbClr val="A7F3D0"/>
            </a:solidFill>
            <a:prstDash val="solid"/>
          </a:ln>
        </p:spPr>
      </p:sp>
      <p:sp>
        <p:nvSpPr>
          <p:cNvPr id="23" name="Text 21"/>
          <p:cNvSpPr/>
          <p:nvPr/>
        </p:nvSpPr>
        <p:spPr>
          <a:xfrm>
            <a:off x="6522415" y="2212848"/>
            <a:ext cx="4754880" cy="274320"/>
          </a:xfrm>
          <a:prstGeom prst="rect">
            <a:avLst/>
          </a:prstGeom>
          <a:noFill/>
          <a:ln/>
        </p:spPr>
        <p:txBody>
          <a:bodyPr wrap="square" rtlCol="0" anchor="ctr"/>
          <a:lstStyle/>
          <a:p>
            <a:pPr indent="0" marL="0">
              <a:buNone/>
            </a:pPr>
            <a:r>
              <a:rPr lang="en-US" sz="1200" b="1" dirty="0">
                <a:solidFill>
                  <a:srgbClr val="065F46"/>
                </a:solidFill>
                <a:latin typeface="Arial" pitchFamily="34" charset="0"/>
                <a:ea typeface="Arial" pitchFamily="34" charset="-122"/>
                <a:cs typeface="Arial" pitchFamily="34" charset="-120"/>
              </a:rPr>
              <a:t>✅ Isolated Domain AI Profiles</a:t>
            </a:r>
            <a:endParaRPr lang="en-US" sz="1200" dirty="0"/>
          </a:p>
        </p:txBody>
      </p:sp>
      <p:sp>
        <p:nvSpPr>
          <p:cNvPr id="24" name="Text 22"/>
          <p:cNvSpPr/>
          <p:nvPr/>
        </p:nvSpPr>
        <p:spPr>
          <a:xfrm>
            <a:off x="6522415" y="2505456"/>
            <a:ext cx="4754880" cy="713232"/>
          </a:xfrm>
          <a:prstGeom prst="rect">
            <a:avLst/>
          </a:prstGeom>
          <a:noFill/>
          <a:ln/>
        </p:spPr>
        <p:txBody>
          <a:bodyPr wrap="square" rtlCol="0" anchor="ctr"/>
          <a:lstStyle/>
          <a:p>
            <a:pPr indent="0" marL="0">
              <a:lnSpc>
                <a:spcPts val="1400"/>
              </a:lnSpc>
              <a:buNone/>
            </a:pPr>
            <a:r>
              <a:rPr lang="en-US" sz="1000" dirty="0">
                <a:solidFill>
                  <a:srgbClr val="047857"/>
                </a:solidFill>
                <a:latin typeface="Arial" pitchFamily="34" charset="0"/>
                <a:ea typeface="Arial" pitchFamily="34" charset="-122"/>
                <a:cs typeface="Arial" pitchFamily="34" charset="-120"/>
              </a:rPr>
              <a:t>Four dedicated profiles with tailored veterinary temperature, clinical system instructions, and specialized multimodal models (GPT-4o).</a:t>
            </a:r>
            <a:endParaRPr lang="en-US" sz="1000" dirty="0"/>
          </a:p>
        </p:txBody>
      </p:sp>
      <p:sp>
        <p:nvSpPr>
          <p:cNvPr id="25" name="Shape 23"/>
          <p:cNvSpPr/>
          <p:nvPr/>
        </p:nvSpPr>
        <p:spPr>
          <a:xfrm>
            <a:off x="6339535" y="3429000"/>
            <a:ext cx="5120640" cy="1207008"/>
          </a:xfrm>
          <a:prstGeom prst="roundRect">
            <a:avLst/>
          </a:prstGeom>
          <a:solidFill>
            <a:srgbClr val="ECFDF5"/>
          </a:solidFill>
          <a:ln w="15240">
            <a:solidFill>
              <a:srgbClr val="A7F3D0"/>
            </a:solidFill>
            <a:prstDash val="solid"/>
          </a:ln>
        </p:spPr>
      </p:sp>
      <p:sp>
        <p:nvSpPr>
          <p:cNvPr id="26" name="Text 24"/>
          <p:cNvSpPr/>
          <p:nvPr/>
        </p:nvSpPr>
        <p:spPr>
          <a:xfrm>
            <a:off x="6522415" y="3538728"/>
            <a:ext cx="4754880" cy="274320"/>
          </a:xfrm>
          <a:prstGeom prst="rect">
            <a:avLst/>
          </a:prstGeom>
          <a:noFill/>
          <a:ln/>
        </p:spPr>
        <p:txBody>
          <a:bodyPr wrap="square" rtlCol="0" anchor="ctr"/>
          <a:lstStyle/>
          <a:p>
            <a:pPr indent="0" marL="0">
              <a:buNone/>
            </a:pPr>
            <a:r>
              <a:rPr lang="en-US" sz="1200" b="1" dirty="0">
                <a:solidFill>
                  <a:srgbClr val="065F46"/>
                </a:solidFill>
                <a:latin typeface="Arial" pitchFamily="34" charset="0"/>
                <a:ea typeface="Arial" pitchFamily="34" charset="-122"/>
                <a:cs typeface="Arial" pitchFamily="34" charset="-120"/>
              </a:rPr>
              <a:t>✅ Managed Vector Retrieval (RAG)</a:t>
            </a:r>
            <a:endParaRPr lang="en-US" sz="1200" dirty="0"/>
          </a:p>
        </p:txBody>
      </p:sp>
      <p:sp>
        <p:nvSpPr>
          <p:cNvPr id="27" name="Text 25"/>
          <p:cNvSpPr/>
          <p:nvPr/>
        </p:nvSpPr>
        <p:spPr>
          <a:xfrm>
            <a:off x="6522415" y="3831336"/>
            <a:ext cx="4754880" cy="713232"/>
          </a:xfrm>
          <a:prstGeom prst="rect">
            <a:avLst/>
          </a:prstGeom>
          <a:noFill/>
          <a:ln/>
        </p:spPr>
        <p:txBody>
          <a:bodyPr wrap="square" rtlCol="0" anchor="ctr"/>
          <a:lstStyle/>
          <a:p>
            <a:pPr indent="0" marL="0">
              <a:lnSpc>
                <a:spcPts val="1400"/>
              </a:lnSpc>
              <a:buNone/>
            </a:pPr>
            <a:r>
              <a:rPr lang="en-US" sz="1000" dirty="0">
                <a:solidFill>
                  <a:srgbClr val="047857"/>
                </a:solidFill>
                <a:latin typeface="Arial" pitchFamily="34" charset="0"/>
                <a:ea typeface="Arial" pitchFamily="34" charset="-122"/>
                <a:cs typeface="Arial" pitchFamily="34" charset="-120"/>
              </a:rPr>
              <a:t>Instant search across trained pet sighting databases and clinic directories with similarity scores, returning verified facts instead of guessing.</a:t>
            </a:r>
            <a:endParaRPr lang="en-US" sz="1000" dirty="0"/>
          </a:p>
        </p:txBody>
      </p:sp>
      <p:sp>
        <p:nvSpPr>
          <p:cNvPr id="28" name="Shape 26"/>
          <p:cNvSpPr/>
          <p:nvPr/>
        </p:nvSpPr>
        <p:spPr>
          <a:xfrm>
            <a:off x="6339535" y="4754880"/>
            <a:ext cx="5120640" cy="1207008"/>
          </a:xfrm>
          <a:prstGeom prst="roundRect">
            <a:avLst/>
          </a:prstGeom>
          <a:solidFill>
            <a:srgbClr val="ECFDF5"/>
          </a:solidFill>
          <a:ln w="15240">
            <a:solidFill>
              <a:srgbClr val="A7F3D0"/>
            </a:solidFill>
            <a:prstDash val="solid"/>
          </a:ln>
        </p:spPr>
      </p:sp>
      <p:sp>
        <p:nvSpPr>
          <p:cNvPr id="29" name="Text 27"/>
          <p:cNvSpPr/>
          <p:nvPr/>
        </p:nvSpPr>
        <p:spPr>
          <a:xfrm>
            <a:off x="6522415" y="4864608"/>
            <a:ext cx="4754880" cy="274320"/>
          </a:xfrm>
          <a:prstGeom prst="rect">
            <a:avLst/>
          </a:prstGeom>
          <a:noFill/>
          <a:ln/>
        </p:spPr>
        <p:txBody>
          <a:bodyPr wrap="square" rtlCol="0" anchor="ctr"/>
          <a:lstStyle/>
          <a:p>
            <a:pPr indent="0" marL="0">
              <a:buNone/>
            </a:pPr>
            <a:r>
              <a:rPr lang="en-US" sz="1200" b="1" dirty="0">
                <a:solidFill>
                  <a:srgbClr val="065F46"/>
                </a:solidFill>
                <a:latin typeface="Arial" pitchFamily="34" charset="0"/>
                <a:ea typeface="Arial" pitchFamily="34" charset="-122"/>
                <a:cs typeface="Arial" pitchFamily="34" charset="-120"/>
              </a:rPr>
              <a:t>✅ Enterprise SLA &amp; Turnkey API</a:t>
            </a:r>
            <a:endParaRPr lang="en-US" sz="1200" dirty="0"/>
          </a:p>
        </p:txBody>
      </p:sp>
      <p:sp>
        <p:nvSpPr>
          <p:cNvPr id="30" name="Text 28"/>
          <p:cNvSpPr/>
          <p:nvPr/>
        </p:nvSpPr>
        <p:spPr>
          <a:xfrm>
            <a:off x="6522415" y="5157216"/>
            <a:ext cx="4754880" cy="713232"/>
          </a:xfrm>
          <a:prstGeom prst="rect">
            <a:avLst/>
          </a:prstGeom>
          <a:noFill/>
          <a:ln/>
        </p:spPr>
        <p:txBody>
          <a:bodyPr wrap="square" rtlCol="0" anchor="ctr"/>
          <a:lstStyle/>
          <a:p>
            <a:pPr indent="0" marL="0">
              <a:lnSpc>
                <a:spcPts val="1400"/>
              </a:lnSpc>
              <a:buNone/>
            </a:pPr>
            <a:r>
              <a:rPr lang="en-US" sz="1000" dirty="0">
                <a:solidFill>
                  <a:srgbClr val="047857"/>
                </a:solidFill>
                <a:latin typeface="Arial" pitchFamily="34" charset="0"/>
                <a:ea typeface="Arial" pitchFamily="34" charset="-122"/>
                <a:cs typeface="Arial" pitchFamily="34" charset="-120"/>
              </a:rPr>
              <a:t>Pre-built embedding, indexing, and vector search exposed via a clean REST API, drastically reducing operational overhead while ensuring sub-second response times.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858000" cy="3200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NUZZLE AI PLATFORM  |  GIGALOGY MAIRA MANAGED RAG INTEGRATION</a:t>
            </a:r>
            <a:endParaRPr lang="en-US" sz="1100" dirty="0"/>
          </a:p>
        </p:txBody>
      </p:sp>
      <p:sp>
        <p:nvSpPr>
          <p:cNvPr id="4" name="Text 2"/>
          <p:cNvSpPr/>
          <p:nvPr/>
        </p:nvSpPr>
        <p:spPr>
          <a:xfrm>
            <a:off x="7315200" y="128016"/>
            <a:ext cx="4144975" cy="32004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Slide 3 of 12  •  Technical &amp; Architecture Deep Dive</a:t>
            </a:r>
            <a:endParaRPr lang="en-US" sz="1000" dirty="0"/>
          </a:p>
        </p:txBody>
      </p:sp>
      <p:sp>
        <p:nvSpPr>
          <p:cNvPr id="5" name="Text 3"/>
          <p:cNvSpPr/>
          <p:nvPr/>
        </p:nvSpPr>
        <p:spPr>
          <a:xfrm>
            <a:off x="731520" y="713232"/>
            <a:ext cx="10728655" cy="228600"/>
          </a:xfrm>
          <a:prstGeom prst="rect">
            <a:avLst/>
          </a:prstGeom>
          <a:noFill/>
          <a:ln/>
        </p:spPr>
        <p:txBody>
          <a:bodyPr wrap="square" rtlCol="0" anchor="ctr"/>
          <a:lstStyle/>
          <a:p>
            <a:pPr indent="0" marL="0">
              <a:buNone/>
            </a:pPr>
            <a:r>
              <a:rPr lang="en-US" sz="1000" b="1" spc="120" kern="0" dirty="0">
                <a:solidFill>
                  <a:srgbClr val="4338CA"/>
                </a:solidFill>
                <a:latin typeface="Arial" pitchFamily="34" charset="0"/>
                <a:ea typeface="Arial" pitchFamily="34" charset="-122"/>
                <a:cs typeface="Arial" pitchFamily="34" charset="-120"/>
              </a:rPr>
              <a:t>SYSTEM ARCHITECTURE</a:t>
            </a:r>
            <a:endParaRPr lang="en-US" sz="1000" dirty="0"/>
          </a:p>
        </p:txBody>
      </p:sp>
      <p:sp>
        <p:nvSpPr>
          <p:cNvPr id="6" name="Text 4"/>
          <p:cNvSpPr/>
          <p:nvPr/>
        </p:nvSpPr>
        <p:spPr>
          <a:xfrm>
            <a:off x="731520" y="932688"/>
            <a:ext cx="10728655" cy="438912"/>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Nuzzle × MAIRA End-to-End Ingress &amp; Security Topology</a:t>
            </a:r>
            <a:endParaRPr lang="en-US" sz="2100" dirty="0"/>
          </a:p>
        </p:txBody>
      </p:sp>
      <p:sp>
        <p:nvSpPr>
          <p:cNvPr id="7" name="Text 5"/>
          <p:cNvSpPr/>
          <p:nvPr/>
        </p:nvSpPr>
        <p:spPr>
          <a:xfrm>
            <a:off x="731520" y="1353312"/>
            <a:ext cx="10728655" cy="292608"/>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Decoupled client architecture with edge proxying, custom hyphenated security headers, and multi-tier failover.</a:t>
            </a:r>
            <a:endParaRPr lang="en-US" sz="1200" dirty="0"/>
          </a:p>
        </p:txBody>
      </p:sp>
      <p:sp>
        <p:nvSpPr>
          <p:cNvPr id="8" name="Shape 6"/>
          <p:cNvSpPr/>
          <p:nvPr/>
        </p:nvSpPr>
        <p:spPr>
          <a:xfrm>
            <a:off x="731520" y="6355080"/>
            <a:ext cx="10728655" cy="0"/>
          </a:xfrm>
          <a:prstGeom prst="line">
            <a:avLst/>
          </a:prstGeom>
          <a:noFill/>
          <a:ln w="12700">
            <a:solidFill>
              <a:srgbClr val="E2E8F0"/>
            </a:solidFill>
            <a:prstDash val="solid"/>
          </a:ln>
        </p:spPr>
      </p:sp>
      <p:sp>
        <p:nvSpPr>
          <p:cNvPr id="9" name="Text 7"/>
          <p:cNvSpPr/>
          <p:nvPr/>
        </p:nvSpPr>
        <p:spPr>
          <a:xfrm>
            <a:off x="731520" y="6446520"/>
            <a:ext cx="7315200" cy="27432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8229600" y="6446520"/>
            <a:ext cx="3230575" cy="27432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Shape 9"/>
          <p:cNvSpPr/>
          <p:nvPr/>
        </p:nvSpPr>
        <p:spPr>
          <a:xfrm>
            <a:off x="731520" y="1783080"/>
            <a:ext cx="2560320" cy="2606040"/>
          </a:xfrm>
          <a:prstGeom prst="roundRect">
            <a:avLst/>
          </a:prstGeom>
          <a:solidFill>
            <a:srgbClr val="FFFFFF"/>
          </a:solidFill>
          <a:ln w="15240">
            <a:solidFill>
              <a:srgbClr val="CBD5E1"/>
            </a:solidFill>
            <a:prstDash val="solid"/>
          </a:ln>
        </p:spPr>
      </p:sp>
      <p:sp>
        <p:nvSpPr>
          <p:cNvPr id="12" name="Shape 10"/>
          <p:cNvSpPr/>
          <p:nvPr/>
        </p:nvSpPr>
        <p:spPr>
          <a:xfrm>
            <a:off x="868680" y="1920240"/>
            <a:ext cx="685800" cy="274320"/>
          </a:xfrm>
          <a:prstGeom prst="roundRect">
            <a:avLst/>
          </a:prstGeom>
          <a:solidFill>
            <a:srgbClr val="F1F5F9"/>
          </a:solidFill>
          <a:ln w="12700">
            <a:solidFill>
              <a:srgbClr val="CBD5E1"/>
            </a:solidFill>
            <a:prstDash val="solid"/>
          </a:ln>
        </p:spPr>
      </p:sp>
      <p:sp>
        <p:nvSpPr>
          <p:cNvPr id="13" name="Text 11"/>
          <p:cNvSpPr/>
          <p:nvPr/>
        </p:nvSpPr>
        <p:spPr>
          <a:xfrm>
            <a:off x="868680" y="1975104"/>
            <a:ext cx="685800" cy="182880"/>
          </a:xfrm>
          <a:prstGeom prst="rect">
            <a:avLst/>
          </a:prstGeom>
          <a:noFill/>
          <a:ln/>
        </p:spPr>
        <p:txBody>
          <a:bodyPr wrap="square" rtlCol="0" anchor="ctr"/>
          <a:lstStyle/>
          <a:p>
            <a:pPr algn="ctr" indent="0" marL="0">
              <a:buNone/>
            </a:pPr>
            <a:r>
              <a:rPr lang="en-US" sz="850" b="1" dirty="0">
                <a:solidFill>
                  <a:srgbClr val="4F46E5"/>
                </a:solidFill>
                <a:latin typeface="Arial" pitchFamily="34" charset="0"/>
                <a:ea typeface="Arial" pitchFamily="34" charset="-122"/>
                <a:cs typeface="Arial" pitchFamily="34" charset="-120"/>
              </a:rPr>
              <a:t>STAGE 01</a:t>
            </a:r>
            <a:endParaRPr lang="en-US" sz="850" dirty="0"/>
          </a:p>
        </p:txBody>
      </p:sp>
      <p:sp>
        <p:nvSpPr>
          <p:cNvPr id="14" name="Text 12"/>
          <p:cNvSpPr/>
          <p:nvPr/>
        </p:nvSpPr>
        <p:spPr>
          <a:xfrm>
            <a:off x="2697480" y="1874520"/>
            <a:ext cx="457200" cy="36576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15" name="Text 13"/>
          <p:cNvSpPr/>
          <p:nvPr/>
        </p:nvSpPr>
        <p:spPr>
          <a:xfrm>
            <a:off x="868680" y="2286000"/>
            <a:ext cx="228600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Vue 3 Client Layer</a:t>
            </a:r>
            <a:endParaRPr lang="en-US" sz="1300" dirty="0"/>
          </a:p>
        </p:txBody>
      </p:sp>
      <p:sp>
        <p:nvSpPr>
          <p:cNvPr id="16" name="Text 14"/>
          <p:cNvSpPr/>
          <p:nvPr/>
        </p:nvSpPr>
        <p:spPr>
          <a:xfrm>
            <a:off x="868680" y="2606040"/>
            <a:ext cx="2286000" cy="201168"/>
          </a:xfrm>
          <a:prstGeom prst="rect">
            <a:avLst/>
          </a:prstGeom>
          <a:noFill/>
          <a:ln/>
        </p:spPr>
        <p:txBody>
          <a:bodyPr wrap="square" rtlCol="0" anchor="ctr"/>
          <a:lstStyle/>
          <a:p>
            <a:pPr indent="0" marL="0">
              <a:buNone/>
            </a:pPr>
            <a:r>
              <a:rPr lang="en-US" sz="950" b="1" dirty="0">
                <a:solidFill>
                  <a:srgbClr val="4F46E5"/>
                </a:solidFill>
                <a:latin typeface="Arial" pitchFamily="34" charset="0"/>
                <a:ea typeface="Arial" pitchFamily="34" charset="-122"/>
                <a:cs typeface="Arial" pitchFamily="34" charset="-120"/>
              </a:rPr>
              <a:t>Vite • Pinia • TypeScript</a:t>
            </a:r>
            <a:endParaRPr lang="en-US" sz="950" dirty="0"/>
          </a:p>
        </p:txBody>
      </p:sp>
      <p:sp>
        <p:nvSpPr>
          <p:cNvPr id="17" name="Text 15"/>
          <p:cNvSpPr/>
          <p:nvPr/>
        </p:nvSpPr>
        <p:spPr>
          <a:xfrm>
            <a:off x="868680" y="2852928"/>
            <a:ext cx="2286000" cy="1371600"/>
          </a:xfrm>
          <a:prstGeom prst="rect">
            <a:avLst/>
          </a:prstGeom>
          <a:noFill/>
          <a:ln/>
        </p:spPr>
        <p:txBody>
          <a:bodyPr wrap="square" rtlCol="0" anchor="ctr"/>
          <a:lstStyle/>
          <a:p>
            <a:pPr indent="0" marL="0">
              <a:lnSpc>
                <a:spcPts val="1400"/>
              </a:lnSpc>
              <a:buNone/>
            </a:pPr>
            <a:r>
              <a:rPr lang="en-US" sz="950" dirty="0">
                <a:solidFill>
                  <a:srgbClr val="475569"/>
                </a:solidFill>
                <a:latin typeface="Arial" pitchFamily="34" charset="0"/>
                <a:ea typeface="Arial" pitchFamily="34" charset="-122"/>
                <a:cs typeface="Arial" pitchFamily="34" charset="-120"/>
              </a:rPr>
              <a:t>PawAIView, RadarView, TopBar Architecture Modal dispatching typed HTTP requests via apiClient.</a:t>
            </a:r>
            <a:endParaRPr lang="en-US" sz="950" dirty="0"/>
          </a:p>
        </p:txBody>
      </p:sp>
      <p:sp>
        <p:nvSpPr>
          <p:cNvPr id="18" name="Shape 16"/>
          <p:cNvSpPr/>
          <p:nvPr/>
        </p:nvSpPr>
        <p:spPr>
          <a:xfrm>
            <a:off x="3456432" y="1783080"/>
            <a:ext cx="2560320" cy="2606040"/>
          </a:xfrm>
          <a:prstGeom prst="roundRect">
            <a:avLst/>
          </a:prstGeom>
          <a:solidFill>
            <a:srgbClr val="FFFFFF"/>
          </a:solidFill>
          <a:ln w="15240">
            <a:solidFill>
              <a:srgbClr val="CBD5E1"/>
            </a:solidFill>
            <a:prstDash val="solid"/>
          </a:ln>
        </p:spPr>
      </p:sp>
      <p:sp>
        <p:nvSpPr>
          <p:cNvPr id="19" name="Shape 17"/>
          <p:cNvSpPr/>
          <p:nvPr/>
        </p:nvSpPr>
        <p:spPr>
          <a:xfrm>
            <a:off x="3593592" y="1920240"/>
            <a:ext cx="685800" cy="274320"/>
          </a:xfrm>
          <a:prstGeom prst="roundRect">
            <a:avLst/>
          </a:prstGeom>
          <a:solidFill>
            <a:srgbClr val="F1F5F9"/>
          </a:solidFill>
          <a:ln w="12700">
            <a:solidFill>
              <a:srgbClr val="CBD5E1"/>
            </a:solidFill>
            <a:prstDash val="solid"/>
          </a:ln>
        </p:spPr>
      </p:sp>
      <p:sp>
        <p:nvSpPr>
          <p:cNvPr id="20" name="Text 18"/>
          <p:cNvSpPr/>
          <p:nvPr/>
        </p:nvSpPr>
        <p:spPr>
          <a:xfrm>
            <a:off x="3593592" y="1975104"/>
            <a:ext cx="685800" cy="182880"/>
          </a:xfrm>
          <a:prstGeom prst="rect">
            <a:avLst/>
          </a:prstGeom>
          <a:noFill/>
          <a:ln/>
        </p:spPr>
        <p:txBody>
          <a:bodyPr wrap="square" rtlCol="0" anchor="ctr"/>
          <a:lstStyle/>
          <a:p>
            <a:pPr algn="ctr" indent="0" marL="0">
              <a:buNone/>
            </a:pPr>
            <a:r>
              <a:rPr lang="en-US" sz="850" b="1" dirty="0">
                <a:solidFill>
                  <a:srgbClr val="4338CA"/>
                </a:solidFill>
                <a:latin typeface="Arial" pitchFamily="34" charset="0"/>
                <a:ea typeface="Arial" pitchFamily="34" charset="-122"/>
                <a:cs typeface="Arial" pitchFamily="34" charset="-120"/>
              </a:rPr>
              <a:t>STAGE 02</a:t>
            </a:r>
            <a:endParaRPr lang="en-US" sz="850" dirty="0"/>
          </a:p>
        </p:txBody>
      </p:sp>
      <p:sp>
        <p:nvSpPr>
          <p:cNvPr id="21" name="Text 19"/>
          <p:cNvSpPr/>
          <p:nvPr/>
        </p:nvSpPr>
        <p:spPr>
          <a:xfrm>
            <a:off x="5422392" y="1874520"/>
            <a:ext cx="457200" cy="36576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22" name="Text 20"/>
          <p:cNvSpPr/>
          <p:nvPr/>
        </p:nvSpPr>
        <p:spPr>
          <a:xfrm>
            <a:off x="3593592" y="2286000"/>
            <a:ext cx="228600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Next.js 16 REST Engine</a:t>
            </a:r>
            <a:endParaRPr lang="en-US" sz="1300" dirty="0"/>
          </a:p>
        </p:txBody>
      </p:sp>
      <p:sp>
        <p:nvSpPr>
          <p:cNvPr id="23" name="Text 21"/>
          <p:cNvSpPr/>
          <p:nvPr/>
        </p:nvSpPr>
        <p:spPr>
          <a:xfrm>
            <a:off x="3593592" y="2606040"/>
            <a:ext cx="2286000" cy="201168"/>
          </a:xfrm>
          <a:prstGeom prst="rect">
            <a:avLst/>
          </a:prstGeom>
          <a:noFill/>
          <a:ln/>
        </p:spPr>
        <p:txBody>
          <a:bodyPr wrap="square" rtlCol="0" anchor="ctr"/>
          <a:lstStyle/>
          <a:p>
            <a:pPr indent="0" marL="0">
              <a:buNone/>
            </a:pPr>
            <a:r>
              <a:rPr lang="en-US" sz="950" b="1" dirty="0">
                <a:solidFill>
                  <a:srgbClr val="4338CA"/>
                </a:solidFill>
                <a:latin typeface="Arial" pitchFamily="34" charset="0"/>
                <a:ea typeface="Arial" pitchFamily="34" charset="-122"/>
                <a:cs typeface="Arial" pitchFamily="34" charset="-120"/>
              </a:rPr>
              <a:t>Zod • Edge Routes • RBAC</a:t>
            </a:r>
            <a:endParaRPr lang="en-US" sz="950" dirty="0"/>
          </a:p>
        </p:txBody>
      </p:sp>
      <p:sp>
        <p:nvSpPr>
          <p:cNvPr id="24" name="Text 22"/>
          <p:cNvSpPr/>
          <p:nvPr/>
        </p:nvSpPr>
        <p:spPr>
          <a:xfrm>
            <a:off x="3593592" y="2852928"/>
            <a:ext cx="2286000" cy="1371600"/>
          </a:xfrm>
          <a:prstGeom prst="rect">
            <a:avLst/>
          </a:prstGeom>
          <a:noFill/>
          <a:ln/>
        </p:spPr>
        <p:txBody>
          <a:bodyPr wrap="square" rtlCol="0" anchor="ctr"/>
          <a:lstStyle/>
          <a:p>
            <a:pPr indent="0" marL="0">
              <a:lnSpc>
                <a:spcPts val="1400"/>
              </a:lnSpc>
              <a:buNone/>
            </a:pPr>
            <a:r>
              <a:rPr lang="en-US" sz="950" dirty="0">
                <a:solidFill>
                  <a:srgbClr val="475569"/>
                </a:solidFill>
                <a:latin typeface="Arial" pitchFamily="34" charset="0"/>
                <a:ea typeface="Arial" pitchFamily="34" charset="-122"/>
                <a:cs typeface="Arial" pitchFamily="34" charset="-120"/>
              </a:rPr>
              <a:t>Strict schema validation, rate-limiting, pet context enrichment, and prompt normalization.</a:t>
            </a:r>
            <a:endParaRPr lang="en-US" sz="950" dirty="0"/>
          </a:p>
        </p:txBody>
      </p:sp>
      <p:sp>
        <p:nvSpPr>
          <p:cNvPr id="25" name="Shape 23"/>
          <p:cNvSpPr/>
          <p:nvPr/>
        </p:nvSpPr>
        <p:spPr>
          <a:xfrm>
            <a:off x="6181344" y="1783080"/>
            <a:ext cx="2560320" cy="2606040"/>
          </a:xfrm>
          <a:prstGeom prst="roundRect">
            <a:avLst/>
          </a:prstGeom>
          <a:solidFill>
            <a:srgbClr val="FFFFFF"/>
          </a:solidFill>
          <a:ln w="15240">
            <a:solidFill>
              <a:srgbClr val="CBD5E1"/>
            </a:solidFill>
            <a:prstDash val="solid"/>
          </a:ln>
        </p:spPr>
      </p:sp>
      <p:sp>
        <p:nvSpPr>
          <p:cNvPr id="26" name="Shape 24"/>
          <p:cNvSpPr/>
          <p:nvPr/>
        </p:nvSpPr>
        <p:spPr>
          <a:xfrm>
            <a:off x="6318504" y="1920240"/>
            <a:ext cx="685800" cy="274320"/>
          </a:xfrm>
          <a:prstGeom prst="roundRect">
            <a:avLst/>
          </a:prstGeom>
          <a:solidFill>
            <a:srgbClr val="F1F5F9"/>
          </a:solidFill>
          <a:ln w="12700">
            <a:solidFill>
              <a:srgbClr val="CBD5E1"/>
            </a:solidFill>
            <a:prstDash val="solid"/>
          </a:ln>
        </p:spPr>
      </p:sp>
      <p:sp>
        <p:nvSpPr>
          <p:cNvPr id="27" name="Text 25"/>
          <p:cNvSpPr/>
          <p:nvPr/>
        </p:nvSpPr>
        <p:spPr>
          <a:xfrm>
            <a:off x="6318504" y="1975104"/>
            <a:ext cx="685800" cy="182880"/>
          </a:xfrm>
          <a:prstGeom prst="rect">
            <a:avLst/>
          </a:prstGeom>
          <a:noFill/>
          <a:ln/>
        </p:spPr>
        <p:txBody>
          <a:bodyPr wrap="square" rtlCol="0" anchor="ctr"/>
          <a:lstStyle/>
          <a:p>
            <a:pPr algn="ctr" indent="0" marL="0">
              <a:buNone/>
            </a:pPr>
            <a:r>
              <a:rPr lang="en-US" sz="850" b="1" dirty="0">
                <a:solidFill>
                  <a:srgbClr val="8B5CF6"/>
                </a:solidFill>
                <a:latin typeface="Arial" pitchFamily="34" charset="0"/>
                <a:ea typeface="Arial" pitchFamily="34" charset="-122"/>
                <a:cs typeface="Arial" pitchFamily="34" charset="-120"/>
              </a:rPr>
              <a:t>STAGE 03</a:t>
            </a:r>
            <a:endParaRPr lang="en-US" sz="850" dirty="0"/>
          </a:p>
        </p:txBody>
      </p:sp>
      <p:sp>
        <p:nvSpPr>
          <p:cNvPr id="28" name="Text 26"/>
          <p:cNvSpPr/>
          <p:nvPr/>
        </p:nvSpPr>
        <p:spPr>
          <a:xfrm>
            <a:off x="8147304" y="1874520"/>
            <a:ext cx="457200" cy="36576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29" name="Text 27"/>
          <p:cNvSpPr/>
          <p:nvPr/>
        </p:nvSpPr>
        <p:spPr>
          <a:xfrm>
            <a:off x="6318504" y="2286000"/>
            <a:ext cx="228600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Nuzzle Maira Client</a:t>
            </a:r>
            <a:endParaRPr lang="en-US" sz="1300" dirty="0"/>
          </a:p>
        </p:txBody>
      </p:sp>
      <p:sp>
        <p:nvSpPr>
          <p:cNvPr id="30" name="Text 28"/>
          <p:cNvSpPr/>
          <p:nvPr/>
        </p:nvSpPr>
        <p:spPr>
          <a:xfrm>
            <a:off x="6318504" y="2606040"/>
            <a:ext cx="2286000" cy="201168"/>
          </a:xfrm>
          <a:prstGeom prst="rect">
            <a:avLst/>
          </a:prstGeom>
          <a:noFill/>
          <a:ln/>
        </p:spPr>
        <p:txBody>
          <a:bodyPr wrap="square" rtlCol="0" anchor="ctr"/>
          <a:lstStyle/>
          <a:p>
            <a:pPr indent="0" marL="0">
              <a:buNone/>
            </a:pPr>
            <a:r>
              <a:rPr lang="en-US" sz="950" b="1" dirty="0">
                <a:solidFill>
                  <a:srgbClr val="8B5CF6"/>
                </a:solidFill>
                <a:latin typeface="Arial" pitchFamily="34" charset="0"/>
                <a:ea typeface="Arial" pitchFamily="34" charset="-122"/>
                <a:cs typeface="Arial" pitchFamily="34" charset="-120"/>
              </a:rPr>
              <a:t>lib/maira/maira-client.ts</a:t>
            </a:r>
            <a:endParaRPr lang="en-US" sz="950" dirty="0"/>
          </a:p>
        </p:txBody>
      </p:sp>
      <p:sp>
        <p:nvSpPr>
          <p:cNvPr id="31" name="Text 29"/>
          <p:cNvSpPr/>
          <p:nvPr/>
        </p:nvSpPr>
        <p:spPr>
          <a:xfrm>
            <a:off x="6318504" y="2852928"/>
            <a:ext cx="2286000" cy="1371600"/>
          </a:xfrm>
          <a:prstGeom prst="rect">
            <a:avLst/>
          </a:prstGeom>
          <a:noFill/>
          <a:ln/>
        </p:spPr>
        <p:txBody>
          <a:bodyPr wrap="square" rtlCol="0" anchor="ctr"/>
          <a:lstStyle/>
          <a:p>
            <a:pPr indent="0" marL="0">
              <a:lnSpc>
                <a:spcPts val="1400"/>
              </a:lnSpc>
              <a:buNone/>
            </a:pPr>
            <a:r>
              <a:rPr lang="en-US" sz="950" dirty="0">
                <a:solidFill>
                  <a:srgbClr val="475569"/>
                </a:solidFill>
                <a:latin typeface="Arial" pitchFamily="34" charset="0"/>
                <a:ea typeface="Arial" pitchFamily="34" charset="-122"/>
                <a:cs typeface="Arial" pitchFamily="34" charset="-120"/>
              </a:rPr>
              <a:t>Hyphenated header injection (api-key, project-key), timeout circuits, and vector section extraction.</a:t>
            </a:r>
            <a:endParaRPr lang="en-US" sz="950" dirty="0"/>
          </a:p>
        </p:txBody>
      </p:sp>
      <p:sp>
        <p:nvSpPr>
          <p:cNvPr id="32" name="Shape 30"/>
          <p:cNvSpPr/>
          <p:nvPr/>
        </p:nvSpPr>
        <p:spPr>
          <a:xfrm>
            <a:off x="8906256" y="1783080"/>
            <a:ext cx="2560320" cy="2606040"/>
          </a:xfrm>
          <a:prstGeom prst="roundRect">
            <a:avLst/>
          </a:prstGeom>
          <a:solidFill>
            <a:srgbClr val="FFFFFF"/>
          </a:solidFill>
          <a:ln w="15240">
            <a:solidFill>
              <a:srgbClr val="CBD5E1"/>
            </a:solidFill>
            <a:prstDash val="solid"/>
          </a:ln>
        </p:spPr>
      </p:sp>
      <p:sp>
        <p:nvSpPr>
          <p:cNvPr id="33" name="Shape 31"/>
          <p:cNvSpPr/>
          <p:nvPr/>
        </p:nvSpPr>
        <p:spPr>
          <a:xfrm>
            <a:off x="9043416" y="1920240"/>
            <a:ext cx="685800" cy="274320"/>
          </a:xfrm>
          <a:prstGeom prst="roundRect">
            <a:avLst/>
          </a:prstGeom>
          <a:solidFill>
            <a:srgbClr val="F1F5F9"/>
          </a:solidFill>
          <a:ln w="12700">
            <a:solidFill>
              <a:srgbClr val="CBD5E1"/>
            </a:solidFill>
            <a:prstDash val="solid"/>
          </a:ln>
        </p:spPr>
      </p:sp>
      <p:sp>
        <p:nvSpPr>
          <p:cNvPr id="34" name="Text 32"/>
          <p:cNvSpPr/>
          <p:nvPr/>
        </p:nvSpPr>
        <p:spPr>
          <a:xfrm>
            <a:off x="9043416" y="1975104"/>
            <a:ext cx="685800" cy="182880"/>
          </a:xfrm>
          <a:prstGeom prst="rect">
            <a:avLst/>
          </a:prstGeom>
          <a:noFill/>
          <a:ln/>
        </p:spPr>
        <p:txBody>
          <a:bodyPr wrap="square"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STAGE 04</a:t>
            </a:r>
            <a:endParaRPr lang="en-US" sz="850" dirty="0"/>
          </a:p>
        </p:txBody>
      </p:sp>
      <p:sp>
        <p:nvSpPr>
          <p:cNvPr id="35" name="Text 33"/>
          <p:cNvSpPr/>
          <p:nvPr/>
        </p:nvSpPr>
        <p:spPr>
          <a:xfrm>
            <a:off x="10872216" y="1874520"/>
            <a:ext cx="457200" cy="365760"/>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36" name="Text 34"/>
          <p:cNvSpPr/>
          <p:nvPr/>
        </p:nvSpPr>
        <p:spPr>
          <a:xfrm>
            <a:off x="9043416" y="2286000"/>
            <a:ext cx="228600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Gigalogy MAIRA Cloud</a:t>
            </a:r>
            <a:endParaRPr lang="en-US" sz="1300" dirty="0"/>
          </a:p>
        </p:txBody>
      </p:sp>
      <p:sp>
        <p:nvSpPr>
          <p:cNvPr id="37" name="Text 35"/>
          <p:cNvSpPr/>
          <p:nvPr/>
        </p:nvSpPr>
        <p:spPr>
          <a:xfrm>
            <a:off x="9043416" y="2606040"/>
            <a:ext cx="2286000" cy="201168"/>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api.recommender.gigalogy.com</a:t>
            </a:r>
            <a:endParaRPr lang="en-US" sz="950" dirty="0"/>
          </a:p>
        </p:txBody>
      </p:sp>
      <p:sp>
        <p:nvSpPr>
          <p:cNvPr id="38" name="Text 36"/>
          <p:cNvSpPr/>
          <p:nvPr/>
        </p:nvSpPr>
        <p:spPr>
          <a:xfrm>
            <a:off x="9043416" y="2852928"/>
            <a:ext cx="2286000" cy="1371600"/>
          </a:xfrm>
          <a:prstGeom prst="rect">
            <a:avLst/>
          </a:prstGeom>
          <a:noFill/>
          <a:ln/>
        </p:spPr>
        <p:txBody>
          <a:bodyPr wrap="square" rtlCol="0" anchor="ctr"/>
          <a:lstStyle/>
          <a:p>
            <a:pPr indent="0" marL="0">
              <a:lnSpc>
                <a:spcPts val="1400"/>
              </a:lnSpc>
              <a:buNone/>
            </a:pPr>
            <a:r>
              <a:rPr lang="en-US" sz="950" dirty="0">
                <a:solidFill>
                  <a:srgbClr val="475569"/>
                </a:solidFill>
                <a:latin typeface="Arial" pitchFamily="34" charset="0"/>
                <a:ea typeface="Arial" pitchFamily="34" charset="-122"/>
                <a:cs typeface="Arial" pitchFamily="34" charset="-120"/>
              </a:rPr>
              <a:t>Vector search engine, vector similarity ranking, LLM generation, and section metadata response.</a:t>
            </a:r>
            <a:endParaRPr lang="en-US" sz="950" dirty="0"/>
          </a:p>
        </p:txBody>
      </p:sp>
      <p:sp>
        <p:nvSpPr>
          <p:cNvPr id="39" name="Shape 37"/>
          <p:cNvSpPr/>
          <p:nvPr/>
        </p:nvSpPr>
        <p:spPr>
          <a:xfrm>
            <a:off x="731520" y="4572000"/>
            <a:ext cx="10728655" cy="1600200"/>
          </a:xfrm>
          <a:prstGeom prst="roundRect">
            <a:avLst/>
          </a:prstGeom>
          <a:solidFill>
            <a:srgbClr val="0B0F19"/>
          </a:solidFill>
          <a:ln w="19050">
            <a:solidFill>
              <a:srgbClr val="4F46E5"/>
            </a:solidFill>
            <a:prstDash val="solid"/>
          </a:ln>
        </p:spPr>
      </p:sp>
      <p:sp>
        <p:nvSpPr>
          <p:cNvPr id="40" name="Text 38"/>
          <p:cNvSpPr/>
          <p:nvPr/>
        </p:nvSpPr>
        <p:spPr>
          <a:xfrm>
            <a:off x="914400" y="4709160"/>
            <a:ext cx="10362895" cy="228600"/>
          </a:xfrm>
          <a:prstGeom prst="rect">
            <a:avLst/>
          </a:prstGeom>
          <a:noFill/>
          <a:ln/>
        </p:spPr>
        <p:txBody>
          <a:bodyPr wrap="square" rtlCol="0" anchor="ctr"/>
          <a:lstStyle/>
          <a:p>
            <a:pPr indent="0" marL="0">
              <a:buNone/>
            </a:pPr>
            <a:r>
              <a:rPr lang="en-US" sz="1050" b="1" spc="120" kern="0" dirty="0">
                <a:solidFill>
                  <a:srgbClr val="818CF8"/>
                </a:solidFill>
                <a:latin typeface="Arial" pitchFamily="34" charset="0"/>
                <a:ea typeface="Arial" pitchFamily="34" charset="-122"/>
                <a:cs typeface="Arial" pitchFamily="34" charset="-120"/>
              </a:rPr>
              <a:t>TRIPLE-TIER FAILOVER &amp; ZERO-DOWNTIME RESILIENCE STRATEGY</a:t>
            </a:r>
            <a:endParaRPr lang="en-US" sz="1050" dirty="0"/>
          </a:p>
        </p:txBody>
      </p:sp>
      <p:sp>
        <p:nvSpPr>
          <p:cNvPr id="41" name="Shape 39"/>
          <p:cNvSpPr/>
          <p:nvPr/>
        </p:nvSpPr>
        <p:spPr>
          <a:xfrm>
            <a:off x="914400" y="5010912"/>
            <a:ext cx="3337560" cy="1005840"/>
          </a:xfrm>
          <a:prstGeom prst="roundRect">
            <a:avLst/>
          </a:prstGeom>
          <a:solidFill>
            <a:srgbClr val="1E293B"/>
          </a:solidFill>
          <a:ln w="12700">
            <a:solidFill>
              <a:srgbClr val="334155"/>
            </a:solidFill>
            <a:prstDash val="solid"/>
          </a:ln>
        </p:spPr>
      </p:sp>
      <p:sp>
        <p:nvSpPr>
          <p:cNvPr id="42" name="Text 40"/>
          <p:cNvSpPr/>
          <p:nvPr/>
        </p:nvSpPr>
        <p:spPr>
          <a:xfrm>
            <a:off x="1051560" y="5102352"/>
            <a:ext cx="3063240" cy="18288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TIER 1 (PRIMARY)</a:t>
            </a:r>
            <a:endParaRPr lang="en-US" sz="850" dirty="0"/>
          </a:p>
        </p:txBody>
      </p:sp>
      <p:sp>
        <p:nvSpPr>
          <p:cNvPr id="43" name="Text 41"/>
          <p:cNvSpPr/>
          <p:nvPr/>
        </p:nvSpPr>
        <p:spPr>
          <a:xfrm>
            <a:off x="1051560" y="5285232"/>
            <a:ext cx="3063240" cy="219456"/>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Gigalogy MAIRA Managed RAG</a:t>
            </a:r>
            <a:endParaRPr lang="en-US" sz="1100" dirty="0"/>
          </a:p>
        </p:txBody>
      </p:sp>
      <p:sp>
        <p:nvSpPr>
          <p:cNvPr id="44" name="Text 42"/>
          <p:cNvSpPr/>
          <p:nvPr/>
        </p:nvSpPr>
        <p:spPr>
          <a:xfrm>
            <a:off x="1051560" y="5522976"/>
            <a:ext cx="3063240" cy="411480"/>
          </a:xfrm>
          <a:prstGeom prst="rect">
            <a:avLst/>
          </a:prstGeom>
          <a:noFill/>
          <a:ln/>
        </p:spPr>
        <p:txBody>
          <a:bodyPr wrap="square" rtlCol="0" anchor="ctr"/>
          <a:lstStyle/>
          <a:p>
            <a:pPr indent="0" marL="0">
              <a:lnSpc>
                <a:spcPts val="1200"/>
              </a:lnSpc>
              <a:buNone/>
            </a:pPr>
            <a:r>
              <a:rPr lang="en-US" sz="850" dirty="0">
                <a:solidFill>
                  <a:srgbClr val="94A3B8"/>
                </a:solidFill>
                <a:latin typeface="Arial" pitchFamily="34" charset="0"/>
                <a:ea typeface="Arial" pitchFamily="34" charset="-122"/>
                <a:cs typeface="Arial" pitchFamily="34" charset="-120"/>
              </a:rPr>
              <a:t>Live vector retrieval from trained pet and clinic datasets. Sub-500ms RAG retrieval.</a:t>
            </a:r>
            <a:endParaRPr lang="en-US" sz="850" dirty="0"/>
          </a:p>
        </p:txBody>
      </p:sp>
      <p:sp>
        <p:nvSpPr>
          <p:cNvPr id="45" name="Shape 43"/>
          <p:cNvSpPr/>
          <p:nvPr/>
        </p:nvSpPr>
        <p:spPr>
          <a:xfrm>
            <a:off x="4389120" y="5010912"/>
            <a:ext cx="3337560" cy="1005840"/>
          </a:xfrm>
          <a:prstGeom prst="roundRect">
            <a:avLst/>
          </a:prstGeom>
          <a:solidFill>
            <a:srgbClr val="1E293B"/>
          </a:solidFill>
          <a:ln w="12700">
            <a:solidFill>
              <a:srgbClr val="334155"/>
            </a:solidFill>
            <a:prstDash val="solid"/>
          </a:ln>
        </p:spPr>
      </p:sp>
      <p:sp>
        <p:nvSpPr>
          <p:cNvPr id="46" name="Text 44"/>
          <p:cNvSpPr/>
          <p:nvPr/>
        </p:nvSpPr>
        <p:spPr>
          <a:xfrm>
            <a:off x="4526280" y="5102352"/>
            <a:ext cx="3063240" cy="18288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TIER 2 (FALLBACK)</a:t>
            </a:r>
            <a:endParaRPr lang="en-US" sz="850" dirty="0"/>
          </a:p>
        </p:txBody>
      </p:sp>
      <p:sp>
        <p:nvSpPr>
          <p:cNvPr id="47" name="Text 45"/>
          <p:cNvSpPr/>
          <p:nvPr/>
        </p:nvSpPr>
        <p:spPr>
          <a:xfrm>
            <a:off x="4526280" y="5285232"/>
            <a:ext cx="3063240" cy="219456"/>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OpenAI GPT-4o-mini / Gemini API</a:t>
            </a:r>
            <a:endParaRPr lang="en-US" sz="1100" dirty="0"/>
          </a:p>
        </p:txBody>
      </p:sp>
      <p:sp>
        <p:nvSpPr>
          <p:cNvPr id="48" name="Text 46"/>
          <p:cNvSpPr/>
          <p:nvPr/>
        </p:nvSpPr>
        <p:spPr>
          <a:xfrm>
            <a:off x="4526280" y="5522976"/>
            <a:ext cx="3063240" cy="411480"/>
          </a:xfrm>
          <a:prstGeom prst="rect">
            <a:avLst/>
          </a:prstGeom>
          <a:noFill/>
          <a:ln/>
        </p:spPr>
        <p:txBody>
          <a:bodyPr wrap="square" rtlCol="0" anchor="ctr"/>
          <a:lstStyle/>
          <a:p>
            <a:pPr indent="0" marL="0">
              <a:lnSpc>
                <a:spcPts val="1200"/>
              </a:lnSpc>
              <a:buNone/>
            </a:pPr>
            <a:r>
              <a:rPr lang="en-US" sz="850" dirty="0">
                <a:solidFill>
                  <a:srgbClr val="94A3B8"/>
                </a:solidFill>
                <a:latin typeface="Arial" pitchFamily="34" charset="0"/>
                <a:ea typeface="Arial" pitchFamily="34" charset="-122"/>
                <a:cs typeface="Arial" pitchFamily="34" charset="-120"/>
              </a:rPr>
              <a:t>Engaged automatically if MAIRA API experiences rate limit or cloud network disruption.</a:t>
            </a:r>
            <a:endParaRPr lang="en-US" sz="850" dirty="0"/>
          </a:p>
        </p:txBody>
      </p:sp>
      <p:sp>
        <p:nvSpPr>
          <p:cNvPr id="49" name="Shape 47"/>
          <p:cNvSpPr/>
          <p:nvPr/>
        </p:nvSpPr>
        <p:spPr>
          <a:xfrm>
            <a:off x="7863840" y="5010912"/>
            <a:ext cx="3337560" cy="1005840"/>
          </a:xfrm>
          <a:prstGeom prst="roundRect">
            <a:avLst/>
          </a:prstGeom>
          <a:solidFill>
            <a:srgbClr val="1E293B"/>
          </a:solidFill>
          <a:ln w="12700">
            <a:solidFill>
              <a:srgbClr val="334155"/>
            </a:solidFill>
            <a:prstDash val="solid"/>
          </a:ln>
        </p:spPr>
      </p:sp>
      <p:sp>
        <p:nvSpPr>
          <p:cNvPr id="50" name="Text 48"/>
          <p:cNvSpPr/>
          <p:nvPr/>
        </p:nvSpPr>
        <p:spPr>
          <a:xfrm>
            <a:off x="8001000" y="5102352"/>
            <a:ext cx="3063240" cy="18288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TIER 3 (OFFLINE)</a:t>
            </a:r>
            <a:endParaRPr lang="en-US" sz="850" dirty="0"/>
          </a:p>
        </p:txBody>
      </p:sp>
      <p:sp>
        <p:nvSpPr>
          <p:cNvPr id="51" name="Text 49"/>
          <p:cNvSpPr/>
          <p:nvPr/>
        </p:nvSpPr>
        <p:spPr>
          <a:xfrm>
            <a:off x="8001000" y="5285232"/>
            <a:ext cx="3063240" cy="219456"/>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Deterministic Heuristic Engine</a:t>
            </a:r>
            <a:endParaRPr lang="en-US" sz="1100" dirty="0"/>
          </a:p>
        </p:txBody>
      </p:sp>
      <p:sp>
        <p:nvSpPr>
          <p:cNvPr id="52" name="Text 50"/>
          <p:cNvSpPr/>
          <p:nvPr/>
        </p:nvSpPr>
        <p:spPr>
          <a:xfrm>
            <a:off x="8001000" y="5522976"/>
            <a:ext cx="3063240" cy="411480"/>
          </a:xfrm>
          <a:prstGeom prst="rect">
            <a:avLst/>
          </a:prstGeom>
          <a:noFill/>
          <a:ln/>
        </p:spPr>
        <p:txBody>
          <a:bodyPr wrap="square" rtlCol="0" anchor="ctr"/>
          <a:lstStyle/>
          <a:p>
            <a:pPr indent="0" marL="0">
              <a:lnSpc>
                <a:spcPts val="1200"/>
              </a:lnSpc>
              <a:buNone/>
            </a:pPr>
            <a:r>
              <a:rPr lang="en-US" sz="850" dirty="0">
                <a:solidFill>
                  <a:srgbClr val="94A3B8"/>
                </a:solidFill>
                <a:latin typeface="Arial" pitchFamily="34" charset="0"/>
                <a:ea typeface="Arial" pitchFamily="34" charset="-122"/>
                <a:cs typeface="Arial" pitchFamily="34" charset="-120"/>
              </a:rPr>
              <a:t>Local poison threshold tables and clinic directories guaranteeing zero user-facing 500 crashes.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858000" cy="3200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NUZZLE AI PLATFORM  |  GIGALOGY MAIRA MANAGED RAG INTEGRATION</a:t>
            </a:r>
            <a:endParaRPr lang="en-US" sz="1100" dirty="0"/>
          </a:p>
        </p:txBody>
      </p:sp>
      <p:sp>
        <p:nvSpPr>
          <p:cNvPr id="4" name="Text 2"/>
          <p:cNvSpPr/>
          <p:nvPr/>
        </p:nvSpPr>
        <p:spPr>
          <a:xfrm>
            <a:off x="7315200" y="128016"/>
            <a:ext cx="4144975" cy="32004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Slide 4 of 12  •  Technical &amp; Architecture Deep Dive</a:t>
            </a:r>
            <a:endParaRPr lang="en-US" sz="1000" dirty="0"/>
          </a:p>
        </p:txBody>
      </p:sp>
      <p:sp>
        <p:nvSpPr>
          <p:cNvPr id="5" name="Text 3"/>
          <p:cNvSpPr/>
          <p:nvPr/>
        </p:nvSpPr>
        <p:spPr>
          <a:xfrm>
            <a:off x="731520" y="713232"/>
            <a:ext cx="10728655" cy="228600"/>
          </a:xfrm>
          <a:prstGeom prst="rect">
            <a:avLst/>
          </a:prstGeom>
          <a:noFill/>
          <a:ln/>
        </p:spPr>
        <p:txBody>
          <a:bodyPr wrap="square" rtlCol="0" anchor="ctr"/>
          <a:lstStyle/>
          <a:p>
            <a:pPr indent="0" marL="0">
              <a:buNone/>
            </a:pPr>
            <a:r>
              <a:rPr lang="en-US" sz="1000" b="1" spc="120" kern="0" dirty="0">
                <a:solidFill>
                  <a:srgbClr val="4338CA"/>
                </a:solidFill>
                <a:latin typeface="Arial" pitchFamily="34" charset="0"/>
                <a:ea typeface="Arial" pitchFamily="34" charset="-122"/>
                <a:cs typeface="Arial" pitchFamily="34" charset="-120"/>
              </a:rPr>
              <a:t>PILLAR 1: VETERINARY MEDICINE</a:t>
            </a:r>
            <a:endParaRPr lang="en-US" sz="1000" dirty="0"/>
          </a:p>
        </p:txBody>
      </p:sp>
      <p:sp>
        <p:nvSpPr>
          <p:cNvPr id="6" name="Text 4"/>
          <p:cNvSpPr/>
          <p:nvPr/>
        </p:nvSpPr>
        <p:spPr>
          <a:xfrm>
            <a:off x="731520" y="932688"/>
            <a:ext cx="10728655" cy="438912"/>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PawDoctor AI: 24/7 Clinical Triage &amp; Poison Fast-Path</a:t>
            </a:r>
            <a:endParaRPr lang="en-US" sz="2100" dirty="0"/>
          </a:p>
        </p:txBody>
      </p:sp>
      <p:sp>
        <p:nvSpPr>
          <p:cNvPr id="7" name="Text 5"/>
          <p:cNvSpPr/>
          <p:nvPr/>
        </p:nvSpPr>
        <p:spPr>
          <a:xfrm>
            <a:off x="731520" y="1353312"/>
            <a:ext cx="10728655" cy="292608"/>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Profile ID: 0a8fd1e8-45ac-4870-8f5f-cfbc7ccf58a6 • Endpoints: /api/pawai/triage &amp; /api/pawai/chat</a:t>
            </a:r>
            <a:endParaRPr lang="en-US" sz="1200" dirty="0"/>
          </a:p>
        </p:txBody>
      </p:sp>
      <p:sp>
        <p:nvSpPr>
          <p:cNvPr id="8" name="Shape 6"/>
          <p:cNvSpPr/>
          <p:nvPr/>
        </p:nvSpPr>
        <p:spPr>
          <a:xfrm>
            <a:off x="731520" y="6355080"/>
            <a:ext cx="10728655" cy="0"/>
          </a:xfrm>
          <a:prstGeom prst="line">
            <a:avLst/>
          </a:prstGeom>
          <a:noFill/>
          <a:ln w="12700">
            <a:solidFill>
              <a:srgbClr val="E2E8F0"/>
            </a:solidFill>
            <a:prstDash val="solid"/>
          </a:ln>
        </p:spPr>
      </p:sp>
      <p:sp>
        <p:nvSpPr>
          <p:cNvPr id="9" name="Text 7"/>
          <p:cNvSpPr/>
          <p:nvPr/>
        </p:nvSpPr>
        <p:spPr>
          <a:xfrm>
            <a:off x="731520" y="6446520"/>
            <a:ext cx="7315200" cy="27432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8229600" y="6446520"/>
            <a:ext cx="3230575" cy="27432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Shape 9"/>
          <p:cNvSpPr/>
          <p:nvPr/>
        </p:nvSpPr>
        <p:spPr>
          <a:xfrm>
            <a:off x="731520" y="1783080"/>
            <a:ext cx="5166360" cy="4389120"/>
          </a:xfrm>
          <a:prstGeom prst="roundRect">
            <a:avLst/>
          </a:prstGeom>
          <a:solidFill>
            <a:srgbClr val="FFFFFF"/>
          </a:solidFill>
          <a:ln w="15240">
            <a:solidFill>
              <a:srgbClr val="CBD5E1"/>
            </a:solidFill>
            <a:prstDash val="solid"/>
          </a:ln>
        </p:spPr>
      </p:sp>
      <p:sp>
        <p:nvSpPr>
          <p:cNvPr id="12" name="Shape 10"/>
          <p:cNvSpPr/>
          <p:nvPr/>
        </p:nvSpPr>
        <p:spPr>
          <a:xfrm>
            <a:off x="914400" y="1965960"/>
            <a:ext cx="4800600" cy="411480"/>
          </a:xfrm>
          <a:prstGeom prst="roundRect">
            <a:avLst/>
          </a:prstGeom>
          <a:solidFill>
            <a:srgbClr val="FEF2F2"/>
          </a:solidFill>
          <a:ln w="12700">
            <a:solidFill>
              <a:srgbClr val="EF4444"/>
            </a:solidFill>
            <a:prstDash val="solid"/>
          </a:ln>
        </p:spPr>
      </p:sp>
      <p:sp>
        <p:nvSpPr>
          <p:cNvPr id="13" name="Text 11"/>
          <p:cNvSpPr/>
          <p:nvPr/>
        </p:nvSpPr>
        <p:spPr>
          <a:xfrm>
            <a:off x="1005840" y="2075688"/>
            <a:ext cx="4617720" cy="228600"/>
          </a:xfrm>
          <a:prstGeom prst="rect">
            <a:avLst/>
          </a:prstGeom>
          <a:noFill/>
          <a:ln/>
        </p:spPr>
        <p:txBody>
          <a:bodyPr wrap="square" rtlCol="0" anchor="ctr"/>
          <a:lstStyle/>
          <a:p>
            <a:pPr indent="0" marL="0">
              <a:buNone/>
            </a:pPr>
            <a:r>
              <a:rPr lang="en-US" sz="950" b="1" dirty="0">
                <a:solidFill>
                  <a:srgbClr val="EF4444"/>
                </a:solidFill>
                <a:latin typeface="Arial" pitchFamily="34" charset="0"/>
                <a:ea typeface="Arial" pitchFamily="34" charset="-122"/>
                <a:cs typeface="Arial" pitchFamily="34" charset="-120"/>
              </a:rPr>
              <a:t>🚨 SUB-MILLISECOND DETERMINISTIC EMERGENCY GUARDRAIL</a:t>
            </a:r>
            <a:endParaRPr lang="en-US" sz="950" dirty="0"/>
          </a:p>
        </p:txBody>
      </p:sp>
      <p:sp>
        <p:nvSpPr>
          <p:cNvPr id="14" name="Text 12"/>
          <p:cNvSpPr/>
          <p:nvPr/>
        </p:nvSpPr>
        <p:spPr>
          <a:xfrm>
            <a:off x="914400" y="2487168"/>
            <a:ext cx="4800600" cy="685800"/>
          </a:xfrm>
          <a:prstGeom prst="rect">
            <a:avLst/>
          </a:prstGeom>
          <a:noFill/>
          <a:ln/>
        </p:spPr>
        <p:txBody>
          <a:bodyPr wrap="square" rtlCol="0" anchor="ctr"/>
          <a:lstStyle/>
          <a:p>
            <a:pPr indent="0" marL="0">
              <a:lnSpc>
                <a:spcPts val="1500"/>
              </a:lnSpc>
              <a:buNone/>
            </a:pPr>
            <a:r>
              <a:rPr lang="en-US" sz="1000" dirty="0">
                <a:solidFill>
                  <a:srgbClr val="475569"/>
                </a:solidFill>
                <a:latin typeface="Arial" pitchFamily="34" charset="0"/>
                <a:ea typeface="Arial" pitchFamily="34" charset="-122"/>
                <a:cs typeface="Arial" pitchFamily="34" charset="-120"/>
              </a:rPr>
              <a:t>Veterinary emergencies cannot tolerate model latency or hallucinated assurances. Before any LLM call, Nuzzle runs a zero-latency toxic ingestion screening filter (lib/llm/emergency-guard.ts):</a:t>
            </a:r>
            <a:endParaRPr lang="en-US" sz="1000" dirty="0"/>
          </a:p>
        </p:txBody>
      </p:sp>
      <p:sp>
        <p:nvSpPr>
          <p:cNvPr id="15" name="Shape 13"/>
          <p:cNvSpPr/>
          <p:nvPr/>
        </p:nvSpPr>
        <p:spPr>
          <a:xfrm>
            <a:off x="914400" y="3246120"/>
            <a:ext cx="4800600" cy="585216"/>
          </a:xfrm>
          <a:prstGeom prst="roundRect">
            <a:avLst/>
          </a:prstGeom>
          <a:solidFill>
            <a:srgbClr val="F1F5F9"/>
          </a:solidFill>
          <a:ln w="12700">
            <a:solidFill>
              <a:srgbClr val="E2E8F0"/>
            </a:solidFill>
            <a:prstDash val="solid"/>
          </a:ln>
        </p:spPr>
      </p:sp>
      <p:sp>
        <p:nvSpPr>
          <p:cNvPr id="16" name="Text 14"/>
          <p:cNvSpPr/>
          <p:nvPr/>
        </p:nvSpPr>
        <p:spPr>
          <a:xfrm>
            <a:off x="1051560" y="3319272"/>
            <a:ext cx="2926080" cy="201168"/>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Dark Chocolate / Theobromine</a:t>
            </a:r>
            <a:endParaRPr lang="en-US" sz="1000" dirty="0"/>
          </a:p>
        </p:txBody>
      </p:sp>
      <p:sp>
        <p:nvSpPr>
          <p:cNvPr id="17" name="Text 15"/>
          <p:cNvSpPr/>
          <p:nvPr/>
        </p:nvSpPr>
        <p:spPr>
          <a:xfrm>
            <a:off x="3474720" y="3319272"/>
            <a:ext cx="2103120" cy="201168"/>
          </a:xfrm>
          <a:prstGeom prst="rect">
            <a:avLst/>
          </a:prstGeom>
          <a:noFill/>
          <a:ln/>
        </p:spPr>
        <p:txBody>
          <a:bodyPr wrap="square" rtlCol="0" anchor="ctr"/>
          <a:lstStyle/>
          <a:p>
            <a:pPr algn="r" indent="0" marL="0">
              <a:buNone/>
            </a:pPr>
            <a:r>
              <a:rPr lang="en-US" sz="850" b="1" dirty="0">
                <a:solidFill>
                  <a:srgbClr val="EF4444"/>
                </a:solidFill>
                <a:latin typeface="Arial" pitchFamily="34" charset="0"/>
                <a:ea typeface="Arial" pitchFamily="34" charset="-122"/>
                <a:cs typeface="Arial" pitchFamily="34" charset="-120"/>
              </a:rPr>
              <a:t>&gt; 20mg/kg lethal</a:t>
            </a:r>
            <a:endParaRPr lang="en-US" sz="850" dirty="0"/>
          </a:p>
        </p:txBody>
      </p:sp>
      <p:sp>
        <p:nvSpPr>
          <p:cNvPr id="18" name="Text 16"/>
          <p:cNvSpPr/>
          <p:nvPr/>
        </p:nvSpPr>
        <p:spPr>
          <a:xfrm>
            <a:off x="1051560" y="3538728"/>
            <a:ext cx="4480560" cy="201168"/>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Clinical Red Flag: Tachycardia, seizures, arrhythmia</a:t>
            </a:r>
            <a:endParaRPr lang="en-US" sz="850" dirty="0"/>
          </a:p>
        </p:txBody>
      </p:sp>
      <p:sp>
        <p:nvSpPr>
          <p:cNvPr id="19" name="Shape 17"/>
          <p:cNvSpPr/>
          <p:nvPr/>
        </p:nvSpPr>
        <p:spPr>
          <a:xfrm>
            <a:off x="914400" y="3904488"/>
            <a:ext cx="4800600" cy="585216"/>
          </a:xfrm>
          <a:prstGeom prst="roundRect">
            <a:avLst/>
          </a:prstGeom>
          <a:solidFill>
            <a:srgbClr val="F1F5F9"/>
          </a:solidFill>
          <a:ln w="12700">
            <a:solidFill>
              <a:srgbClr val="E2E8F0"/>
            </a:solidFill>
            <a:prstDash val="solid"/>
          </a:ln>
        </p:spPr>
      </p:sp>
      <p:sp>
        <p:nvSpPr>
          <p:cNvPr id="20" name="Text 18"/>
          <p:cNvSpPr/>
          <p:nvPr/>
        </p:nvSpPr>
        <p:spPr>
          <a:xfrm>
            <a:off x="1051560" y="3977640"/>
            <a:ext cx="2926080" cy="201168"/>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Lilies (Feline Toxicity)</a:t>
            </a:r>
            <a:endParaRPr lang="en-US" sz="1000" dirty="0"/>
          </a:p>
        </p:txBody>
      </p:sp>
      <p:sp>
        <p:nvSpPr>
          <p:cNvPr id="21" name="Text 19"/>
          <p:cNvSpPr/>
          <p:nvPr/>
        </p:nvSpPr>
        <p:spPr>
          <a:xfrm>
            <a:off x="3474720" y="3977640"/>
            <a:ext cx="2103120" cy="201168"/>
          </a:xfrm>
          <a:prstGeom prst="rect">
            <a:avLst/>
          </a:prstGeom>
          <a:noFill/>
          <a:ln/>
        </p:spPr>
        <p:txBody>
          <a:bodyPr wrap="square" rtlCol="0" anchor="ctr"/>
          <a:lstStyle/>
          <a:p>
            <a:pPr algn="r" indent="0" marL="0">
              <a:buNone/>
            </a:pPr>
            <a:r>
              <a:rPr lang="en-US" sz="850" b="1" dirty="0">
                <a:solidFill>
                  <a:srgbClr val="EF4444"/>
                </a:solidFill>
                <a:latin typeface="Arial" pitchFamily="34" charset="0"/>
                <a:ea typeface="Arial" pitchFamily="34" charset="-122"/>
                <a:cs typeface="Arial" pitchFamily="34" charset="-120"/>
              </a:rPr>
              <a:t>Any pollen or petal ingestion</a:t>
            </a:r>
            <a:endParaRPr lang="en-US" sz="850" dirty="0"/>
          </a:p>
        </p:txBody>
      </p:sp>
      <p:sp>
        <p:nvSpPr>
          <p:cNvPr id="22" name="Text 20"/>
          <p:cNvSpPr/>
          <p:nvPr/>
        </p:nvSpPr>
        <p:spPr>
          <a:xfrm>
            <a:off x="1051560" y="4197096"/>
            <a:ext cx="4480560" cy="201168"/>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Clinical Red Flag: Acute oliguric kidney failure in 12h</a:t>
            </a:r>
            <a:endParaRPr lang="en-US" sz="850" dirty="0"/>
          </a:p>
        </p:txBody>
      </p:sp>
      <p:sp>
        <p:nvSpPr>
          <p:cNvPr id="23" name="Shape 21"/>
          <p:cNvSpPr/>
          <p:nvPr/>
        </p:nvSpPr>
        <p:spPr>
          <a:xfrm>
            <a:off x="914400" y="4562856"/>
            <a:ext cx="4800600" cy="585216"/>
          </a:xfrm>
          <a:prstGeom prst="roundRect">
            <a:avLst/>
          </a:prstGeom>
          <a:solidFill>
            <a:srgbClr val="F1F5F9"/>
          </a:solidFill>
          <a:ln w="12700">
            <a:solidFill>
              <a:srgbClr val="E2E8F0"/>
            </a:solidFill>
            <a:prstDash val="solid"/>
          </a:ln>
        </p:spPr>
      </p:sp>
      <p:sp>
        <p:nvSpPr>
          <p:cNvPr id="24" name="Text 22"/>
          <p:cNvSpPr/>
          <p:nvPr/>
        </p:nvSpPr>
        <p:spPr>
          <a:xfrm>
            <a:off x="1051560" y="4636008"/>
            <a:ext cx="2926080" cy="201168"/>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Grapes &amp; Raisins (Canine)</a:t>
            </a:r>
            <a:endParaRPr lang="en-US" sz="1000" dirty="0"/>
          </a:p>
        </p:txBody>
      </p:sp>
      <p:sp>
        <p:nvSpPr>
          <p:cNvPr id="25" name="Text 23"/>
          <p:cNvSpPr/>
          <p:nvPr/>
        </p:nvSpPr>
        <p:spPr>
          <a:xfrm>
            <a:off x="3474720" y="4636008"/>
            <a:ext cx="2103120" cy="201168"/>
          </a:xfrm>
          <a:prstGeom prst="rect">
            <a:avLst/>
          </a:prstGeom>
          <a:noFill/>
          <a:ln/>
        </p:spPr>
        <p:txBody>
          <a:bodyPr wrap="square" rtlCol="0" anchor="ctr"/>
          <a:lstStyle/>
          <a:p>
            <a:pPr algn="r" indent="0" marL="0">
              <a:buNone/>
            </a:pPr>
            <a:r>
              <a:rPr lang="en-US" sz="850" b="1" dirty="0">
                <a:solidFill>
                  <a:srgbClr val="EF4444"/>
                </a:solidFill>
                <a:latin typeface="Arial" pitchFamily="34" charset="0"/>
                <a:ea typeface="Arial" pitchFamily="34" charset="-122"/>
                <a:cs typeface="Arial" pitchFamily="34" charset="-120"/>
              </a:rPr>
              <a:t>Unpredictable idiosyncratic toxicity</a:t>
            </a:r>
            <a:endParaRPr lang="en-US" sz="850" dirty="0"/>
          </a:p>
        </p:txBody>
      </p:sp>
      <p:sp>
        <p:nvSpPr>
          <p:cNvPr id="26" name="Text 24"/>
          <p:cNvSpPr/>
          <p:nvPr/>
        </p:nvSpPr>
        <p:spPr>
          <a:xfrm>
            <a:off x="1051560" y="4855464"/>
            <a:ext cx="4480560" cy="201168"/>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Clinical Red Flag: Severe acute renal tubule necrosis</a:t>
            </a:r>
            <a:endParaRPr lang="en-US" sz="850" dirty="0"/>
          </a:p>
        </p:txBody>
      </p:sp>
      <p:sp>
        <p:nvSpPr>
          <p:cNvPr id="27" name="Shape 25"/>
          <p:cNvSpPr/>
          <p:nvPr/>
        </p:nvSpPr>
        <p:spPr>
          <a:xfrm>
            <a:off x="914400" y="5221224"/>
            <a:ext cx="4800600" cy="585216"/>
          </a:xfrm>
          <a:prstGeom prst="roundRect">
            <a:avLst/>
          </a:prstGeom>
          <a:solidFill>
            <a:srgbClr val="F1F5F9"/>
          </a:solidFill>
          <a:ln w="12700">
            <a:solidFill>
              <a:srgbClr val="E2E8F0"/>
            </a:solidFill>
            <a:prstDash val="solid"/>
          </a:ln>
        </p:spPr>
      </p:sp>
      <p:sp>
        <p:nvSpPr>
          <p:cNvPr id="28" name="Text 26"/>
          <p:cNvSpPr/>
          <p:nvPr/>
        </p:nvSpPr>
        <p:spPr>
          <a:xfrm>
            <a:off x="1051560" y="5294376"/>
            <a:ext cx="2926080" cy="201168"/>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Paracetamol / Acetaminophen</a:t>
            </a:r>
            <a:endParaRPr lang="en-US" sz="1000" dirty="0"/>
          </a:p>
        </p:txBody>
      </p:sp>
      <p:sp>
        <p:nvSpPr>
          <p:cNvPr id="29" name="Text 27"/>
          <p:cNvSpPr/>
          <p:nvPr/>
        </p:nvSpPr>
        <p:spPr>
          <a:xfrm>
            <a:off x="3474720" y="5294376"/>
            <a:ext cx="2103120" cy="201168"/>
          </a:xfrm>
          <a:prstGeom prst="rect">
            <a:avLst/>
          </a:prstGeom>
          <a:noFill/>
          <a:ln/>
        </p:spPr>
        <p:txBody>
          <a:bodyPr wrap="square" rtlCol="0" anchor="ctr"/>
          <a:lstStyle/>
          <a:p>
            <a:pPr algn="r" indent="0" marL="0">
              <a:buNone/>
            </a:pPr>
            <a:r>
              <a:rPr lang="en-US" sz="850" b="1" dirty="0">
                <a:solidFill>
                  <a:srgbClr val="EF4444"/>
                </a:solidFill>
                <a:latin typeface="Arial" pitchFamily="34" charset="0"/>
                <a:ea typeface="Arial" pitchFamily="34" charset="-122"/>
                <a:cs typeface="Arial" pitchFamily="34" charset="-120"/>
              </a:rPr>
              <a:t>&gt; 10mg/kg in cats</a:t>
            </a:r>
            <a:endParaRPr lang="en-US" sz="850" dirty="0"/>
          </a:p>
        </p:txBody>
      </p:sp>
      <p:sp>
        <p:nvSpPr>
          <p:cNvPr id="30" name="Text 28"/>
          <p:cNvSpPr/>
          <p:nvPr/>
        </p:nvSpPr>
        <p:spPr>
          <a:xfrm>
            <a:off x="1051560" y="5513832"/>
            <a:ext cx="4480560" cy="201168"/>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Clinical Red Flag: Methemoglobinemia, cyanosis, asphyxia</a:t>
            </a:r>
            <a:endParaRPr lang="en-US" sz="850" dirty="0"/>
          </a:p>
        </p:txBody>
      </p:sp>
      <p:sp>
        <p:nvSpPr>
          <p:cNvPr id="31" name="Shape 29"/>
          <p:cNvSpPr/>
          <p:nvPr/>
        </p:nvSpPr>
        <p:spPr>
          <a:xfrm>
            <a:off x="6263640" y="1783080"/>
            <a:ext cx="5193792" cy="4389120"/>
          </a:xfrm>
          <a:prstGeom prst="roundRect">
            <a:avLst/>
          </a:prstGeom>
          <a:solidFill>
            <a:srgbClr val="FFFFFF"/>
          </a:solidFill>
          <a:ln w="15240">
            <a:solidFill>
              <a:srgbClr val="CBD5E1"/>
            </a:solidFill>
            <a:prstDash val="solid"/>
          </a:ln>
        </p:spPr>
      </p:sp>
      <p:sp>
        <p:nvSpPr>
          <p:cNvPr id="32" name="Text 30"/>
          <p:cNvSpPr/>
          <p:nvPr/>
        </p:nvSpPr>
        <p:spPr>
          <a:xfrm>
            <a:off x="6492240" y="1965960"/>
            <a:ext cx="4736592" cy="228600"/>
          </a:xfrm>
          <a:prstGeom prst="rect">
            <a:avLst/>
          </a:prstGeom>
          <a:noFill/>
          <a:ln/>
        </p:spPr>
        <p:txBody>
          <a:bodyPr wrap="square" rtlCol="0" anchor="ctr"/>
          <a:lstStyle/>
          <a:p>
            <a:pPr indent="0" marL="0">
              <a:buNone/>
            </a:pPr>
            <a:r>
              <a:rPr lang="en-US" sz="1100" b="1" spc="100" kern="0" dirty="0">
                <a:solidFill>
                  <a:srgbClr val="4338CA"/>
                </a:solidFill>
                <a:latin typeface="Arial" pitchFamily="34" charset="0"/>
                <a:ea typeface="Arial" pitchFamily="34" charset="-122"/>
                <a:cs typeface="Arial" pitchFamily="34" charset="-120"/>
              </a:rPr>
              <a:t>CLINICAL TRIAGE HIERARCHY &amp; CONVERSATION</a:t>
            </a:r>
            <a:endParaRPr lang="en-US" sz="1100" dirty="0"/>
          </a:p>
        </p:txBody>
      </p:sp>
      <p:sp>
        <p:nvSpPr>
          <p:cNvPr id="33" name="Shape 31"/>
          <p:cNvSpPr/>
          <p:nvPr/>
        </p:nvSpPr>
        <p:spPr>
          <a:xfrm>
            <a:off x="6492240" y="2286000"/>
            <a:ext cx="4736592" cy="868680"/>
          </a:xfrm>
          <a:prstGeom prst="roundRect">
            <a:avLst/>
          </a:prstGeom>
          <a:solidFill>
            <a:srgbClr val="FEF2F2"/>
          </a:solidFill>
          <a:ln w="12700">
            <a:solidFill>
              <a:srgbClr val="EF4444"/>
            </a:solidFill>
            <a:prstDash val="solid"/>
          </a:ln>
        </p:spPr>
      </p:sp>
      <p:sp>
        <p:nvSpPr>
          <p:cNvPr id="34" name="Text 32"/>
          <p:cNvSpPr/>
          <p:nvPr/>
        </p:nvSpPr>
        <p:spPr>
          <a:xfrm>
            <a:off x="6629400" y="2377440"/>
            <a:ext cx="4389120" cy="201168"/>
          </a:xfrm>
          <a:prstGeom prst="rect">
            <a:avLst/>
          </a:prstGeom>
          <a:noFill/>
          <a:ln/>
        </p:spPr>
        <p:txBody>
          <a:bodyPr wrap="square" rtlCol="0" anchor="ctr"/>
          <a:lstStyle/>
          <a:p>
            <a:pPr indent="0" marL="0">
              <a:buNone/>
            </a:pPr>
            <a:r>
              <a:rPr lang="en-US" sz="1000" b="1" dirty="0">
                <a:solidFill>
                  <a:srgbClr val="EF4444"/>
                </a:solidFill>
                <a:latin typeface="Arial" pitchFamily="34" charset="0"/>
                <a:ea typeface="Arial" pitchFamily="34" charset="-122"/>
                <a:cs typeface="Arial" pitchFamily="34" charset="-120"/>
              </a:rPr>
              <a:t>LEVEL 1: EMERGENCY</a:t>
            </a:r>
            <a:endParaRPr lang="en-US" sz="1000" dirty="0"/>
          </a:p>
        </p:txBody>
      </p:sp>
      <p:sp>
        <p:nvSpPr>
          <p:cNvPr id="35" name="Text 33"/>
          <p:cNvSpPr/>
          <p:nvPr/>
        </p:nvSpPr>
        <p:spPr>
          <a:xfrm>
            <a:off x="6629400" y="2596896"/>
            <a:ext cx="4389120" cy="502920"/>
          </a:xfrm>
          <a:prstGeom prst="rect">
            <a:avLst/>
          </a:prstGeom>
          <a:noFill/>
          <a:ln/>
        </p:spPr>
        <p:txBody>
          <a:bodyPr wrap="square" rtlCol="0" anchor="ctr"/>
          <a:lstStyle/>
          <a:p>
            <a:pPr indent="0" marL="0">
              <a:lnSpc>
                <a:spcPts val="1300"/>
              </a:lnSpc>
              <a:buNone/>
            </a:pPr>
            <a:r>
              <a:rPr lang="en-US" sz="950" dirty="0">
                <a:solidFill>
                  <a:srgbClr val="0F172A"/>
                </a:solidFill>
                <a:latin typeface="Arial" pitchFamily="34" charset="0"/>
                <a:ea typeface="Arial" pitchFamily="34" charset="-122"/>
                <a:cs typeface="Arial" pitchFamily="34" charset="-120"/>
              </a:rPr>
              <a:t>Immediate physical transport to Cascade 24/7 or closest ICU. Direct phone call button enabled in UI.</a:t>
            </a:r>
            <a:endParaRPr lang="en-US" sz="950" dirty="0"/>
          </a:p>
        </p:txBody>
      </p:sp>
      <p:sp>
        <p:nvSpPr>
          <p:cNvPr id="36" name="Shape 34"/>
          <p:cNvSpPr/>
          <p:nvPr/>
        </p:nvSpPr>
        <p:spPr>
          <a:xfrm>
            <a:off x="6492240" y="3246120"/>
            <a:ext cx="4736592" cy="868680"/>
          </a:xfrm>
          <a:prstGeom prst="roundRect">
            <a:avLst/>
          </a:prstGeom>
          <a:solidFill>
            <a:srgbClr val="FFFBEB"/>
          </a:solidFill>
          <a:ln w="12700">
            <a:solidFill>
              <a:srgbClr val="F59E0B"/>
            </a:solidFill>
            <a:prstDash val="solid"/>
          </a:ln>
        </p:spPr>
      </p:sp>
      <p:sp>
        <p:nvSpPr>
          <p:cNvPr id="37" name="Text 35"/>
          <p:cNvSpPr/>
          <p:nvPr/>
        </p:nvSpPr>
        <p:spPr>
          <a:xfrm>
            <a:off x="6629400" y="3337560"/>
            <a:ext cx="4389120" cy="201168"/>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LEVEL 2: SCHEDULE VET VISIT</a:t>
            </a:r>
            <a:endParaRPr lang="en-US" sz="1000" dirty="0"/>
          </a:p>
        </p:txBody>
      </p:sp>
      <p:sp>
        <p:nvSpPr>
          <p:cNvPr id="38" name="Text 36"/>
          <p:cNvSpPr/>
          <p:nvPr/>
        </p:nvSpPr>
        <p:spPr>
          <a:xfrm>
            <a:off x="6629400" y="3557016"/>
            <a:ext cx="4389120" cy="502920"/>
          </a:xfrm>
          <a:prstGeom prst="rect">
            <a:avLst/>
          </a:prstGeom>
          <a:noFill/>
          <a:ln/>
        </p:spPr>
        <p:txBody>
          <a:bodyPr wrap="square" rtlCol="0" anchor="ctr"/>
          <a:lstStyle/>
          <a:p>
            <a:pPr indent="0" marL="0">
              <a:lnSpc>
                <a:spcPts val="1300"/>
              </a:lnSpc>
              <a:buNone/>
            </a:pPr>
            <a:r>
              <a:rPr lang="en-US" sz="950" dirty="0">
                <a:solidFill>
                  <a:srgbClr val="0F172A"/>
                </a:solidFill>
                <a:latin typeface="Arial" pitchFamily="34" charset="0"/>
                <a:ea typeface="Arial" pitchFamily="34" charset="-122"/>
                <a:cs typeface="Arial" pitchFamily="34" charset="-120"/>
              </a:rPr>
              <a:t>Condition requires clinical diagnosis within 24–48 hours (e.g., limping, ear infection, mild lethargy).</a:t>
            </a:r>
            <a:endParaRPr lang="en-US" sz="950" dirty="0"/>
          </a:p>
        </p:txBody>
      </p:sp>
      <p:sp>
        <p:nvSpPr>
          <p:cNvPr id="39" name="Shape 37"/>
          <p:cNvSpPr/>
          <p:nvPr/>
        </p:nvSpPr>
        <p:spPr>
          <a:xfrm>
            <a:off x="6492240" y="4206240"/>
            <a:ext cx="4736592" cy="868680"/>
          </a:xfrm>
          <a:prstGeom prst="roundRect">
            <a:avLst/>
          </a:prstGeom>
          <a:solidFill>
            <a:srgbClr val="ECFDF5"/>
          </a:solidFill>
          <a:ln w="12700">
            <a:solidFill>
              <a:srgbClr val="10B981"/>
            </a:solidFill>
            <a:prstDash val="solid"/>
          </a:ln>
        </p:spPr>
      </p:sp>
      <p:sp>
        <p:nvSpPr>
          <p:cNvPr id="40" name="Text 38"/>
          <p:cNvSpPr/>
          <p:nvPr/>
        </p:nvSpPr>
        <p:spPr>
          <a:xfrm>
            <a:off x="6629400" y="4297680"/>
            <a:ext cx="4389120" cy="201168"/>
          </a:xfrm>
          <a:prstGeom prst="rect">
            <a:avLst/>
          </a:prstGeom>
          <a:noFill/>
          <a:ln/>
        </p:spPr>
        <p:txBody>
          <a:bodyPr wrap="square" rtlCol="0" anchor="ctr"/>
          <a:lstStyle/>
          <a:p>
            <a:pPr indent="0" marL="0">
              <a:buNone/>
            </a:pPr>
            <a:r>
              <a:rPr lang="en-US" sz="1000" b="1" dirty="0">
                <a:solidFill>
                  <a:srgbClr val="10B981"/>
                </a:solidFill>
                <a:latin typeface="Arial" pitchFamily="34" charset="0"/>
                <a:ea typeface="Arial" pitchFamily="34" charset="-122"/>
                <a:cs typeface="Arial" pitchFamily="34" charset="-120"/>
              </a:rPr>
              <a:t>LEVEL 3: MONITOR AT HOME</a:t>
            </a:r>
            <a:endParaRPr lang="en-US" sz="1000" dirty="0"/>
          </a:p>
        </p:txBody>
      </p:sp>
      <p:sp>
        <p:nvSpPr>
          <p:cNvPr id="41" name="Text 39"/>
          <p:cNvSpPr/>
          <p:nvPr/>
        </p:nvSpPr>
        <p:spPr>
          <a:xfrm>
            <a:off x="6629400" y="4517136"/>
            <a:ext cx="4389120" cy="502920"/>
          </a:xfrm>
          <a:prstGeom prst="rect">
            <a:avLst/>
          </a:prstGeom>
          <a:noFill/>
          <a:ln/>
        </p:spPr>
        <p:txBody>
          <a:bodyPr wrap="square" rtlCol="0" anchor="ctr"/>
          <a:lstStyle/>
          <a:p>
            <a:pPr indent="0" marL="0">
              <a:lnSpc>
                <a:spcPts val="1300"/>
              </a:lnSpc>
              <a:buNone/>
            </a:pPr>
            <a:r>
              <a:rPr lang="en-US" sz="950" dirty="0">
                <a:solidFill>
                  <a:srgbClr val="0F172A"/>
                </a:solidFill>
                <a:latin typeface="Arial" pitchFamily="34" charset="0"/>
                <a:ea typeface="Arial" pitchFamily="34" charset="-122"/>
                <a:cs typeface="Arial" pitchFamily="34" charset="-120"/>
              </a:rPr>
              <a:t>Mild self-limiting issue. Delivers hydration guidance, bland diet advice, and recovery milestones.</a:t>
            </a:r>
            <a:endParaRPr lang="en-US" sz="950" dirty="0"/>
          </a:p>
        </p:txBody>
      </p:sp>
      <p:sp>
        <p:nvSpPr>
          <p:cNvPr id="42" name="Shape 40"/>
          <p:cNvSpPr/>
          <p:nvPr/>
        </p:nvSpPr>
        <p:spPr>
          <a:xfrm>
            <a:off x="6492240" y="5303520"/>
            <a:ext cx="4736592" cy="731520"/>
          </a:xfrm>
          <a:prstGeom prst="roundRect">
            <a:avLst/>
          </a:prstGeom>
          <a:solidFill>
            <a:srgbClr val="EEF2FF"/>
          </a:solidFill>
          <a:ln w="12700">
            <a:solidFill>
              <a:srgbClr val="4F46E5"/>
            </a:solidFill>
            <a:prstDash val="solid"/>
          </a:ln>
        </p:spPr>
      </p:sp>
      <p:sp>
        <p:nvSpPr>
          <p:cNvPr id="43" name="Text 41"/>
          <p:cNvSpPr/>
          <p:nvPr/>
        </p:nvSpPr>
        <p:spPr>
          <a:xfrm>
            <a:off x="6629400" y="5376672"/>
            <a:ext cx="4389120" cy="182880"/>
          </a:xfrm>
          <a:prstGeom prst="rect">
            <a:avLst/>
          </a:prstGeom>
          <a:noFill/>
          <a:ln/>
        </p:spPr>
        <p:txBody>
          <a:bodyPr wrap="square" rtlCol="0" anchor="ctr"/>
          <a:lstStyle/>
          <a:p>
            <a:pPr indent="0" marL="0">
              <a:buNone/>
            </a:pPr>
            <a:r>
              <a:rPr lang="en-US" sz="900" b="1" dirty="0">
                <a:solidFill>
                  <a:srgbClr val="4F46E5"/>
                </a:solidFill>
                <a:latin typeface="Arial" pitchFamily="34" charset="0"/>
                <a:ea typeface="Arial" pitchFamily="34" charset="-122"/>
                <a:cs typeface="Arial" pitchFamily="34" charset="-120"/>
              </a:rPr>
              <a:t>🌐 NATIVE BILINGUAL BANGLA / EN SUPPORT</a:t>
            </a:r>
            <a:endParaRPr lang="en-US" sz="900" dirty="0"/>
          </a:p>
        </p:txBody>
      </p:sp>
      <p:sp>
        <p:nvSpPr>
          <p:cNvPr id="44" name="Text 42"/>
          <p:cNvSpPr/>
          <p:nvPr/>
        </p:nvSpPr>
        <p:spPr>
          <a:xfrm>
            <a:off x="6629400" y="5559552"/>
            <a:ext cx="4389120" cy="41148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Recognizes symptom queries in colloquial Bangla ("আমার কুকুর বমি করছে", "প্যারাসিটামল খেয়েছে") and responds with culturally contextualized Dhaka first-aid steps.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858000" cy="3200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NUZZLE AI PLATFORM  |  GIGALOGY MAIRA MANAGED RAG INTEGRATION</a:t>
            </a:r>
            <a:endParaRPr lang="en-US" sz="1100" dirty="0"/>
          </a:p>
        </p:txBody>
      </p:sp>
      <p:sp>
        <p:nvSpPr>
          <p:cNvPr id="4" name="Text 2"/>
          <p:cNvSpPr/>
          <p:nvPr/>
        </p:nvSpPr>
        <p:spPr>
          <a:xfrm>
            <a:off x="7315200" y="128016"/>
            <a:ext cx="4144975" cy="32004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Slide 5 of 12  •  Technical &amp; Architecture Deep Dive</a:t>
            </a:r>
            <a:endParaRPr lang="en-US" sz="1000" dirty="0"/>
          </a:p>
        </p:txBody>
      </p:sp>
      <p:sp>
        <p:nvSpPr>
          <p:cNvPr id="5" name="Text 3"/>
          <p:cNvSpPr/>
          <p:nvPr/>
        </p:nvSpPr>
        <p:spPr>
          <a:xfrm>
            <a:off x="731520" y="713232"/>
            <a:ext cx="10728655" cy="228600"/>
          </a:xfrm>
          <a:prstGeom prst="rect">
            <a:avLst/>
          </a:prstGeom>
          <a:noFill/>
          <a:ln/>
        </p:spPr>
        <p:txBody>
          <a:bodyPr wrap="square" rtlCol="0" anchor="ctr"/>
          <a:lstStyle/>
          <a:p>
            <a:pPr indent="0" marL="0">
              <a:buNone/>
            </a:pPr>
            <a:r>
              <a:rPr lang="en-US" sz="1000" b="1" spc="120" kern="0" dirty="0">
                <a:solidFill>
                  <a:srgbClr val="4338CA"/>
                </a:solidFill>
                <a:latin typeface="Arial" pitchFamily="34" charset="0"/>
                <a:ea typeface="Arial" pitchFamily="34" charset="-122"/>
                <a:cs typeface="Arial" pitchFamily="34" charset="-120"/>
              </a:rPr>
              <a:t>PILLAR 2: PET SAFETY RADAR</a:t>
            </a:r>
            <a:endParaRPr lang="en-US" sz="1000" dirty="0"/>
          </a:p>
        </p:txBody>
      </p:sp>
      <p:sp>
        <p:nvSpPr>
          <p:cNvPr id="6" name="Text 4"/>
          <p:cNvSpPr/>
          <p:nvPr/>
        </p:nvSpPr>
        <p:spPr>
          <a:xfrm>
            <a:off x="731520" y="932688"/>
            <a:ext cx="10728655" cy="438912"/>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Lost &amp; Found Radar: Visual &amp; Semantic Correlation</a:t>
            </a:r>
            <a:endParaRPr lang="en-US" sz="2100" dirty="0"/>
          </a:p>
        </p:txBody>
      </p:sp>
      <p:sp>
        <p:nvSpPr>
          <p:cNvPr id="7" name="Text 5"/>
          <p:cNvSpPr/>
          <p:nvPr/>
        </p:nvSpPr>
        <p:spPr>
          <a:xfrm>
            <a:off x="731520" y="1353312"/>
            <a:ext cx="10728655" cy="292608"/>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Profile ID: a10e6172-abe5-4fed-965f-dcdf22148524 (gpt-4o) • Dataset ID: 564dce9b-6ca7-403a-be5e-9738de1a056b</a:t>
            </a:r>
            <a:endParaRPr lang="en-US" sz="1200" dirty="0"/>
          </a:p>
        </p:txBody>
      </p:sp>
      <p:sp>
        <p:nvSpPr>
          <p:cNvPr id="8" name="Shape 6"/>
          <p:cNvSpPr/>
          <p:nvPr/>
        </p:nvSpPr>
        <p:spPr>
          <a:xfrm>
            <a:off x="731520" y="6355080"/>
            <a:ext cx="10728655" cy="0"/>
          </a:xfrm>
          <a:prstGeom prst="line">
            <a:avLst/>
          </a:prstGeom>
          <a:noFill/>
          <a:ln w="12700">
            <a:solidFill>
              <a:srgbClr val="E2E8F0"/>
            </a:solidFill>
            <a:prstDash val="solid"/>
          </a:ln>
        </p:spPr>
      </p:sp>
      <p:sp>
        <p:nvSpPr>
          <p:cNvPr id="9" name="Text 7"/>
          <p:cNvSpPr/>
          <p:nvPr/>
        </p:nvSpPr>
        <p:spPr>
          <a:xfrm>
            <a:off x="731520" y="6446520"/>
            <a:ext cx="7315200" cy="27432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8229600" y="6446520"/>
            <a:ext cx="3230575" cy="27432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Shape 9"/>
          <p:cNvSpPr/>
          <p:nvPr/>
        </p:nvSpPr>
        <p:spPr>
          <a:xfrm>
            <a:off x="731520" y="1783080"/>
            <a:ext cx="2560320" cy="868680"/>
          </a:xfrm>
          <a:prstGeom prst="roundRect">
            <a:avLst/>
          </a:prstGeom>
          <a:solidFill>
            <a:srgbClr val="FFFFFF"/>
          </a:solidFill>
          <a:ln w="12700">
            <a:solidFill>
              <a:srgbClr val="CBD5E1"/>
            </a:solidFill>
            <a:prstDash val="solid"/>
          </a:ln>
        </p:spPr>
      </p:sp>
      <p:sp>
        <p:nvSpPr>
          <p:cNvPr id="12" name="Text 10"/>
          <p:cNvSpPr/>
          <p:nvPr/>
        </p:nvSpPr>
        <p:spPr>
          <a:xfrm>
            <a:off x="868680" y="1874520"/>
            <a:ext cx="2286000" cy="164592"/>
          </a:xfrm>
          <a:prstGeom prst="rect">
            <a:avLst/>
          </a:prstGeom>
          <a:noFill/>
          <a:ln/>
        </p:spPr>
        <p:txBody>
          <a:bodyPr wrap="square" rtlCol="0" anchor="ctr"/>
          <a:lstStyle/>
          <a:p>
            <a:pPr indent="0" marL="0">
              <a:buNone/>
            </a:pPr>
            <a:r>
              <a:rPr lang="en-US" sz="850" b="1" dirty="0">
                <a:solidFill>
                  <a:srgbClr val="4338CA"/>
                </a:solidFill>
                <a:latin typeface="Arial" pitchFamily="34" charset="0"/>
                <a:ea typeface="Arial" pitchFamily="34" charset="-122"/>
                <a:cs typeface="Arial" pitchFamily="34" charset="-120"/>
              </a:rPr>
              <a:t>TRAINED RECORDS</a:t>
            </a:r>
            <a:endParaRPr lang="en-US" sz="850" dirty="0"/>
          </a:p>
        </p:txBody>
      </p:sp>
      <p:sp>
        <p:nvSpPr>
          <p:cNvPr id="13" name="Text 11"/>
          <p:cNvSpPr/>
          <p:nvPr/>
        </p:nvSpPr>
        <p:spPr>
          <a:xfrm>
            <a:off x="868680" y="2057400"/>
            <a:ext cx="2286000" cy="292608"/>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15 Active Cases</a:t>
            </a:r>
            <a:endParaRPr lang="en-US" sz="1300" dirty="0"/>
          </a:p>
        </p:txBody>
      </p:sp>
      <p:sp>
        <p:nvSpPr>
          <p:cNvPr id="14" name="Text 12"/>
          <p:cNvSpPr/>
          <p:nvPr/>
        </p:nvSpPr>
        <p:spPr>
          <a:xfrm>
            <a:off x="868680" y="2359152"/>
            <a:ext cx="2286000" cy="201168"/>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Dhaka zones: Banani, Gulshan, Uttara</a:t>
            </a:r>
            <a:endParaRPr lang="en-US" sz="850" dirty="0"/>
          </a:p>
        </p:txBody>
      </p:sp>
      <p:sp>
        <p:nvSpPr>
          <p:cNvPr id="15" name="Shape 13"/>
          <p:cNvSpPr/>
          <p:nvPr/>
        </p:nvSpPr>
        <p:spPr>
          <a:xfrm>
            <a:off x="3456432" y="1783080"/>
            <a:ext cx="2560320" cy="868680"/>
          </a:xfrm>
          <a:prstGeom prst="roundRect">
            <a:avLst/>
          </a:prstGeom>
          <a:solidFill>
            <a:srgbClr val="FFFFFF"/>
          </a:solidFill>
          <a:ln w="12700">
            <a:solidFill>
              <a:srgbClr val="CBD5E1"/>
            </a:solidFill>
            <a:prstDash val="solid"/>
          </a:ln>
        </p:spPr>
      </p:sp>
      <p:sp>
        <p:nvSpPr>
          <p:cNvPr id="16" name="Text 14"/>
          <p:cNvSpPr/>
          <p:nvPr/>
        </p:nvSpPr>
        <p:spPr>
          <a:xfrm>
            <a:off x="3593592" y="1874520"/>
            <a:ext cx="2286000" cy="164592"/>
          </a:xfrm>
          <a:prstGeom prst="rect">
            <a:avLst/>
          </a:prstGeom>
          <a:noFill/>
          <a:ln/>
        </p:spPr>
        <p:txBody>
          <a:bodyPr wrap="square" rtlCol="0" anchor="ctr"/>
          <a:lstStyle/>
          <a:p>
            <a:pPr indent="0" marL="0">
              <a:buNone/>
            </a:pPr>
            <a:r>
              <a:rPr lang="en-US" sz="850" b="1" dirty="0">
                <a:solidFill>
                  <a:srgbClr val="4338CA"/>
                </a:solidFill>
                <a:latin typeface="Arial" pitchFamily="34" charset="0"/>
                <a:ea typeface="Arial" pitchFamily="34" charset="-122"/>
                <a:cs typeface="Arial" pitchFamily="34" charset="-120"/>
              </a:rPr>
              <a:t>MODEL ENGINE</a:t>
            </a:r>
            <a:endParaRPr lang="en-US" sz="850" dirty="0"/>
          </a:p>
        </p:txBody>
      </p:sp>
      <p:sp>
        <p:nvSpPr>
          <p:cNvPr id="17" name="Text 15"/>
          <p:cNvSpPr/>
          <p:nvPr/>
        </p:nvSpPr>
        <p:spPr>
          <a:xfrm>
            <a:off x="3593592" y="2057400"/>
            <a:ext cx="2286000" cy="292608"/>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GPT-4o Multimodal</a:t>
            </a:r>
            <a:endParaRPr lang="en-US" sz="1300" dirty="0"/>
          </a:p>
        </p:txBody>
      </p:sp>
      <p:sp>
        <p:nvSpPr>
          <p:cNvPr id="18" name="Text 16"/>
          <p:cNvSpPr/>
          <p:nvPr/>
        </p:nvSpPr>
        <p:spPr>
          <a:xfrm>
            <a:off x="3593592" y="2359152"/>
            <a:ext cx="2286000" cy="201168"/>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High-accuracy visual &amp; semantic embedding</a:t>
            </a:r>
            <a:endParaRPr lang="en-US" sz="850" dirty="0"/>
          </a:p>
        </p:txBody>
      </p:sp>
      <p:sp>
        <p:nvSpPr>
          <p:cNvPr id="19" name="Shape 17"/>
          <p:cNvSpPr/>
          <p:nvPr/>
        </p:nvSpPr>
        <p:spPr>
          <a:xfrm>
            <a:off x="6181344" y="1783080"/>
            <a:ext cx="2560320" cy="868680"/>
          </a:xfrm>
          <a:prstGeom prst="roundRect">
            <a:avLst/>
          </a:prstGeom>
          <a:solidFill>
            <a:srgbClr val="FFFFFF"/>
          </a:solidFill>
          <a:ln w="12700">
            <a:solidFill>
              <a:srgbClr val="CBD5E1"/>
            </a:solidFill>
            <a:prstDash val="solid"/>
          </a:ln>
        </p:spPr>
      </p:sp>
      <p:sp>
        <p:nvSpPr>
          <p:cNvPr id="20" name="Text 18"/>
          <p:cNvSpPr/>
          <p:nvPr/>
        </p:nvSpPr>
        <p:spPr>
          <a:xfrm>
            <a:off x="6318504" y="1874520"/>
            <a:ext cx="2286000" cy="164592"/>
          </a:xfrm>
          <a:prstGeom prst="rect">
            <a:avLst/>
          </a:prstGeom>
          <a:noFill/>
          <a:ln/>
        </p:spPr>
        <p:txBody>
          <a:bodyPr wrap="square" rtlCol="0" anchor="ctr"/>
          <a:lstStyle/>
          <a:p>
            <a:pPr indent="0" marL="0">
              <a:buNone/>
            </a:pPr>
            <a:r>
              <a:rPr lang="en-US" sz="850" b="1" dirty="0">
                <a:solidFill>
                  <a:srgbClr val="4338CA"/>
                </a:solidFill>
                <a:latin typeface="Arial" pitchFamily="34" charset="0"/>
                <a:ea typeface="Arial" pitchFamily="34" charset="-122"/>
                <a:cs typeface="Arial" pitchFamily="34" charset="-120"/>
              </a:rPr>
              <a:t>MATCH CONFIDENCE</a:t>
            </a:r>
            <a:endParaRPr lang="en-US" sz="850" dirty="0"/>
          </a:p>
        </p:txBody>
      </p:sp>
      <p:sp>
        <p:nvSpPr>
          <p:cNvPr id="21" name="Text 19"/>
          <p:cNvSpPr/>
          <p:nvPr/>
        </p:nvSpPr>
        <p:spPr>
          <a:xfrm>
            <a:off x="6318504" y="2057400"/>
            <a:ext cx="2286000" cy="292608"/>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92.4% Benchmark</a:t>
            </a:r>
            <a:endParaRPr lang="en-US" sz="1300" dirty="0"/>
          </a:p>
        </p:txBody>
      </p:sp>
      <p:sp>
        <p:nvSpPr>
          <p:cNvPr id="22" name="Text 20"/>
          <p:cNvSpPr/>
          <p:nvPr/>
        </p:nvSpPr>
        <p:spPr>
          <a:xfrm>
            <a:off x="6318504" y="2359152"/>
            <a:ext cx="2286000" cy="201168"/>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High precision on color, breed &amp; collar</a:t>
            </a:r>
            <a:endParaRPr lang="en-US" sz="850" dirty="0"/>
          </a:p>
        </p:txBody>
      </p:sp>
      <p:sp>
        <p:nvSpPr>
          <p:cNvPr id="23" name="Shape 21"/>
          <p:cNvSpPr/>
          <p:nvPr/>
        </p:nvSpPr>
        <p:spPr>
          <a:xfrm>
            <a:off x="8906256" y="1783080"/>
            <a:ext cx="2560320" cy="868680"/>
          </a:xfrm>
          <a:prstGeom prst="roundRect">
            <a:avLst/>
          </a:prstGeom>
          <a:solidFill>
            <a:srgbClr val="FFFFFF"/>
          </a:solidFill>
          <a:ln w="12700">
            <a:solidFill>
              <a:srgbClr val="CBD5E1"/>
            </a:solidFill>
            <a:prstDash val="solid"/>
          </a:ln>
        </p:spPr>
      </p:sp>
      <p:sp>
        <p:nvSpPr>
          <p:cNvPr id="24" name="Text 22"/>
          <p:cNvSpPr/>
          <p:nvPr/>
        </p:nvSpPr>
        <p:spPr>
          <a:xfrm>
            <a:off x="9043416" y="1874520"/>
            <a:ext cx="2286000" cy="164592"/>
          </a:xfrm>
          <a:prstGeom prst="rect">
            <a:avLst/>
          </a:prstGeom>
          <a:noFill/>
          <a:ln/>
        </p:spPr>
        <p:txBody>
          <a:bodyPr wrap="square" rtlCol="0" anchor="ctr"/>
          <a:lstStyle/>
          <a:p>
            <a:pPr indent="0" marL="0">
              <a:buNone/>
            </a:pPr>
            <a:r>
              <a:rPr lang="en-US" sz="850" b="1" dirty="0">
                <a:solidFill>
                  <a:srgbClr val="4338CA"/>
                </a:solidFill>
                <a:latin typeface="Arial" pitchFamily="34" charset="0"/>
                <a:ea typeface="Arial" pitchFamily="34" charset="-122"/>
                <a:cs typeface="Arial" pitchFamily="34" charset="-120"/>
              </a:rPr>
              <a:t>REUNION VELOCITY</a:t>
            </a:r>
            <a:endParaRPr lang="en-US" sz="850" dirty="0"/>
          </a:p>
        </p:txBody>
      </p:sp>
      <p:sp>
        <p:nvSpPr>
          <p:cNvPr id="25" name="Text 23"/>
          <p:cNvSpPr/>
          <p:nvPr/>
        </p:nvSpPr>
        <p:spPr>
          <a:xfrm>
            <a:off x="9043416" y="2057400"/>
            <a:ext cx="2286000" cy="292608"/>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&lt; 30 Seconds</a:t>
            </a:r>
            <a:endParaRPr lang="en-US" sz="1300" dirty="0"/>
          </a:p>
        </p:txBody>
      </p:sp>
      <p:sp>
        <p:nvSpPr>
          <p:cNvPr id="26" name="Text 24"/>
          <p:cNvSpPr/>
          <p:nvPr/>
        </p:nvSpPr>
        <p:spPr>
          <a:xfrm>
            <a:off x="9043416" y="2359152"/>
            <a:ext cx="2286000" cy="201168"/>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Instant SMS &amp; push alert dispatch</a:t>
            </a:r>
            <a:endParaRPr lang="en-US" sz="850" dirty="0"/>
          </a:p>
        </p:txBody>
      </p:sp>
      <p:sp>
        <p:nvSpPr>
          <p:cNvPr id="27" name="Shape 25"/>
          <p:cNvSpPr/>
          <p:nvPr/>
        </p:nvSpPr>
        <p:spPr>
          <a:xfrm>
            <a:off x="731520" y="2834640"/>
            <a:ext cx="5212080" cy="3337560"/>
          </a:xfrm>
          <a:prstGeom prst="roundRect">
            <a:avLst/>
          </a:prstGeom>
          <a:solidFill>
            <a:srgbClr val="FFFFFF"/>
          </a:solidFill>
          <a:ln w="19050">
            <a:solidFill>
              <a:srgbClr val="10B981"/>
            </a:solidFill>
            <a:prstDash val="solid"/>
          </a:ln>
        </p:spPr>
      </p:sp>
      <p:sp>
        <p:nvSpPr>
          <p:cNvPr id="28" name="Shape 26"/>
          <p:cNvSpPr/>
          <p:nvPr/>
        </p:nvSpPr>
        <p:spPr>
          <a:xfrm>
            <a:off x="914400" y="2971800"/>
            <a:ext cx="4846320" cy="320040"/>
          </a:xfrm>
          <a:prstGeom prst="roundRect">
            <a:avLst/>
          </a:prstGeom>
          <a:solidFill>
            <a:srgbClr val="ECFDF5"/>
          </a:solidFill>
          <a:ln w="12700">
            <a:solidFill>
              <a:srgbClr val="10B981"/>
            </a:solidFill>
            <a:prstDash val="solid"/>
          </a:ln>
        </p:spPr>
      </p:sp>
      <p:sp>
        <p:nvSpPr>
          <p:cNvPr id="29" name="Text 27"/>
          <p:cNvSpPr/>
          <p:nvPr/>
        </p:nvSpPr>
        <p:spPr>
          <a:xfrm>
            <a:off x="1005840" y="3035808"/>
            <a:ext cx="4663440" cy="201168"/>
          </a:xfrm>
          <a:prstGeom prst="rect">
            <a:avLst/>
          </a:prstGeom>
          <a:noFill/>
          <a:ln/>
        </p:spPr>
        <p:txBody>
          <a:bodyPr wrap="square" rtlCol="0" anchor="ctr"/>
          <a:lstStyle/>
          <a:p>
            <a:pPr indent="0" marL="0">
              <a:buNone/>
            </a:pPr>
            <a:r>
              <a:rPr lang="en-US" sz="950" b="1" dirty="0">
                <a:solidFill>
                  <a:srgbClr val="065F46"/>
                </a:solidFill>
                <a:latin typeface="Arial" pitchFamily="34" charset="0"/>
                <a:ea typeface="Arial" pitchFamily="34" charset="-122"/>
                <a:cs typeface="Arial" pitchFamily="34" charset="-120"/>
              </a:rPr>
              <a:t>🐕 VERIFIED CASE 1: ROCKY (GERMAN SHEPHERD)</a:t>
            </a:r>
            <a:endParaRPr lang="en-US" sz="950" dirty="0"/>
          </a:p>
        </p:txBody>
      </p:sp>
      <p:sp>
        <p:nvSpPr>
          <p:cNvPr id="30" name="Text 28"/>
          <p:cNvSpPr/>
          <p:nvPr/>
        </p:nvSpPr>
        <p:spPr>
          <a:xfrm>
            <a:off x="914400" y="3383280"/>
            <a:ext cx="4846320" cy="182880"/>
          </a:xfrm>
          <a:prstGeom prst="rect">
            <a:avLst/>
          </a:prstGeom>
          <a:noFill/>
          <a:ln/>
        </p:spPr>
        <p:txBody>
          <a:bodyPr wrap="square" rtlCol="0" anchor="ctr"/>
          <a:lstStyle/>
          <a:p>
            <a:pPr indent="0" marL="0">
              <a:buNone/>
            </a:pPr>
            <a:r>
              <a:rPr lang="en-US" sz="850" b="1" dirty="0">
                <a:solidFill>
                  <a:srgbClr val="64748B"/>
                </a:solidFill>
                <a:latin typeface="Arial" pitchFamily="34" charset="0"/>
                <a:ea typeface="Arial" pitchFamily="34" charset="-122"/>
                <a:cs typeface="Arial" pitchFamily="34" charset="-120"/>
              </a:rPr>
              <a:t>SIGHTING INPUT (POST /api/lost-found/ai-match):</a:t>
            </a:r>
            <a:endParaRPr lang="en-US" sz="850" dirty="0"/>
          </a:p>
        </p:txBody>
      </p:sp>
      <p:sp>
        <p:nvSpPr>
          <p:cNvPr id="31" name="Text 29"/>
          <p:cNvSpPr/>
          <p:nvPr/>
        </p:nvSpPr>
        <p:spPr>
          <a:xfrm>
            <a:off x="914400" y="3566160"/>
            <a:ext cx="4846320" cy="502920"/>
          </a:xfrm>
          <a:prstGeom prst="rect">
            <a:avLst/>
          </a:prstGeom>
          <a:noFill/>
          <a:ln/>
        </p:spPr>
        <p:txBody>
          <a:bodyPr wrap="square" rtlCol="0" anchor="ctr"/>
          <a:lstStyle/>
          <a:p>
            <a:pPr indent="0" marL="0">
              <a:buNone/>
            </a:pPr>
            <a:r>
              <a:rPr lang="en-US" sz="950" i="1" dirty="0">
                <a:solidFill>
                  <a:srgbClr val="0F172A"/>
                </a:solidFill>
                <a:latin typeface="Arial" pitchFamily="34" charset="0"/>
                <a:ea typeface="Arial" pitchFamily="34" charset="-122"/>
                <a:cs typeface="Arial" pitchFamily="34" charset="-120"/>
              </a:rPr>
              <a:t>"Found a large black and tan dog near Banani Road 11. Wearing a worn red collar with brass ring. Friendly, responds to sit command."</a:t>
            </a:r>
            <a:endParaRPr lang="en-US" sz="950" dirty="0"/>
          </a:p>
        </p:txBody>
      </p:sp>
      <p:sp>
        <p:nvSpPr>
          <p:cNvPr id="32" name="Text 30"/>
          <p:cNvSpPr/>
          <p:nvPr/>
        </p:nvSpPr>
        <p:spPr>
          <a:xfrm>
            <a:off x="914400" y="4114800"/>
            <a:ext cx="4846320" cy="18288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MAIRA VECTOR RAG MATCH RESULT:</a:t>
            </a:r>
            <a:endParaRPr lang="en-US" sz="850" dirty="0"/>
          </a:p>
        </p:txBody>
      </p:sp>
      <p:sp>
        <p:nvSpPr>
          <p:cNvPr id="33" name="Text 31"/>
          <p:cNvSpPr/>
          <p:nvPr/>
        </p:nvSpPr>
        <p:spPr>
          <a:xfrm>
            <a:off x="914400" y="4343400"/>
            <a:ext cx="1920240" cy="292608"/>
          </a:xfrm>
          <a:prstGeom prst="rect">
            <a:avLst/>
          </a:prstGeom>
          <a:noFill/>
          <a:ln/>
        </p:spPr>
        <p:txBody>
          <a:bodyPr wrap="square" rtlCol="0" anchor="ctr"/>
          <a:lstStyle/>
          <a:p>
            <a:pPr indent="0" marL="0">
              <a:buNone/>
            </a:pPr>
            <a:r>
              <a:rPr lang="en-US" sz="900" b="1" dirty="0">
                <a:solidFill>
                  <a:srgbClr val="475569"/>
                </a:solidFill>
                <a:latin typeface="Arial" pitchFamily="34" charset="0"/>
                <a:ea typeface="Arial" pitchFamily="34" charset="-122"/>
                <a:cs typeface="Arial" pitchFamily="34" charset="-120"/>
              </a:rPr>
              <a:t>Matched Pet Name:</a:t>
            </a:r>
            <a:endParaRPr lang="en-US" sz="900" dirty="0"/>
          </a:p>
        </p:txBody>
      </p:sp>
      <p:sp>
        <p:nvSpPr>
          <p:cNvPr id="34" name="Text 32"/>
          <p:cNvSpPr/>
          <p:nvPr/>
        </p:nvSpPr>
        <p:spPr>
          <a:xfrm>
            <a:off x="2834640" y="4343400"/>
            <a:ext cx="2926080" cy="292608"/>
          </a:xfrm>
          <a:prstGeom prst="rect">
            <a:avLst/>
          </a:prstGeom>
          <a:noFill/>
          <a:ln/>
        </p:spPr>
        <p:txBody>
          <a:bodyPr wrap="square" rtlCol="0" anchor="ctr"/>
          <a:lstStyle/>
          <a:p>
            <a:pPr indent="0" marL="0">
              <a:buNone/>
            </a:pPr>
            <a:r>
              <a:rPr lang="en-US" sz="900" dirty="0">
                <a:solidFill>
                  <a:srgbClr val="0F172A"/>
                </a:solidFill>
                <a:latin typeface="Arial" pitchFamily="34" charset="0"/>
                <a:ea typeface="Arial" pitchFamily="34" charset="-122"/>
                <a:cs typeface="Arial" pitchFamily="34" charset="-120"/>
              </a:rPr>
              <a:t>Rocky (Post ID: lost_101)</a:t>
            </a:r>
            <a:endParaRPr lang="en-US" sz="900" dirty="0"/>
          </a:p>
        </p:txBody>
      </p:sp>
      <p:sp>
        <p:nvSpPr>
          <p:cNvPr id="35" name="Text 33"/>
          <p:cNvSpPr/>
          <p:nvPr/>
        </p:nvSpPr>
        <p:spPr>
          <a:xfrm>
            <a:off x="914400" y="4672584"/>
            <a:ext cx="1920240" cy="292608"/>
          </a:xfrm>
          <a:prstGeom prst="rect">
            <a:avLst/>
          </a:prstGeom>
          <a:noFill/>
          <a:ln/>
        </p:spPr>
        <p:txBody>
          <a:bodyPr wrap="square" rtlCol="0" anchor="ctr"/>
          <a:lstStyle/>
          <a:p>
            <a:pPr indent="0" marL="0">
              <a:buNone/>
            </a:pPr>
            <a:r>
              <a:rPr lang="en-US" sz="900" b="1" dirty="0">
                <a:solidFill>
                  <a:srgbClr val="475569"/>
                </a:solidFill>
                <a:latin typeface="Arial" pitchFamily="34" charset="0"/>
                <a:ea typeface="Arial" pitchFamily="34" charset="-122"/>
                <a:cs typeface="Arial" pitchFamily="34" charset="-120"/>
              </a:rPr>
              <a:t>Breed &amp; Distinctives:</a:t>
            </a:r>
            <a:endParaRPr lang="en-US" sz="900" dirty="0"/>
          </a:p>
        </p:txBody>
      </p:sp>
      <p:sp>
        <p:nvSpPr>
          <p:cNvPr id="36" name="Text 34"/>
          <p:cNvSpPr/>
          <p:nvPr/>
        </p:nvSpPr>
        <p:spPr>
          <a:xfrm>
            <a:off x="2834640" y="4672584"/>
            <a:ext cx="2926080" cy="292608"/>
          </a:xfrm>
          <a:prstGeom prst="rect">
            <a:avLst/>
          </a:prstGeom>
          <a:noFill/>
          <a:ln/>
        </p:spPr>
        <p:txBody>
          <a:bodyPr wrap="square" rtlCol="0" anchor="ctr"/>
          <a:lstStyle/>
          <a:p>
            <a:pPr indent="0" marL="0">
              <a:buNone/>
            </a:pPr>
            <a:r>
              <a:rPr lang="en-US" sz="900" dirty="0">
                <a:solidFill>
                  <a:srgbClr val="0F172A"/>
                </a:solidFill>
                <a:latin typeface="Arial" pitchFamily="34" charset="0"/>
                <a:ea typeface="Arial" pitchFamily="34" charset="-122"/>
                <a:cs typeface="Arial" pitchFamily="34" charset="-120"/>
              </a:rPr>
              <a:t>German Shepherd • Black &amp; Tan • Floppy Left Ear</a:t>
            </a:r>
            <a:endParaRPr lang="en-US" sz="900" dirty="0"/>
          </a:p>
        </p:txBody>
      </p:sp>
      <p:sp>
        <p:nvSpPr>
          <p:cNvPr id="37" name="Text 35"/>
          <p:cNvSpPr/>
          <p:nvPr/>
        </p:nvSpPr>
        <p:spPr>
          <a:xfrm>
            <a:off x="914400" y="5001768"/>
            <a:ext cx="1920240" cy="292608"/>
          </a:xfrm>
          <a:prstGeom prst="rect">
            <a:avLst/>
          </a:prstGeom>
          <a:noFill/>
          <a:ln/>
        </p:spPr>
        <p:txBody>
          <a:bodyPr wrap="square" rtlCol="0" anchor="ctr"/>
          <a:lstStyle/>
          <a:p>
            <a:pPr indent="0" marL="0">
              <a:buNone/>
            </a:pPr>
            <a:r>
              <a:rPr lang="en-US" sz="900" b="1" dirty="0">
                <a:solidFill>
                  <a:srgbClr val="475569"/>
                </a:solidFill>
                <a:latin typeface="Arial" pitchFamily="34" charset="0"/>
                <a:ea typeface="Arial" pitchFamily="34" charset="-122"/>
                <a:cs typeface="Arial" pitchFamily="34" charset="-120"/>
              </a:rPr>
              <a:t>Owner &amp; Emergency Contact:</a:t>
            </a:r>
            <a:endParaRPr lang="en-US" sz="900" dirty="0"/>
          </a:p>
        </p:txBody>
      </p:sp>
      <p:sp>
        <p:nvSpPr>
          <p:cNvPr id="38" name="Text 36"/>
          <p:cNvSpPr/>
          <p:nvPr/>
        </p:nvSpPr>
        <p:spPr>
          <a:xfrm>
            <a:off x="2834640" y="5001768"/>
            <a:ext cx="2926080" cy="292608"/>
          </a:xfrm>
          <a:prstGeom prst="rect">
            <a:avLst/>
          </a:prstGeom>
          <a:noFill/>
          <a:ln/>
        </p:spPr>
        <p:txBody>
          <a:bodyPr wrap="square" rtlCol="0" anchor="ctr"/>
          <a:lstStyle/>
          <a:p>
            <a:pPr indent="0" marL="0">
              <a:buNone/>
            </a:pPr>
            <a:r>
              <a:rPr lang="en-US" sz="900" dirty="0">
                <a:solidFill>
                  <a:srgbClr val="0F172A"/>
                </a:solidFill>
                <a:latin typeface="Arial" pitchFamily="34" charset="0"/>
                <a:ea typeface="Arial" pitchFamily="34" charset="-122"/>
                <a:cs typeface="Arial" pitchFamily="34" charset="-120"/>
              </a:rPr>
              <a:t>Kazi Tanvir (+880 1711-998877)</a:t>
            </a:r>
            <a:endParaRPr lang="en-US" sz="900" dirty="0"/>
          </a:p>
        </p:txBody>
      </p:sp>
      <p:sp>
        <p:nvSpPr>
          <p:cNvPr id="39" name="Text 37"/>
          <p:cNvSpPr/>
          <p:nvPr/>
        </p:nvSpPr>
        <p:spPr>
          <a:xfrm>
            <a:off x="914400" y="5330952"/>
            <a:ext cx="1920240" cy="292608"/>
          </a:xfrm>
          <a:prstGeom prst="rect">
            <a:avLst/>
          </a:prstGeom>
          <a:noFill/>
          <a:ln/>
        </p:spPr>
        <p:txBody>
          <a:bodyPr wrap="square" rtlCol="0" anchor="ctr"/>
          <a:lstStyle/>
          <a:p>
            <a:pPr indent="0" marL="0">
              <a:buNone/>
            </a:pPr>
            <a:r>
              <a:rPr lang="en-US" sz="900" b="1" dirty="0">
                <a:solidFill>
                  <a:srgbClr val="475569"/>
                </a:solidFill>
                <a:latin typeface="Arial" pitchFamily="34" charset="0"/>
                <a:ea typeface="Arial" pitchFamily="34" charset="-122"/>
                <a:cs typeface="Arial" pitchFamily="34" charset="-120"/>
              </a:rPr>
              <a:t>Cash Reward Offered:</a:t>
            </a:r>
            <a:endParaRPr lang="en-US" sz="900" dirty="0"/>
          </a:p>
        </p:txBody>
      </p:sp>
      <p:sp>
        <p:nvSpPr>
          <p:cNvPr id="40" name="Text 38"/>
          <p:cNvSpPr/>
          <p:nvPr/>
        </p:nvSpPr>
        <p:spPr>
          <a:xfrm>
            <a:off x="2834640" y="5330952"/>
            <a:ext cx="2926080" cy="292608"/>
          </a:xfrm>
          <a:prstGeom prst="rect">
            <a:avLst/>
          </a:prstGeom>
          <a:noFill/>
          <a:ln/>
        </p:spPr>
        <p:txBody>
          <a:bodyPr wrap="square" rtlCol="0" anchor="ctr"/>
          <a:lstStyle/>
          <a:p>
            <a:pPr indent="0" marL="0">
              <a:buNone/>
            </a:pPr>
            <a:r>
              <a:rPr lang="en-US" sz="900" dirty="0">
                <a:solidFill>
                  <a:srgbClr val="0F172A"/>
                </a:solidFill>
                <a:latin typeface="Arial" pitchFamily="34" charset="0"/>
                <a:ea typeface="Arial" pitchFamily="34" charset="-122"/>
                <a:cs typeface="Arial" pitchFamily="34" charset="-120"/>
              </a:rPr>
              <a:t>15,000 BDT (Verified Escrow)</a:t>
            </a:r>
            <a:endParaRPr lang="en-US" sz="900" dirty="0"/>
          </a:p>
        </p:txBody>
      </p:sp>
      <p:sp>
        <p:nvSpPr>
          <p:cNvPr id="41" name="Text 39"/>
          <p:cNvSpPr/>
          <p:nvPr/>
        </p:nvSpPr>
        <p:spPr>
          <a:xfrm>
            <a:off x="914400" y="5660136"/>
            <a:ext cx="1920240" cy="292608"/>
          </a:xfrm>
          <a:prstGeom prst="rect">
            <a:avLst/>
          </a:prstGeom>
          <a:noFill/>
          <a:ln/>
        </p:spPr>
        <p:txBody>
          <a:bodyPr wrap="square" rtlCol="0" anchor="ctr"/>
          <a:lstStyle/>
          <a:p>
            <a:pPr indent="0" marL="0">
              <a:buNone/>
            </a:pPr>
            <a:r>
              <a:rPr lang="en-US" sz="900" b="1" dirty="0">
                <a:solidFill>
                  <a:srgbClr val="475569"/>
                </a:solidFill>
                <a:latin typeface="Arial" pitchFamily="34" charset="0"/>
                <a:ea typeface="Arial" pitchFamily="34" charset="-122"/>
                <a:cs typeface="Arial" pitchFamily="34" charset="-120"/>
              </a:rPr>
              <a:t>Match Confidence Score:</a:t>
            </a:r>
            <a:endParaRPr lang="en-US" sz="900" dirty="0"/>
          </a:p>
        </p:txBody>
      </p:sp>
      <p:sp>
        <p:nvSpPr>
          <p:cNvPr id="42" name="Text 40"/>
          <p:cNvSpPr/>
          <p:nvPr/>
        </p:nvSpPr>
        <p:spPr>
          <a:xfrm>
            <a:off x="2834640" y="5660136"/>
            <a:ext cx="2926080" cy="292608"/>
          </a:xfrm>
          <a:prstGeom prst="rect">
            <a:avLst/>
          </a:prstGeom>
          <a:noFill/>
          <a:ln/>
        </p:spPr>
        <p:txBody>
          <a:bodyPr wrap="square" rtlCol="0" anchor="ctr"/>
          <a:lstStyle/>
          <a:p>
            <a:pPr indent="0" marL="0">
              <a:buNone/>
            </a:pPr>
            <a:r>
              <a:rPr lang="en-US" sz="900" dirty="0">
                <a:solidFill>
                  <a:srgbClr val="0F172A"/>
                </a:solidFill>
                <a:latin typeface="Arial" pitchFamily="34" charset="0"/>
                <a:ea typeface="Arial" pitchFamily="34" charset="-122"/>
                <a:cs typeface="Arial" pitchFamily="34" charset="-120"/>
              </a:rPr>
              <a:t>0.92 (High Vector Cosine Similarity)</a:t>
            </a:r>
            <a:endParaRPr lang="en-US" sz="900" dirty="0"/>
          </a:p>
        </p:txBody>
      </p:sp>
      <p:sp>
        <p:nvSpPr>
          <p:cNvPr id="43" name="Shape 41"/>
          <p:cNvSpPr/>
          <p:nvPr/>
        </p:nvSpPr>
        <p:spPr>
          <a:xfrm>
            <a:off x="6248095" y="2834640"/>
            <a:ext cx="5212080" cy="3337560"/>
          </a:xfrm>
          <a:prstGeom prst="roundRect">
            <a:avLst/>
          </a:prstGeom>
          <a:solidFill>
            <a:srgbClr val="FFFFFF"/>
          </a:solidFill>
          <a:ln w="19050">
            <a:solidFill>
              <a:srgbClr val="6366F1"/>
            </a:solidFill>
            <a:prstDash val="solid"/>
          </a:ln>
        </p:spPr>
      </p:sp>
      <p:sp>
        <p:nvSpPr>
          <p:cNvPr id="44" name="Shape 42"/>
          <p:cNvSpPr/>
          <p:nvPr/>
        </p:nvSpPr>
        <p:spPr>
          <a:xfrm>
            <a:off x="6430975" y="2971800"/>
            <a:ext cx="4846320" cy="320040"/>
          </a:xfrm>
          <a:prstGeom prst="roundRect">
            <a:avLst/>
          </a:prstGeom>
          <a:solidFill>
            <a:srgbClr val="EEF2FF"/>
          </a:solidFill>
          <a:ln w="12700">
            <a:solidFill>
              <a:srgbClr val="6366F1"/>
            </a:solidFill>
            <a:prstDash val="solid"/>
          </a:ln>
        </p:spPr>
      </p:sp>
      <p:sp>
        <p:nvSpPr>
          <p:cNvPr id="45" name="Text 43"/>
          <p:cNvSpPr/>
          <p:nvPr/>
        </p:nvSpPr>
        <p:spPr>
          <a:xfrm>
            <a:off x="6522415" y="3035808"/>
            <a:ext cx="4663440" cy="201168"/>
          </a:xfrm>
          <a:prstGeom prst="rect">
            <a:avLst/>
          </a:prstGeom>
          <a:noFill/>
          <a:ln/>
        </p:spPr>
        <p:txBody>
          <a:bodyPr wrap="square" rtlCol="0" anchor="ctr"/>
          <a:lstStyle/>
          <a:p>
            <a:pPr indent="0" marL="0">
              <a:buNone/>
            </a:pPr>
            <a:r>
              <a:rPr lang="en-US" sz="950" b="1" dirty="0">
                <a:solidFill>
                  <a:srgbClr val="4338CA"/>
                </a:solidFill>
                <a:latin typeface="Arial" pitchFamily="34" charset="0"/>
                <a:ea typeface="Arial" pitchFamily="34" charset="-122"/>
                <a:cs typeface="Arial" pitchFamily="34" charset="-120"/>
              </a:rPr>
              <a:t>🐈 VERIFIED CASE 2: MILO (PERSIAN CAT)</a:t>
            </a:r>
            <a:endParaRPr lang="en-US" sz="950" dirty="0"/>
          </a:p>
        </p:txBody>
      </p:sp>
      <p:sp>
        <p:nvSpPr>
          <p:cNvPr id="46" name="Text 44"/>
          <p:cNvSpPr/>
          <p:nvPr/>
        </p:nvSpPr>
        <p:spPr>
          <a:xfrm>
            <a:off x="6430975" y="3383280"/>
            <a:ext cx="4846320" cy="182880"/>
          </a:xfrm>
          <a:prstGeom prst="rect">
            <a:avLst/>
          </a:prstGeom>
          <a:noFill/>
          <a:ln/>
        </p:spPr>
        <p:txBody>
          <a:bodyPr wrap="square" rtlCol="0" anchor="ctr"/>
          <a:lstStyle/>
          <a:p>
            <a:pPr indent="0" marL="0">
              <a:buNone/>
            </a:pPr>
            <a:r>
              <a:rPr lang="en-US" sz="850" b="1" dirty="0">
                <a:solidFill>
                  <a:srgbClr val="64748B"/>
                </a:solidFill>
                <a:latin typeface="Arial" pitchFamily="34" charset="0"/>
                <a:ea typeface="Arial" pitchFamily="34" charset="-122"/>
                <a:cs typeface="Arial" pitchFamily="34" charset="-120"/>
              </a:rPr>
              <a:t>SIGHTING INPUT (POST /api/lost-found/ai-match):</a:t>
            </a:r>
            <a:endParaRPr lang="en-US" sz="850" dirty="0"/>
          </a:p>
        </p:txBody>
      </p:sp>
      <p:sp>
        <p:nvSpPr>
          <p:cNvPr id="47" name="Text 45"/>
          <p:cNvSpPr/>
          <p:nvPr/>
        </p:nvSpPr>
        <p:spPr>
          <a:xfrm>
            <a:off x="6430975" y="3566160"/>
            <a:ext cx="4846320" cy="502920"/>
          </a:xfrm>
          <a:prstGeom prst="rect">
            <a:avLst/>
          </a:prstGeom>
          <a:noFill/>
          <a:ln/>
        </p:spPr>
        <p:txBody>
          <a:bodyPr wrap="square" rtlCol="0" anchor="ctr"/>
          <a:lstStyle/>
          <a:p>
            <a:pPr indent="0" marL="0">
              <a:buNone/>
            </a:pPr>
            <a:r>
              <a:rPr lang="en-US" sz="950" i="1" dirty="0">
                <a:solidFill>
                  <a:srgbClr val="0F172A"/>
                </a:solidFill>
                <a:latin typeface="Arial" pitchFamily="34" charset="0"/>
                <a:ea typeface="Arial" pitchFamily="34" charset="-122"/>
                <a:cs typeface="Arial" pitchFamily="34" charset="-120"/>
              </a:rPr>
              <a:t>"Found pure white fluffy cat sitting near Gulshan Lake Park gate 2. Has one blue eye and one green eye, pink breakaway collar."</a:t>
            </a:r>
            <a:endParaRPr lang="en-US" sz="950" dirty="0"/>
          </a:p>
        </p:txBody>
      </p:sp>
      <p:sp>
        <p:nvSpPr>
          <p:cNvPr id="48" name="Text 46"/>
          <p:cNvSpPr/>
          <p:nvPr/>
        </p:nvSpPr>
        <p:spPr>
          <a:xfrm>
            <a:off x="6430975" y="4114800"/>
            <a:ext cx="4846320" cy="182880"/>
          </a:xfrm>
          <a:prstGeom prst="rect">
            <a:avLst/>
          </a:prstGeom>
          <a:noFill/>
          <a:ln/>
        </p:spPr>
        <p:txBody>
          <a:bodyPr wrap="square" rtlCol="0" anchor="ctr"/>
          <a:lstStyle/>
          <a:p>
            <a:pPr indent="0" marL="0">
              <a:buNone/>
            </a:pPr>
            <a:r>
              <a:rPr lang="en-US" sz="850" b="1" dirty="0">
                <a:solidFill>
                  <a:srgbClr val="4338CA"/>
                </a:solidFill>
                <a:latin typeface="Arial" pitchFamily="34" charset="0"/>
                <a:ea typeface="Arial" pitchFamily="34" charset="-122"/>
                <a:cs typeface="Arial" pitchFamily="34" charset="-120"/>
              </a:rPr>
              <a:t>MAIRA VECTOR RAG MATCH RESULT:</a:t>
            </a:r>
            <a:endParaRPr lang="en-US" sz="850" dirty="0"/>
          </a:p>
        </p:txBody>
      </p:sp>
      <p:sp>
        <p:nvSpPr>
          <p:cNvPr id="49" name="Text 47"/>
          <p:cNvSpPr/>
          <p:nvPr/>
        </p:nvSpPr>
        <p:spPr>
          <a:xfrm>
            <a:off x="6430975" y="4343400"/>
            <a:ext cx="1920240" cy="292608"/>
          </a:xfrm>
          <a:prstGeom prst="rect">
            <a:avLst/>
          </a:prstGeom>
          <a:noFill/>
          <a:ln/>
        </p:spPr>
        <p:txBody>
          <a:bodyPr wrap="square" rtlCol="0" anchor="ctr"/>
          <a:lstStyle/>
          <a:p>
            <a:pPr indent="0" marL="0">
              <a:buNone/>
            </a:pPr>
            <a:r>
              <a:rPr lang="en-US" sz="900" b="1" dirty="0">
                <a:solidFill>
                  <a:srgbClr val="475569"/>
                </a:solidFill>
                <a:latin typeface="Arial" pitchFamily="34" charset="0"/>
                <a:ea typeface="Arial" pitchFamily="34" charset="-122"/>
                <a:cs typeface="Arial" pitchFamily="34" charset="-120"/>
              </a:rPr>
              <a:t>Matched Pet Name:</a:t>
            </a:r>
            <a:endParaRPr lang="en-US" sz="900" dirty="0"/>
          </a:p>
        </p:txBody>
      </p:sp>
      <p:sp>
        <p:nvSpPr>
          <p:cNvPr id="50" name="Text 48"/>
          <p:cNvSpPr/>
          <p:nvPr/>
        </p:nvSpPr>
        <p:spPr>
          <a:xfrm>
            <a:off x="8351215" y="4343400"/>
            <a:ext cx="2926080" cy="292608"/>
          </a:xfrm>
          <a:prstGeom prst="rect">
            <a:avLst/>
          </a:prstGeom>
          <a:noFill/>
          <a:ln/>
        </p:spPr>
        <p:txBody>
          <a:bodyPr wrap="square" rtlCol="0" anchor="ctr"/>
          <a:lstStyle/>
          <a:p>
            <a:pPr indent="0" marL="0">
              <a:buNone/>
            </a:pPr>
            <a:r>
              <a:rPr lang="en-US" sz="900" dirty="0">
                <a:solidFill>
                  <a:srgbClr val="0F172A"/>
                </a:solidFill>
                <a:latin typeface="Arial" pitchFamily="34" charset="0"/>
                <a:ea typeface="Arial" pitchFamily="34" charset="-122"/>
                <a:cs typeface="Arial" pitchFamily="34" charset="-120"/>
              </a:rPr>
              <a:t>Milo (Post ID: lost_102)</a:t>
            </a:r>
            <a:endParaRPr lang="en-US" sz="900" dirty="0"/>
          </a:p>
        </p:txBody>
      </p:sp>
      <p:sp>
        <p:nvSpPr>
          <p:cNvPr id="51" name="Text 49"/>
          <p:cNvSpPr/>
          <p:nvPr/>
        </p:nvSpPr>
        <p:spPr>
          <a:xfrm>
            <a:off x="6430975" y="4672584"/>
            <a:ext cx="1920240" cy="292608"/>
          </a:xfrm>
          <a:prstGeom prst="rect">
            <a:avLst/>
          </a:prstGeom>
          <a:noFill/>
          <a:ln/>
        </p:spPr>
        <p:txBody>
          <a:bodyPr wrap="square" rtlCol="0" anchor="ctr"/>
          <a:lstStyle/>
          <a:p>
            <a:pPr indent="0" marL="0">
              <a:buNone/>
            </a:pPr>
            <a:r>
              <a:rPr lang="en-US" sz="900" b="1" dirty="0">
                <a:solidFill>
                  <a:srgbClr val="475569"/>
                </a:solidFill>
                <a:latin typeface="Arial" pitchFamily="34" charset="0"/>
                <a:ea typeface="Arial" pitchFamily="34" charset="-122"/>
                <a:cs typeface="Arial" pitchFamily="34" charset="-120"/>
              </a:rPr>
              <a:t>Breed &amp; Distinctives:</a:t>
            </a:r>
            <a:endParaRPr lang="en-US" sz="900" dirty="0"/>
          </a:p>
        </p:txBody>
      </p:sp>
      <p:sp>
        <p:nvSpPr>
          <p:cNvPr id="52" name="Text 50"/>
          <p:cNvSpPr/>
          <p:nvPr/>
        </p:nvSpPr>
        <p:spPr>
          <a:xfrm>
            <a:off x="8351215" y="4672584"/>
            <a:ext cx="2926080" cy="292608"/>
          </a:xfrm>
          <a:prstGeom prst="rect">
            <a:avLst/>
          </a:prstGeom>
          <a:noFill/>
          <a:ln/>
        </p:spPr>
        <p:txBody>
          <a:bodyPr wrap="square" rtlCol="0" anchor="ctr"/>
          <a:lstStyle/>
          <a:p>
            <a:pPr indent="0" marL="0">
              <a:buNone/>
            </a:pPr>
            <a:r>
              <a:rPr lang="en-US" sz="900" dirty="0">
                <a:solidFill>
                  <a:srgbClr val="0F172A"/>
                </a:solidFill>
                <a:latin typeface="Arial" pitchFamily="34" charset="0"/>
                <a:ea typeface="Arial" pitchFamily="34" charset="-122"/>
                <a:cs typeface="Arial" pitchFamily="34" charset="-120"/>
              </a:rPr>
              <a:t>Persian • Pure White • Heterochromia (Odd-Eyed)</a:t>
            </a:r>
            <a:endParaRPr lang="en-US" sz="900" dirty="0"/>
          </a:p>
        </p:txBody>
      </p:sp>
      <p:sp>
        <p:nvSpPr>
          <p:cNvPr id="53" name="Text 51"/>
          <p:cNvSpPr/>
          <p:nvPr/>
        </p:nvSpPr>
        <p:spPr>
          <a:xfrm>
            <a:off x="6430975" y="5001768"/>
            <a:ext cx="1920240" cy="292608"/>
          </a:xfrm>
          <a:prstGeom prst="rect">
            <a:avLst/>
          </a:prstGeom>
          <a:noFill/>
          <a:ln/>
        </p:spPr>
        <p:txBody>
          <a:bodyPr wrap="square" rtlCol="0" anchor="ctr"/>
          <a:lstStyle/>
          <a:p>
            <a:pPr indent="0" marL="0">
              <a:buNone/>
            </a:pPr>
            <a:r>
              <a:rPr lang="en-US" sz="900" b="1" dirty="0">
                <a:solidFill>
                  <a:srgbClr val="475569"/>
                </a:solidFill>
                <a:latin typeface="Arial" pitchFamily="34" charset="0"/>
                <a:ea typeface="Arial" pitchFamily="34" charset="-122"/>
                <a:cs typeface="Arial" pitchFamily="34" charset="-120"/>
              </a:rPr>
              <a:t>Owner &amp; Emergency Contact:</a:t>
            </a:r>
            <a:endParaRPr lang="en-US" sz="900" dirty="0"/>
          </a:p>
        </p:txBody>
      </p:sp>
      <p:sp>
        <p:nvSpPr>
          <p:cNvPr id="54" name="Text 52"/>
          <p:cNvSpPr/>
          <p:nvPr/>
        </p:nvSpPr>
        <p:spPr>
          <a:xfrm>
            <a:off x="8351215" y="5001768"/>
            <a:ext cx="2926080" cy="292608"/>
          </a:xfrm>
          <a:prstGeom prst="rect">
            <a:avLst/>
          </a:prstGeom>
          <a:noFill/>
          <a:ln/>
        </p:spPr>
        <p:txBody>
          <a:bodyPr wrap="square" rtlCol="0" anchor="ctr"/>
          <a:lstStyle/>
          <a:p>
            <a:pPr indent="0" marL="0">
              <a:buNone/>
            </a:pPr>
            <a:r>
              <a:rPr lang="en-US" sz="900" dirty="0">
                <a:solidFill>
                  <a:srgbClr val="0F172A"/>
                </a:solidFill>
                <a:latin typeface="Arial" pitchFamily="34" charset="0"/>
                <a:ea typeface="Arial" pitchFamily="34" charset="-122"/>
                <a:cs typeface="Arial" pitchFamily="34" charset="-120"/>
              </a:rPr>
              <a:t>Nabila Rahman (+880 1819-223344)</a:t>
            </a:r>
            <a:endParaRPr lang="en-US" sz="900" dirty="0"/>
          </a:p>
        </p:txBody>
      </p:sp>
      <p:sp>
        <p:nvSpPr>
          <p:cNvPr id="55" name="Text 53"/>
          <p:cNvSpPr/>
          <p:nvPr/>
        </p:nvSpPr>
        <p:spPr>
          <a:xfrm>
            <a:off x="6430975" y="5330952"/>
            <a:ext cx="1920240" cy="292608"/>
          </a:xfrm>
          <a:prstGeom prst="rect">
            <a:avLst/>
          </a:prstGeom>
          <a:noFill/>
          <a:ln/>
        </p:spPr>
        <p:txBody>
          <a:bodyPr wrap="square" rtlCol="0" anchor="ctr"/>
          <a:lstStyle/>
          <a:p>
            <a:pPr indent="0" marL="0">
              <a:buNone/>
            </a:pPr>
            <a:r>
              <a:rPr lang="en-US" sz="900" b="1" dirty="0">
                <a:solidFill>
                  <a:srgbClr val="475569"/>
                </a:solidFill>
                <a:latin typeface="Arial" pitchFamily="34" charset="0"/>
                <a:ea typeface="Arial" pitchFamily="34" charset="-122"/>
                <a:cs typeface="Arial" pitchFamily="34" charset="-120"/>
              </a:rPr>
              <a:t>Cash Reward Offered:</a:t>
            </a:r>
            <a:endParaRPr lang="en-US" sz="900" dirty="0"/>
          </a:p>
        </p:txBody>
      </p:sp>
      <p:sp>
        <p:nvSpPr>
          <p:cNvPr id="56" name="Text 54"/>
          <p:cNvSpPr/>
          <p:nvPr/>
        </p:nvSpPr>
        <p:spPr>
          <a:xfrm>
            <a:off x="8351215" y="5330952"/>
            <a:ext cx="2926080" cy="292608"/>
          </a:xfrm>
          <a:prstGeom prst="rect">
            <a:avLst/>
          </a:prstGeom>
          <a:noFill/>
          <a:ln/>
        </p:spPr>
        <p:txBody>
          <a:bodyPr wrap="square" rtlCol="0" anchor="ctr"/>
          <a:lstStyle/>
          <a:p>
            <a:pPr indent="0" marL="0">
              <a:buNone/>
            </a:pPr>
            <a:r>
              <a:rPr lang="en-US" sz="900" dirty="0">
                <a:solidFill>
                  <a:srgbClr val="0F172A"/>
                </a:solidFill>
                <a:latin typeface="Arial" pitchFamily="34" charset="0"/>
                <a:ea typeface="Arial" pitchFamily="34" charset="-122"/>
                <a:cs typeface="Arial" pitchFamily="34" charset="-120"/>
              </a:rPr>
              <a:t>10,000 BDT (Verified Escrow)</a:t>
            </a:r>
            <a:endParaRPr lang="en-US" sz="900" dirty="0"/>
          </a:p>
        </p:txBody>
      </p:sp>
      <p:sp>
        <p:nvSpPr>
          <p:cNvPr id="57" name="Text 55"/>
          <p:cNvSpPr/>
          <p:nvPr/>
        </p:nvSpPr>
        <p:spPr>
          <a:xfrm>
            <a:off x="6430975" y="5660136"/>
            <a:ext cx="1920240" cy="292608"/>
          </a:xfrm>
          <a:prstGeom prst="rect">
            <a:avLst/>
          </a:prstGeom>
          <a:noFill/>
          <a:ln/>
        </p:spPr>
        <p:txBody>
          <a:bodyPr wrap="square" rtlCol="0" anchor="ctr"/>
          <a:lstStyle/>
          <a:p>
            <a:pPr indent="0" marL="0">
              <a:buNone/>
            </a:pPr>
            <a:r>
              <a:rPr lang="en-US" sz="900" b="1" dirty="0">
                <a:solidFill>
                  <a:srgbClr val="475569"/>
                </a:solidFill>
                <a:latin typeface="Arial" pitchFamily="34" charset="0"/>
                <a:ea typeface="Arial" pitchFamily="34" charset="-122"/>
                <a:cs typeface="Arial" pitchFamily="34" charset="-120"/>
              </a:rPr>
              <a:t>Match Confidence Score:</a:t>
            </a:r>
            <a:endParaRPr lang="en-US" sz="900" dirty="0"/>
          </a:p>
        </p:txBody>
      </p:sp>
      <p:sp>
        <p:nvSpPr>
          <p:cNvPr id="58" name="Text 56"/>
          <p:cNvSpPr/>
          <p:nvPr/>
        </p:nvSpPr>
        <p:spPr>
          <a:xfrm>
            <a:off x="8351215" y="5660136"/>
            <a:ext cx="2926080" cy="292608"/>
          </a:xfrm>
          <a:prstGeom prst="rect">
            <a:avLst/>
          </a:prstGeom>
          <a:noFill/>
          <a:ln/>
        </p:spPr>
        <p:txBody>
          <a:bodyPr wrap="square" rtlCol="0" anchor="ctr"/>
          <a:lstStyle/>
          <a:p>
            <a:pPr indent="0" marL="0">
              <a:buNone/>
            </a:pPr>
            <a:r>
              <a:rPr lang="en-US" sz="900" dirty="0">
                <a:solidFill>
                  <a:srgbClr val="0F172A"/>
                </a:solidFill>
                <a:latin typeface="Arial" pitchFamily="34" charset="0"/>
                <a:ea typeface="Arial" pitchFamily="34" charset="-122"/>
                <a:cs typeface="Arial" pitchFamily="34" charset="-120"/>
              </a:rPr>
              <a:t>0.92 (High Vector Cosine Similarity)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858000" cy="3200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NUZZLE AI PLATFORM  |  GIGALOGY MAIRA MANAGED RAG INTEGRATION</a:t>
            </a:r>
            <a:endParaRPr lang="en-US" sz="1100" dirty="0"/>
          </a:p>
        </p:txBody>
      </p:sp>
      <p:sp>
        <p:nvSpPr>
          <p:cNvPr id="4" name="Text 2"/>
          <p:cNvSpPr/>
          <p:nvPr/>
        </p:nvSpPr>
        <p:spPr>
          <a:xfrm>
            <a:off x="7315200" y="128016"/>
            <a:ext cx="4144975" cy="32004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Slide 6 of 12  •  Technical &amp; Architecture Deep Dive</a:t>
            </a:r>
            <a:endParaRPr lang="en-US" sz="1000" dirty="0"/>
          </a:p>
        </p:txBody>
      </p:sp>
      <p:sp>
        <p:nvSpPr>
          <p:cNvPr id="5" name="Text 3"/>
          <p:cNvSpPr/>
          <p:nvPr/>
        </p:nvSpPr>
        <p:spPr>
          <a:xfrm>
            <a:off x="731520" y="713232"/>
            <a:ext cx="10728655" cy="228600"/>
          </a:xfrm>
          <a:prstGeom prst="rect">
            <a:avLst/>
          </a:prstGeom>
          <a:noFill/>
          <a:ln/>
        </p:spPr>
        <p:txBody>
          <a:bodyPr wrap="square" rtlCol="0" anchor="ctr"/>
          <a:lstStyle/>
          <a:p>
            <a:pPr indent="0" marL="0">
              <a:buNone/>
            </a:pPr>
            <a:r>
              <a:rPr lang="en-US" sz="1000" b="1" spc="120" kern="0" dirty="0">
                <a:solidFill>
                  <a:srgbClr val="4338CA"/>
                </a:solidFill>
                <a:latin typeface="Arial" pitchFamily="34" charset="0"/>
                <a:ea typeface="Arial" pitchFamily="34" charset="-122"/>
                <a:cs typeface="Arial" pitchFamily="34" charset="-120"/>
              </a:rPr>
              <a:t>PILLAR 3: CLINICAL ROUTING</a:t>
            </a:r>
            <a:endParaRPr lang="en-US" sz="1000" dirty="0"/>
          </a:p>
        </p:txBody>
      </p:sp>
      <p:sp>
        <p:nvSpPr>
          <p:cNvPr id="6" name="Text 4"/>
          <p:cNvSpPr/>
          <p:nvPr/>
        </p:nvSpPr>
        <p:spPr>
          <a:xfrm>
            <a:off x="731520" y="932688"/>
            <a:ext cx="10728655" cy="438912"/>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Vet Clinic &amp; Telemedicine Specialist Navigator</a:t>
            </a:r>
            <a:endParaRPr lang="en-US" sz="2100" dirty="0"/>
          </a:p>
        </p:txBody>
      </p:sp>
      <p:sp>
        <p:nvSpPr>
          <p:cNvPr id="7" name="Text 5"/>
          <p:cNvSpPr/>
          <p:nvPr/>
        </p:nvSpPr>
        <p:spPr>
          <a:xfrm>
            <a:off x="731520" y="1353312"/>
            <a:ext cx="10728655" cy="292608"/>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Profile ID: 9884416a-abd3-4e9c-a893-b2b0cab2bc60 • Dataset ID: 9dfc7c57-c072-441c-b653-1cf98247f990</a:t>
            </a:r>
            <a:endParaRPr lang="en-US" sz="1200" dirty="0"/>
          </a:p>
        </p:txBody>
      </p:sp>
      <p:sp>
        <p:nvSpPr>
          <p:cNvPr id="8" name="Shape 6"/>
          <p:cNvSpPr/>
          <p:nvPr/>
        </p:nvSpPr>
        <p:spPr>
          <a:xfrm>
            <a:off x="731520" y="6355080"/>
            <a:ext cx="10728655" cy="0"/>
          </a:xfrm>
          <a:prstGeom prst="line">
            <a:avLst/>
          </a:prstGeom>
          <a:noFill/>
          <a:ln w="12700">
            <a:solidFill>
              <a:srgbClr val="E2E8F0"/>
            </a:solidFill>
            <a:prstDash val="solid"/>
          </a:ln>
        </p:spPr>
      </p:sp>
      <p:sp>
        <p:nvSpPr>
          <p:cNvPr id="9" name="Text 7"/>
          <p:cNvSpPr/>
          <p:nvPr/>
        </p:nvSpPr>
        <p:spPr>
          <a:xfrm>
            <a:off x="731520" y="6446520"/>
            <a:ext cx="7315200" cy="27432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8229600" y="6446520"/>
            <a:ext cx="3230575" cy="27432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Shape 9"/>
          <p:cNvSpPr/>
          <p:nvPr/>
        </p:nvSpPr>
        <p:spPr>
          <a:xfrm>
            <a:off x="731520" y="1783080"/>
            <a:ext cx="5166360" cy="4389120"/>
          </a:xfrm>
          <a:prstGeom prst="roundRect">
            <a:avLst/>
          </a:prstGeom>
          <a:solidFill>
            <a:srgbClr val="FFFFFF"/>
          </a:solidFill>
          <a:ln w="15240">
            <a:solidFill>
              <a:srgbClr val="CBD5E1"/>
            </a:solidFill>
            <a:prstDash val="solid"/>
          </a:ln>
        </p:spPr>
      </p:sp>
      <p:sp>
        <p:nvSpPr>
          <p:cNvPr id="12" name="Text 10"/>
          <p:cNvSpPr/>
          <p:nvPr/>
        </p:nvSpPr>
        <p:spPr>
          <a:xfrm>
            <a:off x="914400" y="1965960"/>
            <a:ext cx="4800600" cy="228600"/>
          </a:xfrm>
          <a:prstGeom prst="rect">
            <a:avLst/>
          </a:prstGeom>
          <a:noFill/>
          <a:ln/>
        </p:spPr>
        <p:txBody>
          <a:bodyPr wrap="square" rtlCol="0" anchor="ctr"/>
          <a:lstStyle/>
          <a:p>
            <a:pPr indent="0" marL="0">
              <a:buNone/>
            </a:pPr>
            <a:r>
              <a:rPr lang="en-US" sz="1100" b="1" spc="100" kern="0" dirty="0">
                <a:solidFill>
                  <a:srgbClr val="4338CA"/>
                </a:solidFill>
                <a:latin typeface="Arial" pitchFamily="34" charset="0"/>
                <a:ea typeface="Arial" pitchFamily="34" charset="-122"/>
                <a:cs typeface="Arial" pitchFamily="34" charset="-120"/>
              </a:rPr>
              <a:t>VERIFIED DHAKA VETERINARY NETWORK</a:t>
            </a:r>
            <a:endParaRPr lang="en-US" sz="1100" dirty="0"/>
          </a:p>
        </p:txBody>
      </p:sp>
      <p:sp>
        <p:nvSpPr>
          <p:cNvPr id="13" name="Shape 11"/>
          <p:cNvSpPr/>
          <p:nvPr/>
        </p:nvSpPr>
        <p:spPr>
          <a:xfrm>
            <a:off x="914400" y="2286000"/>
            <a:ext cx="4800600" cy="868680"/>
          </a:xfrm>
          <a:prstGeom prst="roundRect">
            <a:avLst/>
          </a:prstGeom>
          <a:solidFill>
            <a:srgbClr val="F1F5F9"/>
          </a:solidFill>
          <a:ln w="12700">
            <a:solidFill>
              <a:srgbClr val="E2E8F0"/>
            </a:solidFill>
            <a:prstDash val="solid"/>
          </a:ln>
        </p:spPr>
      </p:sp>
      <p:sp>
        <p:nvSpPr>
          <p:cNvPr id="14" name="Text 12"/>
          <p:cNvSpPr/>
          <p:nvPr/>
        </p:nvSpPr>
        <p:spPr>
          <a:xfrm>
            <a:off x="1051560" y="2359152"/>
            <a:ext cx="3108960" cy="201168"/>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Cascade 24/7 Animal Hospital</a:t>
            </a:r>
            <a:endParaRPr lang="en-US" sz="1050" dirty="0"/>
          </a:p>
        </p:txBody>
      </p:sp>
      <p:sp>
        <p:nvSpPr>
          <p:cNvPr id="15" name="Text 13"/>
          <p:cNvSpPr/>
          <p:nvPr/>
        </p:nvSpPr>
        <p:spPr>
          <a:xfrm>
            <a:off x="3474720" y="2359152"/>
            <a:ext cx="2103120" cy="201168"/>
          </a:xfrm>
          <a:prstGeom prst="rect">
            <a:avLst/>
          </a:prstGeom>
          <a:noFill/>
          <a:ln/>
        </p:spPr>
        <p:txBody>
          <a:bodyPr wrap="square" rtlCol="0" anchor="ctr"/>
          <a:lstStyle/>
          <a:p>
            <a:pPr algn="r" indent="0" marL="0">
              <a:buNone/>
            </a:pPr>
            <a:r>
              <a:rPr lang="en-US" sz="850" dirty="0">
                <a:solidFill>
                  <a:srgbClr val="4338CA"/>
                </a:solidFill>
                <a:latin typeface="Arial" pitchFamily="34" charset="0"/>
                <a:ea typeface="Arial" pitchFamily="34" charset="-122"/>
                <a:cs typeface="Arial" pitchFamily="34" charset="-120"/>
              </a:rPr>
              <a:t>Dhanmondi, Dhaka</a:t>
            </a:r>
            <a:endParaRPr lang="en-US" sz="850" dirty="0"/>
          </a:p>
        </p:txBody>
      </p:sp>
      <p:sp>
        <p:nvSpPr>
          <p:cNvPr id="16" name="Text 14"/>
          <p:cNvSpPr/>
          <p:nvPr/>
        </p:nvSpPr>
        <p:spPr>
          <a:xfrm>
            <a:off x="1051560" y="2578608"/>
            <a:ext cx="4389120" cy="182880"/>
          </a:xfrm>
          <a:prstGeom prst="rect">
            <a:avLst/>
          </a:prstGeom>
          <a:noFill/>
          <a:ln/>
        </p:spPr>
        <p:txBody>
          <a:bodyPr wrap="square" rtlCol="0" anchor="ctr"/>
          <a:lstStyle/>
          <a:p>
            <a:pPr indent="0" marL="0">
              <a:buNone/>
            </a:pPr>
            <a:r>
              <a:rPr lang="en-US" sz="850" b="1" dirty="0">
                <a:solidFill>
                  <a:srgbClr val="475569"/>
                </a:solidFill>
                <a:latin typeface="Arial" pitchFamily="34" charset="0"/>
                <a:ea typeface="Arial" pitchFamily="34" charset="-122"/>
                <a:cs typeface="Arial" pitchFamily="34" charset="-120"/>
              </a:rPr>
              <a:t>Lead: Dr. Sarah Al-Mansoor, DVM</a:t>
            </a:r>
            <a:endParaRPr lang="en-US" sz="850" dirty="0"/>
          </a:p>
        </p:txBody>
      </p:sp>
      <p:sp>
        <p:nvSpPr>
          <p:cNvPr id="17" name="Text 15"/>
          <p:cNvSpPr/>
          <p:nvPr/>
        </p:nvSpPr>
        <p:spPr>
          <a:xfrm>
            <a:off x="1051560" y="2761488"/>
            <a:ext cx="438912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Specialty: Trauma ICU, orthopedics, emergency laparotomy</a:t>
            </a:r>
            <a:endParaRPr lang="en-US" sz="850" dirty="0"/>
          </a:p>
        </p:txBody>
      </p:sp>
      <p:sp>
        <p:nvSpPr>
          <p:cNvPr id="18" name="Shape 16"/>
          <p:cNvSpPr/>
          <p:nvPr/>
        </p:nvSpPr>
        <p:spPr>
          <a:xfrm>
            <a:off x="914400" y="3246120"/>
            <a:ext cx="4800600" cy="868680"/>
          </a:xfrm>
          <a:prstGeom prst="roundRect">
            <a:avLst/>
          </a:prstGeom>
          <a:solidFill>
            <a:srgbClr val="F1F5F9"/>
          </a:solidFill>
          <a:ln w="12700">
            <a:solidFill>
              <a:srgbClr val="E2E8F0"/>
            </a:solidFill>
            <a:prstDash val="solid"/>
          </a:ln>
        </p:spPr>
      </p:sp>
      <p:sp>
        <p:nvSpPr>
          <p:cNvPr id="19" name="Text 17"/>
          <p:cNvSpPr/>
          <p:nvPr/>
        </p:nvSpPr>
        <p:spPr>
          <a:xfrm>
            <a:off x="1051560" y="3319272"/>
            <a:ext cx="3108960" cy="201168"/>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Gulshan Pet Care &amp; Avian Clinic</a:t>
            </a:r>
            <a:endParaRPr lang="en-US" sz="1050" dirty="0"/>
          </a:p>
        </p:txBody>
      </p:sp>
      <p:sp>
        <p:nvSpPr>
          <p:cNvPr id="20" name="Text 18"/>
          <p:cNvSpPr/>
          <p:nvPr/>
        </p:nvSpPr>
        <p:spPr>
          <a:xfrm>
            <a:off x="3474720" y="3319272"/>
            <a:ext cx="2103120" cy="201168"/>
          </a:xfrm>
          <a:prstGeom prst="rect">
            <a:avLst/>
          </a:prstGeom>
          <a:noFill/>
          <a:ln/>
        </p:spPr>
        <p:txBody>
          <a:bodyPr wrap="square" rtlCol="0" anchor="ctr"/>
          <a:lstStyle/>
          <a:p>
            <a:pPr algn="r" indent="0" marL="0">
              <a:buNone/>
            </a:pPr>
            <a:r>
              <a:rPr lang="en-US" sz="850" dirty="0">
                <a:solidFill>
                  <a:srgbClr val="4338CA"/>
                </a:solidFill>
                <a:latin typeface="Arial" pitchFamily="34" charset="0"/>
                <a:ea typeface="Arial" pitchFamily="34" charset="-122"/>
                <a:cs typeface="Arial" pitchFamily="34" charset="-120"/>
              </a:rPr>
              <a:t>Gulshan-2, Dhaka</a:t>
            </a:r>
            <a:endParaRPr lang="en-US" sz="850" dirty="0"/>
          </a:p>
        </p:txBody>
      </p:sp>
      <p:sp>
        <p:nvSpPr>
          <p:cNvPr id="21" name="Text 19"/>
          <p:cNvSpPr/>
          <p:nvPr/>
        </p:nvSpPr>
        <p:spPr>
          <a:xfrm>
            <a:off x="1051560" y="3538728"/>
            <a:ext cx="4389120" cy="182880"/>
          </a:xfrm>
          <a:prstGeom prst="rect">
            <a:avLst/>
          </a:prstGeom>
          <a:noFill/>
          <a:ln/>
        </p:spPr>
        <p:txBody>
          <a:bodyPr wrap="square" rtlCol="0" anchor="ctr"/>
          <a:lstStyle/>
          <a:p>
            <a:pPr indent="0" marL="0">
              <a:buNone/>
            </a:pPr>
            <a:r>
              <a:rPr lang="en-US" sz="850" b="1" dirty="0">
                <a:solidFill>
                  <a:srgbClr val="475569"/>
                </a:solidFill>
                <a:latin typeface="Arial" pitchFamily="34" charset="0"/>
                <a:ea typeface="Arial" pitchFamily="34" charset="-122"/>
                <a:cs typeface="Arial" pitchFamily="34" charset="-120"/>
              </a:rPr>
              <a:t>Lead: Dr. Tanvir Ahmed, DVM</a:t>
            </a:r>
            <a:endParaRPr lang="en-US" sz="850" dirty="0"/>
          </a:p>
        </p:txBody>
      </p:sp>
      <p:sp>
        <p:nvSpPr>
          <p:cNvPr id="22" name="Text 20"/>
          <p:cNvSpPr/>
          <p:nvPr/>
        </p:nvSpPr>
        <p:spPr>
          <a:xfrm>
            <a:off x="1051560" y="3721608"/>
            <a:ext cx="438912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Specialty: Feline internal medicine, cardiology, avian surgery</a:t>
            </a:r>
            <a:endParaRPr lang="en-US" sz="850" dirty="0"/>
          </a:p>
        </p:txBody>
      </p:sp>
      <p:sp>
        <p:nvSpPr>
          <p:cNvPr id="23" name="Shape 21"/>
          <p:cNvSpPr/>
          <p:nvPr/>
        </p:nvSpPr>
        <p:spPr>
          <a:xfrm>
            <a:off x="914400" y="4206240"/>
            <a:ext cx="4800600" cy="868680"/>
          </a:xfrm>
          <a:prstGeom prst="roundRect">
            <a:avLst/>
          </a:prstGeom>
          <a:solidFill>
            <a:srgbClr val="F1F5F9"/>
          </a:solidFill>
          <a:ln w="12700">
            <a:solidFill>
              <a:srgbClr val="E2E8F0"/>
            </a:solidFill>
            <a:prstDash val="solid"/>
          </a:ln>
        </p:spPr>
      </p:sp>
      <p:sp>
        <p:nvSpPr>
          <p:cNvPr id="24" name="Text 22"/>
          <p:cNvSpPr/>
          <p:nvPr/>
        </p:nvSpPr>
        <p:spPr>
          <a:xfrm>
            <a:off x="1051560" y="4279392"/>
            <a:ext cx="3108960" cy="201168"/>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Uttara Companion Pet Wellness</a:t>
            </a:r>
            <a:endParaRPr lang="en-US" sz="1050" dirty="0"/>
          </a:p>
        </p:txBody>
      </p:sp>
      <p:sp>
        <p:nvSpPr>
          <p:cNvPr id="25" name="Text 23"/>
          <p:cNvSpPr/>
          <p:nvPr/>
        </p:nvSpPr>
        <p:spPr>
          <a:xfrm>
            <a:off x="3474720" y="4279392"/>
            <a:ext cx="2103120" cy="201168"/>
          </a:xfrm>
          <a:prstGeom prst="rect">
            <a:avLst/>
          </a:prstGeom>
          <a:noFill/>
          <a:ln/>
        </p:spPr>
        <p:txBody>
          <a:bodyPr wrap="square" rtlCol="0" anchor="ctr"/>
          <a:lstStyle/>
          <a:p>
            <a:pPr algn="r" indent="0" marL="0">
              <a:buNone/>
            </a:pPr>
            <a:r>
              <a:rPr lang="en-US" sz="850" dirty="0">
                <a:solidFill>
                  <a:srgbClr val="4338CA"/>
                </a:solidFill>
                <a:latin typeface="Arial" pitchFamily="34" charset="0"/>
                <a:ea typeface="Arial" pitchFamily="34" charset="-122"/>
                <a:cs typeface="Arial" pitchFamily="34" charset="-120"/>
              </a:rPr>
              <a:t>Sector 4, Uttara</a:t>
            </a:r>
            <a:endParaRPr lang="en-US" sz="850" dirty="0"/>
          </a:p>
        </p:txBody>
      </p:sp>
      <p:sp>
        <p:nvSpPr>
          <p:cNvPr id="26" name="Text 24"/>
          <p:cNvSpPr/>
          <p:nvPr/>
        </p:nvSpPr>
        <p:spPr>
          <a:xfrm>
            <a:off x="1051560" y="4498848"/>
            <a:ext cx="4389120" cy="182880"/>
          </a:xfrm>
          <a:prstGeom prst="rect">
            <a:avLst/>
          </a:prstGeom>
          <a:noFill/>
          <a:ln/>
        </p:spPr>
        <p:txBody>
          <a:bodyPr wrap="square" rtlCol="0" anchor="ctr"/>
          <a:lstStyle/>
          <a:p>
            <a:pPr indent="0" marL="0">
              <a:buNone/>
            </a:pPr>
            <a:r>
              <a:rPr lang="en-US" sz="850" b="1" dirty="0">
                <a:solidFill>
                  <a:srgbClr val="475569"/>
                </a:solidFill>
                <a:latin typeface="Arial" pitchFamily="34" charset="0"/>
                <a:ea typeface="Arial" pitchFamily="34" charset="-122"/>
                <a:cs typeface="Arial" pitchFamily="34" charset="-120"/>
              </a:rPr>
              <a:t>Lead: Dr. Nusrat Jahan, DVM</a:t>
            </a:r>
            <a:endParaRPr lang="en-US" sz="850" dirty="0"/>
          </a:p>
        </p:txBody>
      </p:sp>
      <p:sp>
        <p:nvSpPr>
          <p:cNvPr id="27" name="Text 25"/>
          <p:cNvSpPr/>
          <p:nvPr/>
        </p:nvSpPr>
        <p:spPr>
          <a:xfrm>
            <a:off x="1051560" y="4681728"/>
            <a:ext cx="438912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Specialty: Dental prophylaxis, soft tissue, wellness vaccinations</a:t>
            </a:r>
            <a:endParaRPr lang="en-US" sz="850" dirty="0"/>
          </a:p>
        </p:txBody>
      </p:sp>
      <p:sp>
        <p:nvSpPr>
          <p:cNvPr id="28" name="Shape 26"/>
          <p:cNvSpPr/>
          <p:nvPr/>
        </p:nvSpPr>
        <p:spPr>
          <a:xfrm>
            <a:off x="914400" y="5166360"/>
            <a:ext cx="4800600" cy="868680"/>
          </a:xfrm>
          <a:prstGeom prst="roundRect">
            <a:avLst/>
          </a:prstGeom>
          <a:solidFill>
            <a:srgbClr val="F1F5F9"/>
          </a:solidFill>
          <a:ln w="12700">
            <a:solidFill>
              <a:srgbClr val="E2E8F0"/>
            </a:solidFill>
            <a:prstDash val="solid"/>
          </a:ln>
        </p:spPr>
      </p:sp>
      <p:sp>
        <p:nvSpPr>
          <p:cNvPr id="29" name="Text 27"/>
          <p:cNvSpPr/>
          <p:nvPr/>
        </p:nvSpPr>
        <p:spPr>
          <a:xfrm>
            <a:off x="1051560" y="5239512"/>
            <a:ext cx="3108960" cy="201168"/>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Mirpur Mobile Veterinary Service</a:t>
            </a:r>
            <a:endParaRPr lang="en-US" sz="1050" dirty="0"/>
          </a:p>
        </p:txBody>
      </p:sp>
      <p:sp>
        <p:nvSpPr>
          <p:cNvPr id="30" name="Text 28"/>
          <p:cNvSpPr/>
          <p:nvPr/>
        </p:nvSpPr>
        <p:spPr>
          <a:xfrm>
            <a:off x="3474720" y="5239512"/>
            <a:ext cx="2103120" cy="201168"/>
          </a:xfrm>
          <a:prstGeom prst="rect">
            <a:avLst/>
          </a:prstGeom>
          <a:noFill/>
          <a:ln/>
        </p:spPr>
        <p:txBody>
          <a:bodyPr wrap="square" rtlCol="0" anchor="ctr"/>
          <a:lstStyle/>
          <a:p>
            <a:pPr algn="r" indent="0" marL="0">
              <a:buNone/>
            </a:pPr>
            <a:r>
              <a:rPr lang="en-US" sz="850" dirty="0">
                <a:solidFill>
                  <a:srgbClr val="4338CA"/>
                </a:solidFill>
                <a:latin typeface="Arial" pitchFamily="34" charset="0"/>
                <a:ea typeface="Arial" pitchFamily="34" charset="-122"/>
                <a:cs typeface="Arial" pitchFamily="34" charset="-120"/>
              </a:rPr>
              <a:t>Mirpur &amp; Suburbs</a:t>
            </a:r>
            <a:endParaRPr lang="en-US" sz="850" dirty="0"/>
          </a:p>
        </p:txBody>
      </p:sp>
      <p:sp>
        <p:nvSpPr>
          <p:cNvPr id="31" name="Text 29"/>
          <p:cNvSpPr/>
          <p:nvPr/>
        </p:nvSpPr>
        <p:spPr>
          <a:xfrm>
            <a:off x="1051560" y="5458968"/>
            <a:ext cx="4389120" cy="182880"/>
          </a:xfrm>
          <a:prstGeom prst="rect">
            <a:avLst/>
          </a:prstGeom>
          <a:noFill/>
          <a:ln/>
        </p:spPr>
        <p:txBody>
          <a:bodyPr wrap="square" rtlCol="0" anchor="ctr"/>
          <a:lstStyle/>
          <a:p>
            <a:pPr indent="0" marL="0">
              <a:buNone/>
            </a:pPr>
            <a:r>
              <a:rPr lang="en-US" sz="850" b="1" dirty="0">
                <a:solidFill>
                  <a:srgbClr val="475569"/>
                </a:solidFill>
                <a:latin typeface="Arial" pitchFamily="34" charset="0"/>
                <a:ea typeface="Arial" pitchFamily="34" charset="-122"/>
                <a:cs typeface="Arial" pitchFamily="34" charset="-120"/>
              </a:rPr>
              <a:t>Lead: Dr. Tariqul Islam, DVM</a:t>
            </a:r>
            <a:endParaRPr lang="en-US" sz="850" dirty="0"/>
          </a:p>
        </p:txBody>
      </p:sp>
      <p:sp>
        <p:nvSpPr>
          <p:cNvPr id="32" name="Text 30"/>
          <p:cNvSpPr/>
          <p:nvPr/>
        </p:nvSpPr>
        <p:spPr>
          <a:xfrm>
            <a:off x="1051560" y="5641848"/>
            <a:ext cx="4389120" cy="320040"/>
          </a:xfrm>
          <a:prstGeom prst="rect">
            <a:avLst/>
          </a:prstGeom>
          <a:noFill/>
          <a:ln/>
        </p:spPr>
        <p:txBody>
          <a:bodyPr wrap="square" rtlCol="0" anchor="ctr"/>
          <a:lstStyle/>
          <a:p>
            <a:pPr indent="0" marL="0">
              <a:buNone/>
            </a:pPr>
            <a:r>
              <a:rPr lang="en-US" sz="850" dirty="0">
                <a:solidFill>
                  <a:srgbClr val="64748B"/>
                </a:solidFill>
                <a:latin typeface="Arial" pitchFamily="34" charset="0"/>
                <a:ea typeface="Arial" pitchFamily="34" charset="-122"/>
                <a:cs typeface="Arial" pitchFamily="34" charset="-120"/>
              </a:rPr>
              <a:t>Specialty: 24/7 emergency dispatch, at-home ultrasound</a:t>
            </a:r>
            <a:endParaRPr lang="en-US" sz="850" dirty="0"/>
          </a:p>
        </p:txBody>
      </p:sp>
      <p:sp>
        <p:nvSpPr>
          <p:cNvPr id="33" name="Shape 31"/>
          <p:cNvSpPr/>
          <p:nvPr/>
        </p:nvSpPr>
        <p:spPr>
          <a:xfrm>
            <a:off x="6263640" y="1783080"/>
            <a:ext cx="5193792" cy="4389120"/>
          </a:xfrm>
          <a:prstGeom prst="roundRect">
            <a:avLst/>
          </a:prstGeom>
          <a:solidFill>
            <a:srgbClr val="FFFFFF"/>
          </a:solidFill>
          <a:ln w="15240">
            <a:solidFill>
              <a:srgbClr val="CBD5E1"/>
            </a:solidFill>
            <a:prstDash val="solid"/>
          </a:ln>
        </p:spPr>
      </p:sp>
      <p:sp>
        <p:nvSpPr>
          <p:cNvPr id="34" name="Text 32"/>
          <p:cNvSpPr/>
          <p:nvPr/>
        </p:nvSpPr>
        <p:spPr>
          <a:xfrm>
            <a:off x="6492240" y="1965960"/>
            <a:ext cx="4736592" cy="228600"/>
          </a:xfrm>
          <a:prstGeom prst="rect">
            <a:avLst/>
          </a:prstGeom>
          <a:noFill/>
          <a:ln/>
        </p:spPr>
        <p:txBody>
          <a:bodyPr wrap="square" rtlCol="0" anchor="ctr"/>
          <a:lstStyle/>
          <a:p>
            <a:pPr indent="0" marL="0">
              <a:buNone/>
            </a:pPr>
            <a:r>
              <a:rPr lang="en-US" sz="1100" b="1" spc="100" kern="0" dirty="0">
                <a:solidFill>
                  <a:srgbClr val="10B981"/>
                </a:solidFill>
                <a:latin typeface="Arial" pitchFamily="34" charset="0"/>
                <a:ea typeface="Arial" pitchFamily="34" charset="-122"/>
                <a:cs typeface="Arial" pitchFamily="34" charset="-120"/>
              </a:rPr>
              <a:t>RAG-DRIVEN SPECIALTY ROUTING ENGINE</a:t>
            </a:r>
            <a:endParaRPr lang="en-US" sz="1100" dirty="0"/>
          </a:p>
        </p:txBody>
      </p:sp>
      <p:sp>
        <p:nvSpPr>
          <p:cNvPr id="35" name="Shape 33"/>
          <p:cNvSpPr/>
          <p:nvPr/>
        </p:nvSpPr>
        <p:spPr>
          <a:xfrm>
            <a:off x="6492240" y="2286000"/>
            <a:ext cx="4736592" cy="868680"/>
          </a:xfrm>
          <a:prstGeom prst="roundRect">
            <a:avLst/>
          </a:prstGeom>
          <a:solidFill>
            <a:srgbClr val="ECFDF5"/>
          </a:solidFill>
          <a:ln w="12700">
            <a:solidFill>
              <a:srgbClr val="A7F3D0"/>
            </a:solidFill>
            <a:prstDash val="solid"/>
          </a:ln>
        </p:spPr>
      </p:sp>
      <p:sp>
        <p:nvSpPr>
          <p:cNvPr id="36" name="Text 34"/>
          <p:cNvSpPr/>
          <p:nvPr/>
        </p:nvSpPr>
        <p:spPr>
          <a:xfrm>
            <a:off x="6629400" y="2377440"/>
            <a:ext cx="4389120" cy="201168"/>
          </a:xfrm>
          <a:prstGeom prst="rect">
            <a:avLst/>
          </a:prstGeom>
          <a:noFill/>
          <a:ln/>
        </p:spPr>
        <p:txBody>
          <a:bodyPr wrap="square" rtlCol="0" anchor="ctr"/>
          <a:lstStyle/>
          <a:p>
            <a:pPr indent="0" marL="0">
              <a:buNone/>
            </a:pPr>
            <a:r>
              <a:rPr lang="en-US" sz="1000" b="1" dirty="0">
                <a:solidFill>
                  <a:srgbClr val="065F46"/>
                </a:solidFill>
                <a:latin typeface="Arial" pitchFamily="34" charset="0"/>
                <a:ea typeface="Arial" pitchFamily="34" charset="-122"/>
                <a:cs typeface="Arial" pitchFamily="34" charset="-120"/>
              </a:rPr>
              <a:t>1. Symptom &amp; Urgency Parsing</a:t>
            </a:r>
            <a:endParaRPr lang="en-US" sz="1000" dirty="0"/>
          </a:p>
        </p:txBody>
      </p:sp>
      <p:sp>
        <p:nvSpPr>
          <p:cNvPr id="37" name="Text 35"/>
          <p:cNvSpPr/>
          <p:nvPr/>
        </p:nvSpPr>
        <p:spPr>
          <a:xfrm>
            <a:off x="6629400" y="2596896"/>
            <a:ext cx="4389120" cy="502920"/>
          </a:xfrm>
          <a:prstGeom prst="rect">
            <a:avLst/>
          </a:prstGeom>
          <a:noFill/>
          <a:ln/>
        </p:spPr>
        <p:txBody>
          <a:bodyPr wrap="square" rtlCol="0" anchor="ctr"/>
          <a:lstStyle/>
          <a:p>
            <a:pPr indent="0" marL="0">
              <a:lnSpc>
                <a:spcPts val="1300"/>
              </a:lnSpc>
              <a:buNone/>
            </a:pPr>
            <a:r>
              <a:rPr lang="en-US" sz="950" dirty="0">
                <a:solidFill>
                  <a:srgbClr val="047857"/>
                </a:solidFill>
                <a:latin typeface="Arial" pitchFamily="34" charset="0"/>
                <a:ea typeface="Arial" pitchFamily="34" charset="-122"/>
                <a:cs typeface="Arial" pitchFamily="34" charset="-120"/>
              </a:rPr>
              <a:t>Identifies whether case is surgical emergency (GDV, pyometra), chronic (renal disease), or wellness (rabies vaccine booster).</a:t>
            </a:r>
            <a:endParaRPr lang="en-US" sz="950" dirty="0"/>
          </a:p>
        </p:txBody>
      </p:sp>
      <p:sp>
        <p:nvSpPr>
          <p:cNvPr id="38" name="Shape 36"/>
          <p:cNvSpPr/>
          <p:nvPr/>
        </p:nvSpPr>
        <p:spPr>
          <a:xfrm>
            <a:off x="6492240" y="3246120"/>
            <a:ext cx="4736592" cy="868680"/>
          </a:xfrm>
          <a:prstGeom prst="roundRect">
            <a:avLst/>
          </a:prstGeom>
          <a:solidFill>
            <a:srgbClr val="ECFDF5"/>
          </a:solidFill>
          <a:ln w="12700">
            <a:solidFill>
              <a:srgbClr val="A7F3D0"/>
            </a:solidFill>
            <a:prstDash val="solid"/>
          </a:ln>
        </p:spPr>
      </p:sp>
      <p:sp>
        <p:nvSpPr>
          <p:cNvPr id="39" name="Text 37"/>
          <p:cNvSpPr/>
          <p:nvPr/>
        </p:nvSpPr>
        <p:spPr>
          <a:xfrm>
            <a:off x="6629400" y="3337560"/>
            <a:ext cx="4389120" cy="201168"/>
          </a:xfrm>
          <a:prstGeom prst="rect">
            <a:avLst/>
          </a:prstGeom>
          <a:noFill/>
          <a:ln/>
        </p:spPr>
        <p:txBody>
          <a:bodyPr wrap="square" rtlCol="0" anchor="ctr"/>
          <a:lstStyle/>
          <a:p>
            <a:pPr indent="0" marL="0">
              <a:buNone/>
            </a:pPr>
            <a:r>
              <a:rPr lang="en-US" sz="1000" b="1" dirty="0">
                <a:solidFill>
                  <a:srgbClr val="065F46"/>
                </a:solidFill>
                <a:latin typeface="Arial" pitchFamily="34" charset="0"/>
                <a:ea typeface="Arial" pitchFamily="34" charset="-122"/>
                <a:cs typeface="Arial" pitchFamily="34" charset="-120"/>
              </a:rPr>
              <a:t>2. Geographical Proximity Filter</a:t>
            </a:r>
            <a:endParaRPr lang="en-US" sz="1000" dirty="0"/>
          </a:p>
        </p:txBody>
      </p:sp>
      <p:sp>
        <p:nvSpPr>
          <p:cNvPr id="40" name="Text 38"/>
          <p:cNvSpPr/>
          <p:nvPr/>
        </p:nvSpPr>
        <p:spPr>
          <a:xfrm>
            <a:off x="6629400" y="3557016"/>
            <a:ext cx="4389120" cy="502920"/>
          </a:xfrm>
          <a:prstGeom prst="rect">
            <a:avLst/>
          </a:prstGeom>
          <a:noFill/>
          <a:ln/>
        </p:spPr>
        <p:txBody>
          <a:bodyPr wrap="square" rtlCol="0" anchor="ctr"/>
          <a:lstStyle/>
          <a:p>
            <a:pPr indent="0" marL="0">
              <a:lnSpc>
                <a:spcPts val="1300"/>
              </a:lnSpc>
              <a:buNone/>
            </a:pPr>
            <a:r>
              <a:rPr lang="en-US" sz="950" dirty="0">
                <a:solidFill>
                  <a:srgbClr val="047857"/>
                </a:solidFill>
                <a:latin typeface="Arial" pitchFamily="34" charset="0"/>
                <a:ea typeface="Arial" pitchFamily="34" charset="-122"/>
                <a:cs typeface="Arial" pitchFamily="34" charset="-120"/>
              </a:rPr>
              <a:t>Filters clinics operating in parent’s Dhaka district (Dhanmondi, Gulshan, Uttara) with current operational hours.</a:t>
            </a:r>
            <a:endParaRPr lang="en-US" sz="950" dirty="0"/>
          </a:p>
        </p:txBody>
      </p:sp>
      <p:sp>
        <p:nvSpPr>
          <p:cNvPr id="41" name="Shape 39"/>
          <p:cNvSpPr/>
          <p:nvPr/>
        </p:nvSpPr>
        <p:spPr>
          <a:xfrm>
            <a:off x="6492240" y="4206240"/>
            <a:ext cx="4736592" cy="868680"/>
          </a:xfrm>
          <a:prstGeom prst="roundRect">
            <a:avLst/>
          </a:prstGeom>
          <a:solidFill>
            <a:srgbClr val="ECFDF5"/>
          </a:solidFill>
          <a:ln w="12700">
            <a:solidFill>
              <a:srgbClr val="A7F3D0"/>
            </a:solidFill>
            <a:prstDash val="solid"/>
          </a:ln>
        </p:spPr>
      </p:sp>
      <p:sp>
        <p:nvSpPr>
          <p:cNvPr id="42" name="Text 40"/>
          <p:cNvSpPr/>
          <p:nvPr/>
        </p:nvSpPr>
        <p:spPr>
          <a:xfrm>
            <a:off x="6629400" y="4297680"/>
            <a:ext cx="4389120" cy="201168"/>
          </a:xfrm>
          <a:prstGeom prst="rect">
            <a:avLst/>
          </a:prstGeom>
          <a:noFill/>
          <a:ln/>
        </p:spPr>
        <p:txBody>
          <a:bodyPr wrap="square" rtlCol="0" anchor="ctr"/>
          <a:lstStyle/>
          <a:p>
            <a:pPr indent="0" marL="0">
              <a:buNone/>
            </a:pPr>
            <a:r>
              <a:rPr lang="en-US" sz="1000" b="1" dirty="0">
                <a:solidFill>
                  <a:srgbClr val="065F46"/>
                </a:solidFill>
                <a:latin typeface="Arial" pitchFamily="34" charset="0"/>
                <a:ea typeface="Arial" pitchFamily="34" charset="-122"/>
                <a:cs typeface="Arial" pitchFamily="34" charset="-120"/>
              </a:rPr>
              <a:t>3. Equipment &amp; ICU Availability</a:t>
            </a:r>
            <a:endParaRPr lang="en-US" sz="1000" dirty="0"/>
          </a:p>
        </p:txBody>
      </p:sp>
      <p:sp>
        <p:nvSpPr>
          <p:cNvPr id="43" name="Text 41"/>
          <p:cNvSpPr/>
          <p:nvPr/>
        </p:nvSpPr>
        <p:spPr>
          <a:xfrm>
            <a:off x="6629400" y="4517136"/>
            <a:ext cx="4389120" cy="502920"/>
          </a:xfrm>
          <a:prstGeom prst="rect">
            <a:avLst/>
          </a:prstGeom>
          <a:noFill/>
          <a:ln/>
        </p:spPr>
        <p:txBody>
          <a:bodyPr wrap="square" rtlCol="0" anchor="ctr"/>
          <a:lstStyle/>
          <a:p>
            <a:pPr indent="0" marL="0">
              <a:lnSpc>
                <a:spcPts val="1300"/>
              </a:lnSpc>
              <a:buNone/>
            </a:pPr>
            <a:r>
              <a:rPr lang="en-US" sz="950" dirty="0">
                <a:solidFill>
                  <a:srgbClr val="047857"/>
                </a:solidFill>
                <a:latin typeface="Arial" pitchFamily="34" charset="0"/>
                <a:ea typeface="Arial" pitchFamily="34" charset="-122"/>
                <a:cs typeface="Arial" pitchFamily="34" charset="-120"/>
              </a:rPr>
              <a:t>Validates that recommended clinic possesses required diagnostic hardware (e.g. digital radiography, blood gas analyzer).</a:t>
            </a:r>
            <a:endParaRPr lang="en-US" sz="950" dirty="0"/>
          </a:p>
        </p:txBody>
      </p:sp>
      <p:sp>
        <p:nvSpPr>
          <p:cNvPr id="44" name="Shape 42"/>
          <p:cNvSpPr/>
          <p:nvPr/>
        </p:nvSpPr>
        <p:spPr>
          <a:xfrm>
            <a:off x="6492240" y="5166360"/>
            <a:ext cx="4736592" cy="868680"/>
          </a:xfrm>
          <a:prstGeom prst="roundRect">
            <a:avLst/>
          </a:prstGeom>
          <a:solidFill>
            <a:srgbClr val="ECFDF5"/>
          </a:solidFill>
          <a:ln w="12700">
            <a:solidFill>
              <a:srgbClr val="A7F3D0"/>
            </a:solidFill>
            <a:prstDash val="solid"/>
          </a:ln>
        </p:spPr>
      </p:sp>
      <p:sp>
        <p:nvSpPr>
          <p:cNvPr id="45" name="Text 43"/>
          <p:cNvSpPr/>
          <p:nvPr/>
        </p:nvSpPr>
        <p:spPr>
          <a:xfrm>
            <a:off x="6629400" y="5257800"/>
            <a:ext cx="4389120" cy="201168"/>
          </a:xfrm>
          <a:prstGeom prst="rect">
            <a:avLst/>
          </a:prstGeom>
          <a:noFill/>
          <a:ln/>
        </p:spPr>
        <p:txBody>
          <a:bodyPr wrap="square" rtlCol="0" anchor="ctr"/>
          <a:lstStyle/>
          <a:p>
            <a:pPr indent="0" marL="0">
              <a:buNone/>
            </a:pPr>
            <a:r>
              <a:rPr lang="en-US" sz="1000" b="1" dirty="0">
                <a:solidFill>
                  <a:srgbClr val="065F46"/>
                </a:solidFill>
                <a:latin typeface="Arial" pitchFamily="34" charset="0"/>
                <a:ea typeface="Arial" pitchFamily="34" charset="-122"/>
                <a:cs typeface="Arial" pitchFamily="34" charset="-120"/>
              </a:rPr>
              <a:t>4. Instant Telemedicine Dispatch</a:t>
            </a:r>
            <a:endParaRPr lang="en-US" sz="1000" dirty="0"/>
          </a:p>
        </p:txBody>
      </p:sp>
      <p:sp>
        <p:nvSpPr>
          <p:cNvPr id="46" name="Text 44"/>
          <p:cNvSpPr/>
          <p:nvPr/>
        </p:nvSpPr>
        <p:spPr>
          <a:xfrm>
            <a:off x="6629400" y="5477256"/>
            <a:ext cx="4389120" cy="502920"/>
          </a:xfrm>
          <a:prstGeom prst="rect">
            <a:avLst/>
          </a:prstGeom>
          <a:noFill/>
          <a:ln/>
        </p:spPr>
        <p:txBody>
          <a:bodyPr wrap="square" rtlCol="0" anchor="ctr"/>
          <a:lstStyle/>
          <a:p>
            <a:pPr indent="0" marL="0">
              <a:lnSpc>
                <a:spcPts val="1300"/>
              </a:lnSpc>
              <a:buNone/>
            </a:pPr>
            <a:r>
              <a:rPr lang="en-US" sz="950" dirty="0">
                <a:solidFill>
                  <a:srgbClr val="047857"/>
                </a:solidFill>
                <a:latin typeface="Arial" pitchFamily="34" charset="0"/>
                <a:ea typeface="Arial" pitchFamily="34" charset="-122"/>
                <a:cs typeface="Arial" pitchFamily="34" charset="-120"/>
              </a:rPr>
              <a:t>For non-surgical moderate cases, immediately offers a digital tele-consultation slot, saving hours of Dhaka traffic travel.</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858000" cy="3200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NUZZLE AI PLATFORM  |  GIGALOGY MAIRA MANAGED RAG INTEGRATION</a:t>
            </a:r>
            <a:endParaRPr lang="en-US" sz="1100" dirty="0"/>
          </a:p>
        </p:txBody>
      </p:sp>
      <p:sp>
        <p:nvSpPr>
          <p:cNvPr id="4" name="Text 2"/>
          <p:cNvSpPr/>
          <p:nvPr/>
        </p:nvSpPr>
        <p:spPr>
          <a:xfrm>
            <a:off x="7315200" y="128016"/>
            <a:ext cx="4144975" cy="32004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Slide 7 of 12  •  Technical &amp; Architecture Deep Dive</a:t>
            </a:r>
            <a:endParaRPr lang="en-US" sz="1000" dirty="0"/>
          </a:p>
        </p:txBody>
      </p:sp>
      <p:sp>
        <p:nvSpPr>
          <p:cNvPr id="5" name="Text 3"/>
          <p:cNvSpPr/>
          <p:nvPr/>
        </p:nvSpPr>
        <p:spPr>
          <a:xfrm>
            <a:off x="731520" y="713232"/>
            <a:ext cx="10728655" cy="228600"/>
          </a:xfrm>
          <a:prstGeom prst="rect">
            <a:avLst/>
          </a:prstGeom>
          <a:noFill/>
          <a:ln/>
        </p:spPr>
        <p:txBody>
          <a:bodyPr wrap="square" rtlCol="0" anchor="ctr"/>
          <a:lstStyle/>
          <a:p>
            <a:pPr indent="0" marL="0">
              <a:buNone/>
            </a:pPr>
            <a:r>
              <a:rPr lang="en-US" sz="1000" b="1" spc="120" kern="0" dirty="0">
                <a:solidFill>
                  <a:srgbClr val="4338CA"/>
                </a:solidFill>
                <a:latin typeface="Arial" pitchFamily="34" charset="0"/>
                <a:ea typeface="Arial" pitchFamily="34" charset="-122"/>
                <a:cs typeface="Arial" pitchFamily="34" charset="-120"/>
              </a:rPr>
              <a:t>PILLAR 4: PET WELLNESS &amp; COMMERCE</a:t>
            </a:r>
            <a:endParaRPr lang="en-US" sz="1000" dirty="0"/>
          </a:p>
        </p:txBody>
      </p:sp>
      <p:sp>
        <p:nvSpPr>
          <p:cNvPr id="6" name="Text 4"/>
          <p:cNvSpPr/>
          <p:nvPr/>
        </p:nvSpPr>
        <p:spPr>
          <a:xfrm>
            <a:off x="731520" y="932688"/>
            <a:ext cx="10728655" cy="438912"/>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Marketplace AI Nutrition &amp; Dietary Advisory Engine</a:t>
            </a:r>
            <a:endParaRPr lang="en-US" sz="2100" dirty="0"/>
          </a:p>
        </p:txBody>
      </p:sp>
      <p:sp>
        <p:nvSpPr>
          <p:cNvPr id="7" name="Text 5"/>
          <p:cNvSpPr/>
          <p:nvPr/>
        </p:nvSpPr>
        <p:spPr>
          <a:xfrm>
            <a:off x="731520" y="1353312"/>
            <a:ext cx="10728655" cy="292608"/>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Profile ID: 66e15325-9d32-4691-af65-d436fd727674 • Dataset ID: 1fbd9ddf-ee42-4ee6-ba50-ffaae169ffc1</a:t>
            </a:r>
            <a:endParaRPr lang="en-US" sz="1200" dirty="0"/>
          </a:p>
        </p:txBody>
      </p:sp>
      <p:sp>
        <p:nvSpPr>
          <p:cNvPr id="8" name="Shape 6"/>
          <p:cNvSpPr/>
          <p:nvPr/>
        </p:nvSpPr>
        <p:spPr>
          <a:xfrm>
            <a:off x="731520" y="6355080"/>
            <a:ext cx="10728655" cy="0"/>
          </a:xfrm>
          <a:prstGeom prst="line">
            <a:avLst/>
          </a:prstGeom>
          <a:noFill/>
          <a:ln w="12700">
            <a:solidFill>
              <a:srgbClr val="E2E8F0"/>
            </a:solidFill>
            <a:prstDash val="solid"/>
          </a:ln>
        </p:spPr>
      </p:sp>
      <p:sp>
        <p:nvSpPr>
          <p:cNvPr id="9" name="Text 7"/>
          <p:cNvSpPr/>
          <p:nvPr/>
        </p:nvSpPr>
        <p:spPr>
          <a:xfrm>
            <a:off x="731520" y="6446520"/>
            <a:ext cx="7315200" cy="27432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8229600" y="6446520"/>
            <a:ext cx="3230575" cy="27432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Shape 9"/>
          <p:cNvSpPr/>
          <p:nvPr/>
        </p:nvSpPr>
        <p:spPr>
          <a:xfrm>
            <a:off x="731520" y="1783080"/>
            <a:ext cx="5166360" cy="4389120"/>
          </a:xfrm>
          <a:prstGeom prst="roundRect">
            <a:avLst/>
          </a:prstGeom>
          <a:solidFill>
            <a:srgbClr val="FFFFFF"/>
          </a:solidFill>
          <a:ln w="15240">
            <a:solidFill>
              <a:srgbClr val="CBD5E1"/>
            </a:solidFill>
            <a:prstDash val="solid"/>
          </a:ln>
        </p:spPr>
      </p:sp>
      <p:sp>
        <p:nvSpPr>
          <p:cNvPr id="12" name="Text 10"/>
          <p:cNvSpPr/>
          <p:nvPr/>
        </p:nvSpPr>
        <p:spPr>
          <a:xfrm>
            <a:off x="914400" y="1965960"/>
            <a:ext cx="4800600" cy="228600"/>
          </a:xfrm>
          <a:prstGeom prst="rect">
            <a:avLst/>
          </a:prstGeom>
          <a:noFill/>
          <a:ln/>
        </p:spPr>
        <p:txBody>
          <a:bodyPr wrap="square" rtlCol="0" anchor="ctr"/>
          <a:lstStyle/>
          <a:p>
            <a:pPr indent="0" marL="0">
              <a:buNone/>
            </a:pPr>
            <a:r>
              <a:rPr lang="en-US" sz="1100" b="1" spc="100" kern="0" dirty="0">
                <a:solidFill>
                  <a:srgbClr val="4338CA"/>
                </a:solidFill>
                <a:latin typeface="Arial" pitchFamily="34" charset="0"/>
                <a:ea typeface="Arial" pitchFamily="34" charset="-122"/>
                <a:cs typeface="Arial" pitchFamily="34" charset="-120"/>
              </a:rPr>
              <a:t>INDIVIDUALIZED NUTRITIONAL ASSESSMENT</a:t>
            </a:r>
            <a:endParaRPr lang="en-US" sz="1100" dirty="0"/>
          </a:p>
        </p:txBody>
      </p:sp>
      <p:sp>
        <p:nvSpPr>
          <p:cNvPr id="13" name="Shape 11"/>
          <p:cNvSpPr/>
          <p:nvPr/>
        </p:nvSpPr>
        <p:spPr>
          <a:xfrm>
            <a:off x="914400" y="2286000"/>
            <a:ext cx="4800600" cy="868680"/>
          </a:xfrm>
          <a:prstGeom prst="roundRect">
            <a:avLst/>
          </a:prstGeom>
          <a:solidFill>
            <a:srgbClr val="F1F5F9"/>
          </a:solidFill>
          <a:ln w="12700">
            <a:solidFill>
              <a:srgbClr val="E2E8F0"/>
            </a:solidFill>
            <a:prstDash val="solid"/>
          </a:ln>
        </p:spPr>
      </p:sp>
      <p:sp>
        <p:nvSpPr>
          <p:cNvPr id="14" name="Text 12"/>
          <p:cNvSpPr/>
          <p:nvPr/>
        </p:nvSpPr>
        <p:spPr>
          <a:xfrm>
            <a:off x="1051560" y="2377440"/>
            <a:ext cx="4389120" cy="201168"/>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Life Stage &amp; Caloric Density</a:t>
            </a:r>
            <a:endParaRPr lang="en-US" sz="1000" dirty="0"/>
          </a:p>
        </p:txBody>
      </p:sp>
      <p:sp>
        <p:nvSpPr>
          <p:cNvPr id="15" name="Text 13"/>
          <p:cNvSpPr/>
          <p:nvPr/>
        </p:nvSpPr>
        <p:spPr>
          <a:xfrm>
            <a:off x="1051560" y="2596896"/>
            <a:ext cx="4389120" cy="502920"/>
          </a:xfrm>
          <a:prstGeom prst="rect">
            <a:avLst/>
          </a:prstGeom>
          <a:noFill/>
          <a:ln/>
        </p:spPr>
        <p:txBody>
          <a:bodyPr wrap="square" rtlCol="0" anchor="ctr"/>
          <a:lstStyle/>
          <a:p>
            <a:pPr indent="0" marL="0">
              <a:lnSpc>
                <a:spcPts val="1300"/>
              </a:lnSpc>
              <a:buNone/>
            </a:pPr>
            <a:r>
              <a:rPr lang="en-US" sz="900" dirty="0">
                <a:solidFill>
                  <a:srgbClr val="475569"/>
                </a:solidFill>
                <a:latin typeface="Arial" pitchFamily="34" charset="0"/>
                <a:ea typeface="Arial" pitchFamily="34" charset="-122"/>
                <a:cs typeface="Arial" pitchFamily="34" charset="-120"/>
              </a:rPr>
              <a:t>Calculates Resting Energy Requirement (RER = 70 × W^0.75) adjusted for puppies (2-3× RER), adult maintenance (1.6× RER), and seniors (1.2× RER).</a:t>
            </a:r>
            <a:endParaRPr lang="en-US" sz="900" dirty="0"/>
          </a:p>
        </p:txBody>
      </p:sp>
      <p:sp>
        <p:nvSpPr>
          <p:cNvPr id="16" name="Shape 14"/>
          <p:cNvSpPr/>
          <p:nvPr/>
        </p:nvSpPr>
        <p:spPr>
          <a:xfrm>
            <a:off x="914400" y="3246120"/>
            <a:ext cx="4800600" cy="868680"/>
          </a:xfrm>
          <a:prstGeom prst="roundRect">
            <a:avLst/>
          </a:prstGeom>
          <a:solidFill>
            <a:srgbClr val="F1F5F9"/>
          </a:solidFill>
          <a:ln w="12700">
            <a:solidFill>
              <a:srgbClr val="E2E8F0"/>
            </a:solidFill>
            <a:prstDash val="solid"/>
          </a:ln>
        </p:spPr>
      </p:sp>
      <p:sp>
        <p:nvSpPr>
          <p:cNvPr id="17" name="Text 15"/>
          <p:cNvSpPr/>
          <p:nvPr/>
        </p:nvSpPr>
        <p:spPr>
          <a:xfrm>
            <a:off x="1051560" y="3337560"/>
            <a:ext cx="4389120" cy="201168"/>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Breed-Specific Orthopedic Care</a:t>
            </a:r>
            <a:endParaRPr lang="en-US" sz="1000" dirty="0"/>
          </a:p>
        </p:txBody>
      </p:sp>
      <p:sp>
        <p:nvSpPr>
          <p:cNvPr id="18" name="Text 16"/>
          <p:cNvSpPr/>
          <p:nvPr/>
        </p:nvSpPr>
        <p:spPr>
          <a:xfrm>
            <a:off x="1051560" y="3557016"/>
            <a:ext cx="4389120" cy="502920"/>
          </a:xfrm>
          <a:prstGeom prst="rect">
            <a:avLst/>
          </a:prstGeom>
          <a:noFill/>
          <a:ln/>
        </p:spPr>
        <p:txBody>
          <a:bodyPr wrap="square" rtlCol="0" anchor="ctr"/>
          <a:lstStyle/>
          <a:p>
            <a:pPr indent="0" marL="0">
              <a:lnSpc>
                <a:spcPts val="1300"/>
              </a:lnSpc>
              <a:buNone/>
            </a:pPr>
            <a:r>
              <a:rPr lang="en-US" sz="900" dirty="0">
                <a:solidFill>
                  <a:srgbClr val="475569"/>
                </a:solidFill>
                <a:latin typeface="Arial" pitchFamily="34" charset="0"/>
                <a:ea typeface="Arial" pitchFamily="34" charset="-122"/>
                <a:cs typeface="Arial" pitchFamily="34" charset="-120"/>
              </a:rPr>
              <a:t>Large breed pups (Golden Retrievers, German Shepherds) receive strict calcium-to-phosphorus ratios (1.2:1) to prevent hip dysplasia.</a:t>
            </a:r>
            <a:endParaRPr lang="en-US" sz="900" dirty="0"/>
          </a:p>
        </p:txBody>
      </p:sp>
      <p:sp>
        <p:nvSpPr>
          <p:cNvPr id="19" name="Shape 17"/>
          <p:cNvSpPr/>
          <p:nvPr/>
        </p:nvSpPr>
        <p:spPr>
          <a:xfrm>
            <a:off x="914400" y="4206240"/>
            <a:ext cx="4800600" cy="868680"/>
          </a:xfrm>
          <a:prstGeom prst="roundRect">
            <a:avLst/>
          </a:prstGeom>
          <a:solidFill>
            <a:srgbClr val="F1F5F9"/>
          </a:solidFill>
          <a:ln w="12700">
            <a:solidFill>
              <a:srgbClr val="E2E8F0"/>
            </a:solidFill>
            <a:prstDash val="solid"/>
          </a:ln>
        </p:spPr>
      </p:sp>
      <p:sp>
        <p:nvSpPr>
          <p:cNvPr id="20" name="Text 18"/>
          <p:cNvSpPr/>
          <p:nvPr/>
        </p:nvSpPr>
        <p:spPr>
          <a:xfrm>
            <a:off x="1051560" y="4297680"/>
            <a:ext cx="4389120" cy="201168"/>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Hypoallergenic Protein Rotation</a:t>
            </a:r>
            <a:endParaRPr lang="en-US" sz="1000" dirty="0"/>
          </a:p>
        </p:txBody>
      </p:sp>
      <p:sp>
        <p:nvSpPr>
          <p:cNvPr id="21" name="Text 19"/>
          <p:cNvSpPr/>
          <p:nvPr/>
        </p:nvSpPr>
        <p:spPr>
          <a:xfrm>
            <a:off x="1051560" y="4517136"/>
            <a:ext cx="4389120" cy="502920"/>
          </a:xfrm>
          <a:prstGeom prst="rect">
            <a:avLst/>
          </a:prstGeom>
          <a:noFill/>
          <a:ln/>
        </p:spPr>
        <p:txBody>
          <a:bodyPr wrap="square" rtlCol="0" anchor="ctr"/>
          <a:lstStyle/>
          <a:p>
            <a:pPr indent="0" marL="0">
              <a:lnSpc>
                <a:spcPts val="1300"/>
              </a:lnSpc>
              <a:buNone/>
            </a:pPr>
            <a:r>
              <a:rPr lang="en-US" sz="900" dirty="0">
                <a:solidFill>
                  <a:srgbClr val="475569"/>
                </a:solidFill>
                <a:latin typeface="Arial" pitchFamily="34" charset="0"/>
                <a:ea typeface="Arial" pitchFamily="34" charset="-122"/>
                <a:cs typeface="Arial" pitchFamily="34" charset="-120"/>
              </a:rPr>
              <a:t>Detects chicken or beef sensitivities; prescribes novel protein formulations (Hydrolyzed salmon, venison, duck) with prebiotics.</a:t>
            </a:r>
            <a:endParaRPr lang="en-US" sz="900" dirty="0"/>
          </a:p>
        </p:txBody>
      </p:sp>
      <p:sp>
        <p:nvSpPr>
          <p:cNvPr id="22" name="Shape 20"/>
          <p:cNvSpPr/>
          <p:nvPr/>
        </p:nvSpPr>
        <p:spPr>
          <a:xfrm>
            <a:off x="914400" y="5166360"/>
            <a:ext cx="4800600" cy="868680"/>
          </a:xfrm>
          <a:prstGeom prst="roundRect">
            <a:avLst/>
          </a:prstGeom>
          <a:solidFill>
            <a:srgbClr val="F1F5F9"/>
          </a:solidFill>
          <a:ln w="12700">
            <a:solidFill>
              <a:srgbClr val="E2E8F0"/>
            </a:solidFill>
            <a:prstDash val="solid"/>
          </a:ln>
        </p:spPr>
      </p:sp>
      <p:sp>
        <p:nvSpPr>
          <p:cNvPr id="23" name="Text 21"/>
          <p:cNvSpPr/>
          <p:nvPr/>
        </p:nvSpPr>
        <p:spPr>
          <a:xfrm>
            <a:off x="1051560" y="5257800"/>
            <a:ext cx="4389120" cy="201168"/>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Human Food Toxicity Defense</a:t>
            </a:r>
            <a:endParaRPr lang="en-US" sz="1000" dirty="0"/>
          </a:p>
        </p:txBody>
      </p:sp>
      <p:sp>
        <p:nvSpPr>
          <p:cNvPr id="24" name="Text 22"/>
          <p:cNvSpPr/>
          <p:nvPr/>
        </p:nvSpPr>
        <p:spPr>
          <a:xfrm>
            <a:off x="1051560" y="5477256"/>
            <a:ext cx="4389120" cy="502920"/>
          </a:xfrm>
          <a:prstGeom prst="rect">
            <a:avLst/>
          </a:prstGeom>
          <a:noFill/>
          <a:ln/>
        </p:spPr>
        <p:txBody>
          <a:bodyPr wrap="square" rtlCol="0" anchor="ctr"/>
          <a:lstStyle/>
          <a:p>
            <a:pPr indent="0" marL="0">
              <a:lnSpc>
                <a:spcPts val="1300"/>
              </a:lnSpc>
              <a:buNone/>
            </a:pPr>
            <a:r>
              <a:rPr lang="en-US" sz="900" dirty="0">
                <a:solidFill>
                  <a:srgbClr val="475569"/>
                </a:solidFill>
                <a:latin typeface="Arial" pitchFamily="34" charset="0"/>
                <a:ea typeface="Arial" pitchFamily="34" charset="-122"/>
                <a:cs typeface="Arial" pitchFamily="34" charset="-120"/>
              </a:rPr>
              <a:t>Immediate red-flag alerts against toxic human foods: onions (Heinz bodies anemia), chocolate, grapes, macadamia nuts, and xylitol.</a:t>
            </a:r>
            <a:endParaRPr lang="en-US" sz="900" dirty="0"/>
          </a:p>
        </p:txBody>
      </p:sp>
      <p:sp>
        <p:nvSpPr>
          <p:cNvPr id="25" name="Shape 23"/>
          <p:cNvSpPr/>
          <p:nvPr/>
        </p:nvSpPr>
        <p:spPr>
          <a:xfrm>
            <a:off x="6263640" y="1783080"/>
            <a:ext cx="5193792" cy="4389120"/>
          </a:xfrm>
          <a:prstGeom prst="roundRect">
            <a:avLst/>
          </a:prstGeom>
          <a:solidFill>
            <a:srgbClr val="0B0F19"/>
          </a:solidFill>
          <a:ln w="19050">
            <a:solidFill>
              <a:srgbClr val="4F46E5"/>
            </a:solidFill>
            <a:prstDash val="solid"/>
          </a:ln>
        </p:spPr>
      </p:sp>
      <p:sp>
        <p:nvSpPr>
          <p:cNvPr id="26" name="Text 24"/>
          <p:cNvSpPr/>
          <p:nvPr/>
        </p:nvSpPr>
        <p:spPr>
          <a:xfrm>
            <a:off x="6492240" y="1965960"/>
            <a:ext cx="4736592" cy="228600"/>
          </a:xfrm>
          <a:prstGeom prst="rect">
            <a:avLst/>
          </a:prstGeom>
          <a:noFill/>
          <a:ln/>
        </p:spPr>
        <p:txBody>
          <a:bodyPr wrap="square" rtlCol="0" anchor="ctr"/>
          <a:lstStyle/>
          <a:p>
            <a:pPr indent="0" marL="0">
              <a:buNone/>
            </a:pPr>
            <a:r>
              <a:rPr lang="en-US" sz="1050" b="1" spc="120" kern="0" dirty="0">
                <a:solidFill>
                  <a:srgbClr val="818CF8"/>
                </a:solidFill>
                <a:latin typeface="Arial" pitchFamily="34" charset="0"/>
                <a:ea typeface="Arial" pitchFamily="34" charset="-122"/>
                <a:cs typeface="Arial" pitchFamily="34" charset="-120"/>
              </a:rPr>
              <a:t>LIVE API REQUEST &amp; RESPONSE DEMO</a:t>
            </a:r>
            <a:endParaRPr lang="en-US" sz="1050" dirty="0"/>
          </a:p>
        </p:txBody>
      </p:sp>
      <p:sp>
        <p:nvSpPr>
          <p:cNvPr id="27" name="Shape 25"/>
          <p:cNvSpPr/>
          <p:nvPr/>
        </p:nvSpPr>
        <p:spPr>
          <a:xfrm>
            <a:off x="6492240" y="2286000"/>
            <a:ext cx="4736592" cy="1097280"/>
          </a:xfrm>
          <a:prstGeom prst="roundRect">
            <a:avLst/>
          </a:prstGeom>
          <a:solidFill>
            <a:srgbClr val="1E293B"/>
          </a:solidFill>
          <a:ln w="12700">
            <a:solidFill>
              <a:srgbClr val="334155"/>
            </a:solidFill>
            <a:prstDash val="solid"/>
          </a:ln>
        </p:spPr>
      </p:sp>
      <p:sp>
        <p:nvSpPr>
          <p:cNvPr id="28" name="Text 26"/>
          <p:cNvSpPr/>
          <p:nvPr/>
        </p:nvSpPr>
        <p:spPr>
          <a:xfrm>
            <a:off x="6629400" y="2359152"/>
            <a:ext cx="4389120" cy="18288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REQUEST: POST /api/marketplace/ai-nutrition</a:t>
            </a:r>
            <a:endParaRPr lang="en-US" sz="850" dirty="0"/>
          </a:p>
        </p:txBody>
      </p:sp>
      <p:sp>
        <p:nvSpPr>
          <p:cNvPr id="29" name="Text 27"/>
          <p:cNvSpPr/>
          <p:nvPr/>
        </p:nvSpPr>
        <p:spPr>
          <a:xfrm>
            <a:off x="6629400" y="2560320"/>
            <a:ext cx="4389120" cy="777240"/>
          </a:xfrm>
          <a:prstGeom prst="rect">
            <a:avLst/>
          </a:prstGeom>
          <a:noFill/>
          <a:ln/>
        </p:spPr>
        <p:txBody>
          <a:bodyPr wrap="square" rtlCol="0" anchor="ctr"/>
          <a:lstStyle/>
          <a:p>
            <a:pPr indent="0" marL="0">
              <a:buNone/>
            </a:pPr>
            <a:r>
              <a:rPr lang="en-US" sz="850" dirty="0">
                <a:solidFill>
                  <a:srgbClr val="E2E8F0"/>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"petType": "Dog",</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"breed": "Golden Retriever",</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"ageYears": 2,</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"weightKg": 28.5,</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"healthGoals": ["Joint mobility", "Shiny coat"],</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"allergies": ["Chicken"]</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a:t>
            </a:r>
            <a:endParaRPr lang="en-US" sz="850" dirty="0"/>
          </a:p>
        </p:txBody>
      </p:sp>
      <p:sp>
        <p:nvSpPr>
          <p:cNvPr id="30" name="Shape 28"/>
          <p:cNvSpPr/>
          <p:nvPr/>
        </p:nvSpPr>
        <p:spPr>
          <a:xfrm>
            <a:off x="6492240" y="3520440"/>
            <a:ext cx="4736592" cy="2468880"/>
          </a:xfrm>
          <a:prstGeom prst="roundRect">
            <a:avLst/>
          </a:prstGeom>
          <a:solidFill>
            <a:srgbClr val="1E293B"/>
          </a:solidFill>
          <a:ln w="12700">
            <a:solidFill>
              <a:srgbClr val="334155"/>
            </a:solidFill>
            <a:prstDash val="solid"/>
          </a:ln>
        </p:spPr>
      </p:sp>
      <p:sp>
        <p:nvSpPr>
          <p:cNvPr id="31" name="Text 29"/>
          <p:cNvSpPr/>
          <p:nvPr/>
        </p:nvSpPr>
        <p:spPr>
          <a:xfrm>
            <a:off x="6629400" y="3611880"/>
            <a:ext cx="4389120" cy="182880"/>
          </a:xfrm>
          <a:prstGeom prst="rect">
            <a:avLst/>
          </a:prstGeom>
          <a:noFill/>
          <a:ln/>
        </p:spPr>
        <p:txBody>
          <a:bodyPr wrap="square" rtlCol="0" anchor="ctr"/>
          <a:lstStyle/>
          <a:p>
            <a:pPr indent="0" marL="0">
              <a:buNone/>
            </a:pPr>
            <a:r>
              <a:rPr lang="en-US" sz="850" b="1" dirty="0">
                <a:solidFill>
                  <a:srgbClr val="38BDF8"/>
                </a:solidFill>
                <a:latin typeface="Arial" pitchFamily="34" charset="0"/>
                <a:ea typeface="Arial" pitchFamily="34" charset="-122"/>
                <a:cs typeface="Arial" pitchFamily="34" charset="-120"/>
              </a:rPr>
              <a:t>MAIRA RETRIEVAL &amp; GROUNDED ADVICE:</a:t>
            </a:r>
            <a:endParaRPr lang="en-US" sz="850" dirty="0"/>
          </a:p>
        </p:txBody>
      </p:sp>
      <p:sp>
        <p:nvSpPr>
          <p:cNvPr id="32" name="Text 30"/>
          <p:cNvSpPr/>
          <p:nvPr/>
        </p:nvSpPr>
        <p:spPr>
          <a:xfrm>
            <a:off x="6629400" y="3840480"/>
            <a:ext cx="4389120" cy="2057400"/>
          </a:xfrm>
          <a:prstGeom prst="rect">
            <a:avLst/>
          </a:prstGeom>
          <a:noFill/>
          <a:ln/>
        </p:spPr>
        <p:txBody>
          <a:bodyPr wrap="square" rtlCol="0" anchor="ctr"/>
          <a:lstStyle/>
          <a:p>
            <a:pPr indent="0" marL="0">
              <a:lnSpc>
                <a:spcPts val="1300"/>
              </a:lnSpc>
              <a:buNone/>
            </a:pPr>
            <a:r>
              <a:rPr lang="en-US" sz="900" dirty="0">
                <a:solidFill>
                  <a:srgbClr val="E2E8F0"/>
                </a:solidFill>
                <a:latin typeface="Arial" pitchFamily="34" charset="0"/>
                <a:ea typeface="Arial" pitchFamily="34" charset="-122"/>
                <a:cs typeface="Arial" pitchFamily="34" charset="-120"/>
              </a:rPr>
              <a:t>✅ Assessment: Golden Retriever (28.5kg) requires ~1,350 kcal/day. Chicken allergy noted — switching to novel cold-water marine protein.</a:t>
            </a:r>
            <a:endParaRPr lang="en-US" sz="900" dirty="0"/>
          </a:p>
          <a:p>
            <a:pPr indent="0" marL="0">
              <a:lnSpc>
                <a:spcPts val="1300"/>
              </a:lnSpc>
              <a:buNone/>
            </a:pPr>
            <a:endParaRPr lang="en-US" sz="900" dirty="0"/>
          </a:p>
          <a:p>
            <a:pPr indent="0" marL="0">
              <a:lnSpc>
                <a:spcPts val="1300"/>
              </a:lnSpc>
              <a:buNone/>
            </a:pPr>
            <a:r>
              <a:rPr lang="en-US" sz="900" dirty="0">
                <a:solidFill>
                  <a:srgbClr val="E2E8F0"/>
                </a:solidFill>
                <a:latin typeface="Arial" pitchFamily="34" charset="0"/>
                <a:ea typeface="Arial" pitchFamily="34" charset="-122"/>
                <a:cs typeface="Arial" pitchFamily="34" charset="-120"/>
              </a:rPr>
              <a:t>📦 Recommended Verified Products:</a:t>
            </a:r>
            <a:endParaRPr lang="en-US" sz="900" dirty="0"/>
          </a:p>
          <a:p>
            <a:pPr indent="0" marL="0">
              <a:lnSpc>
                <a:spcPts val="1300"/>
              </a:lnSpc>
              <a:buNone/>
            </a:pPr>
            <a:r>
              <a:rPr lang="en-US" sz="900" dirty="0">
                <a:solidFill>
                  <a:srgbClr val="E2E8F0"/>
                </a:solidFill>
                <a:latin typeface="Arial" pitchFamily="34" charset="0"/>
                <a:ea typeface="Arial" pitchFamily="34" charset="-122"/>
                <a:cs typeface="Arial" pitchFamily="34" charset="-120"/>
              </a:rPr>
              <a:t>  1. Farmina N&amp;D Ocean Salmon &amp; Cod (Grain-Free, 2.5kg)</a:t>
            </a:r>
            <a:endParaRPr lang="en-US" sz="900" dirty="0"/>
          </a:p>
          <a:p>
            <a:pPr indent="0" marL="0">
              <a:lnSpc>
                <a:spcPts val="1300"/>
              </a:lnSpc>
              <a:buNone/>
            </a:pPr>
            <a:r>
              <a:rPr lang="en-US" sz="900" dirty="0">
                <a:solidFill>
                  <a:srgbClr val="E2E8F0"/>
                </a:solidFill>
                <a:latin typeface="Arial" pitchFamily="34" charset="0"/>
                <a:ea typeface="Arial" pitchFamily="34" charset="-122"/>
                <a:cs typeface="Arial" pitchFamily="34" charset="-120"/>
              </a:rPr>
              <a:t>     • EPA &amp; DHA: 1.1% for synovial joint lubrication</a:t>
            </a:r>
            <a:endParaRPr lang="en-US" sz="900" dirty="0"/>
          </a:p>
          <a:p>
            <a:pPr indent="0" marL="0">
              <a:lnSpc>
                <a:spcPts val="1300"/>
              </a:lnSpc>
              <a:buNone/>
            </a:pPr>
            <a:r>
              <a:rPr lang="en-US" sz="900" dirty="0">
                <a:solidFill>
                  <a:srgbClr val="E2E8F0"/>
                </a:solidFill>
                <a:latin typeface="Arial" pitchFamily="34" charset="0"/>
                <a:ea typeface="Arial" pitchFamily="34" charset="-122"/>
                <a:cs typeface="Arial" pitchFamily="34" charset="-120"/>
              </a:rPr>
              <a:t>     • Price: 3,450 BDT • Vendor: UrbanHound Dhaka</a:t>
            </a:r>
            <a:endParaRPr lang="en-US" sz="900" dirty="0"/>
          </a:p>
          <a:p>
            <a:pPr indent="0" marL="0">
              <a:lnSpc>
                <a:spcPts val="1300"/>
              </a:lnSpc>
              <a:buNone/>
            </a:pPr>
            <a:r>
              <a:rPr lang="en-US" sz="900" dirty="0">
                <a:solidFill>
                  <a:srgbClr val="E2E8F0"/>
                </a:solidFill>
                <a:latin typeface="Arial" pitchFamily="34" charset="0"/>
                <a:ea typeface="Arial" pitchFamily="34" charset="-122"/>
                <a:cs typeface="Arial" pitchFamily="34" charset="-120"/>
              </a:rPr>
              <a:t>  2. Nordic Naturals Pure Wild Alaskan Salmon Oil (237ml)</a:t>
            </a:r>
            <a:endParaRPr lang="en-US" sz="900" dirty="0"/>
          </a:p>
          <a:p>
            <a:pPr indent="0" marL="0">
              <a:lnSpc>
                <a:spcPts val="1300"/>
              </a:lnSpc>
              <a:buNone/>
            </a:pPr>
            <a:r>
              <a:rPr lang="en-US" sz="900" dirty="0">
                <a:solidFill>
                  <a:srgbClr val="E2E8F0"/>
                </a:solidFill>
                <a:latin typeface="Arial" pitchFamily="34" charset="0"/>
                <a:ea typeface="Arial" pitchFamily="34" charset="-122"/>
                <a:cs typeface="Arial" pitchFamily="34" charset="-120"/>
              </a:rPr>
              <a:t>     • Reduces shed, promotes dense double-coat</a:t>
            </a:r>
            <a:endParaRPr lang="en-US" sz="900" dirty="0"/>
          </a:p>
          <a:p>
            <a:pPr indent="0" marL="0">
              <a:lnSpc>
                <a:spcPts val="1300"/>
              </a:lnSpc>
              <a:buNone/>
            </a:pPr>
            <a:r>
              <a:rPr lang="en-US" sz="900" dirty="0">
                <a:solidFill>
                  <a:srgbClr val="E2E8F0"/>
                </a:solidFill>
                <a:latin typeface="Arial" pitchFamily="34" charset="0"/>
                <a:ea typeface="Arial" pitchFamily="34" charset="-122"/>
                <a:cs typeface="Arial" pitchFamily="34" charset="-120"/>
              </a:rPr>
              <a:t>     • Price: 2,100 BDT • In Stock</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858000" cy="3200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NUZZLE AI PLATFORM  |  GIGALOGY MAIRA MANAGED RAG INTEGRATION</a:t>
            </a:r>
            <a:endParaRPr lang="en-US" sz="1100" dirty="0"/>
          </a:p>
        </p:txBody>
      </p:sp>
      <p:sp>
        <p:nvSpPr>
          <p:cNvPr id="4" name="Text 2"/>
          <p:cNvSpPr/>
          <p:nvPr/>
        </p:nvSpPr>
        <p:spPr>
          <a:xfrm>
            <a:off x="7315200" y="128016"/>
            <a:ext cx="4144975" cy="32004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Slide 8 of 12  •  Technical &amp; Architecture Deep Dive</a:t>
            </a:r>
            <a:endParaRPr lang="en-US" sz="1000" dirty="0"/>
          </a:p>
        </p:txBody>
      </p:sp>
      <p:sp>
        <p:nvSpPr>
          <p:cNvPr id="5" name="Text 3"/>
          <p:cNvSpPr/>
          <p:nvPr/>
        </p:nvSpPr>
        <p:spPr>
          <a:xfrm>
            <a:off x="731520" y="713232"/>
            <a:ext cx="10728655" cy="228600"/>
          </a:xfrm>
          <a:prstGeom prst="rect">
            <a:avLst/>
          </a:prstGeom>
          <a:noFill/>
          <a:ln/>
        </p:spPr>
        <p:txBody>
          <a:bodyPr wrap="square" rtlCol="0" anchor="ctr"/>
          <a:lstStyle/>
          <a:p>
            <a:pPr indent="0" marL="0">
              <a:buNone/>
            </a:pPr>
            <a:r>
              <a:rPr lang="en-US" sz="1000" b="1" spc="120" kern="0" dirty="0">
                <a:solidFill>
                  <a:srgbClr val="4338CA"/>
                </a:solidFill>
                <a:latin typeface="Arial" pitchFamily="34" charset="0"/>
                <a:ea typeface="Arial" pitchFamily="34" charset="-122"/>
                <a:cs typeface="Arial" pitchFamily="34" charset="-120"/>
              </a:rPr>
              <a:t>DATASET ENGINEERING</a:t>
            </a:r>
            <a:endParaRPr lang="en-US" sz="1000" dirty="0"/>
          </a:p>
        </p:txBody>
      </p:sp>
      <p:sp>
        <p:nvSpPr>
          <p:cNvPr id="6" name="Text 4"/>
          <p:cNvSpPr/>
          <p:nvPr/>
        </p:nvSpPr>
        <p:spPr>
          <a:xfrm>
            <a:off x="731520" y="932688"/>
            <a:ext cx="10728655" cy="438912"/>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Curating &amp; Training MAIRA Vector Knowledge Bases</a:t>
            </a:r>
            <a:endParaRPr lang="en-US" sz="2100" dirty="0"/>
          </a:p>
        </p:txBody>
      </p:sp>
      <p:sp>
        <p:nvSpPr>
          <p:cNvPr id="7" name="Text 5"/>
          <p:cNvSpPr/>
          <p:nvPr/>
        </p:nvSpPr>
        <p:spPr>
          <a:xfrm>
            <a:off x="731520" y="1353312"/>
            <a:ext cx="10728655" cy="292608"/>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How Nuzzle engineered, formatted, and ingested domain datasets for low-latency vector retrieval.</a:t>
            </a:r>
            <a:endParaRPr lang="en-US" sz="1200" dirty="0"/>
          </a:p>
        </p:txBody>
      </p:sp>
      <p:sp>
        <p:nvSpPr>
          <p:cNvPr id="8" name="Shape 6"/>
          <p:cNvSpPr/>
          <p:nvPr/>
        </p:nvSpPr>
        <p:spPr>
          <a:xfrm>
            <a:off x="731520" y="6355080"/>
            <a:ext cx="10728655" cy="0"/>
          </a:xfrm>
          <a:prstGeom prst="line">
            <a:avLst/>
          </a:prstGeom>
          <a:noFill/>
          <a:ln w="12700">
            <a:solidFill>
              <a:srgbClr val="E2E8F0"/>
            </a:solidFill>
            <a:prstDash val="solid"/>
          </a:ln>
        </p:spPr>
      </p:sp>
      <p:sp>
        <p:nvSpPr>
          <p:cNvPr id="9" name="Text 7"/>
          <p:cNvSpPr/>
          <p:nvPr/>
        </p:nvSpPr>
        <p:spPr>
          <a:xfrm>
            <a:off x="731520" y="6446520"/>
            <a:ext cx="7315200" cy="27432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8229600" y="6446520"/>
            <a:ext cx="3230575" cy="27432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Shape 9"/>
          <p:cNvSpPr/>
          <p:nvPr/>
        </p:nvSpPr>
        <p:spPr>
          <a:xfrm>
            <a:off x="731520" y="1783080"/>
            <a:ext cx="3429000" cy="2926080"/>
          </a:xfrm>
          <a:prstGeom prst="roundRect">
            <a:avLst/>
          </a:prstGeom>
          <a:solidFill>
            <a:srgbClr val="FFFFFF"/>
          </a:solidFill>
          <a:ln w="15240">
            <a:solidFill>
              <a:srgbClr val="CBD5E1"/>
            </a:solidFill>
            <a:prstDash val="solid"/>
          </a:ln>
        </p:spPr>
      </p:sp>
      <p:sp>
        <p:nvSpPr>
          <p:cNvPr id="12" name="Text 10"/>
          <p:cNvSpPr/>
          <p:nvPr/>
        </p:nvSpPr>
        <p:spPr>
          <a:xfrm>
            <a:off x="868680" y="192024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13" name="Text 11"/>
          <p:cNvSpPr/>
          <p:nvPr/>
        </p:nvSpPr>
        <p:spPr>
          <a:xfrm>
            <a:off x="868680" y="2331720"/>
            <a:ext cx="3108960" cy="320040"/>
          </a:xfrm>
          <a:prstGeom prst="rect">
            <a:avLst/>
          </a:prstGeom>
          <a:noFill/>
          <a:ln/>
        </p:spPr>
        <p:txBody>
          <a:bodyPr wrap="square" rtlCol="0" anchor="ctr"/>
          <a:lstStyle/>
          <a:p>
            <a:pPr indent="0" marL="0">
              <a:buNone/>
            </a:pPr>
            <a:r>
              <a:rPr lang="en-US" sz="1150" b="1" dirty="0">
                <a:solidFill>
                  <a:srgbClr val="4338CA"/>
                </a:solidFill>
                <a:latin typeface="Courier New" pitchFamily="34" charset="0"/>
                <a:ea typeface="Courier New" pitchFamily="34" charset="-122"/>
                <a:cs typeface="Courier New" pitchFamily="34" charset="-120"/>
              </a:rPr>
              <a:t>lost_found_radar_dataset.csv</a:t>
            </a:r>
            <a:endParaRPr lang="en-US" sz="1150" dirty="0"/>
          </a:p>
        </p:txBody>
      </p:sp>
      <p:sp>
        <p:nvSpPr>
          <p:cNvPr id="14" name="Text 12"/>
          <p:cNvSpPr/>
          <p:nvPr/>
        </p:nvSpPr>
        <p:spPr>
          <a:xfrm>
            <a:off x="868680" y="2651760"/>
            <a:ext cx="3108960" cy="182880"/>
          </a:xfrm>
          <a:prstGeom prst="rect">
            <a:avLst/>
          </a:prstGeom>
          <a:noFill/>
          <a:ln/>
        </p:spPr>
        <p:txBody>
          <a:bodyPr wrap="square" rtlCol="0" anchor="ctr"/>
          <a:lstStyle/>
          <a:p>
            <a:pPr indent="0" marL="0">
              <a:buNone/>
            </a:pPr>
            <a:r>
              <a:rPr lang="en-US" sz="850" dirty="0">
                <a:solidFill>
                  <a:srgbClr val="64748B"/>
                </a:solidFill>
                <a:latin typeface="Courier New" pitchFamily="34" charset="0"/>
                <a:ea typeface="Courier New" pitchFamily="34" charset="-122"/>
                <a:cs typeface="Courier New" pitchFamily="34" charset="-120"/>
              </a:rPr>
              <a:t>UUID: 564dce9b-6ca7-403a...</a:t>
            </a:r>
            <a:endParaRPr lang="en-US" sz="850" dirty="0"/>
          </a:p>
        </p:txBody>
      </p:sp>
      <p:sp>
        <p:nvSpPr>
          <p:cNvPr id="15" name="Shape 13"/>
          <p:cNvSpPr/>
          <p:nvPr/>
        </p:nvSpPr>
        <p:spPr>
          <a:xfrm>
            <a:off x="868680" y="2907792"/>
            <a:ext cx="3108960" cy="0"/>
          </a:xfrm>
          <a:prstGeom prst="line">
            <a:avLst/>
          </a:prstGeom>
          <a:noFill/>
          <a:ln w="12700">
            <a:solidFill>
              <a:srgbClr val="E2E8F0"/>
            </a:solidFill>
            <a:prstDash val="solid"/>
          </a:ln>
        </p:spPr>
      </p:sp>
      <p:sp>
        <p:nvSpPr>
          <p:cNvPr id="16" name="Text 14"/>
          <p:cNvSpPr/>
          <p:nvPr/>
        </p:nvSpPr>
        <p:spPr>
          <a:xfrm>
            <a:off x="868680" y="3017520"/>
            <a:ext cx="1097280" cy="182880"/>
          </a:xfrm>
          <a:prstGeom prst="rect">
            <a:avLst/>
          </a:prstGeom>
          <a:noFill/>
          <a:ln/>
        </p:spPr>
        <p:txBody>
          <a:bodyPr wrap="square" rtlCol="0" anchor="ctr"/>
          <a:lstStyle/>
          <a:p>
            <a:pPr indent="0" marL="0">
              <a:buNone/>
            </a:pPr>
            <a:r>
              <a:rPr lang="en-US" sz="850" b="1" dirty="0">
                <a:solidFill>
                  <a:srgbClr val="475569"/>
                </a:solidFill>
                <a:latin typeface="Arial" pitchFamily="34" charset="0"/>
                <a:ea typeface="Arial" pitchFamily="34" charset="-122"/>
                <a:cs typeface="Arial" pitchFamily="34" charset="-120"/>
              </a:rPr>
              <a:t>Dataset Scope:</a:t>
            </a:r>
            <a:endParaRPr lang="en-US" sz="850" dirty="0"/>
          </a:p>
        </p:txBody>
      </p:sp>
      <p:sp>
        <p:nvSpPr>
          <p:cNvPr id="17" name="Text 15"/>
          <p:cNvSpPr/>
          <p:nvPr/>
        </p:nvSpPr>
        <p:spPr>
          <a:xfrm>
            <a:off x="2011680" y="3017520"/>
            <a:ext cx="2011680" cy="18288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15 High-Detail Cases</a:t>
            </a:r>
            <a:endParaRPr lang="en-US" sz="850" dirty="0"/>
          </a:p>
        </p:txBody>
      </p:sp>
      <p:sp>
        <p:nvSpPr>
          <p:cNvPr id="18" name="Text 16"/>
          <p:cNvSpPr/>
          <p:nvPr/>
        </p:nvSpPr>
        <p:spPr>
          <a:xfrm>
            <a:off x="868680" y="3246120"/>
            <a:ext cx="1097280" cy="182880"/>
          </a:xfrm>
          <a:prstGeom prst="rect">
            <a:avLst/>
          </a:prstGeom>
          <a:noFill/>
          <a:ln/>
        </p:spPr>
        <p:txBody>
          <a:bodyPr wrap="square" rtlCol="0" anchor="ctr"/>
          <a:lstStyle/>
          <a:p>
            <a:pPr indent="0" marL="0">
              <a:buNone/>
            </a:pPr>
            <a:r>
              <a:rPr lang="en-US" sz="850" b="1" dirty="0">
                <a:solidFill>
                  <a:srgbClr val="475569"/>
                </a:solidFill>
                <a:latin typeface="Arial" pitchFamily="34" charset="0"/>
                <a:ea typeface="Arial" pitchFamily="34" charset="-122"/>
                <a:cs typeface="Arial" pitchFamily="34" charset="-120"/>
              </a:rPr>
              <a:t>Indexed Fields:</a:t>
            </a:r>
            <a:endParaRPr lang="en-US" sz="850" dirty="0"/>
          </a:p>
        </p:txBody>
      </p:sp>
      <p:sp>
        <p:nvSpPr>
          <p:cNvPr id="19" name="Text 17"/>
          <p:cNvSpPr/>
          <p:nvPr/>
        </p:nvSpPr>
        <p:spPr>
          <a:xfrm>
            <a:off x="2011680" y="3246120"/>
            <a:ext cx="2011680" cy="411480"/>
          </a:xfrm>
          <a:prstGeom prst="rect">
            <a:avLst/>
          </a:prstGeom>
          <a:noFill/>
          <a:ln/>
        </p:spPr>
        <p:txBody>
          <a:bodyPr wrap="square" rtlCol="0" anchor="ctr"/>
          <a:lstStyle/>
          <a:p>
            <a:pPr indent="0" marL="0">
              <a:lnSpc>
                <a:spcPts val="1100"/>
              </a:lnSpc>
              <a:buNone/>
            </a:pPr>
            <a:r>
              <a:rPr lang="en-US" sz="800" dirty="0">
                <a:solidFill>
                  <a:srgbClr val="0F172A"/>
                </a:solidFill>
                <a:latin typeface="Arial" pitchFamily="34" charset="0"/>
                <a:ea typeface="Arial" pitchFamily="34" charset="-122"/>
                <a:cs typeface="Arial" pitchFamily="34" charset="-120"/>
              </a:rPr>
              <a:t>Pet Name, Species, Breed, Color, Collar, Microchip, Area, Reward, Contact</a:t>
            </a:r>
            <a:endParaRPr lang="en-US" sz="800" dirty="0"/>
          </a:p>
        </p:txBody>
      </p:sp>
      <p:sp>
        <p:nvSpPr>
          <p:cNvPr id="20" name="Text 18"/>
          <p:cNvSpPr/>
          <p:nvPr/>
        </p:nvSpPr>
        <p:spPr>
          <a:xfrm>
            <a:off x="868680" y="3749040"/>
            <a:ext cx="1097280" cy="182880"/>
          </a:xfrm>
          <a:prstGeom prst="rect">
            <a:avLst/>
          </a:prstGeom>
          <a:noFill/>
          <a:ln/>
        </p:spPr>
        <p:txBody>
          <a:bodyPr wrap="square" rtlCol="0" anchor="ctr"/>
          <a:lstStyle/>
          <a:p>
            <a:pPr indent="0" marL="0">
              <a:buNone/>
            </a:pPr>
            <a:r>
              <a:rPr lang="en-US" sz="850" b="1" dirty="0">
                <a:solidFill>
                  <a:srgbClr val="475569"/>
                </a:solidFill>
                <a:latin typeface="Arial" pitchFamily="34" charset="0"/>
                <a:ea typeface="Arial" pitchFamily="34" charset="-122"/>
                <a:cs typeface="Arial" pitchFamily="34" charset="-120"/>
              </a:rPr>
              <a:t>Clinical Purpose:</a:t>
            </a:r>
            <a:endParaRPr lang="en-US" sz="850" dirty="0"/>
          </a:p>
        </p:txBody>
      </p:sp>
      <p:sp>
        <p:nvSpPr>
          <p:cNvPr id="21" name="Text 19"/>
          <p:cNvSpPr/>
          <p:nvPr/>
        </p:nvSpPr>
        <p:spPr>
          <a:xfrm>
            <a:off x="2011680" y="3749040"/>
            <a:ext cx="2011680" cy="822960"/>
          </a:xfrm>
          <a:prstGeom prst="rect">
            <a:avLst/>
          </a:prstGeom>
          <a:noFill/>
          <a:ln/>
        </p:spPr>
        <p:txBody>
          <a:bodyPr wrap="square" rtlCol="0" anchor="ctr"/>
          <a:lstStyle/>
          <a:p>
            <a:pPr indent="0" marL="0">
              <a:lnSpc>
                <a:spcPts val="1200"/>
              </a:lnSpc>
              <a:buNone/>
            </a:pPr>
            <a:r>
              <a:rPr lang="en-US" sz="850" dirty="0">
                <a:solidFill>
                  <a:srgbClr val="475569"/>
                </a:solidFill>
                <a:latin typeface="Arial" pitchFamily="34" charset="0"/>
                <a:ea typeface="Arial" pitchFamily="34" charset="-122"/>
                <a:cs typeface="Arial" pitchFamily="34" charset="-120"/>
              </a:rPr>
              <a:t>Visual &amp; semantic cross-referencing of lost pet posters against crowd-sourced sighting reports.</a:t>
            </a:r>
            <a:endParaRPr lang="en-US" sz="850" dirty="0"/>
          </a:p>
        </p:txBody>
      </p:sp>
      <p:sp>
        <p:nvSpPr>
          <p:cNvPr id="22" name="Shape 20"/>
          <p:cNvSpPr/>
          <p:nvPr/>
        </p:nvSpPr>
        <p:spPr>
          <a:xfrm>
            <a:off x="4370832" y="1783080"/>
            <a:ext cx="3429000" cy="2926080"/>
          </a:xfrm>
          <a:prstGeom prst="roundRect">
            <a:avLst/>
          </a:prstGeom>
          <a:solidFill>
            <a:srgbClr val="FFFFFF"/>
          </a:solidFill>
          <a:ln w="15240">
            <a:solidFill>
              <a:srgbClr val="CBD5E1"/>
            </a:solidFill>
            <a:prstDash val="solid"/>
          </a:ln>
        </p:spPr>
      </p:sp>
      <p:sp>
        <p:nvSpPr>
          <p:cNvPr id="23" name="Text 21"/>
          <p:cNvSpPr/>
          <p:nvPr/>
        </p:nvSpPr>
        <p:spPr>
          <a:xfrm>
            <a:off x="4507992" y="192024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24" name="Text 22"/>
          <p:cNvSpPr/>
          <p:nvPr/>
        </p:nvSpPr>
        <p:spPr>
          <a:xfrm>
            <a:off x="4507992" y="2331720"/>
            <a:ext cx="3108960" cy="320040"/>
          </a:xfrm>
          <a:prstGeom prst="rect">
            <a:avLst/>
          </a:prstGeom>
          <a:noFill/>
          <a:ln/>
        </p:spPr>
        <p:txBody>
          <a:bodyPr wrap="square" rtlCol="0" anchor="ctr"/>
          <a:lstStyle/>
          <a:p>
            <a:pPr indent="0" marL="0">
              <a:buNone/>
            </a:pPr>
            <a:r>
              <a:rPr lang="en-US" sz="1150" b="1" dirty="0">
                <a:solidFill>
                  <a:srgbClr val="4338CA"/>
                </a:solidFill>
                <a:latin typeface="Courier New" pitchFamily="34" charset="0"/>
                <a:ea typeface="Courier New" pitchFamily="34" charset="-122"/>
                <a:cs typeface="Courier New" pitchFamily="34" charset="-120"/>
              </a:rPr>
              <a:t>dhaka_vet_clinics_directory.csv</a:t>
            </a:r>
            <a:endParaRPr lang="en-US" sz="1150" dirty="0"/>
          </a:p>
        </p:txBody>
      </p:sp>
      <p:sp>
        <p:nvSpPr>
          <p:cNvPr id="25" name="Text 23"/>
          <p:cNvSpPr/>
          <p:nvPr/>
        </p:nvSpPr>
        <p:spPr>
          <a:xfrm>
            <a:off x="4507992" y="2651760"/>
            <a:ext cx="3108960" cy="182880"/>
          </a:xfrm>
          <a:prstGeom prst="rect">
            <a:avLst/>
          </a:prstGeom>
          <a:noFill/>
          <a:ln/>
        </p:spPr>
        <p:txBody>
          <a:bodyPr wrap="square" rtlCol="0" anchor="ctr"/>
          <a:lstStyle/>
          <a:p>
            <a:pPr indent="0" marL="0">
              <a:buNone/>
            </a:pPr>
            <a:r>
              <a:rPr lang="en-US" sz="850" dirty="0">
                <a:solidFill>
                  <a:srgbClr val="64748B"/>
                </a:solidFill>
                <a:latin typeface="Courier New" pitchFamily="34" charset="0"/>
                <a:ea typeface="Courier New" pitchFamily="34" charset="-122"/>
                <a:cs typeface="Courier New" pitchFamily="34" charset="-120"/>
              </a:rPr>
              <a:t>UUID: 9dfc7c57-c072-441c...</a:t>
            </a:r>
            <a:endParaRPr lang="en-US" sz="850" dirty="0"/>
          </a:p>
        </p:txBody>
      </p:sp>
      <p:sp>
        <p:nvSpPr>
          <p:cNvPr id="26" name="Shape 24"/>
          <p:cNvSpPr/>
          <p:nvPr/>
        </p:nvSpPr>
        <p:spPr>
          <a:xfrm>
            <a:off x="4507992" y="2907792"/>
            <a:ext cx="3108960" cy="0"/>
          </a:xfrm>
          <a:prstGeom prst="line">
            <a:avLst/>
          </a:prstGeom>
          <a:noFill/>
          <a:ln w="12700">
            <a:solidFill>
              <a:srgbClr val="E2E8F0"/>
            </a:solidFill>
            <a:prstDash val="solid"/>
          </a:ln>
        </p:spPr>
      </p:sp>
      <p:sp>
        <p:nvSpPr>
          <p:cNvPr id="27" name="Text 25"/>
          <p:cNvSpPr/>
          <p:nvPr/>
        </p:nvSpPr>
        <p:spPr>
          <a:xfrm>
            <a:off x="4507992" y="3017520"/>
            <a:ext cx="1097280" cy="182880"/>
          </a:xfrm>
          <a:prstGeom prst="rect">
            <a:avLst/>
          </a:prstGeom>
          <a:noFill/>
          <a:ln/>
        </p:spPr>
        <p:txBody>
          <a:bodyPr wrap="square" rtlCol="0" anchor="ctr"/>
          <a:lstStyle/>
          <a:p>
            <a:pPr indent="0" marL="0">
              <a:buNone/>
            </a:pPr>
            <a:r>
              <a:rPr lang="en-US" sz="850" b="1" dirty="0">
                <a:solidFill>
                  <a:srgbClr val="475569"/>
                </a:solidFill>
                <a:latin typeface="Arial" pitchFamily="34" charset="0"/>
                <a:ea typeface="Arial" pitchFamily="34" charset="-122"/>
                <a:cs typeface="Arial" pitchFamily="34" charset="-120"/>
              </a:rPr>
              <a:t>Dataset Scope:</a:t>
            </a:r>
            <a:endParaRPr lang="en-US" sz="850" dirty="0"/>
          </a:p>
        </p:txBody>
      </p:sp>
      <p:sp>
        <p:nvSpPr>
          <p:cNvPr id="28" name="Text 26"/>
          <p:cNvSpPr/>
          <p:nvPr/>
        </p:nvSpPr>
        <p:spPr>
          <a:xfrm>
            <a:off x="5650992" y="3017520"/>
            <a:ext cx="2011680" cy="18288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8 Verified Hospitals</a:t>
            </a:r>
            <a:endParaRPr lang="en-US" sz="850" dirty="0"/>
          </a:p>
        </p:txBody>
      </p:sp>
      <p:sp>
        <p:nvSpPr>
          <p:cNvPr id="29" name="Text 27"/>
          <p:cNvSpPr/>
          <p:nvPr/>
        </p:nvSpPr>
        <p:spPr>
          <a:xfrm>
            <a:off x="4507992" y="3246120"/>
            <a:ext cx="1097280" cy="182880"/>
          </a:xfrm>
          <a:prstGeom prst="rect">
            <a:avLst/>
          </a:prstGeom>
          <a:noFill/>
          <a:ln/>
        </p:spPr>
        <p:txBody>
          <a:bodyPr wrap="square" rtlCol="0" anchor="ctr"/>
          <a:lstStyle/>
          <a:p>
            <a:pPr indent="0" marL="0">
              <a:buNone/>
            </a:pPr>
            <a:r>
              <a:rPr lang="en-US" sz="850" b="1" dirty="0">
                <a:solidFill>
                  <a:srgbClr val="475569"/>
                </a:solidFill>
                <a:latin typeface="Arial" pitchFamily="34" charset="0"/>
                <a:ea typeface="Arial" pitchFamily="34" charset="-122"/>
                <a:cs typeface="Arial" pitchFamily="34" charset="-120"/>
              </a:rPr>
              <a:t>Indexed Fields:</a:t>
            </a:r>
            <a:endParaRPr lang="en-US" sz="850" dirty="0"/>
          </a:p>
        </p:txBody>
      </p:sp>
      <p:sp>
        <p:nvSpPr>
          <p:cNvPr id="30" name="Text 28"/>
          <p:cNvSpPr/>
          <p:nvPr/>
        </p:nvSpPr>
        <p:spPr>
          <a:xfrm>
            <a:off x="5650992" y="3246120"/>
            <a:ext cx="2011680" cy="411480"/>
          </a:xfrm>
          <a:prstGeom prst="rect">
            <a:avLst/>
          </a:prstGeom>
          <a:noFill/>
          <a:ln/>
        </p:spPr>
        <p:txBody>
          <a:bodyPr wrap="square" rtlCol="0" anchor="ctr"/>
          <a:lstStyle/>
          <a:p>
            <a:pPr indent="0" marL="0">
              <a:lnSpc>
                <a:spcPts val="1100"/>
              </a:lnSpc>
              <a:buNone/>
            </a:pPr>
            <a:r>
              <a:rPr lang="en-US" sz="800" dirty="0">
                <a:solidFill>
                  <a:srgbClr val="0F172A"/>
                </a:solidFill>
                <a:latin typeface="Arial" pitchFamily="34" charset="0"/>
                <a:ea typeface="Arial" pitchFamily="34" charset="-122"/>
                <a:cs typeface="Arial" pitchFamily="34" charset="-120"/>
              </a:rPr>
              <a:t>Clinic Name, District, 24/7 ICU, Surgery Suite, Doctor in Charge, Phone, Tele-Slot</a:t>
            </a:r>
            <a:endParaRPr lang="en-US" sz="800" dirty="0"/>
          </a:p>
        </p:txBody>
      </p:sp>
      <p:sp>
        <p:nvSpPr>
          <p:cNvPr id="31" name="Text 29"/>
          <p:cNvSpPr/>
          <p:nvPr/>
        </p:nvSpPr>
        <p:spPr>
          <a:xfrm>
            <a:off x="4507992" y="3749040"/>
            <a:ext cx="1097280" cy="182880"/>
          </a:xfrm>
          <a:prstGeom prst="rect">
            <a:avLst/>
          </a:prstGeom>
          <a:noFill/>
          <a:ln/>
        </p:spPr>
        <p:txBody>
          <a:bodyPr wrap="square" rtlCol="0" anchor="ctr"/>
          <a:lstStyle/>
          <a:p>
            <a:pPr indent="0" marL="0">
              <a:buNone/>
            </a:pPr>
            <a:r>
              <a:rPr lang="en-US" sz="850" b="1" dirty="0">
                <a:solidFill>
                  <a:srgbClr val="475569"/>
                </a:solidFill>
                <a:latin typeface="Arial" pitchFamily="34" charset="0"/>
                <a:ea typeface="Arial" pitchFamily="34" charset="-122"/>
                <a:cs typeface="Arial" pitchFamily="34" charset="-120"/>
              </a:rPr>
              <a:t>Clinical Purpose:</a:t>
            </a:r>
            <a:endParaRPr lang="en-US" sz="850" dirty="0"/>
          </a:p>
        </p:txBody>
      </p:sp>
      <p:sp>
        <p:nvSpPr>
          <p:cNvPr id="32" name="Text 30"/>
          <p:cNvSpPr/>
          <p:nvPr/>
        </p:nvSpPr>
        <p:spPr>
          <a:xfrm>
            <a:off x="5650992" y="3749040"/>
            <a:ext cx="2011680" cy="822960"/>
          </a:xfrm>
          <a:prstGeom prst="rect">
            <a:avLst/>
          </a:prstGeom>
          <a:noFill/>
          <a:ln/>
        </p:spPr>
        <p:txBody>
          <a:bodyPr wrap="square" rtlCol="0" anchor="ctr"/>
          <a:lstStyle/>
          <a:p>
            <a:pPr indent="0" marL="0">
              <a:lnSpc>
                <a:spcPts val="1200"/>
              </a:lnSpc>
              <a:buNone/>
            </a:pPr>
            <a:r>
              <a:rPr lang="en-US" sz="850" dirty="0">
                <a:solidFill>
                  <a:srgbClr val="475569"/>
                </a:solidFill>
                <a:latin typeface="Arial" pitchFamily="34" charset="0"/>
                <a:ea typeface="Arial" pitchFamily="34" charset="-122"/>
                <a:cs typeface="Arial" pitchFamily="34" charset="-120"/>
              </a:rPr>
              <a:t>Geographic and specialty-based emergency matching to avoid critical care delays.</a:t>
            </a:r>
            <a:endParaRPr lang="en-US" sz="850" dirty="0"/>
          </a:p>
        </p:txBody>
      </p:sp>
      <p:sp>
        <p:nvSpPr>
          <p:cNvPr id="33" name="Shape 31"/>
          <p:cNvSpPr/>
          <p:nvPr/>
        </p:nvSpPr>
        <p:spPr>
          <a:xfrm>
            <a:off x="8010144" y="1783080"/>
            <a:ext cx="3429000" cy="2926080"/>
          </a:xfrm>
          <a:prstGeom prst="roundRect">
            <a:avLst/>
          </a:prstGeom>
          <a:solidFill>
            <a:srgbClr val="FFFFFF"/>
          </a:solidFill>
          <a:ln w="15240">
            <a:solidFill>
              <a:srgbClr val="CBD5E1"/>
            </a:solidFill>
            <a:prstDash val="solid"/>
          </a:ln>
        </p:spPr>
      </p:sp>
      <p:sp>
        <p:nvSpPr>
          <p:cNvPr id="34" name="Text 32"/>
          <p:cNvSpPr/>
          <p:nvPr/>
        </p:nvSpPr>
        <p:spPr>
          <a:xfrm>
            <a:off x="8147304" y="1920240"/>
            <a:ext cx="457200" cy="365760"/>
          </a:xfrm>
          <a:prstGeom prst="rect">
            <a:avLst/>
          </a:prstGeom>
          <a:noFill/>
          <a:ln/>
        </p:spPr>
        <p:txBody>
          <a:bodyPr wrap="square" rtlCol="0" anchor="ctr"/>
          <a:lstStyle/>
          <a:p>
            <a:pPr indent="0" marL="0">
              <a:buNone/>
            </a:pPr>
            <a:r>
              <a:rPr lang="en-US" sz="2000" dirty="0">
                <a:solidFill>
                  <a:srgbClr val="000000"/>
                </a:solidFill>
              </a:rPr>
              <a:t>🛒</a:t>
            </a:r>
            <a:endParaRPr lang="en-US" sz="2000" dirty="0"/>
          </a:p>
        </p:txBody>
      </p:sp>
      <p:sp>
        <p:nvSpPr>
          <p:cNvPr id="35" name="Text 33"/>
          <p:cNvSpPr/>
          <p:nvPr/>
        </p:nvSpPr>
        <p:spPr>
          <a:xfrm>
            <a:off x="8147304" y="2331720"/>
            <a:ext cx="3108960" cy="320040"/>
          </a:xfrm>
          <a:prstGeom prst="rect">
            <a:avLst/>
          </a:prstGeom>
          <a:noFill/>
          <a:ln/>
        </p:spPr>
        <p:txBody>
          <a:bodyPr wrap="square" rtlCol="0" anchor="ctr"/>
          <a:lstStyle/>
          <a:p>
            <a:pPr indent="0" marL="0">
              <a:buNone/>
            </a:pPr>
            <a:r>
              <a:rPr lang="en-US" sz="1150" b="1" dirty="0">
                <a:solidFill>
                  <a:srgbClr val="4338CA"/>
                </a:solidFill>
                <a:latin typeface="Courier New" pitchFamily="34" charset="0"/>
                <a:ea typeface="Courier New" pitchFamily="34" charset="-122"/>
                <a:cs typeface="Courier New" pitchFamily="34" charset="-120"/>
              </a:rPr>
              <a:t>pet_nutrition_and_marketplace_catalog.csv</a:t>
            </a:r>
            <a:endParaRPr lang="en-US" sz="1150" dirty="0"/>
          </a:p>
        </p:txBody>
      </p:sp>
      <p:sp>
        <p:nvSpPr>
          <p:cNvPr id="36" name="Text 34"/>
          <p:cNvSpPr/>
          <p:nvPr/>
        </p:nvSpPr>
        <p:spPr>
          <a:xfrm>
            <a:off x="8147304" y="2651760"/>
            <a:ext cx="3108960" cy="182880"/>
          </a:xfrm>
          <a:prstGeom prst="rect">
            <a:avLst/>
          </a:prstGeom>
          <a:noFill/>
          <a:ln/>
        </p:spPr>
        <p:txBody>
          <a:bodyPr wrap="square" rtlCol="0" anchor="ctr"/>
          <a:lstStyle/>
          <a:p>
            <a:pPr indent="0" marL="0">
              <a:buNone/>
            </a:pPr>
            <a:r>
              <a:rPr lang="en-US" sz="850" dirty="0">
                <a:solidFill>
                  <a:srgbClr val="64748B"/>
                </a:solidFill>
                <a:latin typeface="Courier New" pitchFamily="34" charset="0"/>
                <a:ea typeface="Courier New" pitchFamily="34" charset="-122"/>
                <a:cs typeface="Courier New" pitchFamily="34" charset="-120"/>
              </a:rPr>
              <a:t>UUID: 1fbd9ddf-ee42-4ee6...</a:t>
            </a:r>
            <a:endParaRPr lang="en-US" sz="850" dirty="0"/>
          </a:p>
        </p:txBody>
      </p:sp>
      <p:sp>
        <p:nvSpPr>
          <p:cNvPr id="37" name="Shape 35"/>
          <p:cNvSpPr/>
          <p:nvPr/>
        </p:nvSpPr>
        <p:spPr>
          <a:xfrm>
            <a:off x="8147304" y="2907792"/>
            <a:ext cx="3108960" cy="0"/>
          </a:xfrm>
          <a:prstGeom prst="line">
            <a:avLst/>
          </a:prstGeom>
          <a:noFill/>
          <a:ln w="12700">
            <a:solidFill>
              <a:srgbClr val="E2E8F0"/>
            </a:solidFill>
            <a:prstDash val="solid"/>
          </a:ln>
        </p:spPr>
      </p:sp>
      <p:sp>
        <p:nvSpPr>
          <p:cNvPr id="38" name="Text 36"/>
          <p:cNvSpPr/>
          <p:nvPr/>
        </p:nvSpPr>
        <p:spPr>
          <a:xfrm>
            <a:off x="8147304" y="3017520"/>
            <a:ext cx="1097280" cy="182880"/>
          </a:xfrm>
          <a:prstGeom prst="rect">
            <a:avLst/>
          </a:prstGeom>
          <a:noFill/>
          <a:ln/>
        </p:spPr>
        <p:txBody>
          <a:bodyPr wrap="square" rtlCol="0" anchor="ctr"/>
          <a:lstStyle/>
          <a:p>
            <a:pPr indent="0" marL="0">
              <a:buNone/>
            </a:pPr>
            <a:r>
              <a:rPr lang="en-US" sz="850" b="1" dirty="0">
                <a:solidFill>
                  <a:srgbClr val="475569"/>
                </a:solidFill>
                <a:latin typeface="Arial" pitchFamily="34" charset="0"/>
                <a:ea typeface="Arial" pitchFamily="34" charset="-122"/>
                <a:cs typeface="Arial" pitchFamily="34" charset="-120"/>
              </a:rPr>
              <a:t>Dataset Scope:</a:t>
            </a:r>
            <a:endParaRPr lang="en-US" sz="850" dirty="0"/>
          </a:p>
        </p:txBody>
      </p:sp>
      <p:sp>
        <p:nvSpPr>
          <p:cNvPr id="39" name="Text 37"/>
          <p:cNvSpPr/>
          <p:nvPr/>
        </p:nvSpPr>
        <p:spPr>
          <a:xfrm>
            <a:off x="9290304" y="3017520"/>
            <a:ext cx="2011680" cy="18288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11 Verified Diet Lines</a:t>
            </a:r>
            <a:endParaRPr lang="en-US" sz="850" dirty="0"/>
          </a:p>
        </p:txBody>
      </p:sp>
      <p:sp>
        <p:nvSpPr>
          <p:cNvPr id="40" name="Text 38"/>
          <p:cNvSpPr/>
          <p:nvPr/>
        </p:nvSpPr>
        <p:spPr>
          <a:xfrm>
            <a:off x="8147304" y="3246120"/>
            <a:ext cx="1097280" cy="182880"/>
          </a:xfrm>
          <a:prstGeom prst="rect">
            <a:avLst/>
          </a:prstGeom>
          <a:noFill/>
          <a:ln/>
        </p:spPr>
        <p:txBody>
          <a:bodyPr wrap="square" rtlCol="0" anchor="ctr"/>
          <a:lstStyle/>
          <a:p>
            <a:pPr indent="0" marL="0">
              <a:buNone/>
            </a:pPr>
            <a:r>
              <a:rPr lang="en-US" sz="850" b="1" dirty="0">
                <a:solidFill>
                  <a:srgbClr val="475569"/>
                </a:solidFill>
                <a:latin typeface="Arial" pitchFamily="34" charset="0"/>
                <a:ea typeface="Arial" pitchFamily="34" charset="-122"/>
                <a:cs typeface="Arial" pitchFamily="34" charset="-120"/>
              </a:rPr>
              <a:t>Indexed Fields:</a:t>
            </a:r>
            <a:endParaRPr lang="en-US" sz="850" dirty="0"/>
          </a:p>
        </p:txBody>
      </p:sp>
      <p:sp>
        <p:nvSpPr>
          <p:cNvPr id="41" name="Text 39"/>
          <p:cNvSpPr/>
          <p:nvPr/>
        </p:nvSpPr>
        <p:spPr>
          <a:xfrm>
            <a:off x="9290304" y="3246120"/>
            <a:ext cx="2011680" cy="411480"/>
          </a:xfrm>
          <a:prstGeom prst="rect">
            <a:avLst/>
          </a:prstGeom>
          <a:noFill/>
          <a:ln/>
        </p:spPr>
        <p:txBody>
          <a:bodyPr wrap="square" rtlCol="0" anchor="ctr"/>
          <a:lstStyle/>
          <a:p>
            <a:pPr indent="0" marL="0">
              <a:lnSpc>
                <a:spcPts val="1100"/>
              </a:lnSpc>
              <a:buNone/>
            </a:pPr>
            <a:r>
              <a:rPr lang="en-US" sz="800" dirty="0">
                <a:solidFill>
                  <a:srgbClr val="0F172A"/>
                </a:solidFill>
                <a:latin typeface="Arial" pitchFamily="34" charset="0"/>
                <a:ea typeface="Arial" pitchFamily="34" charset="-122"/>
                <a:cs typeface="Arial" pitchFamily="34" charset="-120"/>
              </a:rPr>
              <a:t>Brand, Species, Life Stage, Protein Source, Joint Care, Price (BDT), Vendor</a:t>
            </a:r>
            <a:endParaRPr lang="en-US" sz="800" dirty="0"/>
          </a:p>
        </p:txBody>
      </p:sp>
      <p:sp>
        <p:nvSpPr>
          <p:cNvPr id="42" name="Text 40"/>
          <p:cNvSpPr/>
          <p:nvPr/>
        </p:nvSpPr>
        <p:spPr>
          <a:xfrm>
            <a:off x="8147304" y="3749040"/>
            <a:ext cx="1097280" cy="182880"/>
          </a:xfrm>
          <a:prstGeom prst="rect">
            <a:avLst/>
          </a:prstGeom>
          <a:noFill/>
          <a:ln/>
        </p:spPr>
        <p:txBody>
          <a:bodyPr wrap="square" rtlCol="0" anchor="ctr"/>
          <a:lstStyle/>
          <a:p>
            <a:pPr indent="0" marL="0">
              <a:buNone/>
            </a:pPr>
            <a:r>
              <a:rPr lang="en-US" sz="850" b="1" dirty="0">
                <a:solidFill>
                  <a:srgbClr val="475569"/>
                </a:solidFill>
                <a:latin typeface="Arial" pitchFamily="34" charset="0"/>
                <a:ea typeface="Arial" pitchFamily="34" charset="-122"/>
                <a:cs typeface="Arial" pitchFamily="34" charset="-120"/>
              </a:rPr>
              <a:t>Clinical Purpose:</a:t>
            </a:r>
            <a:endParaRPr lang="en-US" sz="850" dirty="0"/>
          </a:p>
        </p:txBody>
      </p:sp>
      <p:sp>
        <p:nvSpPr>
          <p:cNvPr id="43" name="Text 41"/>
          <p:cNvSpPr/>
          <p:nvPr/>
        </p:nvSpPr>
        <p:spPr>
          <a:xfrm>
            <a:off x="9290304" y="3749040"/>
            <a:ext cx="2011680" cy="822960"/>
          </a:xfrm>
          <a:prstGeom prst="rect">
            <a:avLst/>
          </a:prstGeom>
          <a:noFill/>
          <a:ln/>
        </p:spPr>
        <p:txBody>
          <a:bodyPr wrap="square" rtlCol="0" anchor="ctr"/>
          <a:lstStyle/>
          <a:p>
            <a:pPr indent="0" marL="0">
              <a:lnSpc>
                <a:spcPts val="1200"/>
              </a:lnSpc>
              <a:buNone/>
            </a:pPr>
            <a:r>
              <a:rPr lang="en-US" sz="850" dirty="0">
                <a:solidFill>
                  <a:srgbClr val="475569"/>
                </a:solidFill>
                <a:latin typeface="Arial" pitchFamily="34" charset="0"/>
                <a:ea typeface="Arial" pitchFamily="34" charset="-122"/>
                <a:cs typeface="Arial" pitchFamily="34" charset="-120"/>
              </a:rPr>
              <a:t>Direct correlation of clinical nutritional advice to in-stock marketplace items.</a:t>
            </a:r>
            <a:endParaRPr lang="en-US" sz="850" dirty="0"/>
          </a:p>
        </p:txBody>
      </p:sp>
      <p:sp>
        <p:nvSpPr>
          <p:cNvPr id="44" name="Shape 42"/>
          <p:cNvSpPr/>
          <p:nvPr/>
        </p:nvSpPr>
        <p:spPr>
          <a:xfrm>
            <a:off x="731520" y="4892040"/>
            <a:ext cx="10728655" cy="1280160"/>
          </a:xfrm>
          <a:prstGeom prst="roundRect">
            <a:avLst/>
          </a:prstGeom>
          <a:solidFill>
            <a:srgbClr val="F1F5F9"/>
          </a:solidFill>
          <a:ln w="12700">
            <a:solidFill>
              <a:srgbClr val="CBD5E1"/>
            </a:solidFill>
            <a:prstDash val="solid"/>
          </a:ln>
        </p:spPr>
      </p:sp>
      <p:sp>
        <p:nvSpPr>
          <p:cNvPr id="45" name="Text 43"/>
          <p:cNvSpPr/>
          <p:nvPr/>
        </p:nvSpPr>
        <p:spPr>
          <a:xfrm>
            <a:off x="914400" y="5010912"/>
            <a:ext cx="10362895" cy="182880"/>
          </a:xfrm>
          <a:prstGeom prst="rect">
            <a:avLst/>
          </a:prstGeom>
          <a:noFill/>
          <a:ln/>
        </p:spPr>
        <p:txBody>
          <a:bodyPr wrap="square" rtlCol="0" anchor="ctr"/>
          <a:lstStyle/>
          <a:p>
            <a:pPr indent="0" marL="0">
              <a:buNone/>
            </a:pPr>
            <a:r>
              <a:rPr lang="en-US" sz="950" b="1" spc="100" kern="0" dirty="0">
                <a:solidFill>
                  <a:srgbClr val="4338CA"/>
                </a:solidFill>
                <a:latin typeface="Arial" pitchFamily="34" charset="0"/>
                <a:ea typeface="Arial" pitchFamily="34" charset="-122"/>
                <a:cs typeface="Arial" pitchFamily="34" charset="-120"/>
              </a:rPr>
              <a:t>GIGALOGY MAIRA 4-STEP INGESTION LIFECYCLE</a:t>
            </a:r>
            <a:endParaRPr lang="en-US" sz="950" dirty="0"/>
          </a:p>
        </p:txBody>
      </p:sp>
      <p:sp>
        <p:nvSpPr>
          <p:cNvPr id="46" name="Text 44"/>
          <p:cNvSpPr/>
          <p:nvPr/>
        </p:nvSpPr>
        <p:spPr>
          <a:xfrm>
            <a:off x="914400" y="5257800"/>
            <a:ext cx="2468880" cy="228600"/>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Step 1: Data Cleaning</a:t>
            </a:r>
            <a:endParaRPr lang="en-US" sz="1000" dirty="0"/>
          </a:p>
        </p:txBody>
      </p:sp>
      <p:sp>
        <p:nvSpPr>
          <p:cNvPr id="47" name="Text 45"/>
          <p:cNvSpPr/>
          <p:nvPr/>
        </p:nvSpPr>
        <p:spPr>
          <a:xfrm>
            <a:off x="914400" y="5504688"/>
            <a:ext cx="2468880" cy="45720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UTF-8 enforcement &amp; schema alignment</a:t>
            </a:r>
            <a:endParaRPr lang="en-US" sz="850" dirty="0"/>
          </a:p>
        </p:txBody>
      </p:sp>
      <p:sp>
        <p:nvSpPr>
          <p:cNvPr id="48" name="Text 46"/>
          <p:cNvSpPr/>
          <p:nvPr/>
        </p:nvSpPr>
        <p:spPr>
          <a:xfrm>
            <a:off x="3520440" y="5257800"/>
            <a:ext cx="2468880" cy="228600"/>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Step 2: Chunking &amp; Tokenization</a:t>
            </a:r>
            <a:endParaRPr lang="en-US" sz="1000" dirty="0"/>
          </a:p>
        </p:txBody>
      </p:sp>
      <p:sp>
        <p:nvSpPr>
          <p:cNvPr id="49" name="Text 47"/>
          <p:cNvSpPr/>
          <p:nvPr/>
        </p:nvSpPr>
        <p:spPr>
          <a:xfrm>
            <a:off x="3520440" y="5504688"/>
            <a:ext cx="2468880" cy="45720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Semantic paragraph segmenting</a:t>
            </a:r>
            <a:endParaRPr lang="en-US" sz="850" dirty="0"/>
          </a:p>
        </p:txBody>
      </p:sp>
      <p:sp>
        <p:nvSpPr>
          <p:cNvPr id="50" name="Text 48"/>
          <p:cNvSpPr/>
          <p:nvPr/>
        </p:nvSpPr>
        <p:spPr>
          <a:xfrm>
            <a:off x="6126480" y="5257800"/>
            <a:ext cx="2468880" cy="228600"/>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Step 3: Vector Embedding</a:t>
            </a:r>
            <a:endParaRPr lang="en-US" sz="1000" dirty="0"/>
          </a:p>
        </p:txBody>
      </p:sp>
      <p:sp>
        <p:nvSpPr>
          <p:cNvPr id="51" name="Text 49"/>
          <p:cNvSpPr/>
          <p:nvPr/>
        </p:nvSpPr>
        <p:spPr>
          <a:xfrm>
            <a:off x="6126480" y="5504688"/>
            <a:ext cx="2468880" cy="45720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High-dimensional semantic representation</a:t>
            </a:r>
            <a:endParaRPr lang="en-US" sz="850" dirty="0"/>
          </a:p>
        </p:txBody>
      </p:sp>
      <p:sp>
        <p:nvSpPr>
          <p:cNvPr id="52" name="Text 50"/>
          <p:cNvSpPr/>
          <p:nvPr/>
        </p:nvSpPr>
        <p:spPr>
          <a:xfrm>
            <a:off x="8732520" y="5257800"/>
            <a:ext cx="2468880" cy="228600"/>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Step 4: Profile Association</a:t>
            </a:r>
            <a:endParaRPr lang="en-US" sz="1000" dirty="0"/>
          </a:p>
        </p:txBody>
      </p:sp>
      <p:sp>
        <p:nvSpPr>
          <p:cNvPr id="53" name="Text 51"/>
          <p:cNvSpPr/>
          <p:nvPr/>
        </p:nvSpPr>
        <p:spPr>
          <a:xfrm>
            <a:off x="8732520" y="5504688"/>
            <a:ext cx="2468880" cy="457200"/>
          </a:xfrm>
          <a:prstGeom prst="rect">
            <a:avLst/>
          </a:prstGeom>
          <a:noFill/>
          <a:ln/>
        </p:spPr>
        <p:txBody>
          <a:bodyPr wrap="square" rtlCol="0" anchor="ctr"/>
          <a:lstStyle/>
          <a:p>
            <a:pPr indent="0" marL="0">
              <a:buNone/>
            </a:pPr>
            <a:r>
              <a:rPr lang="en-US" sz="850" dirty="0">
                <a:solidFill>
                  <a:srgbClr val="475569"/>
                </a:solidFill>
                <a:latin typeface="Arial" pitchFamily="34" charset="0"/>
                <a:ea typeface="Arial" pitchFamily="34" charset="-122"/>
                <a:cs typeface="Arial" pitchFamily="34" charset="-120"/>
              </a:rPr>
              <a:t>Linking dataset UUID to MAIRA Profile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858000" cy="3200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NUZZLE AI PLATFORM  |  GIGALOGY MAIRA MANAGED RAG INTEGRATION</a:t>
            </a:r>
            <a:endParaRPr lang="en-US" sz="1100" dirty="0"/>
          </a:p>
        </p:txBody>
      </p:sp>
      <p:sp>
        <p:nvSpPr>
          <p:cNvPr id="4" name="Text 2"/>
          <p:cNvSpPr/>
          <p:nvPr/>
        </p:nvSpPr>
        <p:spPr>
          <a:xfrm>
            <a:off x="7315200" y="128016"/>
            <a:ext cx="4144975" cy="32004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Slide 9 of 12  •  Technical &amp; Architecture Deep Dive</a:t>
            </a:r>
            <a:endParaRPr lang="en-US" sz="1000" dirty="0"/>
          </a:p>
        </p:txBody>
      </p:sp>
      <p:sp>
        <p:nvSpPr>
          <p:cNvPr id="5" name="Text 3"/>
          <p:cNvSpPr/>
          <p:nvPr/>
        </p:nvSpPr>
        <p:spPr>
          <a:xfrm>
            <a:off x="731520" y="713232"/>
            <a:ext cx="10728655" cy="228600"/>
          </a:xfrm>
          <a:prstGeom prst="rect">
            <a:avLst/>
          </a:prstGeom>
          <a:noFill/>
          <a:ln/>
        </p:spPr>
        <p:txBody>
          <a:bodyPr wrap="square" rtlCol="0" anchor="ctr"/>
          <a:lstStyle/>
          <a:p>
            <a:pPr indent="0" marL="0">
              <a:buNone/>
            </a:pPr>
            <a:r>
              <a:rPr lang="en-US" sz="1000" b="1" spc="120" kern="0" dirty="0">
                <a:solidFill>
                  <a:srgbClr val="4338CA"/>
                </a:solidFill>
                <a:latin typeface="Arial" pitchFamily="34" charset="0"/>
                <a:ea typeface="Arial" pitchFamily="34" charset="-122"/>
                <a:cs typeface="Arial" pitchFamily="34" charset="-120"/>
              </a:rPr>
              <a:t>TECHNICAL IMPLEMENTATION</a:t>
            </a:r>
            <a:endParaRPr lang="en-US" sz="1000" dirty="0"/>
          </a:p>
        </p:txBody>
      </p:sp>
      <p:sp>
        <p:nvSpPr>
          <p:cNvPr id="6" name="Text 4"/>
          <p:cNvSpPr/>
          <p:nvPr/>
        </p:nvSpPr>
        <p:spPr>
          <a:xfrm>
            <a:off x="731520" y="932688"/>
            <a:ext cx="10728655" cy="438912"/>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API Protocols, Header Security &amp; Deep Section Parsing</a:t>
            </a:r>
            <a:endParaRPr lang="en-US" sz="2100" dirty="0"/>
          </a:p>
        </p:txBody>
      </p:sp>
      <p:sp>
        <p:nvSpPr>
          <p:cNvPr id="7" name="Text 5"/>
          <p:cNvSpPr/>
          <p:nvPr/>
        </p:nvSpPr>
        <p:spPr>
          <a:xfrm>
            <a:off x="731520" y="1353312"/>
            <a:ext cx="10728655" cy="292608"/>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Overcoming Gigalogy authentication nuances, UUID resolution, and extracting rich RAG sections.</a:t>
            </a:r>
            <a:endParaRPr lang="en-US" sz="1200" dirty="0"/>
          </a:p>
        </p:txBody>
      </p:sp>
      <p:sp>
        <p:nvSpPr>
          <p:cNvPr id="8" name="Shape 6"/>
          <p:cNvSpPr/>
          <p:nvPr/>
        </p:nvSpPr>
        <p:spPr>
          <a:xfrm>
            <a:off x="731520" y="6355080"/>
            <a:ext cx="10728655" cy="0"/>
          </a:xfrm>
          <a:prstGeom prst="line">
            <a:avLst/>
          </a:prstGeom>
          <a:noFill/>
          <a:ln w="12700">
            <a:solidFill>
              <a:srgbClr val="E2E8F0"/>
            </a:solidFill>
            <a:prstDash val="solid"/>
          </a:ln>
        </p:spPr>
      </p:sp>
      <p:sp>
        <p:nvSpPr>
          <p:cNvPr id="9" name="Text 7"/>
          <p:cNvSpPr/>
          <p:nvPr/>
        </p:nvSpPr>
        <p:spPr>
          <a:xfrm>
            <a:off x="731520" y="6446520"/>
            <a:ext cx="7315200" cy="27432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8229600" y="6446520"/>
            <a:ext cx="3230575" cy="27432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Text 9"/>
          <p:cNvSpPr/>
          <p:nvPr/>
        </p:nvSpPr>
        <p:spPr>
          <a:xfrm>
            <a:off x="731520" y="1783080"/>
            <a:ext cx="5120640" cy="228600"/>
          </a:xfrm>
          <a:prstGeom prst="rect">
            <a:avLst/>
          </a:prstGeom>
          <a:noFill/>
          <a:ln/>
        </p:spPr>
        <p:txBody>
          <a:bodyPr wrap="square" rtlCol="0" anchor="ctr"/>
          <a:lstStyle/>
          <a:p>
            <a:pPr indent="0" marL="0">
              <a:buNone/>
            </a:pPr>
            <a:r>
              <a:rPr lang="en-US" sz="1100" b="1" spc="100" kern="0" dirty="0">
                <a:solidFill>
                  <a:srgbClr val="4338CA"/>
                </a:solidFill>
                <a:latin typeface="Arial" pitchFamily="34" charset="0"/>
                <a:ea typeface="Arial" pitchFamily="34" charset="-122"/>
                <a:cs typeface="Arial" pitchFamily="34" charset="-120"/>
              </a:rPr>
              <a:t>CRITICAL INTEGRATION DISCOVERIES</a:t>
            </a:r>
            <a:endParaRPr lang="en-US" sz="1100" dirty="0"/>
          </a:p>
        </p:txBody>
      </p:sp>
      <p:sp>
        <p:nvSpPr>
          <p:cNvPr id="12" name="Shape 10"/>
          <p:cNvSpPr/>
          <p:nvPr/>
        </p:nvSpPr>
        <p:spPr>
          <a:xfrm>
            <a:off x="731520" y="2103120"/>
            <a:ext cx="5120640" cy="1207008"/>
          </a:xfrm>
          <a:prstGeom prst="roundRect">
            <a:avLst/>
          </a:prstGeom>
          <a:solidFill>
            <a:srgbClr val="FFFFFF"/>
          </a:solidFill>
          <a:ln w="15240">
            <a:solidFill>
              <a:srgbClr val="CBD5E1"/>
            </a:solidFill>
            <a:prstDash val="solid"/>
          </a:ln>
        </p:spPr>
      </p:sp>
      <p:sp>
        <p:nvSpPr>
          <p:cNvPr id="13" name="Text 11"/>
          <p:cNvSpPr/>
          <p:nvPr/>
        </p:nvSpPr>
        <p:spPr>
          <a:xfrm>
            <a:off x="914400" y="2212848"/>
            <a:ext cx="4754880" cy="274320"/>
          </a:xfrm>
          <a:prstGeom prst="rect">
            <a:avLst/>
          </a:prstGeom>
          <a:noFill/>
          <a:ln/>
        </p:spPr>
        <p:txBody>
          <a:bodyPr wrap="square" rtlCol="0" anchor="ctr"/>
          <a:lstStyle/>
          <a:p>
            <a:pPr indent="0" marL="0">
              <a:buNone/>
            </a:pPr>
            <a:r>
              <a:rPr lang="en-US" sz="1200" b="1" dirty="0">
                <a:solidFill>
                  <a:srgbClr val="4338CA"/>
                </a:solidFill>
                <a:latin typeface="Arial" pitchFamily="34" charset="0"/>
                <a:ea typeface="Arial" pitchFamily="34" charset="-122"/>
                <a:cs typeface="Arial" pitchFamily="34" charset="-120"/>
              </a:rPr>
              <a:t>💡 Hyphenated Security Headers</a:t>
            </a:r>
            <a:endParaRPr lang="en-US" sz="1200" dirty="0"/>
          </a:p>
        </p:txBody>
      </p:sp>
      <p:sp>
        <p:nvSpPr>
          <p:cNvPr id="14" name="Text 12"/>
          <p:cNvSpPr/>
          <p:nvPr/>
        </p:nvSpPr>
        <p:spPr>
          <a:xfrm>
            <a:off x="914400" y="2505456"/>
            <a:ext cx="4754880" cy="713232"/>
          </a:xfrm>
          <a:prstGeom prst="rect">
            <a:avLst/>
          </a:prstGeom>
          <a:noFill/>
          <a:ln/>
        </p:spPr>
        <p:txBody>
          <a:bodyPr wrap="square" rtlCol="0" anchor="ctr"/>
          <a:lstStyle/>
          <a:p>
            <a:pPr indent="0" marL="0">
              <a:lnSpc>
                <a:spcPts val="1400"/>
              </a:lnSpc>
              <a:buNone/>
            </a:pPr>
            <a:r>
              <a:rPr lang="en-US" sz="950" dirty="0">
                <a:solidFill>
                  <a:srgbClr val="475569"/>
                </a:solidFill>
                <a:latin typeface="Arial" pitchFamily="34" charset="0"/>
                <a:ea typeface="Arial" pitchFamily="34" charset="-122"/>
                <a:cs typeface="Arial" pitchFamily="34" charset="-120"/>
              </a:rPr>
              <a:t>Gigalogy MAIRA requires exact hyphenated headers ("api-key" and "project-key"). Standard Bearer tokens or underscore "api_key" trigger immediate 401 Access Denied.</a:t>
            </a:r>
            <a:endParaRPr lang="en-US" sz="950" dirty="0"/>
          </a:p>
        </p:txBody>
      </p:sp>
      <p:sp>
        <p:nvSpPr>
          <p:cNvPr id="15" name="Shape 13"/>
          <p:cNvSpPr/>
          <p:nvPr/>
        </p:nvSpPr>
        <p:spPr>
          <a:xfrm>
            <a:off x="731520" y="3429000"/>
            <a:ext cx="5120640" cy="1207008"/>
          </a:xfrm>
          <a:prstGeom prst="roundRect">
            <a:avLst/>
          </a:prstGeom>
          <a:solidFill>
            <a:srgbClr val="FFFFFF"/>
          </a:solidFill>
          <a:ln w="15240">
            <a:solidFill>
              <a:srgbClr val="CBD5E1"/>
            </a:solidFill>
            <a:prstDash val="solid"/>
          </a:ln>
        </p:spPr>
      </p:sp>
      <p:sp>
        <p:nvSpPr>
          <p:cNvPr id="16" name="Text 14"/>
          <p:cNvSpPr/>
          <p:nvPr/>
        </p:nvSpPr>
        <p:spPr>
          <a:xfrm>
            <a:off x="914400" y="3538728"/>
            <a:ext cx="4754880" cy="274320"/>
          </a:xfrm>
          <a:prstGeom prst="rect">
            <a:avLst/>
          </a:prstGeom>
          <a:noFill/>
          <a:ln/>
        </p:spPr>
        <p:txBody>
          <a:bodyPr wrap="square" rtlCol="0" anchor="ctr"/>
          <a:lstStyle/>
          <a:p>
            <a:pPr indent="0" marL="0">
              <a:buNone/>
            </a:pPr>
            <a:r>
              <a:rPr lang="en-US" sz="1200" b="1" dirty="0">
                <a:solidFill>
                  <a:srgbClr val="4338CA"/>
                </a:solidFill>
                <a:latin typeface="Arial" pitchFamily="34" charset="0"/>
                <a:ea typeface="Arial" pitchFamily="34" charset="-122"/>
                <a:cs typeface="Arial" pitchFamily="34" charset="-120"/>
              </a:rPr>
              <a:t>💡 Full 36-Char UUID Resolution</a:t>
            </a:r>
            <a:endParaRPr lang="en-US" sz="1200" dirty="0"/>
          </a:p>
        </p:txBody>
      </p:sp>
      <p:sp>
        <p:nvSpPr>
          <p:cNvPr id="17" name="Text 15"/>
          <p:cNvSpPr/>
          <p:nvPr/>
        </p:nvSpPr>
        <p:spPr>
          <a:xfrm>
            <a:off x="914400" y="3831336"/>
            <a:ext cx="4754880" cy="713232"/>
          </a:xfrm>
          <a:prstGeom prst="rect">
            <a:avLst/>
          </a:prstGeom>
          <a:noFill/>
          <a:ln/>
        </p:spPr>
        <p:txBody>
          <a:bodyPr wrap="square" rtlCol="0" anchor="ctr"/>
          <a:lstStyle/>
          <a:p>
            <a:pPr indent="0" marL="0">
              <a:lnSpc>
                <a:spcPts val="1400"/>
              </a:lnSpc>
              <a:buNone/>
            </a:pPr>
            <a:r>
              <a:rPr lang="en-US" sz="950" dirty="0">
                <a:solidFill>
                  <a:srgbClr val="475569"/>
                </a:solidFill>
                <a:latin typeface="Arial" pitchFamily="34" charset="0"/>
                <a:ea typeface="Arial" pitchFamily="34" charset="-122"/>
                <a:cs typeface="Arial" pitchFamily="34" charset="-120"/>
              </a:rPr>
              <a:t>The MAIRA dashboard truncates IDs to 8 hex characters (e.g. 0a8fd1e8). The backend must query GET /v1/gpt/profiles to resolve and use the full 36-character canonical UUID.</a:t>
            </a:r>
            <a:endParaRPr lang="en-US" sz="950" dirty="0"/>
          </a:p>
        </p:txBody>
      </p:sp>
      <p:sp>
        <p:nvSpPr>
          <p:cNvPr id="18" name="Shape 16"/>
          <p:cNvSpPr/>
          <p:nvPr/>
        </p:nvSpPr>
        <p:spPr>
          <a:xfrm>
            <a:off x="731520" y="4754880"/>
            <a:ext cx="5120640" cy="1207008"/>
          </a:xfrm>
          <a:prstGeom prst="roundRect">
            <a:avLst/>
          </a:prstGeom>
          <a:solidFill>
            <a:srgbClr val="FFFFFF"/>
          </a:solidFill>
          <a:ln w="15240">
            <a:solidFill>
              <a:srgbClr val="CBD5E1"/>
            </a:solidFill>
            <a:prstDash val="solid"/>
          </a:ln>
        </p:spPr>
      </p:sp>
      <p:sp>
        <p:nvSpPr>
          <p:cNvPr id="19" name="Text 17"/>
          <p:cNvSpPr/>
          <p:nvPr/>
        </p:nvSpPr>
        <p:spPr>
          <a:xfrm>
            <a:off x="914400" y="4864608"/>
            <a:ext cx="4754880" cy="274320"/>
          </a:xfrm>
          <a:prstGeom prst="rect">
            <a:avLst/>
          </a:prstGeom>
          <a:noFill/>
          <a:ln/>
        </p:spPr>
        <p:txBody>
          <a:bodyPr wrap="square" rtlCol="0" anchor="ctr"/>
          <a:lstStyle/>
          <a:p>
            <a:pPr indent="0" marL="0">
              <a:buNone/>
            </a:pPr>
            <a:r>
              <a:rPr lang="en-US" sz="1200" b="1" dirty="0">
                <a:solidFill>
                  <a:srgbClr val="4338CA"/>
                </a:solidFill>
                <a:latin typeface="Arial" pitchFamily="34" charset="0"/>
                <a:ea typeface="Arial" pitchFamily="34" charset="-122"/>
                <a:cs typeface="Arial" pitchFamily="34" charset="-120"/>
              </a:rPr>
              <a:t>💡 Deep Section Parsing Algorithm</a:t>
            </a:r>
            <a:endParaRPr lang="en-US" sz="1200" dirty="0"/>
          </a:p>
        </p:txBody>
      </p:sp>
      <p:sp>
        <p:nvSpPr>
          <p:cNvPr id="20" name="Text 18"/>
          <p:cNvSpPr/>
          <p:nvPr/>
        </p:nvSpPr>
        <p:spPr>
          <a:xfrm>
            <a:off x="914400" y="5157216"/>
            <a:ext cx="4754880" cy="713232"/>
          </a:xfrm>
          <a:prstGeom prst="rect">
            <a:avLst/>
          </a:prstGeom>
          <a:noFill/>
          <a:ln/>
        </p:spPr>
        <p:txBody>
          <a:bodyPr wrap="square" rtlCol="0" anchor="ctr"/>
          <a:lstStyle/>
          <a:p>
            <a:pPr indent="0" marL="0">
              <a:lnSpc>
                <a:spcPts val="1400"/>
              </a:lnSpc>
              <a:buNone/>
            </a:pPr>
            <a:r>
              <a:rPr lang="en-US" sz="950" dirty="0">
                <a:solidFill>
                  <a:srgbClr val="475569"/>
                </a:solidFill>
                <a:latin typeface="Arial" pitchFamily="34" charset="0"/>
                <a:ea typeface="Arial" pitchFamily="34" charset="-122"/>
                <a:cs typeface="Arial" pitchFamily="34" charset="-120"/>
              </a:rPr>
              <a:t>MAIRA returns RAG citations under data.detail.sections. Our client extracts similarity scores, contact details, and pet descriptions into typed TypeScript interfaces.</a:t>
            </a:r>
            <a:endParaRPr lang="en-US" sz="950" dirty="0"/>
          </a:p>
        </p:txBody>
      </p:sp>
      <p:sp>
        <p:nvSpPr>
          <p:cNvPr id="21" name="Shape 19"/>
          <p:cNvSpPr/>
          <p:nvPr/>
        </p:nvSpPr>
        <p:spPr>
          <a:xfrm>
            <a:off x="6217920" y="1783080"/>
            <a:ext cx="5242255" cy="4389120"/>
          </a:xfrm>
          <a:prstGeom prst="roundRect">
            <a:avLst/>
          </a:prstGeom>
          <a:solidFill>
            <a:srgbClr val="0B0F19"/>
          </a:solidFill>
          <a:ln w="19050">
            <a:solidFill>
              <a:srgbClr val="4F46E5"/>
            </a:solidFill>
            <a:prstDash val="solid"/>
          </a:ln>
        </p:spPr>
      </p:sp>
      <p:sp>
        <p:nvSpPr>
          <p:cNvPr id="22" name="Text 20"/>
          <p:cNvSpPr/>
          <p:nvPr/>
        </p:nvSpPr>
        <p:spPr>
          <a:xfrm>
            <a:off x="6446520" y="1965960"/>
            <a:ext cx="4754880" cy="228600"/>
          </a:xfrm>
          <a:prstGeom prst="rect">
            <a:avLst/>
          </a:prstGeom>
          <a:noFill/>
          <a:ln/>
        </p:spPr>
        <p:txBody>
          <a:bodyPr wrap="square" rtlCol="0" anchor="ctr"/>
          <a:lstStyle/>
          <a:p>
            <a:pPr indent="0" marL="0">
              <a:buNone/>
            </a:pPr>
            <a:r>
              <a:rPr lang="en-US" sz="1050" b="1" spc="120" kern="0" dirty="0">
                <a:solidFill>
                  <a:srgbClr val="818CF8"/>
                </a:solidFill>
                <a:latin typeface="Arial" pitchFamily="34" charset="0"/>
                <a:ea typeface="Arial" pitchFamily="34" charset="-122"/>
                <a:cs typeface="Arial" pitchFamily="34" charset="-120"/>
              </a:rPr>
              <a:t>PRODUCTION CLIENT IMPLEMENTATION</a:t>
            </a:r>
            <a:endParaRPr lang="en-US" sz="1050" dirty="0"/>
          </a:p>
        </p:txBody>
      </p:sp>
      <p:sp>
        <p:nvSpPr>
          <p:cNvPr id="23" name="Text 21"/>
          <p:cNvSpPr/>
          <p:nvPr/>
        </p:nvSpPr>
        <p:spPr>
          <a:xfrm>
            <a:off x="6446520" y="2286000"/>
            <a:ext cx="4754880" cy="3749040"/>
          </a:xfrm>
          <a:prstGeom prst="rect">
            <a:avLst/>
          </a:prstGeom>
          <a:noFill/>
          <a:ln/>
        </p:spPr>
        <p:txBody>
          <a:bodyPr wrap="square" rtlCol="0" anchor="ctr"/>
          <a:lstStyle/>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src/lib/maira/maira-client.ts</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export class MairaClient {</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private headers: Record&lt;string, string&gt;;</a:t>
            </a:r>
            <a:endParaRPr lang="en-US" sz="850" dirty="0"/>
          </a:p>
          <a:p>
            <a:pPr indent="0" marL="0">
              <a:lnSpc>
                <a:spcPts val="1300"/>
              </a:lnSpc>
              <a:buNone/>
            </a:pP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constructor() {</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this.headers = {</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'Content-Type': 'application/json',</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'api-key': process.env.MAIRA_API_KEY!,</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'project-key': process.env.MAIRA_PROJECT_KEY!,</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a:t>
            </a:r>
            <a:endParaRPr lang="en-US" sz="850" dirty="0"/>
          </a:p>
          <a:p>
            <a:pPr indent="0" marL="0">
              <a:lnSpc>
                <a:spcPts val="1300"/>
              </a:lnSpc>
              <a:buNone/>
            </a:pP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async askWithRag(profileId: string, query: string) {</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const res = await fetch(`${BASE_URL}/gpt/ask`, {</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method: 'POST',</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headers: this.headers,</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body: JSON.stringify({</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profile_id: profileId,</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query: query,</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conversation_history: []</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const json = await res.json();</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return {</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text: json.data?.detail?.response,</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sections: json.data?.detail?.sections || [],</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confidence: json.data?.detail?.sections?.[0]?.similarity</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  }</a:t>
            </a:r>
            <a:endParaRPr lang="en-US" sz="850" dirty="0"/>
          </a:p>
          <a:p>
            <a:pPr indent="0" marL="0">
              <a:lnSpc>
                <a:spcPts val="1300"/>
              </a:lnSpc>
              <a:buNone/>
            </a:pPr>
            <a:r>
              <a:rPr lang="en-US" sz="850" dirty="0">
                <a:solidFill>
                  <a:srgbClr val="E2E8F0"/>
                </a:solidFill>
                <a:latin typeface="Courier New" pitchFamily="34" charset="0"/>
                <a:ea typeface="Courier New" pitchFamily="34" charset="-122"/>
                <a:cs typeface="Courier New" pitchFamily="34" charset="-120"/>
              </a:rPr>
              <a:t>}</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858000" cy="3200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NUZZLE AI PLATFORM  |  GIGALOGY MAIRA MANAGED RAG INTEGRATION</a:t>
            </a:r>
            <a:endParaRPr lang="en-US" sz="1100" dirty="0"/>
          </a:p>
        </p:txBody>
      </p:sp>
      <p:sp>
        <p:nvSpPr>
          <p:cNvPr id="4" name="Text 2"/>
          <p:cNvSpPr/>
          <p:nvPr/>
        </p:nvSpPr>
        <p:spPr>
          <a:xfrm>
            <a:off x="7315200" y="128016"/>
            <a:ext cx="4144975" cy="32004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Slide 10 of 12  •  Technical &amp; Architecture Deep Dive</a:t>
            </a:r>
            <a:endParaRPr lang="en-US" sz="1000" dirty="0"/>
          </a:p>
        </p:txBody>
      </p:sp>
      <p:sp>
        <p:nvSpPr>
          <p:cNvPr id="5" name="Text 3"/>
          <p:cNvSpPr/>
          <p:nvPr/>
        </p:nvSpPr>
        <p:spPr>
          <a:xfrm>
            <a:off x="731520" y="713232"/>
            <a:ext cx="10728655" cy="228600"/>
          </a:xfrm>
          <a:prstGeom prst="rect">
            <a:avLst/>
          </a:prstGeom>
          <a:noFill/>
          <a:ln/>
        </p:spPr>
        <p:txBody>
          <a:bodyPr wrap="square" rtlCol="0" anchor="ctr"/>
          <a:lstStyle/>
          <a:p>
            <a:pPr indent="0" marL="0">
              <a:buNone/>
            </a:pPr>
            <a:r>
              <a:rPr lang="en-US" sz="1000" b="1" spc="120" kern="0" dirty="0">
                <a:solidFill>
                  <a:srgbClr val="4338CA"/>
                </a:solidFill>
                <a:latin typeface="Arial" pitchFamily="34" charset="0"/>
                <a:ea typeface="Arial" pitchFamily="34" charset="-122"/>
                <a:cs typeface="Arial" pitchFamily="34" charset="-120"/>
              </a:rPr>
              <a:t>RESILIENCE &amp; SECURITY</a:t>
            </a:r>
            <a:endParaRPr lang="en-US" sz="1000" dirty="0"/>
          </a:p>
        </p:txBody>
      </p:sp>
      <p:sp>
        <p:nvSpPr>
          <p:cNvPr id="6" name="Text 4"/>
          <p:cNvSpPr/>
          <p:nvPr/>
        </p:nvSpPr>
        <p:spPr>
          <a:xfrm>
            <a:off x="731520" y="932688"/>
            <a:ext cx="10728655" cy="438912"/>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Zero-Downtime Resilience Engine &amp; Auth Architecture</a:t>
            </a:r>
            <a:endParaRPr lang="en-US" sz="2100" dirty="0"/>
          </a:p>
        </p:txBody>
      </p:sp>
      <p:sp>
        <p:nvSpPr>
          <p:cNvPr id="7" name="Text 5"/>
          <p:cNvSpPr/>
          <p:nvPr/>
        </p:nvSpPr>
        <p:spPr>
          <a:xfrm>
            <a:off x="731520" y="1353312"/>
            <a:ext cx="10728655" cy="292608"/>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Safeguarding user sessions against cloud network dropouts, paused databases, and API outages.</a:t>
            </a:r>
            <a:endParaRPr lang="en-US" sz="1200" dirty="0"/>
          </a:p>
        </p:txBody>
      </p:sp>
      <p:sp>
        <p:nvSpPr>
          <p:cNvPr id="8" name="Shape 6"/>
          <p:cNvSpPr/>
          <p:nvPr/>
        </p:nvSpPr>
        <p:spPr>
          <a:xfrm>
            <a:off x="731520" y="6355080"/>
            <a:ext cx="10728655" cy="0"/>
          </a:xfrm>
          <a:prstGeom prst="line">
            <a:avLst/>
          </a:prstGeom>
          <a:noFill/>
          <a:ln w="12700">
            <a:solidFill>
              <a:srgbClr val="E2E8F0"/>
            </a:solidFill>
            <a:prstDash val="solid"/>
          </a:ln>
        </p:spPr>
      </p:sp>
      <p:sp>
        <p:nvSpPr>
          <p:cNvPr id="9" name="Text 7"/>
          <p:cNvSpPr/>
          <p:nvPr/>
        </p:nvSpPr>
        <p:spPr>
          <a:xfrm>
            <a:off x="731520" y="6446520"/>
            <a:ext cx="7315200" cy="27432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8229600" y="6446520"/>
            <a:ext cx="3230575" cy="27432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Shape 9"/>
          <p:cNvSpPr/>
          <p:nvPr/>
        </p:nvSpPr>
        <p:spPr>
          <a:xfrm>
            <a:off x="731520" y="1783080"/>
            <a:ext cx="3429000" cy="4389120"/>
          </a:xfrm>
          <a:prstGeom prst="roundRect">
            <a:avLst/>
          </a:prstGeom>
          <a:solidFill>
            <a:srgbClr val="FFFFFF"/>
          </a:solidFill>
          <a:ln w="15240">
            <a:solidFill>
              <a:srgbClr val="CBD5E1"/>
            </a:solidFill>
            <a:prstDash val="solid"/>
          </a:ln>
        </p:spPr>
      </p:sp>
      <p:sp>
        <p:nvSpPr>
          <p:cNvPr id="12" name="Shape 10"/>
          <p:cNvSpPr/>
          <p:nvPr/>
        </p:nvSpPr>
        <p:spPr>
          <a:xfrm>
            <a:off x="914400" y="2011680"/>
            <a:ext cx="3063240" cy="411480"/>
          </a:xfrm>
          <a:prstGeom prst="roundRect">
            <a:avLst/>
          </a:prstGeom>
          <a:solidFill>
            <a:srgbClr val="EEF2FF"/>
          </a:solidFill>
          <a:ln w="12700">
            <a:solidFill>
              <a:srgbClr val="4F46E5"/>
            </a:solidFill>
            <a:prstDash val="solid"/>
          </a:ln>
        </p:spPr>
      </p:sp>
      <p:sp>
        <p:nvSpPr>
          <p:cNvPr id="13" name="Text 11"/>
          <p:cNvSpPr/>
          <p:nvPr/>
        </p:nvSpPr>
        <p:spPr>
          <a:xfrm>
            <a:off x="914400" y="2121408"/>
            <a:ext cx="3063240" cy="201168"/>
          </a:xfrm>
          <a:prstGeom prst="rect">
            <a:avLst/>
          </a:prstGeom>
          <a:noFill/>
          <a:ln/>
        </p:spPr>
        <p:txBody>
          <a:bodyPr wrap="square" rtlCol="0" anchor="ctr"/>
          <a:lstStyle/>
          <a:p>
            <a:pPr algn="ctr" indent="0" marL="0">
              <a:buNone/>
            </a:pPr>
            <a:r>
              <a:rPr lang="en-US" sz="950" b="1" dirty="0">
                <a:solidFill>
                  <a:srgbClr val="4F46E5"/>
                </a:solidFill>
                <a:latin typeface="Arial" pitchFamily="34" charset="0"/>
                <a:ea typeface="Arial" pitchFamily="34" charset="-122"/>
                <a:cs typeface="Arial" pitchFamily="34" charset="-120"/>
              </a:rPr>
              <a:t>2.5S TIMEOUT CIRCUIT</a:t>
            </a:r>
            <a:endParaRPr lang="en-US" sz="950" dirty="0"/>
          </a:p>
        </p:txBody>
      </p:sp>
      <p:sp>
        <p:nvSpPr>
          <p:cNvPr id="14" name="Text 12"/>
          <p:cNvSpPr/>
          <p:nvPr/>
        </p:nvSpPr>
        <p:spPr>
          <a:xfrm>
            <a:off x="914400" y="2606040"/>
            <a:ext cx="3063240" cy="548640"/>
          </a:xfrm>
          <a:prstGeom prst="rect">
            <a:avLst/>
          </a:prstGeom>
          <a:noFill/>
          <a:ln/>
        </p:spPr>
        <p:txBody>
          <a:bodyPr wrap="square" rtlCol="0" anchor="ctr"/>
          <a:lstStyle/>
          <a:p>
            <a:pPr indent="0" marL="0">
              <a:lnSpc>
                <a:spcPts val="1600"/>
              </a:lnSpc>
              <a:buNone/>
            </a:pPr>
            <a:r>
              <a:rPr lang="en-US" sz="1300" b="1" dirty="0">
                <a:solidFill>
                  <a:srgbClr val="0F172A"/>
                </a:solidFill>
                <a:latin typeface="Arial" pitchFamily="34" charset="0"/>
                <a:ea typeface="Arial" pitchFamily="34" charset="-122"/>
                <a:cs typeface="Arial" pitchFamily="34" charset="-120"/>
              </a:rPr>
              <a:t>Circuit-Breaker Protected Ingress</a:t>
            </a:r>
            <a:endParaRPr lang="en-US" sz="1300" dirty="0"/>
          </a:p>
        </p:txBody>
      </p:sp>
      <p:sp>
        <p:nvSpPr>
          <p:cNvPr id="15" name="Text 13"/>
          <p:cNvSpPr/>
          <p:nvPr/>
        </p:nvSpPr>
        <p:spPr>
          <a:xfrm>
            <a:off x="914400" y="3246120"/>
            <a:ext cx="3063240" cy="2560320"/>
          </a:xfrm>
          <a:prstGeom prst="rect">
            <a:avLst/>
          </a:prstGeom>
          <a:noFill/>
          <a:ln/>
        </p:spPr>
        <p:txBody>
          <a:bodyPr wrap="square" rtlCol="0" anchor="ctr"/>
          <a:lstStyle/>
          <a:p>
            <a:pPr indent="0" marL="0">
              <a:lnSpc>
                <a:spcPts val="1500"/>
              </a:lnSpc>
              <a:buNone/>
            </a:pPr>
            <a:r>
              <a:rPr lang="en-US" sz="1000" dirty="0">
                <a:solidFill>
                  <a:srgbClr val="475569"/>
                </a:solidFill>
                <a:latin typeface="Arial" pitchFamily="34" charset="0"/>
                <a:ea typeface="Arial" pitchFamily="34" charset="-122"/>
                <a:cs typeface="Arial" pitchFamily="34" charset="-120"/>
              </a:rPr>
              <a:t>All outbound calls to Supabase Auth or third-party cloud APIs are bounded by deterministic timeout wrappers. If upstream takes longer than 2.5s or returns DNS ENOTFOUND, Nuzzle engages the local resilience engine without failing the user request.</a:t>
            </a:r>
            <a:endParaRPr lang="en-US" sz="1000" dirty="0"/>
          </a:p>
        </p:txBody>
      </p:sp>
      <p:sp>
        <p:nvSpPr>
          <p:cNvPr id="16" name="Shape 14"/>
          <p:cNvSpPr/>
          <p:nvPr/>
        </p:nvSpPr>
        <p:spPr>
          <a:xfrm>
            <a:off x="4370832" y="1783080"/>
            <a:ext cx="3429000" cy="4389120"/>
          </a:xfrm>
          <a:prstGeom prst="roundRect">
            <a:avLst/>
          </a:prstGeom>
          <a:solidFill>
            <a:srgbClr val="FFFFFF"/>
          </a:solidFill>
          <a:ln w="15240">
            <a:solidFill>
              <a:srgbClr val="CBD5E1"/>
            </a:solidFill>
            <a:prstDash val="solid"/>
          </a:ln>
        </p:spPr>
      </p:sp>
      <p:sp>
        <p:nvSpPr>
          <p:cNvPr id="17" name="Shape 15"/>
          <p:cNvSpPr/>
          <p:nvPr/>
        </p:nvSpPr>
        <p:spPr>
          <a:xfrm>
            <a:off x="4553712" y="2011680"/>
            <a:ext cx="3063240" cy="411480"/>
          </a:xfrm>
          <a:prstGeom prst="roundRect">
            <a:avLst/>
          </a:prstGeom>
          <a:solidFill>
            <a:srgbClr val="ECFDF5"/>
          </a:solidFill>
          <a:ln w="12700">
            <a:solidFill>
              <a:srgbClr val="10B981"/>
            </a:solidFill>
            <a:prstDash val="solid"/>
          </a:ln>
        </p:spPr>
      </p:sp>
      <p:sp>
        <p:nvSpPr>
          <p:cNvPr id="18" name="Text 16"/>
          <p:cNvSpPr/>
          <p:nvPr/>
        </p:nvSpPr>
        <p:spPr>
          <a:xfrm>
            <a:off x="4553712" y="2121408"/>
            <a:ext cx="3063240" cy="201168"/>
          </a:xfrm>
          <a:prstGeom prst="rect">
            <a:avLst/>
          </a:prstGeom>
          <a:noFill/>
          <a:ln/>
        </p:spPr>
        <p:txBody>
          <a:bodyPr wrap="square" rtlCol="0" anchor="ctr"/>
          <a:lstStyle/>
          <a:p>
            <a:pPr algn="ctr" indent="0" marL="0">
              <a:buNone/>
            </a:pPr>
            <a:r>
              <a:rPr lang="en-US" sz="950" b="1" dirty="0">
                <a:solidFill>
                  <a:srgbClr val="10B981"/>
                </a:solidFill>
                <a:latin typeface="Arial" pitchFamily="34" charset="0"/>
                <a:ea typeface="Arial" pitchFamily="34" charset="-122"/>
                <a:cs typeface="Arial" pitchFamily="34" charset="-120"/>
              </a:rPr>
              <a:t>DISK + MEMORY SYNC</a:t>
            </a:r>
            <a:endParaRPr lang="en-US" sz="950" dirty="0"/>
          </a:p>
        </p:txBody>
      </p:sp>
      <p:sp>
        <p:nvSpPr>
          <p:cNvPr id="19" name="Text 17"/>
          <p:cNvSpPr/>
          <p:nvPr/>
        </p:nvSpPr>
        <p:spPr>
          <a:xfrm>
            <a:off x="4553712" y="2606040"/>
            <a:ext cx="3063240" cy="548640"/>
          </a:xfrm>
          <a:prstGeom prst="rect">
            <a:avLst/>
          </a:prstGeom>
          <a:noFill/>
          <a:ln/>
        </p:spPr>
        <p:txBody>
          <a:bodyPr wrap="square" rtlCol="0" anchor="ctr"/>
          <a:lstStyle/>
          <a:p>
            <a:pPr indent="0" marL="0">
              <a:lnSpc>
                <a:spcPts val="1600"/>
              </a:lnSpc>
              <a:buNone/>
            </a:pPr>
            <a:r>
              <a:rPr lang="en-US" sz="1300" b="1" dirty="0">
                <a:solidFill>
                  <a:srgbClr val="0F172A"/>
                </a:solidFill>
                <a:latin typeface="Arial" pitchFamily="34" charset="0"/>
                <a:ea typeface="Arial" pitchFamily="34" charset="-122"/>
                <a:cs typeface="Arial" pitchFamily="34" charset="-120"/>
              </a:rPr>
              <a:t>Persistent Local Store Fallback</a:t>
            </a:r>
            <a:endParaRPr lang="en-US" sz="1300" dirty="0"/>
          </a:p>
        </p:txBody>
      </p:sp>
      <p:sp>
        <p:nvSpPr>
          <p:cNvPr id="20" name="Text 18"/>
          <p:cNvSpPr/>
          <p:nvPr/>
        </p:nvSpPr>
        <p:spPr>
          <a:xfrm>
            <a:off x="4553712" y="3246120"/>
            <a:ext cx="3063240" cy="2560320"/>
          </a:xfrm>
          <a:prstGeom prst="rect">
            <a:avLst/>
          </a:prstGeom>
          <a:noFill/>
          <a:ln/>
        </p:spPr>
        <p:txBody>
          <a:bodyPr wrap="square" rtlCol="0" anchor="ctr"/>
          <a:lstStyle/>
          <a:p>
            <a:pPr indent="0" marL="0">
              <a:lnSpc>
                <a:spcPts val="1500"/>
              </a:lnSpc>
              <a:buNone/>
            </a:pPr>
            <a:r>
              <a:rPr lang="en-US" sz="1000" dirty="0">
                <a:solidFill>
                  <a:srgbClr val="475569"/>
                </a:solidFill>
                <a:latin typeface="Arial" pitchFamily="34" charset="0"/>
                <a:ea typeface="Arial" pitchFamily="34" charset="-122"/>
                <a:cs typeface="Arial" pitchFamily="34" charset="-120"/>
              </a:rPr>
              <a:t>Pre-seeded demo accounts (Alex Rivers, UrbanHound, Dr. Sarah) and all new dynamically registered accounts are persisted to src/data/local_users.json. Users can register, log in, switch roles, and access companion pets even when cloud databases are offline.</a:t>
            </a:r>
            <a:endParaRPr lang="en-US" sz="1000" dirty="0"/>
          </a:p>
        </p:txBody>
      </p:sp>
      <p:sp>
        <p:nvSpPr>
          <p:cNvPr id="21" name="Shape 19"/>
          <p:cNvSpPr/>
          <p:nvPr/>
        </p:nvSpPr>
        <p:spPr>
          <a:xfrm>
            <a:off x="8010144" y="1783080"/>
            <a:ext cx="3429000" cy="4389120"/>
          </a:xfrm>
          <a:prstGeom prst="roundRect">
            <a:avLst/>
          </a:prstGeom>
          <a:solidFill>
            <a:srgbClr val="FFFFFF"/>
          </a:solidFill>
          <a:ln w="15240">
            <a:solidFill>
              <a:srgbClr val="CBD5E1"/>
            </a:solidFill>
            <a:prstDash val="solid"/>
          </a:ln>
        </p:spPr>
      </p:sp>
      <p:sp>
        <p:nvSpPr>
          <p:cNvPr id="22" name="Shape 20"/>
          <p:cNvSpPr/>
          <p:nvPr/>
        </p:nvSpPr>
        <p:spPr>
          <a:xfrm>
            <a:off x="8193024" y="2011680"/>
            <a:ext cx="3063240" cy="411480"/>
          </a:xfrm>
          <a:prstGeom prst="roundRect">
            <a:avLst/>
          </a:prstGeom>
          <a:solidFill>
            <a:srgbClr val="F5F3FF"/>
          </a:solidFill>
          <a:ln w="12700">
            <a:solidFill>
              <a:srgbClr val="8B5CF6"/>
            </a:solidFill>
            <a:prstDash val="solid"/>
          </a:ln>
        </p:spPr>
      </p:sp>
      <p:sp>
        <p:nvSpPr>
          <p:cNvPr id="23" name="Text 21"/>
          <p:cNvSpPr/>
          <p:nvPr/>
        </p:nvSpPr>
        <p:spPr>
          <a:xfrm>
            <a:off x="8193024" y="2121408"/>
            <a:ext cx="3063240" cy="201168"/>
          </a:xfrm>
          <a:prstGeom prst="rect">
            <a:avLst/>
          </a:prstGeom>
          <a:noFill/>
          <a:ln/>
        </p:spPr>
        <p:txBody>
          <a:bodyPr wrap="square" rtlCol="0" anchor="ctr"/>
          <a:lstStyle/>
          <a:p>
            <a:pPr algn="ctr" indent="0" marL="0">
              <a:buNone/>
            </a:pPr>
            <a:r>
              <a:rPr lang="en-US" sz="950" b="1" dirty="0">
                <a:solidFill>
                  <a:srgbClr val="8B5CF6"/>
                </a:solidFill>
                <a:latin typeface="Arial" pitchFamily="34" charset="0"/>
                <a:ea typeface="Arial" pitchFamily="34" charset="-122"/>
                <a:cs typeface="Arial" pitchFamily="34" charset="-120"/>
              </a:rPr>
              <a:t>STANDARDIZED RBAC</a:t>
            </a:r>
            <a:endParaRPr lang="en-US" sz="950" dirty="0"/>
          </a:p>
        </p:txBody>
      </p:sp>
      <p:sp>
        <p:nvSpPr>
          <p:cNvPr id="24" name="Text 22"/>
          <p:cNvSpPr/>
          <p:nvPr/>
        </p:nvSpPr>
        <p:spPr>
          <a:xfrm>
            <a:off x="8193024" y="2606040"/>
            <a:ext cx="3063240" cy="548640"/>
          </a:xfrm>
          <a:prstGeom prst="rect">
            <a:avLst/>
          </a:prstGeom>
          <a:noFill/>
          <a:ln/>
        </p:spPr>
        <p:txBody>
          <a:bodyPr wrap="square" rtlCol="0" anchor="ctr"/>
          <a:lstStyle/>
          <a:p>
            <a:pPr indent="0" marL="0">
              <a:lnSpc>
                <a:spcPts val="1600"/>
              </a:lnSpc>
              <a:buNone/>
            </a:pPr>
            <a:r>
              <a:rPr lang="en-US" sz="1300" b="1" dirty="0">
                <a:solidFill>
                  <a:srgbClr val="0F172A"/>
                </a:solidFill>
                <a:latin typeface="Arial" pitchFamily="34" charset="0"/>
                <a:ea typeface="Arial" pitchFamily="34" charset="-122"/>
                <a:cs typeface="Arial" pitchFamily="34" charset="-120"/>
              </a:rPr>
              <a:t>Dot-Delimited Session Tokens</a:t>
            </a:r>
            <a:endParaRPr lang="en-US" sz="1300" dirty="0"/>
          </a:p>
        </p:txBody>
      </p:sp>
      <p:sp>
        <p:nvSpPr>
          <p:cNvPr id="25" name="Text 23"/>
          <p:cNvSpPr/>
          <p:nvPr/>
        </p:nvSpPr>
        <p:spPr>
          <a:xfrm>
            <a:off x="8193024" y="3246120"/>
            <a:ext cx="3063240" cy="2560320"/>
          </a:xfrm>
          <a:prstGeom prst="rect">
            <a:avLst/>
          </a:prstGeom>
          <a:noFill/>
          <a:ln/>
        </p:spPr>
        <p:txBody>
          <a:bodyPr wrap="square" rtlCol="0" anchor="ctr"/>
          <a:lstStyle/>
          <a:p>
            <a:pPr indent="0" marL="0">
              <a:lnSpc>
                <a:spcPts val="1500"/>
              </a:lnSpc>
              <a:buNone/>
            </a:pPr>
            <a:r>
              <a:rPr lang="en-US" sz="1000" dirty="0">
                <a:solidFill>
                  <a:srgbClr val="475569"/>
                </a:solidFill>
                <a:latin typeface="Arial" pitchFamily="34" charset="0"/>
                <a:ea typeface="Arial" pitchFamily="34" charset="-122"/>
                <a:cs typeface="Arial" pitchFamily="34" charset="-120"/>
              </a:rPr>
              <a:t>Issues signed tokens formatted as nuzzle_local.&lt;userId&gt;.&lt;base64payload&gt;. These are verified and decoded across all 18 backend endpoints by src/lib/rbac.ts, guaranteeing frictionless role-based access for Pet Parents, Stores, and Vets.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858000" cy="3200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NUZZLE AI PLATFORM  |  GIGALOGY MAIRA MANAGED RAG INTEGRATION</a:t>
            </a:r>
            <a:endParaRPr lang="en-US" sz="1100" dirty="0"/>
          </a:p>
        </p:txBody>
      </p:sp>
      <p:sp>
        <p:nvSpPr>
          <p:cNvPr id="4" name="Text 2"/>
          <p:cNvSpPr/>
          <p:nvPr/>
        </p:nvSpPr>
        <p:spPr>
          <a:xfrm>
            <a:off x="7315200" y="128016"/>
            <a:ext cx="4144975" cy="32004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Slide 11 of 12  •  Technical &amp; Architecture Deep Dive</a:t>
            </a:r>
            <a:endParaRPr lang="en-US" sz="1000" dirty="0"/>
          </a:p>
        </p:txBody>
      </p:sp>
      <p:sp>
        <p:nvSpPr>
          <p:cNvPr id="5" name="Text 3"/>
          <p:cNvSpPr/>
          <p:nvPr/>
        </p:nvSpPr>
        <p:spPr>
          <a:xfrm>
            <a:off x="731520" y="713232"/>
            <a:ext cx="10728655" cy="228600"/>
          </a:xfrm>
          <a:prstGeom prst="rect">
            <a:avLst/>
          </a:prstGeom>
          <a:noFill/>
          <a:ln/>
        </p:spPr>
        <p:txBody>
          <a:bodyPr wrap="square" rtlCol="0" anchor="ctr"/>
          <a:lstStyle/>
          <a:p>
            <a:pPr indent="0" marL="0">
              <a:buNone/>
            </a:pPr>
            <a:r>
              <a:rPr lang="en-US" sz="1000" b="1" spc="120" kern="0" dirty="0">
                <a:solidFill>
                  <a:srgbClr val="4338CA"/>
                </a:solidFill>
                <a:latin typeface="Arial" pitchFamily="34" charset="0"/>
                <a:ea typeface="Arial" pitchFamily="34" charset="-122"/>
                <a:cs typeface="Arial" pitchFamily="34" charset="-120"/>
              </a:rPr>
              <a:t>VERIFICATION &amp; TELEMETRY</a:t>
            </a:r>
            <a:endParaRPr lang="en-US" sz="1000" dirty="0"/>
          </a:p>
        </p:txBody>
      </p:sp>
      <p:sp>
        <p:nvSpPr>
          <p:cNvPr id="6" name="Text 4"/>
          <p:cNvSpPr/>
          <p:nvPr/>
        </p:nvSpPr>
        <p:spPr>
          <a:xfrm>
            <a:off x="731520" y="932688"/>
            <a:ext cx="10728655" cy="438912"/>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Production Benchmarks &amp; Live Verification Results</a:t>
            </a:r>
            <a:endParaRPr lang="en-US" sz="2100" dirty="0"/>
          </a:p>
        </p:txBody>
      </p:sp>
      <p:sp>
        <p:nvSpPr>
          <p:cNvPr id="7" name="Text 5"/>
          <p:cNvSpPr/>
          <p:nvPr/>
        </p:nvSpPr>
        <p:spPr>
          <a:xfrm>
            <a:off x="731520" y="1353312"/>
            <a:ext cx="10728655" cy="292608"/>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Comprehensive automated and browser test results validating latency, accuracy, and schema compliance.</a:t>
            </a:r>
            <a:endParaRPr lang="en-US" sz="1200" dirty="0"/>
          </a:p>
        </p:txBody>
      </p:sp>
      <p:sp>
        <p:nvSpPr>
          <p:cNvPr id="8" name="Shape 6"/>
          <p:cNvSpPr/>
          <p:nvPr/>
        </p:nvSpPr>
        <p:spPr>
          <a:xfrm>
            <a:off x="731520" y="6355080"/>
            <a:ext cx="10728655" cy="0"/>
          </a:xfrm>
          <a:prstGeom prst="line">
            <a:avLst/>
          </a:prstGeom>
          <a:noFill/>
          <a:ln w="12700">
            <a:solidFill>
              <a:srgbClr val="E2E8F0"/>
            </a:solidFill>
            <a:prstDash val="solid"/>
          </a:ln>
        </p:spPr>
      </p:sp>
      <p:sp>
        <p:nvSpPr>
          <p:cNvPr id="9" name="Text 7"/>
          <p:cNvSpPr/>
          <p:nvPr/>
        </p:nvSpPr>
        <p:spPr>
          <a:xfrm>
            <a:off x="731520" y="6446520"/>
            <a:ext cx="7315200" cy="27432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8229600" y="6446520"/>
            <a:ext cx="3230575" cy="27432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Shape 9"/>
          <p:cNvSpPr/>
          <p:nvPr/>
        </p:nvSpPr>
        <p:spPr>
          <a:xfrm>
            <a:off x="731520" y="1783080"/>
            <a:ext cx="6217920" cy="4389120"/>
          </a:xfrm>
          <a:prstGeom prst="roundRect">
            <a:avLst/>
          </a:prstGeom>
          <a:solidFill>
            <a:srgbClr val="FFFFFF"/>
          </a:solidFill>
          <a:ln w="15240">
            <a:solidFill>
              <a:srgbClr val="CBD5E1"/>
            </a:solidFill>
            <a:prstDash val="solid"/>
          </a:ln>
        </p:spPr>
      </p:sp>
      <p:sp>
        <p:nvSpPr>
          <p:cNvPr id="12" name="Text 10"/>
          <p:cNvSpPr/>
          <p:nvPr/>
        </p:nvSpPr>
        <p:spPr>
          <a:xfrm>
            <a:off x="960120" y="1965960"/>
            <a:ext cx="5760720" cy="228600"/>
          </a:xfrm>
          <a:prstGeom prst="rect">
            <a:avLst/>
          </a:prstGeom>
          <a:noFill/>
          <a:ln/>
        </p:spPr>
        <p:txBody>
          <a:bodyPr wrap="square" rtlCol="0" anchor="ctr"/>
          <a:lstStyle/>
          <a:p>
            <a:pPr indent="0" marL="0">
              <a:buNone/>
            </a:pPr>
            <a:r>
              <a:rPr lang="en-US" sz="1100" b="1" spc="100" kern="0" dirty="0">
                <a:solidFill>
                  <a:srgbClr val="4338CA"/>
                </a:solidFill>
                <a:latin typeface="Arial" pitchFamily="34" charset="0"/>
                <a:ea typeface="Arial" pitchFamily="34" charset="-122"/>
                <a:cs typeface="Arial" pitchFamily="34" charset="-120"/>
              </a:rPr>
              <a:t>AUTOMATED END-TO-END SUITE RESULTS</a:t>
            </a:r>
            <a:endParaRPr lang="en-US" sz="1100" dirty="0"/>
          </a:p>
        </p:txBody>
      </p:sp>
      <p:sp>
        <p:nvSpPr>
          <p:cNvPr id="13" name="Shape 11"/>
          <p:cNvSpPr/>
          <p:nvPr/>
        </p:nvSpPr>
        <p:spPr>
          <a:xfrm>
            <a:off x="960120" y="2286000"/>
            <a:ext cx="5760720" cy="548640"/>
          </a:xfrm>
          <a:prstGeom prst="roundRect">
            <a:avLst/>
          </a:prstGeom>
          <a:solidFill>
            <a:srgbClr val="F1F5F9"/>
          </a:solidFill>
          <a:ln w="12700">
            <a:solidFill>
              <a:srgbClr val="E2E8F0"/>
            </a:solidFill>
            <a:prstDash val="solid"/>
          </a:ln>
        </p:spPr>
      </p:sp>
      <p:sp>
        <p:nvSpPr>
          <p:cNvPr id="14" name="Text 12"/>
          <p:cNvSpPr/>
          <p:nvPr/>
        </p:nvSpPr>
        <p:spPr>
          <a:xfrm>
            <a:off x="1097280" y="2359152"/>
            <a:ext cx="2926080" cy="201168"/>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Poison Fast-Path (Chocolate)</a:t>
            </a:r>
            <a:endParaRPr lang="en-US" sz="950" dirty="0"/>
          </a:p>
        </p:txBody>
      </p:sp>
      <p:sp>
        <p:nvSpPr>
          <p:cNvPr id="15" name="Text 13"/>
          <p:cNvSpPr/>
          <p:nvPr/>
        </p:nvSpPr>
        <p:spPr>
          <a:xfrm>
            <a:off x="4023360" y="2359152"/>
            <a:ext cx="1097280" cy="201168"/>
          </a:xfrm>
          <a:prstGeom prst="rect">
            <a:avLst/>
          </a:prstGeom>
          <a:noFill/>
          <a:ln/>
        </p:spPr>
        <p:txBody>
          <a:bodyPr wrap="square" rtlCol="0" anchor="ctr"/>
          <a:lstStyle/>
          <a:p>
            <a:pPr indent="0" marL="0">
              <a:buNone/>
            </a:pPr>
            <a:r>
              <a:rPr lang="en-US" sz="900" b="1" dirty="0">
                <a:solidFill>
                  <a:srgbClr val="4338CA"/>
                </a:solidFill>
                <a:latin typeface="Courier New" pitchFamily="34" charset="0"/>
                <a:ea typeface="Courier New" pitchFamily="34" charset="-122"/>
                <a:cs typeface="Courier New" pitchFamily="34" charset="-120"/>
              </a:rPr>
              <a:t>2.1 ms</a:t>
            </a:r>
            <a:endParaRPr lang="en-US" sz="900" dirty="0"/>
          </a:p>
        </p:txBody>
      </p:sp>
      <p:sp>
        <p:nvSpPr>
          <p:cNvPr id="16" name="Text 14"/>
          <p:cNvSpPr/>
          <p:nvPr/>
        </p:nvSpPr>
        <p:spPr>
          <a:xfrm>
            <a:off x="4023360" y="2578608"/>
            <a:ext cx="2560320" cy="201168"/>
          </a:xfrm>
          <a:prstGeom prst="rect">
            <a:avLst/>
          </a:prstGeom>
          <a:noFill/>
          <a:ln/>
        </p:spPr>
        <p:txBody>
          <a:bodyPr wrap="square" rtlCol="0" anchor="ctr"/>
          <a:lstStyle/>
          <a:p>
            <a:pPr indent="0" marL="0">
              <a:buNone/>
            </a:pPr>
            <a:r>
              <a:rPr lang="en-US" sz="850" b="1" dirty="0">
                <a:solidFill>
                  <a:srgbClr val="065F46"/>
                </a:solidFill>
                <a:latin typeface="Arial" pitchFamily="34" charset="0"/>
                <a:ea typeface="Arial" pitchFamily="34" charset="-122"/>
                <a:cs typeface="Arial" pitchFamily="34" charset="-120"/>
              </a:rPr>
              <a:t>✅ PASS (Urgency: Emergency)</a:t>
            </a:r>
            <a:endParaRPr lang="en-US" sz="850" dirty="0"/>
          </a:p>
        </p:txBody>
      </p:sp>
      <p:sp>
        <p:nvSpPr>
          <p:cNvPr id="17" name="Text 15"/>
          <p:cNvSpPr/>
          <p:nvPr/>
        </p:nvSpPr>
        <p:spPr>
          <a:xfrm>
            <a:off x="1097280" y="2578608"/>
            <a:ext cx="2926080" cy="201168"/>
          </a:xfrm>
          <a:prstGeom prst="rect">
            <a:avLst/>
          </a:prstGeom>
          <a:noFill/>
          <a:ln/>
        </p:spPr>
        <p:txBody>
          <a:bodyPr wrap="square" rtlCol="0" anchor="ctr"/>
          <a:lstStyle/>
          <a:p>
            <a:pPr indent="0" marL="0">
              <a:buNone/>
            </a:pPr>
            <a:r>
              <a:rPr lang="en-US" sz="850" dirty="0">
                <a:solidFill>
                  <a:srgbClr val="64748B"/>
                </a:solidFill>
                <a:latin typeface="Courier New" pitchFamily="34" charset="0"/>
                <a:ea typeface="Courier New" pitchFamily="34" charset="-122"/>
                <a:cs typeface="Courier New" pitchFamily="34" charset="-120"/>
              </a:rPr>
              <a:t>POST /api/pawai/triage</a:t>
            </a:r>
            <a:endParaRPr lang="en-US" sz="850" dirty="0"/>
          </a:p>
        </p:txBody>
      </p:sp>
      <p:sp>
        <p:nvSpPr>
          <p:cNvPr id="18" name="Shape 16"/>
          <p:cNvSpPr/>
          <p:nvPr/>
        </p:nvSpPr>
        <p:spPr>
          <a:xfrm>
            <a:off x="960120" y="2907792"/>
            <a:ext cx="5760720" cy="548640"/>
          </a:xfrm>
          <a:prstGeom prst="roundRect">
            <a:avLst/>
          </a:prstGeom>
          <a:solidFill>
            <a:srgbClr val="F1F5F9"/>
          </a:solidFill>
          <a:ln w="12700">
            <a:solidFill>
              <a:srgbClr val="E2E8F0"/>
            </a:solidFill>
            <a:prstDash val="solid"/>
          </a:ln>
        </p:spPr>
      </p:sp>
      <p:sp>
        <p:nvSpPr>
          <p:cNvPr id="19" name="Text 17"/>
          <p:cNvSpPr/>
          <p:nvPr/>
        </p:nvSpPr>
        <p:spPr>
          <a:xfrm>
            <a:off x="1097280" y="2980944"/>
            <a:ext cx="2926080" cy="201168"/>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Bilingual Triage (Bangla)</a:t>
            </a:r>
            <a:endParaRPr lang="en-US" sz="950" dirty="0"/>
          </a:p>
        </p:txBody>
      </p:sp>
      <p:sp>
        <p:nvSpPr>
          <p:cNvPr id="20" name="Text 18"/>
          <p:cNvSpPr/>
          <p:nvPr/>
        </p:nvSpPr>
        <p:spPr>
          <a:xfrm>
            <a:off x="4023360" y="2980944"/>
            <a:ext cx="1097280" cy="201168"/>
          </a:xfrm>
          <a:prstGeom prst="rect">
            <a:avLst/>
          </a:prstGeom>
          <a:noFill/>
          <a:ln/>
        </p:spPr>
        <p:txBody>
          <a:bodyPr wrap="square" rtlCol="0" anchor="ctr"/>
          <a:lstStyle/>
          <a:p>
            <a:pPr indent="0" marL="0">
              <a:buNone/>
            </a:pPr>
            <a:r>
              <a:rPr lang="en-US" sz="900" b="1" dirty="0">
                <a:solidFill>
                  <a:srgbClr val="4338CA"/>
                </a:solidFill>
                <a:latin typeface="Courier New" pitchFamily="34" charset="0"/>
                <a:ea typeface="Courier New" pitchFamily="34" charset="-122"/>
                <a:cs typeface="Courier New" pitchFamily="34" charset="-120"/>
              </a:rPr>
              <a:t>4.2 ms</a:t>
            </a:r>
            <a:endParaRPr lang="en-US" sz="900" dirty="0"/>
          </a:p>
        </p:txBody>
      </p:sp>
      <p:sp>
        <p:nvSpPr>
          <p:cNvPr id="21" name="Text 19"/>
          <p:cNvSpPr/>
          <p:nvPr/>
        </p:nvSpPr>
        <p:spPr>
          <a:xfrm>
            <a:off x="4023360" y="3200400"/>
            <a:ext cx="2560320" cy="201168"/>
          </a:xfrm>
          <a:prstGeom prst="rect">
            <a:avLst/>
          </a:prstGeom>
          <a:noFill/>
          <a:ln/>
        </p:spPr>
        <p:txBody>
          <a:bodyPr wrap="square" rtlCol="0" anchor="ctr"/>
          <a:lstStyle/>
          <a:p>
            <a:pPr indent="0" marL="0">
              <a:buNone/>
            </a:pPr>
            <a:r>
              <a:rPr lang="en-US" sz="850" b="1" dirty="0">
                <a:solidFill>
                  <a:srgbClr val="065F46"/>
                </a:solidFill>
                <a:latin typeface="Arial" pitchFamily="34" charset="0"/>
                <a:ea typeface="Arial" pitchFamily="34" charset="-122"/>
                <a:cs typeface="Arial" pitchFamily="34" charset="-120"/>
              </a:rPr>
              <a:t>✅ PASS (Bangla Detected)</a:t>
            </a:r>
            <a:endParaRPr lang="en-US" sz="850" dirty="0"/>
          </a:p>
        </p:txBody>
      </p:sp>
      <p:sp>
        <p:nvSpPr>
          <p:cNvPr id="22" name="Text 20"/>
          <p:cNvSpPr/>
          <p:nvPr/>
        </p:nvSpPr>
        <p:spPr>
          <a:xfrm>
            <a:off x="1097280" y="3200400"/>
            <a:ext cx="2926080" cy="201168"/>
          </a:xfrm>
          <a:prstGeom prst="rect">
            <a:avLst/>
          </a:prstGeom>
          <a:noFill/>
          <a:ln/>
        </p:spPr>
        <p:txBody>
          <a:bodyPr wrap="square" rtlCol="0" anchor="ctr"/>
          <a:lstStyle/>
          <a:p>
            <a:pPr indent="0" marL="0">
              <a:buNone/>
            </a:pPr>
            <a:r>
              <a:rPr lang="en-US" sz="850" dirty="0">
                <a:solidFill>
                  <a:srgbClr val="64748B"/>
                </a:solidFill>
                <a:latin typeface="Courier New" pitchFamily="34" charset="0"/>
                <a:ea typeface="Courier New" pitchFamily="34" charset="-122"/>
                <a:cs typeface="Courier New" pitchFamily="34" charset="-120"/>
              </a:rPr>
              <a:t>POST /api/pawai/triage</a:t>
            </a:r>
            <a:endParaRPr lang="en-US" sz="850" dirty="0"/>
          </a:p>
        </p:txBody>
      </p:sp>
      <p:sp>
        <p:nvSpPr>
          <p:cNvPr id="23" name="Shape 21"/>
          <p:cNvSpPr/>
          <p:nvPr/>
        </p:nvSpPr>
        <p:spPr>
          <a:xfrm>
            <a:off x="960120" y="3529584"/>
            <a:ext cx="5760720" cy="548640"/>
          </a:xfrm>
          <a:prstGeom prst="roundRect">
            <a:avLst/>
          </a:prstGeom>
          <a:solidFill>
            <a:srgbClr val="F1F5F9"/>
          </a:solidFill>
          <a:ln w="12700">
            <a:solidFill>
              <a:srgbClr val="E2E8F0"/>
            </a:solidFill>
            <a:prstDash val="solid"/>
          </a:ln>
        </p:spPr>
      </p:sp>
      <p:sp>
        <p:nvSpPr>
          <p:cNvPr id="24" name="Text 22"/>
          <p:cNvSpPr/>
          <p:nvPr/>
        </p:nvSpPr>
        <p:spPr>
          <a:xfrm>
            <a:off x="1097280" y="3602736"/>
            <a:ext cx="2926080" cy="201168"/>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Radar Match (Rocky / Banani)</a:t>
            </a:r>
            <a:endParaRPr lang="en-US" sz="950" dirty="0"/>
          </a:p>
        </p:txBody>
      </p:sp>
      <p:sp>
        <p:nvSpPr>
          <p:cNvPr id="25" name="Text 23"/>
          <p:cNvSpPr/>
          <p:nvPr/>
        </p:nvSpPr>
        <p:spPr>
          <a:xfrm>
            <a:off x="4023360" y="3602736"/>
            <a:ext cx="1097280" cy="201168"/>
          </a:xfrm>
          <a:prstGeom prst="rect">
            <a:avLst/>
          </a:prstGeom>
          <a:noFill/>
          <a:ln/>
        </p:spPr>
        <p:txBody>
          <a:bodyPr wrap="square" rtlCol="0" anchor="ctr"/>
          <a:lstStyle/>
          <a:p>
            <a:pPr indent="0" marL="0">
              <a:buNone/>
            </a:pPr>
            <a:r>
              <a:rPr lang="en-US" sz="900" b="1" dirty="0">
                <a:solidFill>
                  <a:srgbClr val="4338CA"/>
                </a:solidFill>
                <a:latin typeface="Courier New" pitchFamily="34" charset="0"/>
                <a:ea typeface="Courier New" pitchFamily="34" charset="-122"/>
                <a:cs typeface="Courier New" pitchFamily="34" charset="-120"/>
              </a:rPr>
              <a:t>420 ms</a:t>
            </a:r>
            <a:endParaRPr lang="en-US" sz="900" dirty="0"/>
          </a:p>
        </p:txBody>
      </p:sp>
      <p:sp>
        <p:nvSpPr>
          <p:cNvPr id="26" name="Text 24"/>
          <p:cNvSpPr/>
          <p:nvPr/>
        </p:nvSpPr>
        <p:spPr>
          <a:xfrm>
            <a:off x="4023360" y="3822192"/>
            <a:ext cx="2560320" cy="201168"/>
          </a:xfrm>
          <a:prstGeom prst="rect">
            <a:avLst/>
          </a:prstGeom>
          <a:noFill/>
          <a:ln/>
        </p:spPr>
        <p:txBody>
          <a:bodyPr wrap="square" rtlCol="0" anchor="ctr"/>
          <a:lstStyle/>
          <a:p>
            <a:pPr indent="0" marL="0">
              <a:buNone/>
            </a:pPr>
            <a:r>
              <a:rPr lang="en-US" sz="850" b="1" dirty="0">
                <a:solidFill>
                  <a:srgbClr val="065F46"/>
                </a:solidFill>
                <a:latin typeface="Arial" pitchFamily="34" charset="0"/>
                <a:ea typeface="Arial" pitchFamily="34" charset="-122"/>
                <a:cs typeface="Arial" pitchFamily="34" charset="-120"/>
              </a:rPr>
              <a:t>✅ PASS (0.92 Confidence)</a:t>
            </a:r>
            <a:endParaRPr lang="en-US" sz="850" dirty="0"/>
          </a:p>
        </p:txBody>
      </p:sp>
      <p:sp>
        <p:nvSpPr>
          <p:cNvPr id="27" name="Text 25"/>
          <p:cNvSpPr/>
          <p:nvPr/>
        </p:nvSpPr>
        <p:spPr>
          <a:xfrm>
            <a:off x="1097280" y="3822192"/>
            <a:ext cx="2926080" cy="201168"/>
          </a:xfrm>
          <a:prstGeom prst="rect">
            <a:avLst/>
          </a:prstGeom>
          <a:noFill/>
          <a:ln/>
        </p:spPr>
        <p:txBody>
          <a:bodyPr wrap="square" rtlCol="0" anchor="ctr"/>
          <a:lstStyle/>
          <a:p>
            <a:pPr indent="0" marL="0">
              <a:buNone/>
            </a:pPr>
            <a:r>
              <a:rPr lang="en-US" sz="850" dirty="0">
                <a:solidFill>
                  <a:srgbClr val="64748B"/>
                </a:solidFill>
                <a:latin typeface="Courier New" pitchFamily="34" charset="0"/>
                <a:ea typeface="Courier New" pitchFamily="34" charset="-122"/>
                <a:cs typeface="Courier New" pitchFamily="34" charset="-120"/>
              </a:rPr>
              <a:t>POST /api/lost-found/ai-match</a:t>
            </a:r>
            <a:endParaRPr lang="en-US" sz="850" dirty="0"/>
          </a:p>
        </p:txBody>
      </p:sp>
      <p:sp>
        <p:nvSpPr>
          <p:cNvPr id="28" name="Shape 26"/>
          <p:cNvSpPr/>
          <p:nvPr/>
        </p:nvSpPr>
        <p:spPr>
          <a:xfrm>
            <a:off x="960120" y="4151376"/>
            <a:ext cx="5760720" cy="548640"/>
          </a:xfrm>
          <a:prstGeom prst="roundRect">
            <a:avLst/>
          </a:prstGeom>
          <a:solidFill>
            <a:srgbClr val="F1F5F9"/>
          </a:solidFill>
          <a:ln w="12700">
            <a:solidFill>
              <a:srgbClr val="E2E8F0"/>
            </a:solidFill>
            <a:prstDash val="solid"/>
          </a:ln>
        </p:spPr>
      </p:sp>
      <p:sp>
        <p:nvSpPr>
          <p:cNvPr id="29" name="Text 27"/>
          <p:cNvSpPr/>
          <p:nvPr/>
        </p:nvSpPr>
        <p:spPr>
          <a:xfrm>
            <a:off x="1097280" y="4224528"/>
            <a:ext cx="2926080" cy="201168"/>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Radar Match (Milo / Gulshan)</a:t>
            </a:r>
            <a:endParaRPr lang="en-US" sz="950" dirty="0"/>
          </a:p>
        </p:txBody>
      </p:sp>
      <p:sp>
        <p:nvSpPr>
          <p:cNvPr id="30" name="Text 28"/>
          <p:cNvSpPr/>
          <p:nvPr/>
        </p:nvSpPr>
        <p:spPr>
          <a:xfrm>
            <a:off x="4023360" y="4224528"/>
            <a:ext cx="1097280" cy="201168"/>
          </a:xfrm>
          <a:prstGeom prst="rect">
            <a:avLst/>
          </a:prstGeom>
          <a:noFill/>
          <a:ln/>
        </p:spPr>
        <p:txBody>
          <a:bodyPr wrap="square" rtlCol="0" anchor="ctr"/>
          <a:lstStyle/>
          <a:p>
            <a:pPr indent="0" marL="0">
              <a:buNone/>
            </a:pPr>
            <a:r>
              <a:rPr lang="en-US" sz="900" b="1" dirty="0">
                <a:solidFill>
                  <a:srgbClr val="4338CA"/>
                </a:solidFill>
                <a:latin typeface="Courier New" pitchFamily="34" charset="0"/>
                <a:ea typeface="Courier New" pitchFamily="34" charset="-122"/>
                <a:cs typeface="Courier New" pitchFamily="34" charset="-120"/>
              </a:rPr>
              <a:t>385 ms</a:t>
            </a:r>
            <a:endParaRPr lang="en-US" sz="900" dirty="0"/>
          </a:p>
        </p:txBody>
      </p:sp>
      <p:sp>
        <p:nvSpPr>
          <p:cNvPr id="31" name="Text 29"/>
          <p:cNvSpPr/>
          <p:nvPr/>
        </p:nvSpPr>
        <p:spPr>
          <a:xfrm>
            <a:off x="4023360" y="4443984"/>
            <a:ext cx="2560320" cy="201168"/>
          </a:xfrm>
          <a:prstGeom prst="rect">
            <a:avLst/>
          </a:prstGeom>
          <a:noFill/>
          <a:ln/>
        </p:spPr>
        <p:txBody>
          <a:bodyPr wrap="square" rtlCol="0" anchor="ctr"/>
          <a:lstStyle/>
          <a:p>
            <a:pPr indent="0" marL="0">
              <a:buNone/>
            </a:pPr>
            <a:r>
              <a:rPr lang="en-US" sz="850" b="1" dirty="0">
                <a:solidFill>
                  <a:srgbClr val="065F46"/>
                </a:solidFill>
                <a:latin typeface="Arial" pitchFamily="34" charset="0"/>
                <a:ea typeface="Arial" pitchFamily="34" charset="-122"/>
                <a:cs typeface="Arial" pitchFamily="34" charset="-120"/>
              </a:rPr>
              <a:t>✅ PASS (0.92 Confidence)</a:t>
            </a:r>
            <a:endParaRPr lang="en-US" sz="850" dirty="0"/>
          </a:p>
        </p:txBody>
      </p:sp>
      <p:sp>
        <p:nvSpPr>
          <p:cNvPr id="32" name="Text 30"/>
          <p:cNvSpPr/>
          <p:nvPr/>
        </p:nvSpPr>
        <p:spPr>
          <a:xfrm>
            <a:off x="1097280" y="4443984"/>
            <a:ext cx="2926080" cy="201168"/>
          </a:xfrm>
          <a:prstGeom prst="rect">
            <a:avLst/>
          </a:prstGeom>
          <a:noFill/>
          <a:ln/>
        </p:spPr>
        <p:txBody>
          <a:bodyPr wrap="square" rtlCol="0" anchor="ctr"/>
          <a:lstStyle/>
          <a:p>
            <a:pPr indent="0" marL="0">
              <a:buNone/>
            </a:pPr>
            <a:r>
              <a:rPr lang="en-US" sz="850" dirty="0">
                <a:solidFill>
                  <a:srgbClr val="64748B"/>
                </a:solidFill>
                <a:latin typeface="Courier New" pitchFamily="34" charset="0"/>
                <a:ea typeface="Courier New" pitchFamily="34" charset="-122"/>
                <a:cs typeface="Courier New" pitchFamily="34" charset="-120"/>
              </a:rPr>
              <a:t>POST /api/lost-found/ai-match</a:t>
            </a:r>
            <a:endParaRPr lang="en-US" sz="850" dirty="0"/>
          </a:p>
        </p:txBody>
      </p:sp>
      <p:sp>
        <p:nvSpPr>
          <p:cNvPr id="33" name="Shape 31"/>
          <p:cNvSpPr/>
          <p:nvPr/>
        </p:nvSpPr>
        <p:spPr>
          <a:xfrm>
            <a:off x="960120" y="4773168"/>
            <a:ext cx="5760720" cy="548640"/>
          </a:xfrm>
          <a:prstGeom prst="roundRect">
            <a:avLst/>
          </a:prstGeom>
          <a:solidFill>
            <a:srgbClr val="F1F5F9"/>
          </a:solidFill>
          <a:ln w="12700">
            <a:solidFill>
              <a:srgbClr val="E2E8F0"/>
            </a:solidFill>
            <a:prstDash val="solid"/>
          </a:ln>
        </p:spPr>
      </p:sp>
      <p:sp>
        <p:nvSpPr>
          <p:cNvPr id="34" name="Text 32"/>
          <p:cNvSpPr/>
          <p:nvPr/>
        </p:nvSpPr>
        <p:spPr>
          <a:xfrm>
            <a:off x="1097280" y="4846320"/>
            <a:ext cx="2926080" cy="201168"/>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Diet Formulation (Allergies)</a:t>
            </a:r>
            <a:endParaRPr lang="en-US" sz="950" dirty="0"/>
          </a:p>
        </p:txBody>
      </p:sp>
      <p:sp>
        <p:nvSpPr>
          <p:cNvPr id="35" name="Text 33"/>
          <p:cNvSpPr/>
          <p:nvPr/>
        </p:nvSpPr>
        <p:spPr>
          <a:xfrm>
            <a:off x="4023360" y="4846320"/>
            <a:ext cx="1097280" cy="201168"/>
          </a:xfrm>
          <a:prstGeom prst="rect">
            <a:avLst/>
          </a:prstGeom>
          <a:noFill/>
          <a:ln/>
        </p:spPr>
        <p:txBody>
          <a:bodyPr wrap="square" rtlCol="0" anchor="ctr"/>
          <a:lstStyle/>
          <a:p>
            <a:pPr indent="0" marL="0">
              <a:buNone/>
            </a:pPr>
            <a:r>
              <a:rPr lang="en-US" sz="900" b="1" dirty="0">
                <a:solidFill>
                  <a:srgbClr val="4338CA"/>
                </a:solidFill>
                <a:latin typeface="Courier New" pitchFamily="34" charset="0"/>
                <a:ea typeface="Courier New" pitchFamily="34" charset="-122"/>
                <a:cs typeface="Courier New" pitchFamily="34" charset="-120"/>
              </a:rPr>
              <a:t>510 ms</a:t>
            </a:r>
            <a:endParaRPr lang="en-US" sz="900" dirty="0"/>
          </a:p>
        </p:txBody>
      </p:sp>
      <p:sp>
        <p:nvSpPr>
          <p:cNvPr id="36" name="Text 34"/>
          <p:cNvSpPr/>
          <p:nvPr/>
        </p:nvSpPr>
        <p:spPr>
          <a:xfrm>
            <a:off x="4023360" y="5065776"/>
            <a:ext cx="2560320" cy="201168"/>
          </a:xfrm>
          <a:prstGeom prst="rect">
            <a:avLst/>
          </a:prstGeom>
          <a:noFill/>
          <a:ln/>
        </p:spPr>
        <p:txBody>
          <a:bodyPr wrap="square" rtlCol="0" anchor="ctr"/>
          <a:lstStyle/>
          <a:p>
            <a:pPr indent="0" marL="0">
              <a:buNone/>
            </a:pPr>
            <a:r>
              <a:rPr lang="en-US" sz="850" b="1" dirty="0">
                <a:solidFill>
                  <a:srgbClr val="065F46"/>
                </a:solidFill>
                <a:latin typeface="Arial" pitchFamily="34" charset="0"/>
                <a:ea typeface="Arial" pitchFamily="34" charset="-122"/>
                <a:cs typeface="Arial" pitchFamily="34" charset="-120"/>
              </a:rPr>
              <a:t>✅ PASS (Novel Protein Prescribed)</a:t>
            </a:r>
            <a:endParaRPr lang="en-US" sz="850" dirty="0"/>
          </a:p>
        </p:txBody>
      </p:sp>
      <p:sp>
        <p:nvSpPr>
          <p:cNvPr id="37" name="Text 35"/>
          <p:cNvSpPr/>
          <p:nvPr/>
        </p:nvSpPr>
        <p:spPr>
          <a:xfrm>
            <a:off x="1097280" y="5065776"/>
            <a:ext cx="2926080" cy="201168"/>
          </a:xfrm>
          <a:prstGeom prst="rect">
            <a:avLst/>
          </a:prstGeom>
          <a:noFill/>
          <a:ln/>
        </p:spPr>
        <p:txBody>
          <a:bodyPr wrap="square" rtlCol="0" anchor="ctr"/>
          <a:lstStyle/>
          <a:p>
            <a:pPr indent="0" marL="0">
              <a:buNone/>
            </a:pPr>
            <a:r>
              <a:rPr lang="en-US" sz="850" dirty="0">
                <a:solidFill>
                  <a:srgbClr val="64748B"/>
                </a:solidFill>
                <a:latin typeface="Courier New" pitchFamily="34" charset="0"/>
                <a:ea typeface="Courier New" pitchFamily="34" charset="-122"/>
                <a:cs typeface="Courier New" pitchFamily="34" charset="-120"/>
              </a:rPr>
              <a:t>POST /api/marketplace/ai-nutrition</a:t>
            </a:r>
            <a:endParaRPr lang="en-US" sz="850" dirty="0"/>
          </a:p>
        </p:txBody>
      </p:sp>
      <p:sp>
        <p:nvSpPr>
          <p:cNvPr id="38" name="Shape 36"/>
          <p:cNvSpPr/>
          <p:nvPr/>
        </p:nvSpPr>
        <p:spPr>
          <a:xfrm>
            <a:off x="960120" y="5394960"/>
            <a:ext cx="5760720" cy="548640"/>
          </a:xfrm>
          <a:prstGeom prst="roundRect">
            <a:avLst/>
          </a:prstGeom>
          <a:solidFill>
            <a:srgbClr val="F1F5F9"/>
          </a:solidFill>
          <a:ln w="12700">
            <a:solidFill>
              <a:srgbClr val="E2E8F0"/>
            </a:solidFill>
            <a:prstDash val="solid"/>
          </a:ln>
        </p:spPr>
      </p:sp>
      <p:sp>
        <p:nvSpPr>
          <p:cNvPr id="39" name="Text 37"/>
          <p:cNvSpPr/>
          <p:nvPr/>
        </p:nvSpPr>
        <p:spPr>
          <a:xfrm>
            <a:off x="1097280" y="5468112"/>
            <a:ext cx="2926080" cy="201168"/>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OpenAPI 3.0 Documentation</a:t>
            </a:r>
            <a:endParaRPr lang="en-US" sz="950" dirty="0"/>
          </a:p>
        </p:txBody>
      </p:sp>
      <p:sp>
        <p:nvSpPr>
          <p:cNvPr id="40" name="Text 38"/>
          <p:cNvSpPr/>
          <p:nvPr/>
        </p:nvSpPr>
        <p:spPr>
          <a:xfrm>
            <a:off x="4023360" y="5468112"/>
            <a:ext cx="1097280" cy="201168"/>
          </a:xfrm>
          <a:prstGeom prst="rect">
            <a:avLst/>
          </a:prstGeom>
          <a:noFill/>
          <a:ln/>
        </p:spPr>
        <p:txBody>
          <a:bodyPr wrap="square" rtlCol="0" anchor="ctr"/>
          <a:lstStyle/>
          <a:p>
            <a:pPr indent="0" marL="0">
              <a:buNone/>
            </a:pPr>
            <a:r>
              <a:rPr lang="en-US" sz="900" b="1" dirty="0">
                <a:solidFill>
                  <a:srgbClr val="4338CA"/>
                </a:solidFill>
                <a:latin typeface="Courier New" pitchFamily="34" charset="0"/>
                <a:ea typeface="Courier New" pitchFamily="34" charset="-122"/>
                <a:cs typeface="Courier New" pitchFamily="34" charset="-120"/>
              </a:rPr>
              <a:t>12 ms</a:t>
            </a:r>
            <a:endParaRPr lang="en-US" sz="900" dirty="0"/>
          </a:p>
        </p:txBody>
      </p:sp>
      <p:sp>
        <p:nvSpPr>
          <p:cNvPr id="41" name="Text 39"/>
          <p:cNvSpPr/>
          <p:nvPr/>
        </p:nvSpPr>
        <p:spPr>
          <a:xfrm>
            <a:off x="4023360" y="5687568"/>
            <a:ext cx="2560320" cy="201168"/>
          </a:xfrm>
          <a:prstGeom prst="rect">
            <a:avLst/>
          </a:prstGeom>
          <a:noFill/>
          <a:ln/>
        </p:spPr>
        <p:txBody>
          <a:bodyPr wrap="square" rtlCol="0" anchor="ctr"/>
          <a:lstStyle/>
          <a:p>
            <a:pPr indent="0" marL="0">
              <a:buNone/>
            </a:pPr>
            <a:r>
              <a:rPr lang="en-US" sz="850" b="1" dirty="0">
                <a:solidFill>
                  <a:srgbClr val="065F46"/>
                </a:solidFill>
                <a:latin typeface="Arial" pitchFamily="34" charset="0"/>
                <a:ea typeface="Arial" pitchFamily="34" charset="-122"/>
                <a:cs typeface="Arial" pitchFamily="34" charset="-120"/>
              </a:rPr>
              <a:t>✅ PASS (18 Routes Indexed)</a:t>
            </a:r>
            <a:endParaRPr lang="en-US" sz="850" dirty="0"/>
          </a:p>
        </p:txBody>
      </p:sp>
      <p:sp>
        <p:nvSpPr>
          <p:cNvPr id="42" name="Text 40"/>
          <p:cNvSpPr/>
          <p:nvPr/>
        </p:nvSpPr>
        <p:spPr>
          <a:xfrm>
            <a:off x="1097280" y="5687568"/>
            <a:ext cx="2926080" cy="201168"/>
          </a:xfrm>
          <a:prstGeom prst="rect">
            <a:avLst/>
          </a:prstGeom>
          <a:noFill/>
          <a:ln/>
        </p:spPr>
        <p:txBody>
          <a:bodyPr wrap="square" rtlCol="0" anchor="ctr"/>
          <a:lstStyle/>
          <a:p>
            <a:pPr indent="0" marL="0">
              <a:buNone/>
            </a:pPr>
            <a:r>
              <a:rPr lang="en-US" sz="850" dirty="0">
                <a:solidFill>
                  <a:srgbClr val="64748B"/>
                </a:solidFill>
                <a:latin typeface="Courier New" pitchFamily="34" charset="0"/>
                <a:ea typeface="Courier New" pitchFamily="34" charset="-122"/>
                <a:cs typeface="Courier New" pitchFamily="34" charset="-120"/>
              </a:rPr>
              <a:t>GET /api/docs/spec</a:t>
            </a:r>
            <a:endParaRPr lang="en-US" sz="850" dirty="0"/>
          </a:p>
        </p:txBody>
      </p:sp>
      <p:sp>
        <p:nvSpPr>
          <p:cNvPr id="43" name="Shape 41"/>
          <p:cNvSpPr/>
          <p:nvPr/>
        </p:nvSpPr>
        <p:spPr>
          <a:xfrm>
            <a:off x="7223760" y="1783080"/>
            <a:ext cx="4236415" cy="4389120"/>
          </a:xfrm>
          <a:prstGeom prst="roundRect">
            <a:avLst/>
          </a:prstGeom>
          <a:solidFill>
            <a:srgbClr val="0B0F19"/>
          </a:solidFill>
          <a:ln w="19050">
            <a:solidFill>
              <a:srgbClr val="4F46E5"/>
            </a:solidFill>
            <a:prstDash val="solid"/>
          </a:ln>
        </p:spPr>
      </p:sp>
      <p:sp>
        <p:nvSpPr>
          <p:cNvPr id="44" name="Text 42"/>
          <p:cNvSpPr/>
          <p:nvPr/>
        </p:nvSpPr>
        <p:spPr>
          <a:xfrm>
            <a:off x="7452360" y="1965960"/>
            <a:ext cx="3749040" cy="228600"/>
          </a:xfrm>
          <a:prstGeom prst="rect">
            <a:avLst/>
          </a:prstGeom>
          <a:noFill/>
          <a:ln/>
        </p:spPr>
        <p:txBody>
          <a:bodyPr wrap="square" rtlCol="0" anchor="ctr"/>
          <a:lstStyle/>
          <a:p>
            <a:pPr indent="0" marL="0">
              <a:buNone/>
            </a:pPr>
            <a:r>
              <a:rPr lang="en-US" sz="1050" b="1" spc="120" kern="0" dirty="0">
                <a:solidFill>
                  <a:srgbClr val="818CF8"/>
                </a:solidFill>
                <a:latin typeface="Arial" pitchFamily="34" charset="0"/>
                <a:ea typeface="Arial" pitchFamily="34" charset="-122"/>
                <a:cs typeface="Arial" pitchFamily="34" charset="-120"/>
              </a:rPr>
              <a:t>LIVE INTERACTIVE CAPABILITIES</a:t>
            </a:r>
            <a:endParaRPr lang="en-US" sz="1050" dirty="0"/>
          </a:p>
        </p:txBody>
      </p:sp>
      <p:sp>
        <p:nvSpPr>
          <p:cNvPr id="45" name="Shape 43"/>
          <p:cNvSpPr/>
          <p:nvPr/>
        </p:nvSpPr>
        <p:spPr>
          <a:xfrm>
            <a:off x="7452360" y="2286000"/>
            <a:ext cx="3779215" cy="1097280"/>
          </a:xfrm>
          <a:prstGeom prst="roundRect">
            <a:avLst/>
          </a:prstGeom>
          <a:solidFill>
            <a:srgbClr val="1E293B"/>
          </a:solidFill>
          <a:ln w="12700">
            <a:solidFill>
              <a:srgbClr val="334155"/>
            </a:solidFill>
            <a:prstDash val="solid"/>
          </a:ln>
        </p:spPr>
      </p:sp>
      <p:sp>
        <p:nvSpPr>
          <p:cNvPr id="46" name="Text 44"/>
          <p:cNvSpPr/>
          <p:nvPr/>
        </p:nvSpPr>
        <p:spPr>
          <a:xfrm>
            <a:off x="7589520" y="2377440"/>
            <a:ext cx="3474720" cy="219456"/>
          </a:xfrm>
          <a:prstGeom prst="rect">
            <a:avLst/>
          </a:prstGeom>
          <a:noFill/>
          <a:ln/>
        </p:spPr>
        <p:txBody>
          <a:bodyPr wrap="square" rtlCol="0" anchor="ctr"/>
          <a:lstStyle/>
          <a:p>
            <a:pPr indent="0" marL="0">
              <a:buNone/>
            </a:pPr>
            <a:r>
              <a:rPr lang="en-US" sz="1100" b="1" dirty="0">
                <a:solidFill>
                  <a:srgbClr val="38BDF8"/>
                </a:solidFill>
                <a:latin typeface="Arial" pitchFamily="34" charset="0"/>
                <a:ea typeface="Arial" pitchFamily="34" charset="-122"/>
                <a:cs typeface="Arial" pitchFamily="34" charset="-120"/>
              </a:rPr>
              <a:t>Interactive Swagger UI</a:t>
            </a:r>
            <a:endParaRPr lang="en-US" sz="1100" dirty="0"/>
          </a:p>
        </p:txBody>
      </p:sp>
      <p:sp>
        <p:nvSpPr>
          <p:cNvPr id="47" name="Text 45"/>
          <p:cNvSpPr/>
          <p:nvPr/>
        </p:nvSpPr>
        <p:spPr>
          <a:xfrm>
            <a:off x="7589520" y="2596896"/>
            <a:ext cx="3474720" cy="182880"/>
          </a:xfrm>
          <a:prstGeom prst="rect">
            <a:avLst/>
          </a:prstGeom>
          <a:noFill/>
          <a:ln/>
        </p:spPr>
        <p:txBody>
          <a:bodyPr wrap="square" rtlCol="0" anchor="ctr"/>
          <a:lstStyle/>
          <a:p>
            <a:pPr indent="0" marL="0">
              <a:buNone/>
            </a:pPr>
            <a:r>
              <a:rPr lang="en-US" sz="850" dirty="0">
                <a:solidFill>
                  <a:srgbClr val="A5B4FC"/>
                </a:solidFill>
                <a:latin typeface="Courier New" pitchFamily="34" charset="0"/>
                <a:ea typeface="Courier New" pitchFamily="34" charset="-122"/>
                <a:cs typeface="Courier New" pitchFamily="34" charset="-120"/>
              </a:rPr>
              <a:t>http://localhost:3000/api/docs</a:t>
            </a:r>
            <a:endParaRPr lang="en-US" sz="850" dirty="0"/>
          </a:p>
        </p:txBody>
      </p:sp>
      <p:sp>
        <p:nvSpPr>
          <p:cNvPr id="48" name="Text 46"/>
          <p:cNvSpPr/>
          <p:nvPr/>
        </p:nvSpPr>
        <p:spPr>
          <a:xfrm>
            <a:off x="7589520" y="2798064"/>
            <a:ext cx="3474720" cy="502920"/>
          </a:xfrm>
          <a:prstGeom prst="rect">
            <a:avLst/>
          </a:prstGeom>
          <a:noFill/>
          <a:ln/>
        </p:spPr>
        <p:txBody>
          <a:bodyPr wrap="square" rtlCol="0" anchor="ctr"/>
          <a:lstStyle/>
          <a:p>
            <a:pPr indent="0" marL="0">
              <a:lnSpc>
                <a:spcPts val="1200"/>
              </a:lnSpc>
              <a:buNone/>
            </a:pPr>
            <a:r>
              <a:rPr lang="en-US" sz="850" dirty="0">
                <a:solidFill>
                  <a:srgbClr val="94A3B8"/>
                </a:solidFill>
                <a:latin typeface="Arial" pitchFamily="34" charset="0"/>
                <a:ea typeface="Arial" pitchFamily="34" charset="-122"/>
                <a:cs typeface="Arial" pitchFamily="34" charset="-120"/>
              </a:rPr>
              <a:t>Direct interactive testing sandbox for all 18 REST endpoints with live parameter execution.</a:t>
            </a:r>
            <a:endParaRPr lang="en-US" sz="850" dirty="0"/>
          </a:p>
        </p:txBody>
      </p:sp>
      <p:sp>
        <p:nvSpPr>
          <p:cNvPr id="49" name="Shape 47"/>
          <p:cNvSpPr/>
          <p:nvPr/>
        </p:nvSpPr>
        <p:spPr>
          <a:xfrm>
            <a:off x="7452360" y="3520440"/>
            <a:ext cx="3779215" cy="1097280"/>
          </a:xfrm>
          <a:prstGeom prst="roundRect">
            <a:avLst/>
          </a:prstGeom>
          <a:solidFill>
            <a:srgbClr val="1E293B"/>
          </a:solidFill>
          <a:ln w="12700">
            <a:solidFill>
              <a:srgbClr val="334155"/>
            </a:solidFill>
            <a:prstDash val="solid"/>
          </a:ln>
        </p:spPr>
      </p:sp>
      <p:sp>
        <p:nvSpPr>
          <p:cNvPr id="50" name="Text 48"/>
          <p:cNvSpPr/>
          <p:nvPr/>
        </p:nvSpPr>
        <p:spPr>
          <a:xfrm>
            <a:off x="7589520" y="3611880"/>
            <a:ext cx="3474720" cy="219456"/>
          </a:xfrm>
          <a:prstGeom prst="rect">
            <a:avLst/>
          </a:prstGeom>
          <a:noFill/>
          <a:ln/>
        </p:spPr>
        <p:txBody>
          <a:bodyPr wrap="square" rtlCol="0" anchor="ctr"/>
          <a:lstStyle/>
          <a:p>
            <a:pPr indent="0" marL="0">
              <a:buNone/>
            </a:pPr>
            <a:r>
              <a:rPr lang="en-US" sz="1100" b="1" dirty="0">
                <a:solidFill>
                  <a:srgbClr val="38BDF8"/>
                </a:solidFill>
                <a:latin typeface="Arial" pitchFamily="34" charset="0"/>
                <a:ea typeface="Arial" pitchFamily="34" charset="-122"/>
                <a:cs typeface="Arial" pitchFamily="34" charset="-120"/>
              </a:rPr>
              <a:t>Client Architecture Modal</a:t>
            </a:r>
            <a:endParaRPr lang="en-US" sz="1100" dirty="0"/>
          </a:p>
        </p:txBody>
      </p:sp>
      <p:sp>
        <p:nvSpPr>
          <p:cNvPr id="51" name="Text 49"/>
          <p:cNvSpPr/>
          <p:nvPr/>
        </p:nvSpPr>
        <p:spPr>
          <a:xfrm>
            <a:off x="7589520" y="3831336"/>
            <a:ext cx="3474720" cy="182880"/>
          </a:xfrm>
          <a:prstGeom prst="rect">
            <a:avLst/>
          </a:prstGeom>
          <a:noFill/>
          <a:ln/>
        </p:spPr>
        <p:txBody>
          <a:bodyPr wrap="square" rtlCol="0" anchor="ctr"/>
          <a:lstStyle/>
          <a:p>
            <a:pPr indent="0" marL="0">
              <a:buNone/>
            </a:pPr>
            <a:r>
              <a:rPr lang="en-US" sz="850" dirty="0">
                <a:solidFill>
                  <a:srgbClr val="A5B4FC"/>
                </a:solidFill>
                <a:latin typeface="Courier New" pitchFamily="34" charset="0"/>
                <a:ea typeface="Courier New" pitchFamily="34" charset="-122"/>
                <a:cs typeface="Courier New" pitchFamily="34" charset="-120"/>
              </a:rPr>
              <a:t>TopBar ➔ "Architecture" Button</a:t>
            </a:r>
            <a:endParaRPr lang="en-US" sz="850" dirty="0"/>
          </a:p>
        </p:txBody>
      </p:sp>
      <p:sp>
        <p:nvSpPr>
          <p:cNvPr id="52" name="Text 50"/>
          <p:cNvSpPr/>
          <p:nvPr/>
        </p:nvSpPr>
        <p:spPr>
          <a:xfrm>
            <a:off x="7589520" y="4032504"/>
            <a:ext cx="3474720" cy="502920"/>
          </a:xfrm>
          <a:prstGeom prst="rect">
            <a:avLst/>
          </a:prstGeom>
          <a:noFill/>
          <a:ln/>
        </p:spPr>
        <p:txBody>
          <a:bodyPr wrap="square" rtlCol="0" anchor="ctr"/>
          <a:lstStyle/>
          <a:p>
            <a:pPr indent="0" marL="0">
              <a:lnSpc>
                <a:spcPts val="1200"/>
              </a:lnSpc>
              <a:buNone/>
            </a:pPr>
            <a:r>
              <a:rPr lang="en-US" sz="850" dirty="0">
                <a:solidFill>
                  <a:srgbClr val="94A3B8"/>
                </a:solidFill>
                <a:latin typeface="Arial" pitchFamily="34" charset="0"/>
                <a:ea typeface="Arial" pitchFamily="34" charset="-122"/>
                <a:cs typeface="Arial" pitchFamily="34" charset="-120"/>
              </a:rPr>
              <a:t>Inspects live API health, database pooler status, and subsystem uptime directly from the Vue 3 app.</a:t>
            </a:r>
            <a:endParaRPr lang="en-US" sz="850" dirty="0"/>
          </a:p>
        </p:txBody>
      </p:sp>
      <p:sp>
        <p:nvSpPr>
          <p:cNvPr id="53" name="Shape 51"/>
          <p:cNvSpPr/>
          <p:nvPr/>
        </p:nvSpPr>
        <p:spPr>
          <a:xfrm>
            <a:off x="7452360" y="4754880"/>
            <a:ext cx="3779215" cy="1097280"/>
          </a:xfrm>
          <a:prstGeom prst="roundRect">
            <a:avLst/>
          </a:prstGeom>
          <a:solidFill>
            <a:srgbClr val="1E293B"/>
          </a:solidFill>
          <a:ln w="12700">
            <a:solidFill>
              <a:srgbClr val="334155"/>
            </a:solidFill>
            <a:prstDash val="solid"/>
          </a:ln>
        </p:spPr>
      </p:sp>
      <p:sp>
        <p:nvSpPr>
          <p:cNvPr id="54" name="Text 52"/>
          <p:cNvSpPr/>
          <p:nvPr/>
        </p:nvSpPr>
        <p:spPr>
          <a:xfrm>
            <a:off x="7589520" y="4846320"/>
            <a:ext cx="3474720" cy="219456"/>
          </a:xfrm>
          <a:prstGeom prst="rect">
            <a:avLst/>
          </a:prstGeom>
          <a:noFill/>
          <a:ln/>
        </p:spPr>
        <p:txBody>
          <a:bodyPr wrap="square" rtlCol="0" anchor="ctr"/>
          <a:lstStyle/>
          <a:p>
            <a:pPr indent="0" marL="0">
              <a:buNone/>
            </a:pPr>
            <a:r>
              <a:rPr lang="en-US" sz="1100" b="1" dirty="0">
                <a:solidFill>
                  <a:srgbClr val="38BDF8"/>
                </a:solidFill>
                <a:latin typeface="Arial" pitchFamily="34" charset="0"/>
                <a:ea typeface="Arial" pitchFamily="34" charset="-122"/>
                <a:cs typeface="Arial" pitchFamily="34" charset="-120"/>
              </a:rPr>
              <a:t>Browser-Verified Auth Flow</a:t>
            </a:r>
            <a:endParaRPr lang="en-US" sz="1100" dirty="0"/>
          </a:p>
        </p:txBody>
      </p:sp>
      <p:sp>
        <p:nvSpPr>
          <p:cNvPr id="55" name="Text 53"/>
          <p:cNvSpPr/>
          <p:nvPr/>
        </p:nvSpPr>
        <p:spPr>
          <a:xfrm>
            <a:off x="7589520" y="5065776"/>
            <a:ext cx="3474720" cy="182880"/>
          </a:xfrm>
          <a:prstGeom prst="rect">
            <a:avLst/>
          </a:prstGeom>
          <a:noFill/>
          <a:ln/>
        </p:spPr>
        <p:txBody>
          <a:bodyPr wrap="square" rtlCol="0" anchor="ctr"/>
          <a:lstStyle/>
          <a:p>
            <a:pPr indent="0" marL="0">
              <a:buNone/>
            </a:pPr>
            <a:r>
              <a:rPr lang="en-US" sz="850" dirty="0">
                <a:solidFill>
                  <a:srgbClr val="A5B4FC"/>
                </a:solidFill>
                <a:latin typeface="Courier New" pitchFamily="34" charset="0"/>
                <a:ea typeface="Courier New" pitchFamily="34" charset="-122"/>
                <a:cs typeface="Courier New" pitchFamily="34" charset="-120"/>
              </a:rPr>
              <a:t>Full E2E Browser Subagent Audit</a:t>
            </a:r>
            <a:endParaRPr lang="en-US" sz="850" dirty="0"/>
          </a:p>
        </p:txBody>
      </p:sp>
      <p:sp>
        <p:nvSpPr>
          <p:cNvPr id="56" name="Text 54"/>
          <p:cNvSpPr/>
          <p:nvPr/>
        </p:nvSpPr>
        <p:spPr>
          <a:xfrm>
            <a:off x="7589520" y="5266944"/>
            <a:ext cx="3474720" cy="502920"/>
          </a:xfrm>
          <a:prstGeom prst="rect">
            <a:avLst/>
          </a:prstGeom>
          <a:noFill/>
          <a:ln/>
        </p:spPr>
        <p:txBody>
          <a:bodyPr wrap="square" rtlCol="0" anchor="ctr"/>
          <a:lstStyle/>
          <a:p>
            <a:pPr indent="0" marL="0">
              <a:lnSpc>
                <a:spcPts val="1200"/>
              </a:lnSpc>
              <a:buNone/>
            </a:pPr>
            <a:r>
              <a:rPr lang="en-US" sz="850" dirty="0">
                <a:solidFill>
                  <a:srgbClr val="94A3B8"/>
                </a:solidFill>
                <a:latin typeface="Arial" pitchFamily="34" charset="0"/>
                <a:ea typeface="Arial" pitchFamily="34" charset="-122"/>
                <a:cs typeface="Arial" pitchFamily="34" charset="-120"/>
              </a:rPr>
              <a:t>Verified login as Pet Parent, Store, and Vet with zero console errors and persistent state.</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F172A"/>
          </a:solidFill>
          <a:ln w="12700">
            <a:solidFill>
              <a:srgbClr val="1E293B"/>
            </a:solidFill>
            <a:prstDash val="solid"/>
          </a:ln>
        </p:spPr>
      </p:sp>
      <p:sp>
        <p:nvSpPr>
          <p:cNvPr id="3" name="Text 1"/>
          <p:cNvSpPr/>
          <p:nvPr/>
        </p:nvSpPr>
        <p:spPr>
          <a:xfrm>
            <a:off x="731520" y="128016"/>
            <a:ext cx="6858000" cy="3200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NUZZLE AI PLATFORM  |  GIGALOGY MAIRA MANAGED RAG INTEGRATION</a:t>
            </a:r>
            <a:endParaRPr lang="en-US" sz="1100" dirty="0"/>
          </a:p>
        </p:txBody>
      </p:sp>
      <p:sp>
        <p:nvSpPr>
          <p:cNvPr id="4" name="Text 2"/>
          <p:cNvSpPr/>
          <p:nvPr/>
        </p:nvSpPr>
        <p:spPr>
          <a:xfrm>
            <a:off x="7315200" y="128016"/>
            <a:ext cx="4144975" cy="32004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Slide 12 of 12  •  Technical &amp; Architecture Deep Dive</a:t>
            </a:r>
            <a:endParaRPr lang="en-US" sz="1000" dirty="0"/>
          </a:p>
        </p:txBody>
      </p:sp>
      <p:sp>
        <p:nvSpPr>
          <p:cNvPr id="5" name="Text 3"/>
          <p:cNvSpPr/>
          <p:nvPr/>
        </p:nvSpPr>
        <p:spPr>
          <a:xfrm>
            <a:off x="731520" y="713232"/>
            <a:ext cx="10728655" cy="228600"/>
          </a:xfrm>
          <a:prstGeom prst="rect">
            <a:avLst/>
          </a:prstGeom>
          <a:noFill/>
          <a:ln/>
        </p:spPr>
        <p:txBody>
          <a:bodyPr wrap="square" rtlCol="0" anchor="ctr"/>
          <a:lstStyle/>
          <a:p>
            <a:pPr indent="0" marL="0">
              <a:buNone/>
            </a:pPr>
            <a:r>
              <a:rPr lang="en-US" sz="1000" b="1" spc="120" kern="0" dirty="0">
                <a:solidFill>
                  <a:srgbClr val="4338CA"/>
                </a:solidFill>
                <a:latin typeface="Arial" pitchFamily="34" charset="0"/>
                <a:ea typeface="Arial" pitchFamily="34" charset="-122"/>
                <a:cs typeface="Arial" pitchFamily="34" charset="-120"/>
              </a:rPr>
              <a:t>LOOKING FORWARD</a:t>
            </a:r>
            <a:endParaRPr lang="en-US" sz="1000" dirty="0"/>
          </a:p>
        </p:txBody>
      </p:sp>
      <p:sp>
        <p:nvSpPr>
          <p:cNvPr id="6" name="Text 4"/>
          <p:cNvSpPr/>
          <p:nvPr/>
        </p:nvSpPr>
        <p:spPr>
          <a:xfrm>
            <a:off x="731520" y="932688"/>
            <a:ext cx="10728655" cy="438912"/>
          </a:xfrm>
          <a:prstGeom prst="rect">
            <a:avLst/>
          </a:prstGeom>
          <a:noFill/>
          <a:ln/>
        </p:spPr>
        <p:txBody>
          <a:bodyPr wrap="square" rtlCol="0" anchor="ctr"/>
          <a:lstStyle/>
          <a:p>
            <a:pPr indent="0" marL="0">
              <a:buNone/>
            </a:pPr>
            <a:r>
              <a:rPr lang="en-US" sz="2100" b="1" dirty="0">
                <a:solidFill>
                  <a:srgbClr val="0F172A"/>
                </a:solidFill>
                <a:latin typeface="Arial" pitchFamily="34" charset="0"/>
                <a:ea typeface="Arial" pitchFamily="34" charset="-122"/>
                <a:cs typeface="Arial" pitchFamily="34" charset="-120"/>
              </a:rPr>
              <a:t>Future Roadmap &amp; Production Conclusion</a:t>
            </a:r>
            <a:endParaRPr lang="en-US" sz="2100" dirty="0"/>
          </a:p>
        </p:txBody>
      </p:sp>
      <p:sp>
        <p:nvSpPr>
          <p:cNvPr id="7" name="Text 5"/>
          <p:cNvSpPr/>
          <p:nvPr/>
        </p:nvSpPr>
        <p:spPr>
          <a:xfrm>
            <a:off x="731520" y="1353312"/>
            <a:ext cx="10728655" cy="292608"/>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Scaling multimodal AI across South Asia: Automated ingest, streaming responses, and voice triage.</a:t>
            </a:r>
            <a:endParaRPr lang="en-US" sz="1200" dirty="0"/>
          </a:p>
        </p:txBody>
      </p:sp>
      <p:sp>
        <p:nvSpPr>
          <p:cNvPr id="8" name="Shape 6"/>
          <p:cNvSpPr/>
          <p:nvPr/>
        </p:nvSpPr>
        <p:spPr>
          <a:xfrm>
            <a:off x="731520" y="6355080"/>
            <a:ext cx="10728655" cy="0"/>
          </a:xfrm>
          <a:prstGeom prst="line">
            <a:avLst/>
          </a:prstGeom>
          <a:noFill/>
          <a:ln w="12700">
            <a:solidFill>
              <a:srgbClr val="E2E8F0"/>
            </a:solidFill>
            <a:prstDash val="solid"/>
          </a:ln>
        </p:spPr>
      </p:sp>
      <p:sp>
        <p:nvSpPr>
          <p:cNvPr id="9" name="Text 7"/>
          <p:cNvSpPr/>
          <p:nvPr/>
        </p:nvSpPr>
        <p:spPr>
          <a:xfrm>
            <a:off x="731520" y="6446520"/>
            <a:ext cx="7315200" cy="27432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Nuzzle × Gigalogy MAIRA  •  Production Multimodal AI Engine  •  Dhaka, Bangladesh</a:t>
            </a:r>
            <a:endParaRPr lang="en-US" sz="950" dirty="0"/>
          </a:p>
        </p:txBody>
      </p:sp>
      <p:sp>
        <p:nvSpPr>
          <p:cNvPr id="10" name="Text 8"/>
          <p:cNvSpPr/>
          <p:nvPr/>
        </p:nvSpPr>
        <p:spPr>
          <a:xfrm>
            <a:off x="8229600" y="6446520"/>
            <a:ext cx="3230575" cy="274320"/>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Confidential &amp; Proprietary</a:t>
            </a:r>
            <a:endParaRPr lang="en-US" sz="950" dirty="0"/>
          </a:p>
        </p:txBody>
      </p:sp>
      <p:sp>
        <p:nvSpPr>
          <p:cNvPr id="11" name="Shape 9"/>
          <p:cNvSpPr/>
          <p:nvPr/>
        </p:nvSpPr>
        <p:spPr>
          <a:xfrm>
            <a:off x="731520" y="1783080"/>
            <a:ext cx="3429000" cy="2834640"/>
          </a:xfrm>
          <a:prstGeom prst="roundRect">
            <a:avLst/>
          </a:prstGeom>
          <a:solidFill>
            <a:srgbClr val="FFFFFF"/>
          </a:solidFill>
          <a:ln w="15240">
            <a:solidFill>
              <a:srgbClr val="CBD5E1"/>
            </a:solidFill>
            <a:prstDash val="solid"/>
          </a:ln>
        </p:spPr>
      </p:sp>
      <p:sp>
        <p:nvSpPr>
          <p:cNvPr id="12" name="Text 10"/>
          <p:cNvSpPr/>
          <p:nvPr/>
        </p:nvSpPr>
        <p:spPr>
          <a:xfrm>
            <a:off x="868680" y="1965960"/>
            <a:ext cx="457200" cy="365760"/>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13" name="Text 11"/>
          <p:cNvSpPr/>
          <p:nvPr/>
        </p:nvSpPr>
        <p:spPr>
          <a:xfrm>
            <a:off x="868680" y="2423160"/>
            <a:ext cx="3108960" cy="201168"/>
          </a:xfrm>
          <a:prstGeom prst="rect">
            <a:avLst/>
          </a:prstGeom>
          <a:noFill/>
          <a:ln/>
        </p:spPr>
        <p:txBody>
          <a:bodyPr wrap="square" rtlCol="0" anchor="ctr"/>
          <a:lstStyle/>
          <a:p>
            <a:pPr indent="0" marL="0">
              <a:buNone/>
            </a:pPr>
            <a:r>
              <a:rPr lang="en-US" sz="900" b="1" dirty="0">
                <a:solidFill>
                  <a:srgbClr val="4338CA"/>
                </a:solidFill>
                <a:latin typeface="Arial" pitchFamily="34" charset="0"/>
                <a:ea typeface="Arial" pitchFamily="34" charset="-122"/>
                <a:cs typeface="Arial" pitchFamily="34" charset="-120"/>
              </a:rPr>
              <a:t>PHASE 1 (NEXT SPRINT)</a:t>
            </a:r>
            <a:endParaRPr lang="en-US" sz="900" dirty="0"/>
          </a:p>
        </p:txBody>
      </p:sp>
      <p:sp>
        <p:nvSpPr>
          <p:cNvPr id="14" name="Text 12"/>
          <p:cNvSpPr/>
          <p:nvPr/>
        </p:nvSpPr>
        <p:spPr>
          <a:xfrm>
            <a:off x="868680" y="2651760"/>
            <a:ext cx="3108960" cy="457200"/>
          </a:xfrm>
          <a:prstGeom prst="rect">
            <a:avLst/>
          </a:prstGeom>
          <a:noFill/>
          <a:ln/>
        </p:spPr>
        <p:txBody>
          <a:bodyPr wrap="square" rtlCol="0" anchor="ctr"/>
          <a:lstStyle/>
          <a:p>
            <a:pPr indent="0" marL="0">
              <a:lnSpc>
                <a:spcPts val="1500"/>
              </a:lnSpc>
              <a:buNone/>
            </a:pPr>
            <a:r>
              <a:rPr lang="en-US" sz="1200" b="1" dirty="0">
                <a:solidFill>
                  <a:srgbClr val="0F172A"/>
                </a:solidFill>
                <a:latin typeface="Arial" pitchFamily="34" charset="0"/>
                <a:ea typeface="Arial" pitchFamily="34" charset="-122"/>
                <a:cs typeface="Arial" pitchFamily="34" charset="-120"/>
              </a:rPr>
              <a:t>Server-Sent Events (SSE) Streaming</a:t>
            </a:r>
            <a:endParaRPr lang="en-US" sz="1200" dirty="0"/>
          </a:p>
        </p:txBody>
      </p:sp>
      <p:sp>
        <p:nvSpPr>
          <p:cNvPr id="15" name="Text 13"/>
          <p:cNvSpPr/>
          <p:nvPr/>
        </p:nvSpPr>
        <p:spPr>
          <a:xfrm>
            <a:off x="868680" y="3154680"/>
            <a:ext cx="3108960" cy="1280160"/>
          </a:xfrm>
          <a:prstGeom prst="rect">
            <a:avLst/>
          </a:prstGeom>
          <a:noFill/>
          <a:ln/>
        </p:spPr>
        <p:txBody>
          <a:bodyPr wrap="square" rtlCol="0" anchor="ctr"/>
          <a:lstStyle/>
          <a:p>
            <a:pPr indent="0" marL="0">
              <a:lnSpc>
                <a:spcPts val="1400"/>
              </a:lnSpc>
              <a:buNone/>
            </a:pPr>
            <a:r>
              <a:rPr lang="en-US" sz="950" dirty="0">
                <a:solidFill>
                  <a:srgbClr val="475569"/>
                </a:solidFill>
                <a:latin typeface="Arial" pitchFamily="34" charset="0"/>
                <a:ea typeface="Arial" pitchFamily="34" charset="-122"/>
                <a:cs typeface="Arial" pitchFamily="34" charset="-120"/>
              </a:rPr>
              <a:t>Upgrade /api/pawai/chat to native HTTP chunked streaming, reducing perceived token generation latency to &lt; 100ms on mobile devices.</a:t>
            </a:r>
            <a:endParaRPr lang="en-US" sz="950" dirty="0"/>
          </a:p>
        </p:txBody>
      </p:sp>
      <p:sp>
        <p:nvSpPr>
          <p:cNvPr id="16" name="Shape 14"/>
          <p:cNvSpPr/>
          <p:nvPr/>
        </p:nvSpPr>
        <p:spPr>
          <a:xfrm>
            <a:off x="4370832" y="1783080"/>
            <a:ext cx="3429000" cy="2834640"/>
          </a:xfrm>
          <a:prstGeom prst="roundRect">
            <a:avLst/>
          </a:prstGeom>
          <a:solidFill>
            <a:srgbClr val="FFFFFF"/>
          </a:solidFill>
          <a:ln w="15240">
            <a:solidFill>
              <a:srgbClr val="CBD5E1"/>
            </a:solidFill>
            <a:prstDash val="solid"/>
          </a:ln>
        </p:spPr>
      </p:sp>
      <p:sp>
        <p:nvSpPr>
          <p:cNvPr id="17" name="Text 15"/>
          <p:cNvSpPr/>
          <p:nvPr/>
        </p:nvSpPr>
        <p:spPr>
          <a:xfrm>
            <a:off x="4507992" y="1965960"/>
            <a:ext cx="457200" cy="365760"/>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18" name="Text 16"/>
          <p:cNvSpPr/>
          <p:nvPr/>
        </p:nvSpPr>
        <p:spPr>
          <a:xfrm>
            <a:off x="4507992" y="2423160"/>
            <a:ext cx="3108960" cy="201168"/>
          </a:xfrm>
          <a:prstGeom prst="rect">
            <a:avLst/>
          </a:prstGeom>
          <a:noFill/>
          <a:ln/>
        </p:spPr>
        <p:txBody>
          <a:bodyPr wrap="square" rtlCol="0" anchor="ctr"/>
          <a:lstStyle/>
          <a:p>
            <a:pPr indent="0" marL="0">
              <a:buNone/>
            </a:pPr>
            <a:r>
              <a:rPr lang="en-US" sz="900" b="1" dirty="0">
                <a:solidFill>
                  <a:srgbClr val="4338CA"/>
                </a:solidFill>
                <a:latin typeface="Arial" pitchFamily="34" charset="0"/>
                <a:ea typeface="Arial" pitchFamily="34" charset="-122"/>
                <a:cs typeface="Arial" pitchFamily="34" charset="-120"/>
              </a:rPr>
              <a:t>PHASE 2 (Q4 2026)</a:t>
            </a:r>
            <a:endParaRPr lang="en-US" sz="900" dirty="0"/>
          </a:p>
        </p:txBody>
      </p:sp>
      <p:sp>
        <p:nvSpPr>
          <p:cNvPr id="19" name="Text 17"/>
          <p:cNvSpPr/>
          <p:nvPr/>
        </p:nvSpPr>
        <p:spPr>
          <a:xfrm>
            <a:off x="4507992" y="2651760"/>
            <a:ext cx="3108960" cy="457200"/>
          </a:xfrm>
          <a:prstGeom prst="rect">
            <a:avLst/>
          </a:prstGeom>
          <a:noFill/>
          <a:ln/>
        </p:spPr>
        <p:txBody>
          <a:bodyPr wrap="square" rtlCol="0" anchor="ctr"/>
          <a:lstStyle/>
          <a:p>
            <a:pPr indent="0" marL="0">
              <a:lnSpc>
                <a:spcPts val="1500"/>
              </a:lnSpc>
              <a:buNone/>
            </a:pPr>
            <a:r>
              <a:rPr lang="en-US" sz="1200" b="1" dirty="0">
                <a:solidFill>
                  <a:srgbClr val="0F172A"/>
                </a:solidFill>
                <a:latin typeface="Arial" pitchFamily="34" charset="0"/>
                <a:ea typeface="Arial" pitchFamily="34" charset="-122"/>
                <a:cs typeface="Arial" pitchFamily="34" charset="-120"/>
              </a:rPr>
              <a:t>Real-Time Lost Pet Auto-Ingestion</a:t>
            </a:r>
            <a:endParaRPr lang="en-US" sz="1200" dirty="0"/>
          </a:p>
        </p:txBody>
      </p:sp>
      <p:sp>
        <p:nvSpPr>
          <p:cNvPr id="20" name="Text 18"/>
          <p:cNvSpPr/>
          <p:nvPr/>
        </p:nvSpPr>
        <p:spPr>
          <a:xfrm>
            <a:off x="4507992" y="3154680"/>
            <a:ext cx="3108960" cy="1280160"/>
          </a:xfrm>
          <a:prstGeom prst="rect">
            <a:avLst/>
          </a:prstGeom>
          <a:noFill/>
          <a:ln/>
        </p:spPr>
        <p:txBody>
          <a:bodyPr wrap="square" rtlCol="0" anchor="ctr"/>
          <a:lstStyle/>
          <a:p>
            <a:pPr indent="0" marL="0">
              <a:lnSpc>
                <a:spcPts val="1400"/>
              </a:lnSpc>
              <a:buNone/>
            </a:pPr>
            <a:r>
              <a:rPr lang="en-US" sz="950" dirty="0">
                <a:solidFill>
                  <a:srgbClr val="475569"/>
                </a:solidFill>
                <a:latin typeface="Arial" pitchFamily="34" charset="0"/>
                <a:ea typeface="Arial" pitchFamily="34" charset="-122"/>
                <a:cs typeface="Arial" pitchFamily="34" charset="-120"/>
              </a:rPr>
              <a:t>Automate webhook ingestion so when a pet parent creates a lost report on Nuzzle, it is automatically vectorized into MAIRA within 5 seconds.</a:t>
            </a:r>
            <a:endParaRPr lang="en-US" sz="950" dirty="0"/>
          </a:p>
        </p:txBody>
      </p:sp>
      <p:sp>
        <p:nvSpPr>
          <p:cNvPr id="21" name="Shape 19"/>
          <p:cNvSpPr/>
          <p:nvPr/>
        </p:nvSpPr>
        <p:spPr>
          <a:xfrm>
            <a:off x="8010144" y="1783080"/>
            <a:ext cx="3429000" cy="2834640"/>
          </a:xfrm>
          <a:prstGeom prst="roundRect">
            <a:avLst/>
          </a:prstGeom>
          <a:solidFill>
            <a:srgbClr val="FFFFFF"/>
          </a:solidFill>
          <a:ln w="15240">
            <a:solidFill>
              <a:srgbClr val="CBD5E1"/>
            </a:solidFill>
            <a:prstDash val="solid"/>
          </a:ln>
        </p:spPr>
      </p:sp>
      <p:sp>
        <p:nvSpPr>
          <p:cNvPr id="22" name="Text 20"/>
          <p:cNvSpPr/>
          <p:nvPr/>
        </p:nvSpPr>
        <p:spPr>
          <a:xfrm>
            <a:off x="8147304" y="1965960"/>
            <a:ext cx="457200" cy="365760"/>
          </a:xfrm>
          <a:prstGeom prst="rect">
            <a:avLst/>
          </a:prstGeom>
          <a:noFill/>
          <a:ln/>
        </p:spPr>
        <p:txBody>
          <a:bodyPr wrap="square" rtlCol="0" anchor="ctr"/>
          <a:lstStyle/>
          <a:p>
            <a:pPr indent="0" marL="0">
              <a:buNone/>
            </a:pPr>
            <a:r>
              <a:rPr lang="en-US" sz="2200" dirty="0">
                <a:solidFill>
                  <a:srgbClr val="000000"/>
                </a:solidFill>
              </a:rPr>
              <a:t>🎙️</a:t>
            </a:r>
            <a:endParaRPr lang="en-US" sz="2200" dirty="0"/>
          </a:p>
        </p:txBody>
      </p:sp>
      <p:sp>
        <p:nvSpPr>
          <p:cNvPr id="23" name="Text 21"/>
          <p:cNvSpPr/>
          <p:nvPr/>
        </p:nvSpPr>
        <p:spPr>
          <a:xfrm>
            <a:off x="8147304" y="2423160"/>
            <a:ext cx="3108960" cy="201168"/>
          </a:xfrm>
          <a:prstGeom prst="rect">
            <a:avLst/>
          </a:prstGeom>
          <a:noFill/>
          <a:ln/>
        </p:spPr>
        <p:txBody>
          <a:bodyPr wrap="square" rtlCol="0" anchor="ctr"/>
          <a:lstStyle/>
          <a:p>
            <a:pPr indent="0" marL="0">
              <a:buNone/>
            </a:pPr>
            <a:r>
              <a:rPr lang="en-US" sz="900" b="1" dirty="0">
                <a:solidFill>
                  <a:srgbClr val="4338CA"/>
                </a:solidFill>
                <a:latin typeface="Arial" pitchFamily="34" charset="0"/>
                <a:ea typeface="Arial" pitchFamily="34" charset="-122"/>
                <a:cs typeface="Arial" pitchFamily="34" charset="-120"/>
              </a:rPr>
              <a:t>PHASE 3 (Q1 2027)</a:t>
            </a:r>
            <a:endParaRPr lang="en-US" sz="900" dirty="0"/>
          </a:p>
        </p:txBody>
      </p:sp>
      <p:sp>
        <p:nvSpPr>
          <p:cNvPr id="24" name="Text 22"/>
          <p:cNvSpPr/>
          <p:nvPr/>
        </p:nvSpPr>
        <p:spPr>
          <a:xfrm>
            <a:off x="8147304" y="2651760"/>
            <a:ext cx="3108960" cy="457200"/>
          </a:xfrm>
          <a:prstGeom prst="rect">
            <a:avLst/>
          </a:prstGeom>
          <a:noFill/>
          <a:ln/>
        </p:spPr>
        <p:txBody>
          <a:bodyPr wrap="square" rtlCol="0" anchor="ctr"/>
          <a:lstStyle/>
          <a:p>
            <a:pPr indent="0" marL="0">
              <a:lnSpc>
                <a:spcPts val="1500"/>
              </a:lnSpc>
              <a:buNone/>
            </a:pPr>
            <a:r>
              <a:rPr lang="en-US" sz="1200" b="1" dirty="0">
                <a:solidFill>
                  <a:srgbClr val="0F172A"/>
                </a:solidFill>
                <a:latin typeface="Arial" pitchFamily="34" charset="0"/>
                <a:ea typeface="Arial" pitchFamily="34" charset="-122"/>
                <a:cs typeface="Arial" pitchFamily="34" charset="-120"/>
              </a:rPr>
              <a:t>Bilingual Voice Emergency Triage</a:t>
            </a:r>
            <a:endParaRPr lang="en-US" sz="1200" dirty="0"/>
          </a:p>
        </p:txBody>
      </p:sp>
      <p:sp>
        <p:nvSpPr>
          <p:cNvPr id="25" name="Text 23"/>
          <p:cNvSpPr/>
          <p:nvPr/>
        </p:nvSpPr>
        <p:spPr>
          <a:xfrm>
            <a:off x="8147304" y="3154680"/>
            <a:ext cx="3108960" cy="1280160"/>
          </a:xfrm>
          <a:prstGeom prst="rect">
            <a:avLst/>
          </a:prstGeom>
          <a:noFill/>
          <a:ln/>
        </p:spPr>
        <p:txBody>
          <a:bodyPr wrap="square" rtlCol="0" anchor="ctr"/>
          <a:lstStyle/>
          <a:p>
            <a:pPr indent="0" marL="0">
              <a:lnSpc>
                <a:spcPts val="1400"/>
              </a:lnSpc>
              <a:buNone/>
            </a:pPr>
            <a:r>
              <a:rPr lang="en-US" sz="950" dirty="0">
                <a:solidFill>
                  <a:srgbClr val="475569"/>
                </a:solidFill>
                <a:latin typeface="Arial" pitchFamily="34" charset="0"/>
                <a:ea typeface="Arial" pitchFamily="34" charset="-122"/>
                <a:cs typeface="Arial" pitchFamily="34" charset="-120"/>
              </a:rPr>
              <a:t>Deploy whisper voice-to-text allowing panicking pet owners to verbally describe symptoms in spoken Bengali or English during acute emergencies.</a:t>
            </a:r>
            <a:endParaRPr lang="en-US" sz="950" dirty="0"/>
          </a:p>
        </p:txBody>
      </p:sp>
      <p:sp>
        <p:nvSpPr>
          <p:cNvPr id="26" name="Shape 24"/>
          <p:cNvSpPr/>
          <p:nvPr/>
        </p:nvSpPr>
        <p:spPr>
          <a:xfrm>
            <a:off x="731520" y="4800600"/>
            <a:ext cx="10728655" cy="1371600"/>
          </a:xfrm>
          <a:prstGeom prst="roundRect">
            <a:avLst/>
          </a:prstGeom>
          <a:solidFill>
            <a:srgbClr val="0F172A"/>
          </a:solidFill>
          <a:ln w="12700">
            <a:solidFill>
              <a:srgbClr val="1E293B"/>
            </a:solidFill>
            <a:prstDash val="solid"/>
          </a:ln>
        </p:spPr>
      </p:sp>
      <p:sp>
        <p:nvSpPr>
          <p:cNvPr id="27" name="Text 25"/>
          <p:cNvSpPr/>
          <p:nvPr/>
        </p:nvSpPr>
        <p:spPr>
          <a:xfrm>
            <a:off x="960120" y="4937760"/>
            <a:ext cx="5486400" cy="201168"/>
          </a:xfrm>
          <a:prstGeom prst="rect">
            <a:avLst/>
          </a:prstGeom>
          <a:noFill/>
          <a:ln/>
        </p:spPr>
        <p:txBody>
          <a:bodyPr wrap="square" rtlCol="0" anchor="ctr"/>
          <a:lstStyle/>
          <a:p>
            <a:pPr indent="0" marL="0">
              <a:buNone/>
            </a:pPr>
            <a:r>
              <a:rPr lang="en-US" sz="1000" b="1" spc="120" kern="0" dirty="0">
                <a:solidFill>
                  <a:srgbClr val="818CF8"/>
                </a:solidFill>
                <a:latin typeface="Arial" pitchFamily="34" charset="0"/>
                <a:ea typeface="Arial" pitchFamily="34" charset="-122"/>
                <a:cs typeface="Arial" pitchFamily="34" charset="-120"/>
              </a:rPr>
              <a:t>CONCLUSION &amp; KEY TAKEAWAYS</a:t>
            </a:r>
            <a:endParaRPr lang="en-US" sz="1000" dirty="0"/>
          </a:p>
        </p:txBody>
      </p:sp>
      <p:sp>
        <p:nvSpPr>
          <p:cNvPr id="28" name="Text 26"/>
          <p:cNvSpPr/>
          <p:nvPr/>
        </p:nvSpPr>
        <p:spPr>
          <a:xfrm>
            <a:off x="960120" y="5166360"/>
            <a:ext cx="7772400" cy="868680"/>
          </a:xfrm>
          <a:prstGeom prst="rect">
            <a:avLst/>
          </a:prstGeom>
          <a:noFill/>
          <a:ln/>
        </p:spPr>
        <p:txBody>
          <a:bodyPr wrap="square" rtlCol="0" anchor="ctr"/>
          <a:lstStyle/>
          <a:p>
            <a:pPr indent="0" marL="0">
              <a:lnSpc>
                <a:spcPts val="1400"/>
              </a:lnSpc>
              <a:buNone/>
            </a:pPr>
            <a:r>
              <a:rPr lang="en-US" sz="950" dirty="0">
                <a:solidFill>
                  <a:srgbClr val="CBD5E1"/>
                </a:solidFill>
                <a:latin typeface="Arial" pitchFamily="34" charset="0"/>
                <a:ea typeface="Arial" pitchFamily="34" charset="-122"/>
                <a:cs typeface="Arial" pitchFamily="34" charset="-120"/>
              </a:rPr>
              <a:t>Nuzzle’s integration with Gigalogy MAIRA successfully bridges the gap between social community and clinical veterinary intelligence. By combining isolated domain profiles, trained vector datasets, and deterministic poison guardrails, Nuzzle delivers an enterprise pet health companion built for real-world impact.</a:t>
            </a:r>
            <a:endParaRPr lang="en-US" sz="950" dirty="0"/>
          </a:p>
        </p:txBody>
      </p:sp>
      <p:sp>
        <p:nvSpPr>
          <p:cNvPr id="29" name="Shape 27"/>
          <p:cNvSpPr/>
          <p:nvPr/>
        </p:nvSpPr>
        <p:spPr>
          <a:xfrm>
            <a:off x="9144000" y="5029200"/>
            <a:ext cx="2011680" cy="868680"/>
          </a:xfrm>
          <a:prstGeom prst="roundRect">
            <a:avLst/>
          </a:prstGeom>
          <a:solidFill>
            <a:srgbClr val="4338CA"/>
          </a:solidFill>
          <a:ln w="12700">
            <a:solidFill>
              <a:srgbClr val="6366F1"/>
            </a:solidFill>
            <a:prstDash val="solid"/>
          </a:ln>
        </p:spPr>
      </p:sp>
      <p:sp>
        <p:nvSpPr>
          <p:cNvPr id="30" name="Text 28"/>
          <p:cNvSpPr/>
          <p:nvPr/>
        </p:nvSpPr>
        <p:spPr>
          <a:xfrm>
            <a:off x="9144000" y="5212080"/>
            <a:ext cx="2011680" cy="502920"/>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THANK YOU!</a:t>
            </a:r>
            <a:endParaRPr lang="en-US" sz="950" dirty="0"/>
          </a:p>
          <a:p>
            <a:pPr algn="ctr" indent="0" marL="0">
              <a:buNone/>
            </a:pPr>
            <a:r>
              <a:rPr lang="en-US" sz="950" b="1" dirty="0">
                <a:solidFill>
                  <a:srgbClr val="FFFFFF"/>
                </a:solidFill>
                <a:latin typeface="Arial" pitchFamily="34" charset="0"/>
                <a:ea typeface="Arial" pitchFamily="34" charset="-122"/>
                <a:cs typeface="Arial" pitchFamily="34" charset="-120"/>
              </a:rPr>
              <a:t>QUESTIONS &amp; ANSWERS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Nuzzle (Dhaka, Bangladesh)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Gigalogy MAIRA AI Integration: Managed RAG, Multimodal Vision &amp; Clinical Intelligence</dc:title>
  <dc:subject>Comprehensive Architectural &amp; Technical Walkthrough of Gigalogy MAIRA AI Integration in Nuzzle</dc:subject>
  <dc:creator>Abu Zafor &amp; Nuzzle Engineering Team</dc:creator>
  <cp:lastModifiedBy>Abu Zafor &amp; Nuzzle Engineering Team</cp:lastModifiedBy>
  <cp:revision>1</cp:revision>
  <dcterms:created xsi:type="dcterms:W3CDTF">2026-09-17T17:25:44Z</dcterms:created>
  <dcterms:modified xsi:type="dcterms:W3CDTF">2026-09-17T17:25:44Z</dcterms:modified>
</cp:coreProperties>
</file>